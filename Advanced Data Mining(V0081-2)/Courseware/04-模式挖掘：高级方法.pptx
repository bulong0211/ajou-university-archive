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5"/>
  </p:notesMasterIdLst>
  <p:sldIdLst>
    <p:sldId id="1608" r:id="rId2"/>
    <p:sldId id="1794" r:id="rId3"/>
    <p:sldId id="537" r:id="rId4"/>
    <p:sldId id="561" r:id="rId5"/>
    <p:sldId id="549" r:id="rId6"/>
    <p:sldId id="550" r:id="rId7"/>
    <p:sldId id="562" r:id="rId8"/>
    <p:sldId id="558" r:id="rId9"/>
    <p:sldId id="563" r:id="rId10"/>
    <p:sldId id="1950" r:id="rId11"/>
    <p:sldId id="1951" r:id="rId12"/>
    <p:sldId id="539" r:id="rId13"/>
    <p:sldId id="1946" r:id="rId14"/>
    <p:sldId id="551" r:id="rId15"/>
    <p:sldId id="565" r:id="rId16"/>
    <p:sldId id="552" r:id="rId17"/>
    <p:sldId id="553" r:id="rId18"/>
    <p:sldId id="1945" r:id="rId19"/>
    <p:sldId id="1954" r:id="rId20"/>
    <p:sldId id="1955" r:id="rId21"/>
    <p:sldId id="516" r:id="rId22"/>
    <p:sldId id="1796" r:id="rId23"/>
    <p:sldId id="1797" r:id="rId24"/>
    <p:sldId id="560" r:id="rId25"/>
    <p:sldId id="1800" r:id="rId26"/>
    <p:sldId id="564" r:id="rId27"/>
    <p:sldId id="577" r:id="rId28"/>
    <p:sldId id="578" r:id="rId29"/>
    <p:sldId id="1930" r:id="rId30"/>
    <p:sldId id="1956" r:id="rId31"/>
    <p:sldId id="1809" r:id="rId32"/>
    <p:sldId id="1810" r:id="rId33"/>
    <p:sldId id="1932" r:id="rId34"/>
    <p:sldId id="1837" r:id="rId35"/>
    <p:sldId id="1906" r:id="rId36"/>
    <p:sldId id="621" r:id="rId37"/>
    <p:sldId id="1842" r:id="rId38"/>
    <p:sldId id="345" r:id="rId39"/>
    <p:sldId id="1849" r:id="rId40"/>
    <p:sldId id="1920" r:id="rId41"/>
    <p:sldId id="642" r:id="rId42"/>
    <p:sldId id="1845" r:id="rId43"/>
    <p:sldId id="1913" r:id="rId44"/>
    <p:sldId id="1847" r:id="rId45"/>
    <p:sldId id="1851" r:id="rId46"/>
    <p:sldId id="1853" r:id="rId47"/>
    <p:sldId id="1933" r:id="rId48"/>
    <p:sldId id="1814" r:id="rId49"/>
    <p:sldId id="1921" r:id="rId50"/>
    <p:sldId id="1816" r:id="rId51"/>
    <p:sldId id="624" r:id="rId52"/>
    <p:sldId id="620" r:id="rId53"/>
    <p:sldId id="627" r:id="rId54"/>
    <p:sldId id="628" r:id="rId55"/>
    <p:sldId id="569" r:id="rId56"/>
    <p:sldId id="1957" r:id="rId57"/>
    <p:sldId id="1960" r:id="rId58"/>
    <p:sldId id="575" r:id="rId59"/>
    <p:sldId id="625" r:id="rId60"/>
    <p:sldId id="1958" r:id="rId61"/>
    <p:sldId id="576" r:id="rId62"/>
    <p:sldId id="1959" r:id="rId63"/>
    <p:sldId id="635" r:id="rId64"/>
    <p:sldId id="643" r:id="rId65"/>
    <p:sldId id="1962" r:id="rId66"/>
    <p:sldId id="1938" r:id="rId67"/>
    <p:sldId id="1939" r:id="rId68"/>
    <p:sldId id="1940" r:id="rId69"/>
    <p:sldId id="1978" r:id="rId70"/>
    <p:sldId id="1979" r:id="rId71"/>
    <p:sldId id="1980" r:id="rId72"/>
    <p:sldId id="1965" r:id="rId73"/>
    <p:sldId id="1966" r:id="rId74"/>
    <p:sldId id="1963" r:id="rId75"/>
    <p:sldId id="1941" r:id="rId76"/>
    <p:sldId id="1969" r:id="rId77"/>
    <p:sldId id="1967" r:id="rId78"/>
    <p:sldId id="1942" r:id="rId79"/>
    <p:sldId id="1943" r:id="rId80"/>
    <p:sldId id="1970" r:id="rId81"/>
    <p:sldId id="1971" r:id="rId82"/>
    <p:sldId id="1972" r:id="rId83"/>
    <p:sldId id="1973" r:id="rId84"/>
    <p:sldId id="1974" r:id="rId85"/>
    <p:sldId id="1975" r:id="rId86"/>
    <p:sldId id="1976" r:id="rId87"/>
    <p:sldId id="1977" r:id="rId88"/>
    <p:sldId id="1947" r:id="rId89"/>
    <p:sldId id="1948" r:id="rId90"/>
    <p:sldId id="1981" r:id="rId91"/>
    <p:sldId id="580" r:id="rId92"/>
    <p:sldId id="581" r:id="rId93"/>
    <p:sldId id="582" r:id="rId94"/>
    <p:sldId id="583" r:id="rId95"/>
    <p:sldId id="1961" r:id="rId96"/>
    <p:sldId id="585" r:id="rId97"/>
    <p:sldId id="586" r:id="rId98"/>
    <p:sldId id="1827" r:id="rId99"/>
    <p:sldId id="638" r:id="rId100"/>
    <p:sldId id="1944" r:id="rId101"/>
    <p:sldId id="1855" r:id="rId102"/>
    <p:sldId id="1856" r:id="rId103"/>
    <p:sldId id="1857" r:id="rId104"/>
  </p:sldIdLst>
  <p:sldSz cx="12192000" cy="6858000"/>
  <p:notesSz cx="7010400" cy="9296400"/>
  <p:defaultTextStyle>
    <a:defPPr>
      <a:defRPr lang="en-US"/>
    </a:defPPr>
    <a:lvl1pPr marL="0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ueqing Liu" initials="XL" lastIdx="3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FFFFCC"/>
    <a:srgbClr val="F0CDBC"/>
    <a:srgbClr val="0033CC"/>
    <a:srgbClr val="FFFF00"/>
    <a:srgbClr val="DAD1CE"/>
    <a:srgbClr val="E9D2CD"/>
    <a:srgbClr val="CCFF66"/>
    <a:srgbClr val="008080"/>
    <a:srgbClr val="E483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97" autoAdjust="0"/>
    <p:restoredTop sz="84456" autoAdjust="0"/>
  </p:normalViewPr>
  <p:slideViewPr>
    <p:cSldViewPr snapToGrid="0">
      <p:cViewPr varScale="1">
        <p:scale>
          <a:sx n="70" d="100"/>
          <a:sy n="70" d="100"/>
        </p:scale>
        <p:origin x="1330" y="3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8358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89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presProps" Target="pres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commentAuthors" Target="commentAuthor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heme" Target="theme/theme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47.xml"/><Relationship Id="rId3" Type="http://schemas.openxmlformats.org/officeDocument/2006/relationships/slide" Target="slides/slide23.xml"/><Relationship Id="rId7" Type="http://schemas.openxmlformats.org/officeDocument/2006/relationships/slide" Target="slides/slide33.xml"/><Relationship Id="rId2" Type="http://schemas.openxmlformats.org/officeDocument/2006/relationships/slide" Target="slides/slide22.xml"/><Relationship Id="rId1" Type="http://schemas.openxmlformats.org/officeDocument/2006/relationships/slide" Target="slides/slide1.xml"/><Relationship Id="rId6" Type="http://schemas.openxmlformats.org/officeDocument/2006/relationships/slide" Target="slides/slide29.xml"/><Relationship Id="rId5" Type="http://schemas.openxmlformats.org/officeDocument/2006/relationships/slide" Target="slides/slide25.xml"/><Relationship Id="rId4" Type="http://schemas.openxmlformats.org/officeDocument/2006/relationships/slide" Target="slides/slide2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67" tIns="46584" rIns="93167" bIns="4658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67" tIns="46584" rIns="93167" bIns="46584" rtlCol="0"/>
          <a:lstStyle>
            <a:lvl1pPr algn="r">
              <a:defRPr sz="1200"/>
            </a:lvl1pPr>
          </a:lstStyle>
          <a:p>
            <a:fld id="{F87AF23C-6CAB-4A6A-B3BC-A88F610E0570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67" tIns="46584" rIns="93167" bIns="4658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67" tIns="46584" rIns="93167" bIns="46584" rtlCol="0"/>
          <a:lstStyle/>
          <a:p>
            <a:pPr lvl="0"/>
            <a:r>
              <a:rPr lang="en-US"/>
              <a:t>点击编辑主文本样式</a:t>
            </a:r>
          </a:p>
          <a:p>
            <a:pPr lvl="1"/>
            <a:r>
              <a:rPr lang="en-US"/>
              <a:t>二级</a:t>
            </a:r>
          </a:p>
          <a:p>
            <a:pPr lvl="2"/>
            <a:r>
              <a:rPr lang="en-US"/>
              <a:t>第三级</a:t>
            </a:r>
          </a:p>
          <a:p>
            <a:pPr lvl="3"/>
            <a:r>
              <a:rPr lang="en-US"/>
              <a:t>第四级</a:t>
            </a:r>
          </a:p>
          <a:p>
            <a:pPr lvl="4"/>
            <a:r>
              <a:rPr lang="en-US"/>
              <a:t>第五级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9"/>
            <a:ext cx="3037840" cy="466433"/>
          </a:xfrm>
          <a:prstGeom prst="rect">
            <a:avLst/>
          </a:prstGeom>
        </p:spPr>
        <p:txBody>
          <a:bodyPr vert="horz" lIns="93167" tIns="46584" rIns="93167" bIns="4658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9"/>
            <a:ext cx="3037840" cy="466433"/>
          </a:xfrm>
          <a:prstGeom prst="rect">
            <a:avLst/>
          </a:prstGeom>
        </p:spPr>
        <p:txBody>
          <a:bodyPr vert="horz" lIns="93167" tIns="46584" rIns="93167" bIns="46584" rtlCol="0" anchor="b"/>
          <a:lstStyle>
            <a:lvl1pPr algn="r">
              <a:defRPr sz="1200"/>
            </a:lvl1pPr>
          </a:lstStyle>
          <a:p>
            <a:fld id="{A6F8110F-5CB8-4B7A-89C2-96B671E6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144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6FA0B77-FEDE-4D84-A8C2-0F4E9C984340}" type="slidenum">
              <a:rPr lang="en-US" altLang="en-US"/>
              <a:t>1</a:t>
            </a:fld>
            <a:endParaRPr lang="en-US" alt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2555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latin typeface="KaiTi" panose="02010609060101010101" pitchFamily="49" charset="-122"/>
              </a:rPr>
              <a:t>如果在超市购物篮数据里，</a:t>
            </a:r>
            <a:r>
              <a:rPr lang="en-US" altLang="ko-KR">
                <a:latin typeface="KaiTi" panose="02010609060101010101" pitchFamily="49" charset="-122"/>
                <a:ea typeface="KaiTi" panose="02010609060101010101" pitchFamily="49" charset="-122"/>
              </a:rPr>
              <a:t>95% </a:t>
            </a:r>
            <a:r>
              <a:rPr lang="ko-KR" altLang="en-US">
                <a:latin typeface="KaiTi" panose="02010609060101010101" pitchFamily="49" charset="-122"/>
              </a:rPr>
              <a:t>的人都买了“白米饭”，那么“白米饭”这个属性并不能帮我们发现新的有趣规律，因为它对大家都太常见了</a:t>
            </a:r>
            <a:endParaRPr lang="en-US" altLang="ko-KR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ko-KR" altLang="en-US">
                <a:latin typeface="KaiTi" panose="02010609060101010101" pitchFamily="49" charset="-122"/>
              </a:rPr>
              <a:t>当我们对分类属性进行二值化（</a:t>
            </a:r>
            <a:r>
              <a:rPr lang="en" altLang="ko-Kore-KR">
                <a:latin typeface="KaiTi" panose="02010609060101010101" pitchFamily="49" charset="-122"/>
                <a:ea typeface="KaiTi" panose="02010609060101010101" pitchFamily="49" charset="-122"/>
              </a:rPr>
              <a:t>one-hot</a:t>
            </a:r>
            <a:r>
              <a:rPr lang="ko-KR" altLang="en-US">
                <a:latin typeface="KaiTi" panose="02010609060101010101" pitchFamily="49" charset="-122"/>
              </a:rPr>
              <a:t>编码），每个属性可能会生成多个新项，增加计算复杂度。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>
                <a:latin typeface="KaiTi" panose="02010609060101010101" pitchFamily="49" charset="-122"/>
              </a:rPr>
              <a:t>比如 “职业” 这个属性有 </a:t>
            </a:r>
            <a:r>
              <a:rPr lang="en-US" altLang="ko-KR">
                <a:latin typeface="KaiTi" panose="02010609060101010101" pitchFamily="49" charset="-122"/>
                <a:ea typeface="KaiTi" panose="02010609060101010101" pitchFamily="49" charset="-122"/>
              </a:rPr>
              <a:t>20 </a:t>
            </a:r>
            <a:r>
              <a:rPr lang="ko-KR" altLang="en-US">
                <a:latin typeface="KaiTi" panose="02010609060101010101" pitchFamily="49" charset="-122"/>
              </a:rPr>
              <a:t>种可能值，二值化后就要增加 </a:t>
            </a:r>
            <a:r>
              <a:rPr lang="en-US" altLang="ko-KR">
                <a:latin typeface="KaiTi" panose="02010609060101010101" pitchFamily="49" charset="-122"/>
                <a:ea typeface="KaiTi" panose="02010609060101010101" pitchFamily="49" charset="-122"/>
              </a:rPr>
              <a:t>20 </a:t>
            </a:r>
            <a:r>
              <a:rPr lang="ko-KR" altLang="en-US">
                <a:latin typeface="KaiTi" panose="02010609060101010101" pitchFamily="49" charset="-122"/>
              </a:rPr>
              <a:t>个新字段。</a:t>
            </a:r>
            <a:endParaRPr lang="en-US" altLang="ko-KR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ko-KR" altLang="en-US" b="1">
                <a:latin typeface="KaiTi" panose="02010609060101010101" pitchFamily="49" charset="-122"/>
              </a:rPr>
              <a:t>属性约简</a:t>
            </a:r>
            <a:r>
              <a:rPr lang="ko-KR" altLang="en-US">
                <a:latin typeface="KaiTi" panose="02010609060101010101" pitchFamily="49" charset="-122"/>
              </a:rPr>
              <a:t>：只保留信息量较大的属性，或者用 </a:t>
            </a:r>
            <a:r>
              <a:rPr lang="en" altLang="ko-Kore-KR">
                <a:latin typeface="KaiTi" panose="02010609060101010101" pitchFamily="49" charset="-122"/>
                <a:ea typeface="KaiTi" panose="02010609060101010101" pitchFamily="49" charset="-122"/>
              </a:rPr>
              <a:t>PCA</a:t>
            </a:r>
            <a:r>
              <a:rPr lang="ko-Kore-KR" altLang="en">
                <a:latin typeface="KaiTi" panose="02010609060101010101" pitchFamily="49" charset="-122"/>
              </a:rPr>
              <a:t>、</a:t>
            </a:r>
            <a:r>
              <a:rPr lang="ko-KR" altLang="en-US">
                <a:latin typeface="KaiTi" panose="02010609060101010101" pitchFamily="49" charset="-122"/>
              </a:rPr>
              <a:t>信息增益等方法做降维。</a:t>
            </a:r>
          </a:p>
          <a:p>
            <a:r>
              <a:rPr lang="ko-KR" altLang="en-US" b="1">
                <a:latin typeface="KaiTi" panose="02010609060101010101" pitchFamily="49" charset="-122"/>
              </a:rPr>
              <a:t>频繁模式挖掘优化</a:t>
            </a:r>
            <a:r>
              <a:rPr lang="ko-KR" altLang="en-US">
                <a:latin typeface="KaiTi" panose="02010609060101010101" pitchFamily="49" charset="-122"/>
              </a:rPr>
              <a:t>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>
                <a:latin typeface="KaiTi" panose="02010609060101010101" pitchFamily="49" charset="-122"/>
              </a:rPr>
              <a:t>使用 </a:t>
            </a:r>
            <a:r>
              <a:rPr lang="en" altLang="ko-Kore-KR">
                <a:latin typeface="KaiTi" panose="02010609060101010101" pitchFamily="49" charset="-122"/>
                <a:ea typeface="KaiTi" panose="02010609060101010101" pitchFamily="49" charset="-122"/>
              </a:rPr>
              <a:t>FP-Growth </a:t>
            </a:r>
            <a:r>
              <a:rPr lang="ko-KR" altLang="en-US">
                <a:latin typeface="KaiTi" panose="02010609060101010101" pitchFamily="49" charset="-122"/>
              </a:rPr>
              <a:t>代替 </a:t>
            </a:r>
            <a:r>
              <a:rPr lang="en" altLang="ko-Kore-KR">
                <a:latin typeface="KaiTi" panose="02010609060101010101" pitchFamily="49" charset="-122"/>
                <a:ea typeface="KaiTi" panose="02010609060101010101" pitchFamily="49" charset="-122"/>
              </a:rPr>
              <a:t>Apriori</a:t>
            </a:r>
            <a:r>
              <a:rPr lang="ko-Kore-KR" altLang="en">
                <a:latin typeface="KaiTi" panose="02010609060101010101" pitchFamily="49" charset="-122"/>
              </a:rPr>
              <a:t>（</a:t>
            </a:r>
            <a:r>
              <a:rPr lang="ko-KR" altLang="en-US">
                <a:latin typeface="KaiTi" panose="02010609060101010101" pitchFamily="49" charset="-122"/>
              </a:rPr>
              <a:t>减少候选集）。</a:t>
            </a:r>
          </a:p>
          <a:p>
            <a:r>
              <a:rPr lang="ko-KR" altLang="en-US" b="1">
                <a:latin typeface="KaiTi" panose="02010609060101010101" pitchFamily="49" charset="-122"/>
              </a:rPr>
              <a:t>抽样</a:t>
            </a:r>
            <a:r>
              <a:rPr lang="en-US" altLang="ko-KR" b="1"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lang="ko-KR" altLang="en-US" b="1">
                <a:latin typeface="KaiTi" panose="02010609060101010101" pitchFamily="49" charset="-122"/>
              </a:rPr>
              <a:t>分层处理</a:t>
            </a:r>
            <a:r>
              <a:rPr lang="ko-KR" altLang="en-US">
                <a:latin typeface="KaiTi" panose="02010609060101010101" pitchFamily="49" charset="-122"/>
              </a:rPr>
              <a:t>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>
                <a:latin typeface="KaiTi" panose="02010609060101010101" pitchFamily="49" charset="-122"/>
              </a:rPr>
              <a:t>对数据量特别大的分类属性，可以抽样，先分析代表性部分。</a:t>
            </a:r>
          </a:p>
          <a:p>
            <a:pPr>
              <a:buFont typeface="Arial" panose="020B0604020202020204" pitchFamily="34" charset="0"/>
              <a:buChar char="•"/>
            </a:pPr>
            <a:endParaRPr lang="ko-KR" altLang="en-US">
              <a:latin typeface="KaiTi" panose="02010609060101010101" pitchFamily="49" charset="-122"/>
            </a:endParaRPr>
          </a:p>
          <a:p>
            <a:endParaRPr lang="en-US" altLang="ko-KR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kumimoji="1" lang="ko-Kore-KR" altLang="en-US">
              <a:latin typeface="KaiTi" panose="02010609060101010101" pitchFamily="49" charset="-122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707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有监督离散化</a:t>
            </a:r>
            <a:r>
              <a:rPr lang="ko-KR" altLang="en-US" dirty="0"/>
              <a:t> 里，确实是要 </a:t>
            </a:r>
            <a:r>
              <a:rPr lang="ko-KR" altLang="en-US" b="1" dirty="0"/>
              <a:t>根据结果变量（</a:t>
            </a:r>
            <a:r>
              <a:rPr lang="en" altLang="ko-Kore-KR" b="1" dirty="0"/>
              <a:t>label</a:t>
            </a:r>
            <a:r>
              <a:rPr lang="ko-Kore-KR" altLang="en" b="1" dirty="0"/>
              <a:t>）</a:t>
            </a:r>
            <a:r>
              <a:rPr lang="ko-KR" altLang="en-US" b="1"/>
              <a:t>来判断怎么分组</a:t>
            </a:r>
            <a:r>
              <a:rPr lang="ko-KR" altLang="en-US"/>
              <a:t>。换句话说，不是随便把数值切成几段，而是要看 </a:t>
            </a:r>
            <a:r>
              <a:rPr lang="ko-KR" altLang="en-US" b="1"/>
              <a:t>怎么分组能最好地区分目标结果</a:t>
            </a:r>
            <a:r>
              <a:rPr lang="ko-KR" altLang="en-US"/>
              <a:t>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6892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380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22287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07220F-BB4A-4A30-8543-80B6CD8797C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22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一通：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商品通常形成层次结构。例如：</a:t>
            </a:r>
            <a:r>
              <a:rPr lang="en-US" altLang="en-US" sz="2400" dirty="0" err="1"/>
              <a:t>Dairyland</a:t>
            </a:r>
            <a:r>
              <a:rPr lang="en-US" altLang="en-US" sz="2400" dirty="0"/>
              <a:t> 2%牛奶；Wonder小麦面包</a:t>
            </a:r>
          </a:p>
        </p:txBody>
      </p:sp>
    </p:spTree>
    <p:extLst>
      <p:ext uri="{BB962C8B-B14F-4D97-AF65-F5344CB8AC3E}">
        <p14:creationId xmlns:p14="http://schemas.microsoft.com/office/powerpoint/2010/main" val="29046144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22287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427C8D-9BDA-4DF4-8A3D-BAD222F9DC90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23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Yitong: </a:t>
            </a:r>
          </a:p>
          <a:p>
            <a:pPr marL="0" marR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- 多级关联挖掘可能生成大量冗余规则</a:t>
            </a:r>
          </a:p>
          <a:p>
            <a:pPr marL="0" marR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-</a:t>
            </a:r>
            <a:r>
              <a:rPr lang="en-US" altLang="en-US" sz="1200" dirty="0"/>
              <a:t> 冗余过滤：由于项目之间的“祖先”关系，部分规则可能存在冗余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072279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B3427C8D-9BDA-4DF4-8A3D-BAD222F9DC90}" type="slidenum">
              <a:rPr lang="en-US" altLang="en-US" smtClean="0"/>
              <a:t>24</a:t>
            </a:fld>
            <a:endParaRPr lang="en-US" altLang="en-US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61614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22287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A79448-024C-4779-8C03-AC34596CC8B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25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43362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744E4DF7-6595-412D-9DE3-667804BEF3C4}" type="slidenum">
              <a:rPr lang="en-US" altLang="en-US" smtClean="0"/>
              <a:t>26</a:t>
            </a:fld>
            <a:endParaRPr lang="en-US" alt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08468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744E4DF7-6595-412D-9DE3-667804BEF3C4}" type="slidenum">
              <a:rPr lang="en-US" altLang="en-US" smtClean="0"/>
              <a:t>27</a:t>
            </a:fld>
            <a:endParaRPr lang="en-US" alt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928962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744E4DF7-6595-412D-9DE3-667804BEF3C4}" type="slidenum">
              <a:rPr lang="en-US" altLang="en-US" smtClean="0"/>
              <a:t>28</a:t>
            </a:fld>
            <a:endParaRPr lang="en-US" alt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29605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6FA0B77-FEDE-4D84-A8C2-0F4E9C984340}" type="slidenum">
              <a:rPr lang="en-US" altLang="en-US"/>
              <a:t>29</a:t>
            </a:fld>
            <a:endParaRPr lang="en-US" alt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00415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D79B4-5BEA-D2BB-9B99-FF787BCF8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E7E2BF49-0B44-564E-E98D-6826533CAF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22287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D07CA7-4860-41C2-912D-D23E47247FA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30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1DF3DBAA-2C94-19CD-0C8B-67CC5E4225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66D823B3-456F-32AD-B8AA-2DB8D2685C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810508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22287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D07CA7-4860-41C2-912D-D23E47247FA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31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84159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22287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067872-71AD-4B78-BEE8-1CA413B17BA0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32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04058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6FA0B77-FEDE-4D84-A8C2-0F4E9C984340}" type="slidenum">
              <a:rPr lang="en-US" altLang="en-US"/>
              <a:t>33</a:t>
            </a:fld>
            <a:endParaRPr lang="en-US" alt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60577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09" indent="-285734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2937" indent="-228587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111" indent="-228587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287" indent="-228587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marL="0" marR="0" lvl="0" indent="0" algn="r" defTabSz="922287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8F872E-CB52-44D5-BD5F-B518E0B36BCB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MS PGothic" pitchFamily="34" charset="-128"/>
                <a:cs typeface="+mn-cs"/>
              </a:rPr>
              <a:t>34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4797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09" indent="-285734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2937" indent="-228587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111" indent="-228587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287" indent="-228587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marL="0" marR="0" lvl="0" indent="0" algn="r" defTabSz="922287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20A6FE-46C9-483E-8E6C-A125FD634017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MS PGothic" pitchFamily="34" charset="-128"/>
                <a:cs typeface="+mn-cs"/>
              </a:rPr>
              <a:t>35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US">
                <a:latin typeface="Times New Roman" charset="0"/>
                <a:ea typeface="ＭＳ Ｐゴシック" charset="0"/>
              </a:rPr>
              <a:t>10/29/18 EMH– 可能不需要列出其他</a:t>
            </a:r>
            <a:r>
              <a:rPr lang="en-US" baseline="0">
                <a:latin typeface="Times New Roman" charset="0"/>
                <a:ea typeface="ＭＳ Ｐゴシック" charset="0"/>
              </a:rPr>
              <a:t>类型的约束，如果我们没有涵盖它们的话？ 这些内容在讲座中被跳过了。</a:t>
            </a:r>
            <a:endParaRPr lang="en-US" dirty="0"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129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09" indent="-285734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2937" indent="-228587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111" indent="-228587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287" indent="-228587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fld id="{5C28C6AA-E873-4CBF-9DC0-332B4E0CC26D}" type="slidenum">
              <a:rPr lang="en-US" altLang="en-US" sz="1200">
                <a:solidFill>
                  <a:prstClr val="black"/>
                </a:solidFill>
                <a:latin typeface="Times New Roman" pitchFamily="18" charset="0"/>
              </a:rPr>
              <a:t>36</a:t>
            </a:fld>
            <a:endParaRPr lang="en-US" altLang="en-US" sz="12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85632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09" indent="-285734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2937" indent="-228587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111" indent="-228587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287" indent="-228587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marL="0" marR="0" lvl="0" indent="0" algn="r" defTabSz="922287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FBB187-D9CC-4BF1-8992-CFEEB967A64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MS PGothic" pitchFamily="34" charset="-128"/>
                <a:cs typeface="+mn-cs"/>
              </a:rPr>
              <a:t>37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019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29057" indent="-280406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21626" indent="-224325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570276" indent="-224325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18927" indent="-224325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467577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16227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364878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13528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50617555-4838-4938-953B-6C44F818A093}" type="slidenum">
              <a:rPr lang="en-US" sz="1200">
                <a:latin typeface="Times New Roman" pitchFamily="18" charset="0"/>
              </a:rPr>
              <a:t>38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dirty="0"/>
              <a:t>模式修剪；反单调</a:t>
            </a:r>
          </a:p>
          <a:p>
            <a:r>
              <a:rPr lang="en-US" dirty="0"/>
              <a:t>假设 5.price=5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09" indent="-285734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2937" indent="-228587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111" indent="-228587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287" indent="-228587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marL="0" marR="0" lvl="0" indent="0" algn="r" defTabSz="922287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F5B400-3D1C-4247-AC44-78AB4DDC5537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MS PGothic" pitchFamily="34" charset="-128"/>
                <a:cs typeface="+mn-cs"/>
              </a:rPr>
              <a:t>39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Times New Roman" charset="0"/>
                <a:ea typeface="ＭＳ Ｐゴシック" charset="0"/>
              </a:rPr>
              <a:t>编辑</a:t>
            </a:r>
            <a:r>
              <a:rPr lang="en-US" baseline="0" dirty="0">
                <a:latin typeface="Times New Roman" charset="0"/>
                <a:ea typeface="ＭＳ Ｐゴシック" charset="0"/>
              </a:rPr>
              <a:t>于2018年10月29日 EMH– 修正排序项的顺序</a:t>
            </a:r>
            <a:endParaRPr lang="en-US" dirty="0"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9420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09" indent="-285734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2937" indent="-228587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111" indent="-228587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287" indent="-228587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fld id="{CBC32183-1E4E-4439-9E63-DBFABA4CF900}" type="slidenum">
              <a:rPr lang="en-US" altLang="en-US" sz="1200">
                <a:solidFill>
                  <a:prstClr val="black"/>
                </a:solidFill>
                <a:latin typeface="Times New Roman" pitchFamily="18" charset="0"/>
              </a:rPr>
              <a:t>41</a:t>
            </a:fld>
            <a:endParaRPr lang="en-US" altLang="en-US" sz="12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4539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09" indent="-285734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2937" indent="-228587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111" indent="-228587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287" indent="-228587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marL="0" marR="0" lvl="0" indent="0" algn="r" defTabSz="922287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C32183-1E4E-4439-9E63-DBFABA4CF900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MS PGothic" pitchFamily="34" charset="-128"/>
                <a:cs typeface="+mn-cs"/>
              </a:rPr>
              <a:t>42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2428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09" indent="-285734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2937" indent="-228587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111" indent="-228587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287" indent="-228587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marL="0" marR="0" lvl="0" indent="0" algn="r" defTabSz="922287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C32183-1E4E-4439-9E63-DBFABA4CF900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MS PGothic" pitchFamily="34" charset="-128"/>
                <a:cs typeface="+mn-cs"/>
              </a:rPr>
              <a:t>43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2428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09" indent="-285734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2937" indent="-228587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111" indent="-228587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287" indent="-228587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marL="0" marR="0" lvl="0" indent="0" algn="r" defTabSz="922287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5D00F9-425E-4E9D-8679-449B50F4ECF6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MS PGothic" pitchFamily="34" charset="-128"/>
                <a:cs typeface="+mn-cs"/>
              </a:rPr>
              <a:t>44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Times New Roman" charset="0"/>
                <a:ea typeface="ＭＳ Ｐゴシック" charset="0"/>
              </a:rPr>
              <a:t>修订于2018年10月29日 </a:t>
            </a:r>
            <a:r>
              <a:rPr lang="en-US" baseline="0" dirty="0">
                <a:latin typeface="Times New Roman" charset="0"/>
                <a:ea typeface="ＭＳ Ｐゴシック" charset="0"/>
              </a:rPr>
              <a:t>EMH– 交换了示例1和2以符合讲座中使用的顺序</a:t>
            </a:r>
            <a:endParaRPr lang="en-US" dirty="0"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9572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09" indent="-285734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2937" indent="-228587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111" indent="-228587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287" indent="-228587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marL="0" marR="0" lvl="0" indent="0" algn="r" defTabSz="922287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D151B6-8114-41E2-A8BD-B768D55219C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MS PGothic" pitchFamily="34" charset="-128"/>
                <a:cs typeface="+mn-cs"/>
              </a:rPr>
              <a:t>45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Times New Roman" charset="0"/>
                <a:ea typeface="ＭＳ Ｐゴシック" charset="0"/>
              </a:rPr>
              <a:t>修订于2018年10月19日 EMH</a:t>
            </a:r>
          </a:p>
        </p:txBody>
      </p:sp>
    </p:spTree>
    <p:extLst>
      <p:ext uri="{BB962C8B-B14F-4D97-AF65-F5344CB8AC3E}">
        <p14:creationId xmlns:p14="http://schemas.microsoft.com/office/powerpoint/2010/main" val="10403554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09" indent="-285734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2937" indent="-228587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111" indent="-228587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287" indent="-228587" defTabSz="922287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marL="0" marR="0" lvl="0" indent="0" algn="r" defTabSz="922287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714DAF-1C23-4AA1-8CA8-1A48FF8650F2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MS PGothic" pitchFamily="34" charset="-128"/>
                <a:cs typeface="+mn-cs"/>
              </a:rPr>
              <a:t>46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5816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23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6FA0B77-FEDE-4D84-A8C2-0F4E9C984340}" type="slidenum">
              <a:rPr lang="en-US" altLang="en-US"/>
              <a:t>47</a:t>
            </a:fld>
            <a:endParaRPr lang="en-US" alt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51592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34852" indent="-282635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30541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82758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34974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87191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39407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91624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43840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2170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056C25-6A07-4D35-B2C0-1EDDC05C55C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49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29450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34852" indent="-282635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30541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82758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34974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87191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39407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91624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43840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2170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056C25-6A07-4D35-B2C0-1EDDC05C55C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50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994168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728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7C7C1983-550A-4028-8C2C-83D1BC4E6F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0050" y="693738"/>
            <a:ext cx="6142038" cy="3455987"/>
          </a:xfrm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FD3442BD-707D-4384-BB7A-55C5FE4D21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8138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1" tIns="45371" rIns="90741" bIns="45371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7600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99662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78469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E4252-9762-A3C7-400C-B93196755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>
            <a:extLst>
              <a:ext uri="{FF2B5EF4-FFF2-40B4-BE49-F238E27FC236}">
                <a16:creationId xmlns:a16="http://schemas.microsoft.com/office/drawing/2014/main" id="{F25DB8A1-10A8-670F-CC32-AAA8BDB651C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>
            <a:extLst>
              <a:ext uri="{FF2B5EF4-FFF2-40B4-BE49-F238E27FC236}">
                <a16:creationId xmlns:a16="http://schemas.microsoft.com/office/drawing/2014/main" id="{26477E1E-4CB0-EE0F-CD59-9E54EF611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31336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>
            <a:extLst>
              <a:ext uri="{FF2B5EF4-FFF2-40B4-BE49-F238E27FC236}">
                <a16:creationId xmlns:a16="http://schemas.microsoft.com/office/drawing/2014/main" id="{0357375B-BF82-47E8-B68D-C5388B19EB4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>
            <a:extLst>
              <a:ext uri="{FF2B5EF4-FFF2-40B4-BE49-F238E27FC236}">
                <a16:creationId xmlns:a16="http://schemas.microsoft.com/office/drawing/2014/main" id="{F969EFB2-369B-4700-B037-17871FC4A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34852" indent="-282635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30541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82758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34974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87191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39407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91624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43840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2170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CA5FF2-DE4C-485B-B3D5-CBB411925B8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r" defTabSz="921706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9565987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34852" indent="-282635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30541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82758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34974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87191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39407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91624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43840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2170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CA5FF2-DE4C-485B-B3D5-CBB411925B8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r" defTabSz="921706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019541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34852" indent="-282635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30541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82758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34974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87191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39407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91624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43840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2170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15EB87-E9BF-467A-92AC-7FA50A51926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r" defTabSz="921706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909661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63901-5C50-1F61-F594-4B6A5C545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8B51BFE6-0D4F-5BD8-FA83-91D070475E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34852" indent="-282635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30541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82758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34974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87191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39407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91624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43840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2170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CA5FF2-DE4C-485B-B3D5-CBB411925B8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r" defTabSz="921706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C008A7E7-099F-1E72-18FE-FAE7D9E234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BE774906-C836-3A29-4426-3B9B68C95A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8835456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F954F-35B5-1B05-296E-051D4F29C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8F998312-CD6F-0F52-B212-8947F64B32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34852" indent="-282635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30541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82758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34974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87191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39407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91624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43840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2170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CA5FF2-DE4C-485B-B3D5-CBB411925B8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r" defTabSz="921706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182B3095-EAF0-7262-A38F-31BBC823AD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67DBC755-BAA6-D98E-5319-06B3697C38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1737324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D3173-D42B-C43A-30BE-0B07AF9B2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D497E35F-1BD5-EB9C-F04A-760FE44982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34852" indent="-282635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30541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82758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34974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87191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39407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91624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43840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2170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CA5FF2-DE4C-485B-B3D5-CBB411925B8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r" defTabSz="921706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D1322ED5-3310-FFC9-C9D8-89776F9F9E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8CD69780-2835-8A69-2C4D-893D2B367E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8842202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7CFDB-10F4-0DC9-4636-288CEA068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D3BC4BB4-A877-03E6-06CF-4E9E1FB7A6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34852" indent="-282635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30541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82758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34974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87191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39407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91624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43840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2170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CA5FF2-DE4C-485B-B3D5-CBB411925B8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r" defTabSz="921706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397FCB48-5A34-9873-7D6A-79A8C9C05C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7347B7FF-2814-22C3-887D-FB54FA352E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5327113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34852" indent="-282635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30541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82758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34974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87191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39407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91624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43840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2170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37C517-9980-4745-8C64-172D51D32C8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r" defTabSz="921706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1452878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9C25C-1BA6-7B55-296E-BF7D011D8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FB1A318A-E9C1-B951-659D-4DADA11E22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34852" indent="-282635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30541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82758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34974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87191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39407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91624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43840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2170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37C517-9980-4745-8C64-172D51D32C8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r" defTabSz="921706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D8079D00-BE42-8160-5880-C5B8C571DE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FD0EF378-4B8B-5207-ADEF-F86D57AB3A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23659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34852" indent="-282635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30541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82758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34974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87191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39407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91624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43840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2170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83CC2C-4207-4981-B10F-A020C96F6B3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r" defTabSz="921706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0269888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34852" indent="-282635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30541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82758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34974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87191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39407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91624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43840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2170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6F6015-ADE1-4284-BFCB-17426266BE7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r" defTabSz="921706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707552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95587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28746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44998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34852" indent="-282635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30541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82758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34974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87191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39407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91624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43840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2170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02D401-719A-4CB9-9E7B-2B83AA62208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98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485410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34852" indent="-282635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30541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82758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34974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87191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39407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91624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43840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4653EAC-1642-4190-A804-140586BE091A}" type="slidenum">
              <a:rPr lang="en-US" altLang="en-US" smtClean="0">
                <a:latin typeface="Tahoma" pitchFamily="34" charset="0"/>
              </a:rPr>
              <a:t>99</a:t>
            </a:fld>
            <a:endParaRPr lang="en-US" altLang="en-US">
              <a:latin typeface="Tahoma" pitchFamily="34" charset="0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617450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34852" indent="-282635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30541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82758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34974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87191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39407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91624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43840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926F6015-ADE1-4284-BFCB-17426266BE7B}" type="slidenum">
              <a:rPr lang="en-US" altLang="en-US" smtClean="0">
                <a:solidFill>
                  <a:prstClr val="black"/>
                </a:solidFill>
                <a:latin typeface="Tahoma" pitchFamily="34" charset="0"/>
              </a:rPr>
              <a:pPr eaLnBrk="1" hangingPunct="1">
                <a:spcBef>
                  <a:spcPct val="0"/>
                </a:spcBef>
              </a:pPr>
              <a:t>100</a:t>
            </a:fld>
            <a:endParaRPr lang="en-US" altLang="en-US">
              <a:solidFill>
                <a:prstClr val="black"/>
              </a:solidFill>
              <a:latin typeface="Tahoma" pitchFamily="34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4222727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34852" indent="-282635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30541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82758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34974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87191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39407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91624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43840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2170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3954EC-9B3E-4A18-A7C6-A03E830ADDB0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101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215898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34852" indent="-282635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30541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82758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34974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87191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39407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91624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43840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2170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1BE081-8CF4-4D19-9253-8890640D189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102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332507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34852" indent="-282635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30541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82758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34974" indent="-226108" defTabSz="9217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87191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39407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91624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43840" indent="-226108" defTabSz="9217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2170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5AA0BE-B3A9-4D31-ABE4-BECE2843A01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103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605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4500" y="2343945"/>
            <a:ext cx="11303000" cy="1034256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600" b="1" spc="-51" baseline="0">
                <a:solidFill>
                  <a:schemeClr val="tx1"/>
                </a:solidFill>
                <a:latin typeface="STKaiti" panose="02010600040101010101" pitchFamily="2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95871" y="3529775"/>
            <a:ext cx="10058400" cy="782070"/>
          </a:xfrm>
        </p:spPr>
        <p:txBody>
          <a:bodyPr lIns="91436" rIns="91436">
            <a:normAutofit/>
          </a:bodyPr>
          <a:lstStyle>
            <a:lvl1pPr marL="0" indent="0" algn="ctr">
              <a:buNone/>
              <a:defRPr sz="2400" b="1" cap="none" spc="200" baseline="0">
                <a:solidFill>
                  <a:schemeClr val="tx1"/>
                </a:solidFill>
                <a:latin typeface="STKaiti" panose="02010600040101010101" pitchFamily="2" charset="-122"/>
              </a:defRPr>
            </a:lvl1pPr>
            <a:lvl2pPr marL="457178" indent="0" algn="ctr">
              <a:buNone/>
              <a:defRPr sz="2400"/>
            </a:lvl2pPr>
            <a:lvl3pPr marL="914354" indent="0" algn="ctr">
              <a:buNone/>
              <a:defRPr sz="2400"/>
            </a:lvl3pPr>
            <a:lvl4pPr marL="1371532" indent="0" algn="ctr">
              <a:buNone/>
              <a:defRPr sz="2000"/>
            </a:lvl4pPr>
            <a:lvl5pPr marL="1828709" indent="0" algn="ctr">
              <a:buNone/>
              <a:defRPr sz="2000"/>
            </a:lvl5pPr>
            <a:lvl6pPr marL="2285886" indent="0" algn="ctr">
              <a:buNone/>
              <a:defRPr sz="2000"/>
            </a:lvl6pPr>
            <a:lvl7pPr marL="2743062" indent="0" algn="ctr">
              <a:buNone/>
              <a:defRPr sz="2000"/>
            </a:lvl7pPr>
            <a:lvl8pPr marL="3200240" indent="0" algn="ctr">
              <a:buNone/>
              <a:defRPr sz="2000"/>
            </a:lvl8pPr>
            <a:lvl9pPr marL="3657418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" y="0"/>
            <a:ext cx="12244106" cy="22814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" y="4463419"/>
            <a:ext cx="12192000" cy="23961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985" y="221676"/>
            <a:ext cx="11369963" cy="738909"/>
          </a:xfrm>
        </p:spPr>
        <p:txBody>
          <a:bodyPr/>
          <a:lstStyle>
            <a:lvl1pPr marL="0">
              <a:defRPr b="1">
                <a:latin typeface="STKaiti" panose="02010600040101010101" pitchFamily="2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983" y="1219200"/>
            <a:ext cx="11406908" cy="5384800"/>
          </a:xfrm>
        </p:spPr>
        <p:txBody>
          <a:bodyPr/>
          <a:lstStyle>
            <a:lvl1pPr marL="461951" indent="-461951">
              <a:defRPr sz="2800">
                <a:latin typeface="STKaiti" panose="02010600040101010101" pitchFamily="2" charset="-122"/>
              </a:defRPr>
            </a:lvl1pPr>
            <a:lvl2pPr marL="738170" indent="-538149">
              <a:defRPr sz="2800">
                <a:latin typeface="STKaiti" panose="02010600040101010101" pitchFamily="2" charset="-122"/>
              </a:defRPr>
            </a:lvl2pPr>
            <a:lvl3pPr marL="858817" indent="-474651">
              <a:defRPr sz="2800">
                <a:latin typeface="STKaiti" panose="02010600040101010101" pitchFamily="2" charset="-122"/>
              </a:defRPr>
            </a:lvl3pPr>
            <a:lvl4pPr marL="1144559" indent="-522275">
              <a:defRPr sz="2800">
                <a:latin typeface="STKaiti" panose="02010600040101010101" pitchFamily="2" charset="-122"/>
              </a:defRPr>
            </a:lvl4pPr>
            <a:lvl5pPr marL="1376328" indent="-507987">
              <a:defRPr sz="2800">
                <a:latin typeface="STKaiti" panose="02010600040101010101" pitchFamily="2" charset="-122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81000"/>
            <a:ext cx="11074400" cy="609600"/>
          </a:xfrm>
        </p:spPr>
        <p:txBody>
          <a:bodyPr/>
          <a:lstStyle>
            <a:lvl1pPr>
              <a:defRPr b="1">
                <a:latin typeface="STKaiti" panose="02010600040101010101" pitchFamily="2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08000" y="1371600"/>
            <a:ext cx="5486400" cy="5105400"/>
          </a:xfrm>
        </p:spPr>
        <p:txBody>
          <a:bodyPr/>
          <a:lstStyle>
            <a:lvl1pPr>
              <a:defRPr>
                <a:latin typeface="STKaiti" panose="02010600040101010101" pitchFamily="2" charset="-122"/>
              </a:defRPr>
            </a:lvl1pPr>
            <a:lvl2pPr>
              <a:defRPr>
                <a:latin typeface="STKaiti" panose="02010600040101010101" pitchFamily="2" charset="-122"/>
              </a:defRPr>
            </a:lvl2pPr>
            <a:lvl3pPr>
              <a:defRPr>
                <a:latin typeface="STKaiti" panose="02010600040101010101" pitchFamily="2" charset="-122"/>
              </a:defRPr>
            </a:lvl3pPr>
            <a:lvl4pPr>
              <a:defRPr>
                <a:latin typeface="STKaiti" panose="02010600040101010101" pitchFamily="2" charset="-122"/>
              </a:defRPr>
            </a:lvl4pPr>
            <a:lvl5pPr>
              <a:defRPr>
                <a:latin typeface="STKaiti" panose="02010600040101010101" pitchFamily="2" charset="-122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71600"/>
            <a:ext cx="5486400" cy="5105400"/>
          </a:xfrm>
        </p:spPr>
        <p:txBody>
          <a:bodyPr/>
          <a:lstStyle>
            <a:lvl1pPr>
              <a:defRPr>
                <a:latin typeface="STKaiti" panose="02010600040101010101" pitchFamily="2" charset="-122"/>
              </a:defRPr>
            </a:lvl1pPr>
            <a:lvl2pPr>
              <a:defRPr>
                <a:latin typeface="STKaiti" panose="02010600040101010101" pitchFamily="2" charset="-122"/>
              </a:defRPr>
            </a:lvl2pPr>
            <a:lvl3pPr>
              <a:defRPr>
                <a:latin typeface="STKaiti" panose="02010600040101010101" pitchFamily="2" charset="-122"/>
              </a:defRPr>
            </a:lvl3pPr>
            <a:lvl4pPr>
              <a:defRPr>
                <a:latin typeface="STKaiti" panose="02010600040101010101" pitchFamily="2" charset="-122"/>
              </a:defRPr>
            </a:lvl4pPr>
            <a:lvl5pPr>
              <a:defRPr>
                <a:latin typeface="STKaiti" panose="02010600040101010101" pitchFamily="2" charset="-122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6993140"/>
      </p:ext>
    </p:extLst>
  </p:cSld>
  <p:clrMapOvr>
    <a:masterClrMapping/>
  </p:clrMapOvr>
  <p:transition spd="med"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STKaiti" panose="02010600040101010101" pitchFamily="2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34380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52400"/>
            <a:ext cx="11040533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48218" y="1143000"/>
            <a:ext cx="11091333" cy="5181600"/>
          </a:xfrm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743915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81000"/>
            <a:ext cx="11074400" cy="609600"/>
          </a:xfrm>
        </p:spPr>
        <p:txBody>
          <a:bodyPr/>
          <a:lstStyle>
            <a:lvl1pPr>
              <a:defRPr b="1">
                <a:latin typeface="STKaiti" panose="02010600040101010101" pitchFamily="2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08000" y="1371600"/>
            <a:ext cx="5486400" cy="5105400"/>
          </a:xfrm>
        </p:spPr>
        <p:txBody>
          <a:bodyPr/>
          <a:lstStyle>
            <a:lvl1pPr>
              <a:defRPr>
                <a:latin typeface="STKaiti" panose="02010600040101010101" pitchFamily="2" charset="-122"/>
              </a:defRPr>
            </a:lvl1pPr>
            <a:lvl2pPr>
              <a:defRPr>
                <a:latin typeface="STKaiti" panose="02010600040101010101" pitchFamily="2" charset="-122"/>
              </a:defRPr>
            </a:lvl2pPr>
            <a:lvl3pPr>
              <a:defRPr>
                <a:latin typeface="STKaiti" panose="02010600040101010101" pitchFamily="2" charset="-122"/>
              </a:defRPr>
            </a:lvl3pPr>
            <a:lvl4pPr>
              <a:defRPr>
                <a:latin typeface="STKaiti" panose="02010600040101010101" pitchFamily="2" charset="-122"/>
              </a:defRPr>
            </a:lvl4pPr>
            <a:lvl5pPr>
              <a:defRPr>
                <a:latin typeface="STKaiti" panose="02010600040101010101" pitchFamily="2" charset="-122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371600"/>
            <a:ext cx="5486400" cy="2476500"/>
          </a:xfrm>
        </p:spPr>
        <p:txBody>
          <a:bodyPr/>
          <a:lstStyle>
            <a:lvl1pPr>
              <a:defRPr>
                <a:latin typeface="STKaiti" panose="02010600040101010101" pitchFamily="2" charset="-122"/>
              </a:defRPr>
            </a:lvl1pPr>
            <a:lvl2pPr>
              <a:defRPr>
                <a:latin typeface="STKaiti" panose="02010600040101010101" pitchFamily="2" charset="-122"/>
              </a:defRPr>
            </a:lvl2pPr>
            <a:lvl3pPr>
              <a:defRPr>
                <a:latin typeface="STKaiti" panose="02010600040101010101" pitchFamily="2" charset="-122"/>
              </a:defRPr>
            </a:lvl3pPr>
            <a:lvl4pPr>
              <a:defRPr>
                <a:latin typeface="STKaiti" panose="02010600040101010101" pitchFamily="2" charset="-122"/>
              </a:defRPr>
            </a:lvl4pPr>
            <a:lvl5pPr>
              <a:defRPr>
                <a:latin typeface="STKaiti" panose="02010600040101010101" pitchFamily="2" charset="-122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486400" cy="2476500"/>
          </a:xfrm>
        </p:spPr>
        <p:txBody>
          <a:bodyPr/>
          <a:lstStyle>
            <a:lvl1pPr>
              <a:defRPr>
                <a:latin typeface="STKaiti" panose="02010600040101010101" pitchFamily="2" charset="-122"/>
              </a:defRPr>
            </a:lvl1pPr>
            <a:lvl2pPr>
              <a:defRPr>
                <a:latin typeface="STKaiti" panose="02010600040101010101" pitchFamily="2" charset="-122"/>
              </a:defRPr>
            </a:lvl2pPr>
            <a:lvl3pPr>
              <a:defRPr>
                <a:latin typeface="STKaiti" panose="02010600040101010101" pitchFamily="2" charset="-122"/>
              </a:defRPr>
            </a:lvl3pPr>
            <a:lvl4pPr>
              <a:defRPr>
                <a:latin typeface="STKaiti" panose="02010600040101010101" pitchFamily="2" charset="-122"/>
              </a:defRPr>
            </a:lvl4pPr>
            <a:lvl5pPr>
              <a:defRPr>
                <a:latin typeface="STKaiti" panose="02010600040101010101" pitchFamily="2" charset="-122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277600" y="6477000"/>
            <a:ext cx="914400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2CC86-93B0-4433-BB82-3B4544800C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262968"/>
      </p:ext>
    </p:extLst>
  </p:cSld>
  <p:clrMapOvr>
    <a:masterClrMapping/>
  </p:clrMapOvr>
  <p:transition spd="med">
    <p:zoom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/>
          <a:p>
            <a:r>
              <a:rPr lang="en-US" dirty="0"/>
              <a:t>点击编辑主标题样式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0983" y="1219203"/>
            <a:ext cx="11406908" cy="5209309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/>
          <a:p>
            <a:pPr lvl="0"/>
            <a:r>
              <a:rPr lang="en-US" dirty="0"/>
              <a:t> 点击编辑主文本样式</a:t>
            </a:r>
          </a:p>
          <a:p>
            <a:pPr lvl="1"/>
            <a:r>
              <a:rPr lang="en-US" dirty="0"/>
              <a:t> 二级</a:t>
            </a:r>
          </a:p>
          <a:p>
            <a:pPr lvl="2"/>
            <a:r>
              <a:rPr lang="en-US" dirty="0"/>
              <a:t> 第三级</a:t>
            </a:r>
          </a:p>
          <a:p>
            <a:pPr lvl="3"/>
            <a:r>
              <a:rPr lang="en-US" dirty="0"/>
              <a:t> 第四级</a:t>
            </a:r>
          </a:p>
          <a:p>
            <a:pPr lvl="4"/>
            <a:r>
              <a:rPr lang="en-US" dirty="0"/>
              <a:t> 第五级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91131" y="1100537"/>
            <a:ext cx="109728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/>
          <p:cNvSpPr txBox="1">
            <a:spLocks/>
          </p:cNvSpPr>
          <p:nvPr userDrawn="1"/>
        </p:nvSpPr>
        <p:spPr>
          <a:xfrm>
            <a:off x="0" y="6565686"/>
            <a:ext cx="1066800" cy="273844"/>
          </a:xfrm>
          <a:prstGeom prst="rect">
            <a:avLst/>
          </a:prstGeom>
        </p:spPr>
        <p:txBody>
          <a:bodyPr lIns="91436" tIns="45718" rIns="91436" bIns="45718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4F2234-F0AC-4578-99CD-21C2B01FA7D4}" type="slidenum">
              <a:rPr lang="en-US" sz="1600" b="0" smtClean="0"/>
              <a:t>‹#›</a:t>
            </a:fld>
            <a:endParaRPr lang="en-US" sz="16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81" r:id="rId3"/>
    <p:sldLayoutId id="2147483823" r:id="rId4"/>
    <p:sldLayoutId id="2147483827" r:id="rId5"/>
    <p:sldLayoutId id="2147483828" r:id="rId6"/>
  </p:sldLayoutIdLst>
  <p:hf hdr="0" ftr="0" dt="0"/>
  <p:txStyles>
    <p:titleStyle>
      <a:lvl1pPr algn="ctr" defTabSz="914354" rtl="0" eaLnBrk="1" latinLnBrk="0" hangingPunct="1">
        <a:lnSpc>
          <a:spcPct val="85000"/>
        </a:lnSpc>
        <a:spcBef>
          <a:spcPct val="0"/>
        </a:spcBef>
        <a:buNone/>
        <a:defRPr sz="4400" kern="1200" spc="-51" baseline="0"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Berlin Sans FB Demi" panose="020E0802020502020306" pitchFamily="34" charset="0"/>
          <a:ea typeface="+mj-ea"/>
          <a:cs typeface="+mj-cs"/>
        </a:defRPr>
      </a:lvl1pPr>
    </p:titleStyle>
    <p:bodyStyle>
      <a:lvl1pPr marL="341305" indent="-341305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00CC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3074" indent="-373053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BD582C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4179" indent="-300023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808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912791" indent="-290506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FF000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2971" indent="-274632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7030A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109994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93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925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91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w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13" Type="http://schemas.openxmlformats.org/officeDocument/2006/relationships/oleObject" Target="../embeddings/oleObject10.bin"/><Relationship Id="rId18" Type="http://schemas.openxmlformats.org/officeDocument/2006/relationships/image" Target="../media/image29.e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26.emf"/><Relationship Id="rId17" Type="http://schemas.openxmlformats.org/officeDocument/2006/relationships/oleObject" Target="../embeddings/oleObject12.bin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e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5" Type="http://schemas.openxmlformats.org/officeDocument/2006/relationships/oleObject" Target="../embeddings/oleObject11.bin"/><Relationship Id="rId10" Type="http://schemas.openxmlformats.org/officeDocument/2006/relationships/image" Target="../media/image25.emf"/><Relationship Id="rId4" Type="http://schemas.openxmlformats.org/officeDocument/2006/relationships/image" Target="../media/image22.emf"/><Relationship Id="rId9" Type="http://schemas.openxmlformats.org/officeDocument/2006/relationships/oleObject" Target="../embeddings/oleObject8.bin"/><Relationship Id="rId14" Type="http://schemas.openxmlformats.org/officeDocument/2006/relationships/image" Target="../media/image27.e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emf"/><Relationship Id="rId4" Type="http://schemas.openxmlformats.org/officeDocument/2006/relationships/oleObject" Target="../embeddings/oleObject14.bin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sv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sv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7" Type="http://schemas.openxmlformats.org/officeDocument/2006/relationships/image" Target="../media/image39.e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38.emf"/><Relationship Id="rId4" Type="http://schemas.openxmlformats.org/officeDocument/2006/relationships/oleObject" Target="../embeddings/oleObject17.bin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wmf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2.png"/><Relationship Id="rId5" Type="http://schemas.openxmlformats.org/officeDocument/2006/relationships/oleObject" Target="../embeddings/oleObject20.bin"/><Relationship Id="rId4" Type="http://schemas.openxmlformats.org/officeDocument/2006/relationships/image" Target="../media/image61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oleObject" Target="../embeddings/oleObject22.bin"/><Relationship Id="rId4" Type="http://schemas.openxmlformats.org/officeDocument/2006/relationships/image" Target="../media/image61.png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"/>
            <a:ext cx="12192000" cy="1050634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marL="457200" indent="-457200">
              <a:lnSpc>
                <a:spcPct val="200000"/>
              </a:lnSpc>
              <a:buSzTx/>
            </a:pPr>
            <a:r>
              <a:rPr lang="en-US" altLang="en-US" dirty="0"/>
              <a:t>模式挖掘：高级方法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29979" y="1131454"/>
            <a:ext cx="10532282" cy="5574146"/>
          </a:xfrm>
          <a:noFill/>
        </p:spPr>
        <p:txBody>
          <a:bodyPr vert="horz" lIns="92075" tIns="46038" rIns="92075" bIns="46038" rtlCol="0" anchor="t">
            <a:noAutofit/>
          </a:bodyPr>
          <a:lstStyle/>
          <a:p>
            <a:pPr marL="457200" indent="-457200">
              <a:lnSpc>
                <a:spcPct val="200000"/>
              </a:lnSpc>
              <a:buSzTx/>
            </a:pPr>
            <a:r>
              <a:rPr lang="en-US" b="1" i="0" u="none" strike="noStrike" baseline="0" dirty="0"/>
              <a:t>挖掘各种类型的模式 </a:t>
            </a:r>
          </a:p>
          <a:p>
            <a:pPr marL="457200" indent="-457200">
              <a:lnSpc>
                <a:spcPct val="200000"/>
              </a:lnSpc>
              <a:buSzTx/>
            </a:pPr>
            <a:r>
              <a:rPr lang="en-US" b="1" i="0" u="none" strike="noStrike" baseline="0" dirty="0" err="1"/>
              <a:t>挖掘压缩或近似模式</a:t>
            </a:r>
            <a:endParaRPr lang="en-US" b="1" i="0" u="none" strike="noStrike" baseline="0" dirty="0"/>
          </a:p>
          <a:p>
            <a:pPr marL="457200" indent="-457200">
              <a:lnSpc>
                <a:spcPct val="200000"/>
              </a:lnSpc>
              <a:buSzTx/>
            </a:pPr>
            <a:r>
              <a:rPr lang="en-US" b="1" dirty="0" err="1"/>
              <a:t>基于</a:t>
            </a:r>
            <a:r>
              <a:rPr lang="en-US" altLang="zh-CN" b="1" dirty="0" err="1"/>
              <a:t>约束</a:t>
            </a:r>
            <a:r>
              <a:rPr lang="zh-CN" altLang="en-US" b="1" dirty="0"/>
              <a:t>的</a:t>
            </a:r>
            <a:r>
              <a:rPr lang="en-US" b="1" i="0" u="none" strike="noStrike" baseline="0" dirty="0" err="1"/>
              <a:t>模式挖掘</a:t>
            </a:r>
            <a:endParaRPr lang="en-US" b="1" i="0" u="none" strike="noStrike" baseline="0" dirty="0"/>
          </a:p>
          <a:p>
            <a:pPr marL="457200" indent="-457200">
              <a:lnSpc>
                <a:spcPct val="200000"/>
              </a:lnSpc>
              <a:buSzTx/>
            </a:pPr>
            <a:r>
              <a:rPr lang="en-US" b="1" i="0" u="none" strike="noStrike" baseline="0" dirty="0"/>
              <a:t>序列模式挖掘</a:t>
            </a:r>
            <a:endParaRPr lang="en-US" b="1" dirty="0"/>
          </a:p>
          <a:p>
            <a:pPr marL="457200" indent="-457200">
              <a:lnSpc>
                <a:spcPct val="200000"/>
              </a:lnSpc>
              <a:buSzTx/>
            </a:pPr>
            <a:r>
              <a:rPr lang="en-US" b="1" i="0" u="none" strike="sngStrike" baseline="0" dirty="0"/>
              <a:t>子图模式挖掘</a:t>
            </a:r>
          </a:p>
          <a:p>
            <a:pPr marL="457200" indent="-457200">
              <a:lnSpc>
                <a:spcPct val="200000"/>
              </a:lnSpc>
              <a:buSzTx/>
            </a:pPr>
            <a:r>
              <a:rPr lang="en-US" b="1" i="0" u="none" strike="sngStrike" baseline="0" dirty="0"/>
              <a:t>模式挖掘：应用示例</a:t>
            </a:r>
          </a:p>
          <a:p>
            <a:pPr marL="457200" indent="-457200">
              <a:lnSpc>
                <a:spcPct val="200000"/>
              </a:lnSpc>
              <a:buSzTx/>
            </a:pPr>
            <a:r>
              <a:rPr lang="en-US" altLang="en-US" b="1" strike="sngStrike" dirty="0"/>
              <a:t>总结</a:t>
            </a:r>
            <a:endParaRPr lang="en-US" altLang="en-US" sz="2800" b="1" strike="sngStrike" dirty="0"/>
          </a:p>
        </p:txBody>
      </p:sp>
      <p:sp>
        <p:nvSpPr>
          <p:cNvPr id="2" name="Striped Right Arrow 1"/>
          <p:cNvSpPr/>
          <p:nvPr/>
        </p:nvSpPr>
        <p:spPr>
          <a:xfrm rot="9075611">
            <a:off x="5514138" y="1224205"/>
            <a:ext cx="502920" cy="457200"/>
          </a:xfrm>
          <a:prstGeom prst="stripedRightArrow">
            <a:avLst/>
          </a:prstGeom>
          <a:solidFill>
            <a:srgbClr val="00808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u="none" strike="noStrike" baseline="0" dirty="0"/>
              <a:t>挖掘各种类型的模式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7832" y="1423737"/>
            <a:ext cx="11048028" cy="4895273"/>
          </a:xfrm>
        </p:spPr>
        <p:txBody>
          <a:bodyPr/>
          <a:lstStyle/>
          <a:p>
            <a:pPr algn="l">
              <a:lnSpc>
                <a:spcPct val="200000"/>
              </a:lnSpc>
            </a:pPr>
            <a:r>
              <a:rPr lang="en-US" sz="2400" b="0" i="0" u="none" strike="noStrike" baseline="0" dirty="0"/>
              <a:t>挖掘多层次关联  </a:t>
            </a:r>
          </a:p>
          <a:p>
            <a:pPr algn="l">
              <a:lnSpc>
                <a:spcPct val="200000"/>
              </a:lnSpc>
            </a:pPr>
            <a:r>
              <a:rPr lang="en-US" sz="2400" b="0" i="0" u="none" strike="noStrike" baseline="0" dirty="0"/>
              <a:t>挖掘多维关联  </a:t>
            </a:r>
          </a:p>
          <a:p>
            <a:pPr algn="l">
              <a:lnSpc>
                <a:spcPct val="200000"/>
              </a:lnSpc>
            </a:pPr>
            <a:r>
              <a:rPr lang="fr-FR" sz="2400" b="0" i="0" u="none" strike="noStrike" baseline="0" dirty="0"/>
              <a:t>挖掘定量关联规则  </a:t>
            </a:r>
          </a:p>
          <a:p>
            <a:pPr algn="l">
              <a:lnSpc>
                <a:spcPct val="200000"/>
              </a:lnSpc>
            </a:pPr>
            <a:r>
              <a:rPr lang="en-US" sz="2400" b="0" i="0" u="none" strike="noStrike" baseline="0" dirty="0"/>
              <a:t>高维数据挖掘  </a:t>
            </a:r>
          </a:p>
          <a:p>
            <a:pPr algn="l">
              <a:lnSpc>
                <a:spcPct val="200000"/>
              </a:lnSpc>
            </a:pPr>
            <a:r>
              <a:rPr lang="en-US" sz="2400" b="0" i="0" u="none" strike="noStrike" baseline="0" dirty="0"/>
              <a:t>稀有模式与负面模式挖掘</a:t>
            </a:r>
            <a:endParaRPr lang="en-US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658817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8D294A1-861C-4D7F-9D61-371947656A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STKaiti" panose="02010600040101010101" pitchFamily="2" charset="-122"/>
              </a:rPr>
              <a:t>连续型和分类型属性</a:t>
            </a:r>
          </a:p>
        </p:txBody>
      </p:sp>
      <p:sp>
        <p:nvSpPr>
          <p:cNvPr id="8195" name="Text Box 57">
            <a:extLst>
              <a:ext uri="{FF2B5EF4-FFF2-40B4-BE49-F238E27FC236}">
                <a16:creationId xmlns:a16="http://schemas.microsoft.com/office/drawing/2014/main" id="{B6276B65-522F-4C82-9D95-38335761C6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105401"/>
            <a:ext cx="76962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latin typeface="STKaiti" panose="02010600040101010101" pitchFamily="2" charset="-122"/>
                <a:ea typeface="STKaiti" panose="02010600040101010101" pitchFamily="2" charset="-122"/>
              </a:rPr>
              <a:t>关联规则示例：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latin typeface="STKaiti" panose="02010600040101010101" pitchFamily="2" charset="-122"/>
                <a:ea typeface="STKaiti" panose="02010600040101010101" pitchFamily="2" charset="-122"/>
              </a:rPr>
              <a:t>       {性别=男性, 年龄</a:t>
            </a:r>
            <a:r>
              <a:rPr lang="en-US" altLang="en-US" sz="2000">
                <a:latin typeface="STKaiti" panose="02010600040101010101" pitchFamily="2" charset="-122"/>
                <a:ea typeface="STKaiti" panose="02010600040101010101" pitchFamily="2" charset="-122"/>
                <a:sym typeface="Symbol" panose="05050102010706020507" pitchFamily="18" charset="2"/>
              </a:rPr>
              <a:t>  [21,30)}  {在线时长  10}</a:t>
            </a:r>
          </a:p>
        </p:txBody>
      </p:sp>
      <p:sp>
        <p:nvSpPr>
          <p:cNvPr id="8196" name="Text Box 58">
            <a:extLst>
              <a:ext uri="{FF2B5EF4-FFF2-40B4-BE49-F238E27FC236}">
                <a16:creationId xmlns:a16="http://schemas.microsoft.com/office/drawing/2014/main" id="{5611D996-7838-4D8B-B4CC-0682A35CC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055" y="1168547"/>
            <a:ext cx="7696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1">
                <a:latin typeface="STKaiti" panose="02010600040101010101" pitchFamily="2" charset="-122"/>
                <a:ea typeface="STKaiti" panose="02010600040101010101" pitchFamily="2" charset="-122"/>
              </a:rPr>
              <a:t>如何将关联分析应用于非对称二元变量？</a:t>
            </a:r>
            <a:endParaRPr lang="en-US" altLang="en-US" sz="2000" b="1">
              <a:latin typeface="STKaiti" panose="02010600040101010101" pitchFamily="2" charset="-122"/>
              <a:ea typeface="STKaiti" panose="02010600040101010101" pitchFamily="2" charset="-122"/>
              <a:sym typeface="Symbol" panose="05050102010706020507" pitchFamily="18" charset="2"/>
            </a:endParaRPr>
          </a:p>
        </p:txBody>
      </p:sp>
      <p:pic>
        <p:nvPicPr>
          <p:cNvPr id="8197" name="Picture 59">
            <a:extLst>
              <a:ext uri="{FF2B5EF4-FFF2-40B4-BE49-F238E27FC236}">
                <a16:creationId xmlns:a16="http://schemas.microsoft.com/office/drawing/2014/main" id="{701E2BAC-8EDD-4A62-9FAD-92A785B2A0E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95600" y="2157414"/>
            <a:ext cx="6477000" cy="2740025"/>
          </a:xfr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1026EAF-86B2-4108-AA1E-8BDD8195F9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处理分类属性</a:t>
            </a:r>
          </a:p>
        </p:txBody>
      </p:sp>
      <p:sp>
        <p:nvSpPr>
          <p:cNvPr id="9219" name="Rectangle 6">
            <a:extLst>
              <a:ext uri="{FF2B5EF4-FFF2-40B4-BE49-F238E27FC236}">
                <a16:creationId xmlns:a16="http://schemas.microsoft.com/office/drawing/2014/main" id="{B0FF5D56-4F84-4DA8-BA17-3DA661398F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/>
              <a:t>示例：互联网使用数据</a:t>
            </a:r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sz="2400"/>
              <a:t>{教育程度=研究生,</a:t>
            </a:r>
            <a:r>
              <a:rPr lang="en-US" altLang="en-US" sz="2400">
                <a:sym typeface="Symbol" panose="05050102010706020507" pitchFamily="18" charset="2"/>
              </a:rPr>
              <a:t> 网上银行=是}  {隐私问题 = 是}</a:t>
            </a:r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BA3313E3-5A73-49B0-89B5-69D81B4C28CA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90800" y="1981200"/>
            <a:ext cx="7162800" cy="2420938"/>
          </a:xfr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5414F72E-1A1B-41C5-8D66-EF48EA1D7D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处理分类属性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35E50F2-9A4A-4330-B9BC-A72CD0511B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为每个不同的属性-值对引入一个新的“项”</a:t>
            </a:r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5842D165-678A-4E2E-B88F-AFD16BCDC928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0" y="2590800"/>
            <a:ext cx="7696200" cy="2795588"/>
          </a:xfr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A7EB7184-1092-4B9C-97A6-96F51C9848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处理分类属性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32E8546-7206-4FB5-BA45-6BDFF7BC29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/>
              <a:t>某些属性可能具有多个可能的取值</a:t>
            </a:r>
          </a:p>
          <a:p>
            <a:pPr lvl="1"/>
            <a:r>
              <a:rPr lang="en-US" altLang="en-US" sz="2400"/>
              <a:t> 其中许多属性值的支持率非常低</a:t>
            </a:r>
          </a:p>
          <a:p>
            <a:pPr lvl="2"/>
            <a:r>
              <a:rPr lang="en-US" altLang="en-US" sz="2400"/>
              <a:t> 潜在解决方案：聚合支持率低的属性值</a:t>
            </a:r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5A50DBF1-592A-47C5-BEC3-B082C525D430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7"/>
          <a:stretch>
            <a:fillRect/>
          </a:stretch>
        </p:blipFill>
        <p:spPr>
          <a:xfrm>
            <a:off x="3505200" y="2632076"/>
            <a:ext cx="5181600" cy="3692525"/>
          </a:xfr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07BC05F9-F7E8-4DFF-8297-A0147A0EDC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处理分类属性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6373C7C-EE62-4416-B8E1-BC46C8D87F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ea typeface="STKaiti" panose="02010600040101010101" pitchFamily="2" charset="-122"/>
              </a:rPr>
              <a:t>属性值的分布可能高度偏斜</a:t>
            </a:r>
          </a:p>
          <a:p>
            <a:pPr lvl="1"/>
            <a:r>
              <a:rPr lang="en-US" altLang="en-US" sz="2400">
                <a:ea typeface="STKaiti" panose="02010600040101010101" pitchFamily="2" charset="-122"/>
              </a:rPr>
              <a:t>示例：85%的调查参与者在家中拥有计算机</a:t>
            </a:r>
          </a:p>
          <a:p>
            <a:pPr lvl="2"/>
            <a:r>
              <a:rPr lang="en-US" altLang="en-US" sz="2000">
                <a:ea typeface="STKaiti" panose="02010600040101010101" pitchFamily="2" charset="-122"/>
              </a:rPr>
              <a:t> 大多数记录中“家中拥有电脑”的值为“是”</a:t>
            </a:r>
          </a:p>
          <a:p>
            <a:pPr lvl="2"/>
            <a:r>
              <a:rPr lang="en-US" altLang="en-US" sz="2000">
                <a:ea typeface="STKaiti" panose="02010600040101010101" pitchFamily="2" charset="-122"/>
              </a:rPr>
              <a:t> 计算成本高昂；涉及二元属性（家中是否拥有电脑）的频繁项集数量庞大 </a:t>
            </a:r>
          </a:p>
          <a:p>
            <a:pPr lvl="2"/>
            <a:r>
              <a:rPr lang="en-US" altLang="en-US" sz="2000">
                <a:ea typeface="STKaiti" panose="02010600040101010101" pitchFamily="2" charset="-122"/>
              </a:rPr>
              <a:t> 潜在解决方案： </a:t>
            </a:r>
          </a:p>
          <a:p>
            <a:pPr lvl="3"/>
            <a:r>
              <a:rPr lang="en-US" altLang="en-US" sz="2000">
                <a:ea typeface="STKaiti" panose="02010600040101010101" pitchFamily="2" charset="-122"/>
              </a:rPr>
              <a:t>丢弃高频项</a:t>
            </a:r>
          </a:p>
          <a:p>
            <a:pPr lvl="3"/>
            <a:r>
              <a:rPr lang="en-US" altLang="en-US" sz="2000">
                <a:ea typeface="STKaiti" panose="02010600040101010101" pitchFamily="2" charset="-122"/>
              </a:rPr>
              <a:t>使用替代指标，</a:t>
            </a:r>
            <a:r>
              <a:rPr lang="en-US" altLang="en-US" sz="2000">
                <a:solidFill>
                  <a:srgbClr val="FF0000"/>
                </a:solidFill>
                <a:ea typeface="STKaiti" panose="02010600040101010101" pitchFamily="2" charset="-122"/>
              </a:rPr>
              <a:t>如 h-置信度</a:t>
            </a:r>
          </a:p>
          <a:p>
            <a:r>
              <a:rPr lang="en-US" altLang="en-US">
                <a:ea typeface="STKaiti" panose="02010600040101010101" pitchFamily="2" charset="-122"/>
              </a:rPr>
              <a:t>计算复杂度</a:t>
            </a:r>
          </a:p>
          <a:p>
            <a:pPr lvl="1"/>
            <a:r>
              <a:rPr lang="en-US" altLang="en-US" sz="2400">
                <a:ea typeface="STKaiti" panose="02010600040101010101" pitchFamily="2" charset="-122"/>
              </a:rPr>
              <a:t>二进制化数据会增加项的数量</a:t>
            </a:r>
          </a:p>
          <a:p>
            <a:pPr lvl="1"/>
            <a:r>
              <a:rPr lang="en-US" altLang="en-US" sz="2400">
                <a:ea typeface="STKaiti" panose="02010600040101010101" pitchFamily="2" charset="-122"/>
              </a:rPr>
              <a:t>但“交易”的宽度仍与原始（未二值化）属性的数量相同</a:t>
            </a:r>
          </a:p>
          <a:p>
            <a:pPr lvl="1"/>
            <a:r>
              <a:rPr lang="en-US" altLang="en-US" sz="2400">
                <a:ea typeface="STKaiti" panose="02010600040101010101" pitchFamily="2" charset="-122"/>
              </a:rPr>
              <a:t>生成更多高频项集，但高频项集的最大大小受原始属性数量限制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45EA6D9-CC80-4218-B156-CCE8FCA602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处理连续属性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85376749-5498-4540-A246-4A0EB978B5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50842" y="1219200"/>
            <a:ext cx="11369963" cy="5181600"/>
          </a:xfrm>
        </p:spPr>
        <p:txBody>
          <a:bodyPr/>
          <a:lstStyle/>
          <a:p>
            <a:r>
              <a:rPr lang="en-US" altLang="en-US" sz="2400">
                <a:sym typeface="Symbol" panose="05050102010706020507" pitchFamily="18" charset="2"/>
              </a:rPr>
              <a:t>不同方法：</a:t>
            </a:r>
          </a:p>
          <a:p>
            <a:pPr lvl="1"/>
            <a:r>
              <a:rPr lang="en-US" altLang="en-US" sz="2400">
                <a:sym typeface="Symbol" panose="05050102010706020507" pitchFamily="18" charset="2"/>
              </a:rPr>
              <a:t>离散化方法</a:t>
            </a:r>
          </a:p>
          <a:p>
            <a:pPr lvl="1"/>
            <a:r>
              <a:rPr lang="en-US" altLang="en-US" sz="2400">
                <a:sym typeface="Symbol" panose="05050102010706020507" pitchFamily="18" charset="2"/>
              </a:rPr>
              <a:t>基于统计的方法</a:t>
            </a:r>
          </a:p>
          <a:p>
            <a:pPr lvl="1"/>
            <a:r>
              <a:rPr lang="en-US" altLang="en-US" sz="2400">
                <a:sym typeface="Symbol" panose="05050102010706020507" pitchFamily="18" charset="2"/>
              </a:rPr>
              <a:t>非离散化方法</a:t>
            </a:r>
          </a:p>
          <a:p>
            <a:pPr lvl="2"/>
            <a:r>
              <a:rPr lang="en-US" altLang="en-US" sz="2400">
                <a:sym typeface="Symbol" panose="05050102010706020507" pitchFamily="18" charset="2"/>
              </a:rPr>
              <a:t> minApriori</a:t>
            </a:r>
          </a:p>
          <a:p>
            <a:pPr lvl="2"/>
            <a:endParaRPr lang="en-US" altLang="en-US" sz="2400">
              <a:sym typeface="Symbol" panose="05050102010706020507" pitchFamily="18" charset="2"/>
            </a:endParaRPr>
          </a:p>
          <a:p>
            <a:r>
              <a:rPr lang="en-US" altLang="en-US" sz="2400"/>
              <a:t>可以生成不同类型的规则：</a:t>
            </a:r>
          </a:p>
          <a:p>
            <a:pPr lvl="1"/>
            <a:r>
              <a:rPr lang="en-US" altLang="en-US" sz="2400"/>
              <a:t>{</a:t>
            </a:r>
            <a:r>
              <a:rPr lang="en-US" altLang="en-US" sz="2400">
                <a:sym typeface="Symbol" panose="05050102010706020507" pitchFamily="18" charset="2"/>
              </a:rPr>
              <a:t>年龄[21,30), 在线时长[10,20)}</a:t>
            </a:r>
            <a:r>
              <a:rPr lang="zh-CN" altLang="en-US" sz="2400">
                <a:sym typeface="Symbol" panose="05050102010706020507" pitchFamily="18" charset="2"/>
              </a:rPr>
              <a:t> </a:t>
            </a:r>
            <a:r>
              <a:rPr lang="en-US" altLang="en-US" sz="2400">
                <a:sym typeface="Symbol" panose="05050102010706020507" pitchFamily="18" charset="2"/>
              </a:rPr>
              <a:t> {在线聊天 = 是}</a:t>
            </a:r>
          </a:p>
          <a:p>
            <a:pPr lvl="1"/>
            <a:r>
              <a:rPr lang="en-US" altLang="en-US" sz="2400">
                <a:sym typeface="Symbol" panose="05050102010706020507" pitchFamily="18" charset="2"/>
              </a:rPr>
              <a:t>{年龄[15,30), 新冠阳性 = 是}</a:t>
            </a:r>
            <a:r>
              <a:rPr lang="zh-CN" altLang="en-US" sz="2400">
                <a:sym typeface="Symbol" panose="05050102010706020507" pitchFamily="18" charset="2"/>
              </a:rPr>
              <a:t> </a:t>
            </a:r>
            <a:r>
              <a:rPr lang="en-US" altLang="en-US" sz="2400">
                <a:sym typeface="Symbol" panose="05050102010706020507" pitchFamily="18" charset="2"/>
              </a:rPr>
              <a:t> 完全康复 </a:t>
            </a:r>
          </a:p>
          <a:p>
            <a:pPr lvl="1"/>
            <a:endParaRPr lang="en-US" altLang="en-US" sz="2400">
              <a:sym typeface="Symbol" panose="05050102010706020507" pitchFamily="18" charset="2"/>
            </a:endParaRPr>
          </a:p>
          <a:p>
            <a:pPr marL="461951" lvl="1" indent="-461951">
              <a:buClr>
                <a:srgbClr val="0000CC"/>
              </a:buClr>
            </a:pPr>
            <a:r>
              <a:rPr lang="en-US" altLang="en-US" sz="2400"/>
              <a:t>包含连续属性的关联规则通常称为量化关联规则</a:t>
            </a:r>
            <a:r>
              <a:rPr lang="zh-CN" altLang="en-US" sz="2400"/>
              <a:t>（</a:t>
            </a:r>
            <a:r>
              <a:rPr lang="en-US" altLang="zh-CN" sz="2400"/>
              <a:t>quantitative</a:t>
            </a:r>
            <a:r>
              <a:rPr lang="zh-CN" altLang="en-US" sz="2400"/>
              <a:t> </a:t>
            </a:r>
            <a:r>
              <a:rPr lang="en-US" altLang="zh-CN" sz="2400"/>
              <a:t>association</a:t>
            </a:r>
            <a:r>
              <a:rPr lang="zh-CN" altLang="en-US" sz="2400"/>
              <a:t> </a:t>
            </a:r>
            <a:r>
              <a:rPr lang="en-US" altLang="zh-CN" sz="2400"/>
              <a:t>rule</a:t>
            </a:r>
            <a:r>
              <a:rPr lang="zh-CN" altLang="en-US" sz="2400"/>
              <a:t>）</a:t>
            </a:r>
            <a:endParaRPr lang="en-US" altLang="en-US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FA68758-BE81-4B09-A03D-19BBCA4AE5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>
                <a:latin typeface="STKaiti" panose="02010600040101010101" pitchFamily="2" charset="-122"/>
                <a:ea typeface="STKaiti" panose="02010600040101010101" pitchFamily="2" charset="-122"/>
              </a:rPr>
              <a:t>离散化方法</a:t>
            </a:r>
          </a:p>
        </p:txBody>
      </p:sp>
      <p:pic>
        <p:nvPicPr>
          <p:cNvPr id="14339" name="Picture 4">
            <a:extLst>
              <a:ext uri="{FF2B5EF4-FFF2-40B4-BE49-F238E27FC236}">
                <a16:creationId xmlns:a16="http://schemas.microsoft.com/office/drawing/2014/main" id="{8DE021B4-F890-41EF-8107-8CF59F132856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6006" y="1411876"/>
            <a:ext cx="5599113" cy="2368550"/>
          </a:xfrm>
          <a:noFill/>
        </p:spPr>
      </p:pic>
      <p:pic>
        <p:nvPicPr>
          <p:cNvPr id="14340" name="Picture 6">
            <a:extLst>
              <a:ext uri="{FF2B5EF4-FFF2-40B4-BE49-F238E27FC236}">
                <a16:creationId xmlns:a16="http://schemas.microsoft.com/office/drawing/2014/main" id="{F56ABCEA-1F90-46DF-AD0A-B4D9DDC48096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69806" y="4155077"/>
            <a:ext cx="5800725" cy="2303463"/>
          </a:xfrm>
          <a:noFill/>
        </p:spPr>
      </p:pic>
      <p:sp>
        <p:nvSpPr>
          <p:cNvPr id="14341" name="AutoShape 8">
            <a:extLst>
              <a:ext uri="{FF2B5EF4-FFF2-40B4-BE49-F238E27FC236}">
                <a16:creationId xmlns:a16="http://schemas.microsoft.com/office/drawing/2014/main" id="{32A5C810-281A-408E-931E-549A42782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6805" y="2935876"/>
            <a:ext cx="990600" cy="2133600"/>
          </a:xfrm>
          <a:prstGeom prst="curvedRightArrow">
            <a:avLst>
              <a:gd name="adj1" fmla="val 43077"/>
              <a:gd name="adj2" fmla="val 86154"/>
              <a:gd name="adj3" fmla="val 33333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FA68758-BE81-4B09-A03D-19BBCA4AE5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>
                <a:latin typeface="STKaiti" panose="02010600040101010101" pitchFamily="2" charset="-122"/>
                <a:ea typeface="STKaiti" panose="02010600040101010101" pitchFamily="2" charset="-122"/>
              </a:rPr>
              <a:t>离散化方法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26BCA76-51D5-1120-D0AB-BC19C43D3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16" y="1478445"/>
            <a:ext cx="6756400" cy="4457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B40E70-2ADB-FB58-0757-E725762A582E}"/>
              </a:ext>
            </a:extLst>
          </p:cNvPr>
          <p:cNvSpPr txBox="1"/>
          <p:nvPr/>
        </p:nvSpPr>
        <p:spPr>
          <a:xfrm>
            <a:off x="7133179" y="2378561"/>
            <a:ext cx="4707836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ore-KR" altLang="en-US" dirty="0">
                <a:latin typeface="KaiTi" panose="02010609060101010101" pitchFamily="49" charset="-122"/>
              </a:rPr>
              <a:t>规则</a:t>
            </a:r>
            <a:r>
              <a:rPr lang="en-US" altLang="zh-CN" dirty="0">
                <a:latin typeface="KaiTi" panose="02010609060101010101" pitchFamily="49" charset="-122"/>
              </a:rPr>
              <a:t>1</a:t>
            </a:r>
            <a:r>
              <a:rPr lang="ko-Kore-KR" altLang="en-US" dirty="0">
                <a:latin typeface="KaiTi" panose="02010609060101010101" pitchFamily="49" charset="-122"/>
              </a:rPr>
              <a:t>：年龄 ∈ [16,24] → 网上聊天=是</a:t>
            </a:r>
            <a:endParaRPr lang="en-US" altLang="ko-Kore-KR" dirty="0">
              <a:latin typeface="KaiTi" panose="02010609060101010101" pitchFamily="49" charset="-122"/>
            </a:endParaRPr>
          </a:p>
          <a:p>
            <a:endParaRPr lang="en-US" altLang="ko-Kore-KR" dirty="0">
              <a:latin typeface="KaiTi" panose="02010609060101010101" pitchFamily="49" charset="-122"/>
            </a:endParaRPr>
          </a:p>
          <a:p>
            <a:r>
              <a:rPr lang="en-US" altLang="ko-Kore-KR" dirty="0">
                <a:latin typeface="KaiTi" panose="02010609060101010101" pitchFamily="49" charset="-122"/>
              </a:rPr>
              <a:t>Support</a:t>
            </a:r>
            <a:r>
              <a:rPr lang="zh-CN" altLang="en-US" dirty="0">
                <a:latin typeface="KaiTi" panose="02010609060101010101" pitchFamily="49" charset="-122"/>
              </a:rPr>
              <a:t> </a:t>
            </a:r>
            <a:r>
              <a:rPr lang="en-US" altLang="zh-CN" dirty="0">
                <a:latin typeface="KaiTi" panose="02010609060101010101" pitchFamily="49" charset="-122"/>
              </a:rPr>
              <a:t>=</a:t>
            </a:r>
            <a:r>
              <a:rPr lang="zh-CN" altLang="en-US" dirty="0">
                <a:latin typeface="KaiTi" panose="02010609060101010101" pitchFamily="49" charset="-122"/>
              </a:rPr>
              <a:t> ？</a:t>
            </a:r>
            <a:endParaRPr lang="en-US" altLang="zh-CN" dirty="0">
              <a:latin typeface="KaiTi" panose="02010609060101010101" pitchFamily="49" charset="-122"/>
            </a:endParaRPr>
          </a:p>
          <a:p>
            <a:r>
              <a:rPr lang="en-US" altLang="ko-Kore-KR" dirty="0">
                <a:latin typeface="KaiTi" panose="02010609060101010101" pitchFamily="49" charset="-122"/>
              </a:rPr>
              <a:t>Confidence</a:t>
            </a:r>
            <a:r>
              <a:rPr lang="zh-CN" altLang="en-US" dirty="0">
                <a:latin typeface="KaiTi" panose="02010609060101010101" pitchFamily="49" charset="-122"/>
              </a:rPr>
              <a:t> </a:t>
            </a:r>
            <a:r>
              <a:rPr lang="en-US" altLang="zh-CN" dirty="0">
                <a:latin typeface="KaiTi" panose="02010609060101010101" pitchFamily="49" charset="-122"/>
              </a:rPr>
              <a:t>=</a:t>
            </a:r>
            <a:r>
              <a:rPr lang="zh-CN" altLang="en-US" dirty="0">
                <a:latin typeface="KaiTi" panose="02010609060101010101" pitchFamily="49" charset="-122"/>
              </a:rPr>
              <a:t> ？</a:t>
            </a:r>
            <a:endParaRPr lang="en-US" altLang="zh-CN" dirty="0">
              <a:latin typeface="KaiTi" panose="02010609060101010101" pitchFamily="49" charset="-122"/>
            </a:endParaRPr>
          </a:p>
          <a:p>
            <a:endParaRPr lang="en-US" altLang="ko-Kore-KR" dirty="0">
              <a:latin typeface="KaiTi" panose="02010609060101010101" pitchFamily="49" charset="-122"/>
            </a:endParaRPr>
          </a:p>
          <a:p>
            <a:r>
              <a:rPr lang="ko-Kore-KR" altLang="en-US" dirty="0">
                <a:latin typeface="KaiTi" panose="02010609060101010101" pitchFamily="49" charset="-122"/>
              </a:rPr>
              <a:t>规则</a:t>
            </a:r>
            <a:r>
              <a:rPr lang="en-US" altLang="zh-CN" dirty="0">
                <a:latin typeface="KaiTi" panose="02010609060101010101" pitchFamily="49" charset="-122"/>
              </a:rPr>
              <a:t>2</a:t>
            </a:r>
            <a:r>
              <a:rPr lang="ko-Kore-KR" altLang="en-US" dirty="0">
                <a:latin typeface="KaiTi" panose="02010609060101010101" pitchFamily="49" charset="-122"/>
              </a:rPr>
              <a:t>：年龄 ∈ [</a:t>
            </a:r>
            <a:r>
              <a:rPr lang="en-US" altLang="zh-CN" dirty="0">
                <a:latin typeface="KaiTi" panose="02010609060101010101" pitchFamily="49" charset="-122"/>
              </a:rPr>
              <a:t>44</a:t>
            </a:r>
            <a:r>
              <a:rPr lang="ko-Kore-KR" altLang="en-US" dirty="0">
                <a:latin typeface="KaiTi" panose="02010609060101010101" pitchFamily="49" charset="-122"/>
              </a:rPr>
              <a:t>,</a:t>
            </a:r>
            <a:r>
              <a:rPr lang="en-US" altLang="zh-CN" dirty="0">
                <a:latin typeface="KaiTi" panose="02010609060101010101" pitchFamily="49" charset="-122"/>
              </a:rPr>
              <a:t>60</a:t>
            </a:r>
            <a:r>
              <a:rPr lang="ko-Kore-KR" altLang="en-US" dirty="0">
                <a:latin typeface="KaiTi" panose="02010609060101010101" pitchFamily="49" charset="-122"/>
              </a:rPr>
              <a:t>] → 网上聊天=是</a:t>
            </a:r>
            <a:endParaRPr lang="en-US" altLang="ko-Kore-KR" dirty="0">
              <a:latin typeface="KaiTi" panose="02010609060101010101" pitchFamily="49" charset="-122"/>
            </a:endParaRPr>
          </a:p>
          <a:p>
            <a:endParaRPr lang="en-US" altLang="ko-Kore-KR" dirty="0">
              <a:latin typeface="KaiTi" panose="02010609060101010101" pitchFamily="49" charset="-122"/>
            </a:endParaRPr>
          </a:p>
          <a:p>
            <a:r>
              <a:rPr lang="en-US" altLang="ko-Kore-KR" dirty="0">
                <a:latin typeface="KaiTi" panose="02010609060101010101" pitchFamily="49" charset="-122"/>
              </a:rPr>
              <a:t>Support</a:t>
            </a:r>
            <a:r>
              <a:rPr lang="zh-CN" altLang="en-US" dirty="0">
                <a:latin typeface="KaiTi" panose="02010609060101010101" pitchFamily="49" charset="-122"/>
              </a:rPr>
              <a:t> </a:t>
            </a:r>
            <a:r>
              <a:rPr lang="en-US" altLang="zh-CN" dirty="0">
                <a:latin typeface="KaiTi" panose="02010609060101010101" pitchFamily="49" charset="-122"/>
              </a:rPr>
              <a:t>=</a:t>
            </a:r>
            <a:r>
              <a:rPr lang="zh-CN" altLang="en-US" dirty="0">
                <a:latin typeface="KaiTi" panose="02010609060101010101" pitchFamily="49" charset="-122"/>
              </a:rPr>
              <a:t> ？</a:t>
            </a:r>
            <a:endParaRPr lang="en-US" altLang="zh-CN" dirty="0">
              <a:latin typeface="KaiTi" panose="02010609060101010101" pitchFamily="49" charset="-122"/>
            </a:endParaRPr>
          </a:p>
          <a:p>
            <a:r>
              <a:rPr lang="en-US" altLang="ko-Kore-KR" dirty="0">
                <a:latin typeface="KaiTi" panose="02010609060101010101" pitchFamily="49" charset="-122"/>
              </a:rPr>
              <a:t>Confidence</a:t>
            </a:r>
            <a:r>
              <a:rPr lang="zh-CN" altLang="en-US" dirty="0">
                <a:latin typeface="KaiTi" panose="02010609060101010101" pitchFamily="49" charset="-122"/>
              </a:rPr>
              <a:t> </a:t>
            </a:r>
            <a:r>
              <a:rPr lang="en-US" altLang="zh-CN" dirty="0">
                <a:latin typeface="KaiTi" panose="02010609060101010101" pitchFamily="49" charset="-122"/>
              </a:rPr>
              <a:t>=</a:t>
            </a:r>
            <a:r>
              <a:rPr lang="zh-CN" altLang="en-US" dirty="0">
                <a:latin typeface="KaiTi" panose="02010609060101010101" pitchFamily="49" charset="-122"/>
              </a:rPr>
              <a:t> ？</a:t>
            </a:r>
            <a:endParaRPr lang="en-US" altLang="zh-CN" dirty="0">
              <a:latin typeface="KaiTi" panose="02010609060101010101" pitchFamily="49" charset="-122"/>
            </a:endParaRPr>
          </a:p>
          <a:p>
            <a:endParaRPr lang="ko-Kore-KR" altLang="en-US" dirty="0">
              <a:latin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9490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4B3D3B7E-50F0-4DC0-8190-6B13BC7A87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STKaiti" panose="02010600040101010101" pitchFamily="2" charset="-122"/>
              </a:rPr>
              <a:t>离散化方法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C0346082-02E4-4D2B-936A-D0EFFF1095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2546" y="1217234"/>
            <a:ext cx="11406908" cy="5384800"/>
          </a:xfrm>
        </p:spPr>
        <p:txBody>
          <a:bodyPr/>
          <a:lstStyle/>
          <a:p>
            <a:r>
              <a:rPr lang="en-US" altLang="en-US" sz="2400" dirty="0" err="1">
                <a:ea typeface="STKaiti" panose="02010600040101010101" pitchFamily="2" charset="-122"/>
              </a:rPr>
              <a:t>无监督</a:t>
            </a:r>
            <a:r>
              <a:rPr lang="zh-CN" altLang="en-US" sz="2400" dirty="0">
                <a:ea typeface="STKaiti" panose="02010600040101010101" pitchFamily="2" charset="-122"/>
              </a:rPr>
              <a:t>离散化</a:t>
            </a:r>
            <a:r>
              <a:rPr lang="en-US" altLang="en-US" sz="2400" dirty="0">
                <a:ea typeface="STKaiti" panose="02010600040101010101" pitchFamily="2" charset="-122"/>
              </a:rPr>
              <a:t>：</a:t>
            </a:r>
          </a:p>
          <a:p>
            <a:pPr lvl="1"/>
            <a:r>
              <a:rPr lang="en-US" altLang="en-US" sz="2400" dirty="0" err="1">
                <a:ea typeface="STKaiti" panose="02010600040101010101" pitchFamily="2" charset="-122"/>
              </a:rPr>
              <a:t>等宽分箱</a:t>
            </a:r>
            <a:r>
              <a:rPr lang="zh-CN" altLang="en-US" sz="2400" dirty="0">
                <a:ea typeface="STKaiti" panose="02010600040101010101" pitchFamily="2" charset="-122"/>
              </a:rPr>
              <a:t>：将范围划分为</a:t>
            </a:r>
            <a:r>
              <a:rPr lang="en" altLang="zh-CN" sz="2400" dirty="0">
                <a:ea typeface="STKaiti" panose="02010600040101010101" pitchFamily="2" charset="-122"/>
              </a:rPr>
              <a:t>N</a:t>
            </a:r>
            <a:r>
              <a:rPr lang="zh-CN" altLang="en-US" sz="2400" dirty="0">
                <a:ea typeface="STKaiti" panose="02010600040101010101" pitchFamily="2" charset="-122"/>
              </a:rPr>
              <a:t>个等大小的区间：均匀网格</a:t>
            </a:r>
          </a:p>
          <a:p>
            <a:pPr marL="200021" lvl="1" indent="0">
              <a:buNone/>
            </a:pPr>
            <a:endParaRPr lang="en-US" altLang="en-US" sz="2400" dirty="0">
              <a:ea typeface="STKaiti" panose="02010600040101010101" pitchFamily="2" charset="-122"/>
            </a:endParaRPr>
          </a:p>
          <a:p>
            <a:pPr lvl="1"/>
            <a:r>
              <a:rPr lang="en-US" altLang="en-US" sz="2400" dirty="0" err="1">
                <a:ea typeface="STKaiti" panose="02010600040101010101" pitchFamily="2" charset="-122"/>
              </a:rPr>
              <a:t>等深度分箱</a:t>
            </a:r>
            <a:r>
              <a:rPr lang="zh-CN" altLang="en-US" sz="2400" dirty="0">
                <a:ea typeface="STKaiti" panose="02010600040101010101" pitchFamily="2" charset="-122"/>
              </a:rPr>
              <a:t>：将范围划分为</a:t>
            </a:r>
            <a:r>
              <a:rPr lang="en" altLang="zh-CN" sz="2400" dirty="0">
                <a:ea typeface="STKaiti" panose="02010600040101010101" pitchFamily="2" charset="-122"/>
              </a:rPr>
              <a:t>N</a:t>
            </a:r>
            <a:r>
              <a:rPr lang="zh-CN" altLang="en-US" sz="2400" dirty="0">
                <a:ea typeface="STKaiti" panose="02010600040101010101" pitchFamily="2" charset="-122"/>
              </a:rPr>
              <a:t>个区间，每个区间包含大致相同数量的样本</a:t>
            </a:r>
          </a:p>
          <a:p>
            <a:pPr marL="200021" lvl="1" indent="0">
              <a:buNone/>
            </a:pPr>
            <a:endParaRPr lang="en-US" altLang="en-US" sz="2400" dirty="0">
              <a:ea typeface="STKaiti" panose="02010600040101010101" pitchFamily="2" charset="-122"/>
            </a:endParaRPr>
          </a:p>
          <a:p>
            <a:pPr lvl="1"/>
            <a:r>
              <a:rPr lang="en-US" altLang="en-US" sz="2400" dirty="0" err="1">
                <a:ea typeface="STKaiti" panose="02010600040101010101" pitchFamily="2" charset="-122"/>
              </a:rPr>
              <a:t>聚类基</a:t>
            </a:r>
            <a:r>
              <a:rPr lang="zh-CN" altLang="en-US" sz="2400" dirty="0">
                <a:ea typeface="STKaiti" panose="02010600040101010101" pitchFamily="2" charset="-122"/>
              </a:rPr>
              <a:t>：通过聚类算法（如 </a:t>
            </a:r>
            <a:r>
              <a:rPr lang="en" altLang="zh-CN" sz="2400" dirty="0">
                <a:ea typeface="STKaiti" panose="02010600040101010101" pitchFamily="2" charset="-122"/>
              </a:rPr>
              <a:t>K-means</a:t>
            </a:r>
            <a:r>
              <a:rPr lang="zh-CN" altLang="en" sz="2400" dirty="0">
                <a:ea typeface="STKaiti" panose="02010600040101010101" pitchFamily="2" charset="-122"/>
              </a:rPr>
              <a:t>）</a:t>
            </a:r>
            <a:r>
              <a:rPr lang="zh-CN" altLang="en-US" sz="2400" dirty="0">
                <a:ea typeface="STKaiti" panose="02010600040101010101" pitchFamily="2" charset="-122"/>
              </a:rPr>
              <a:t>把数据聚成几类，每一类当成一个区间。</a:t>
            </a:r>
            <a:endParaRPr lang="en-US" altLang="en-US" sz="2400" dirty="0">
              <a:ea typeface="STKaiti" panose="02010600040101010101" pitchFamily="2" charset="-122"/>
            </a:endParaRPr>
          </a:p>
          <a:p>
            <a:pPr lvl="1"/>
            <a:endParaRPr lang="en-US" altLang="en-US" sz="2400" dirty="0">
              <a:ea typeface="STKaiti" panose="02010600040101010101" pitchFamily="2" charset="-122"/>
            </a:endParaRPr>
          </a:p>
          <a:p>
            <a:r>
              <a:rPr lang="en-US" altLang="en-US" sz="2400" dirty="0" err="1">
                <a:ea typeface="STKaiti" panose="02010600040101010101" pitchFamily="2" charset="-122"/>
              </a:rPr>
              <a:t>有监督离散化</a:t>
            </a:r>
            <a:endParaRPr lang="en-US" altLang="en-US" sz="2400" dirty="0">
              <a:ea typeface="STKaiti" panose="02010600040101010101" pitchFamily="2" charset="-122"/>
            </a:endParaRPr>
          </a:p>
          <a:p>
            <a:endParaRPr lang="en-US" altLang="en-US" dirty="0">
              <a:ea typeface="STKaiti" panose="02010600040101010101" pitchFamily="2" charset="-122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0D745B9-4641-7A72-3D1F-1BC6FE5A929A}"/>
              </a:ext>
            </a:extLst>
          </p:cNvPr>
          <p:cNvGrpSpPr/>
          <p:nvPr/>
        </p:nvGrpSpPr>
        <p:grpSpPr>
          <a:xfrm>
            <a:off x="2470454" y="4467286"/>
            <a:ext cx="7772400" cy="2209800"/>
            <a:chOff x="2470454" y="4147125"/>
            <a:chExt cx="7772400" cy="2209800"/>
          </a:xfrm>
        </p:grpSpPr>
        <p:sp>
          <p:nvSpPr>
            <p:cNvPr id="15364" name="Rectangle 72">
              <a:extLst>
                <a:ext uri="{FF2B5EF4-FFF2-40B4-BE49-F238E27FC236}">
                  <a16:creationId xmlns:a16="http://schemas.microsoft.com/office/drawing/2014/main" id="{3077EAFE-5005-4FEE-966B-ED7246D889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3254" y="5379025"/>
              <a:ext cx="609600" cy="371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Monotype Sorts" pitchFamily="2" charset="2"/>
                <a:buNone/>
              </a:pPr>
              <a:r>
                <a:rPr lang="en-US" altLang="en-US" sz="1800">
                  <a:latin typeface="STKaiti" panose="02010600040101010101" pitchFamily="2" charset="-122"/>
                  <a:ea typeface="STKaiti" panose="02010600040101010101" pitchFamily="2" charset="-122"/>
                </a:rPr>
                <a:t>100</a:t>
              </a:r>
            </a:p>
          </p:txBody>
        </p:sp>
        <p:sp>
          <p:nvSpPr>
            <p:cNvPr id="15365" name="Rectangle 73">
              <a:extLst>
                <a:ext uri="{FF2B5EF4-FFF2-40B4-BE49-F238E27FC236}">
                  <a16:creationId xmlns:a16="http://schemas.microsoft.com/office/drawing/2014/main" id="{796231FE-3375-4E13-BC0C-DBBA75F3F7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3654" y="5379025"/>
              <a:ext cx="609600" cy="371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Monotype Sorts" pitchFamily="2" charset="2"/>
                <a:buNone/>
              </a:pPr>
              <a:r>
                <a:rPr lang="en-US" altLang="en-US" sz="1800">
                  <a:latin typeface="STKaiti" panose="02010600040101010101" pitchFamily="2" charset="-122"/>
                  <a:ea typeface="STKaiti" panose="02010600040101010101" pitchFamily="2" charset="-122"/>
                </a:rPr>
                <a:t>150</a:t>
              </a:r>
            </a:p>
          </p:txBody>
        </p:sp>
        <p:sp>
          <p:nvSpPr>
            <p:cNvPr id="15366" name="Rectangle 74">
              <a:extLst>
                <a:ext uri="{FF2B5EF4-FFF2-40B4-BE49-F238E27FC236}">
                  <a16:creationId xmlns:a16="http://schemas.microsoft.com/office/drawing/2014/main" id="{83DDDAFD-7EB0-4250-AEA7-E94EDA96B9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14054" y="5379025"/>
              <a:ext cx="609600" cy="371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Monotype Sorts" pitchFamily="2" charset="2"/>
                <a:buNone/>
              </a:pPr>
              <a:r>
                <a:rPr lang="en-US" altLang="en-US" sz="1800">
                  <a:latin typeface="STKaiti" panose="02010600040101010101" pitchFamily="2" charset="-122"/>
                  <a:ea typeface="STKaiti" panose="02010600040101010101" pitchFamily="2" charset="-122"/>
                </a:rPr>
                <a:t>100</a:t>
              </a:r>
            </a:p>
          </p:txBody>
        </p:sp>
        <p:sp>
          <p:nvSpPr>
            <p:cNvPr id="15367" name="Rectangle 75">
              <a:extLst>
                <a:ext uri="{FF2B5EF4-FFF2-40B4-BE49-F238E27FC236}">
                  <a16:creationId xmlns:a16="http://schemas.microsoft.com/office/drawing/2014/main" id="{B6AADB54-2AC0-4EE9-9EA6-0EAA326758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04454" y="5379025"/>
              <a:ext cx="609600" cy="371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Monotype Sorts" pitchFamily="2" charset="2"/>
                <a:buNone/>
              </a:pPr>
              <a:r>
                <a:rPr lang="en-US" altLang="en-US" sz="1800">
                  <a:latin typeface="STKaiti" panose="02010600040101010101" pitchFamily="2" charset="-122"/>
                  <a:ea typeface="STKaiti" panose="02010600040101010101" pitchFamily="2" charset="-122"/>
                </a:rPr>
                <a:t>100</a:t>
              </a:r>
            </a:p>
          </p:txBody>
        </p:sp>
        <p:sp>
          <p:nvSpPr>
            <p:cNvPr id="15368" name="Rectangle 76">
              <a:extLst>
                <a:ext uri="{FF2B5EF4-FFF2-40B4-BE49-F238E27FC236}">
                  <a16:creationId xmlns:a16="http://schemas.microsoft.com/office/drawing/2014/main" id="{ED0061D6-ED3F-4DD5-9348-619EDE4747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4854" y="5379025"/>
              <a:ext cx="609600" cy="371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Monotype Sorts" pitchFamily="2" charset="2"/>
                <a:buNone/>
              </a:pPr>
              <a:r>
                <a:rPr lang="en-US" altLang="en-US" sz="1800">
                  <a:latin typeface="STKaiti" panose="02010600040101010101" pitchFamily="2" charset="-122"/>
                  <a:ea typeface="STKaiti" panose="02010600040101010101" pitchFamily="2" charset="-122"/>
                </a:rPr>
                <a:t>0</a:t>
              </a:r>
            </a:p>
          </p:txBody>
        </p:sp>
        <p:sp>
          <p:nvSpPr>
            <p:cNvPr id="15369" name="Rectangle 77">
              <a:extLst>
                <a:ext uri="{FF2B5EF4-FFF2-40B4-BE49-F238E27FC236}">
                  <a16:creationId xmlns:a16="http://schemas.microsoft.com/office/drawing/2014/main" id="{1FAE7148-9A31-4729-B851-69D3450007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5254" y="5379025"/>
              <a:ext cx="609600" cy="371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Monotype Sorts" pitchFamily="2" charset="2"/>
                <a:buNone/>
              </a:pPr>
              <a:r>
                <a:rPr lang="en-US" altLang="en-US" sz="1800">
                  <a:latin typeface="STKaiti" panose="02010600040101010101" pitchFamily="2" charset="-122"/>
                  <a:ea typeface="STKaiti" panose="02010600040101010101" pitchFamily="2" charset="-122"/>
                </a:rPr>
                <a:t>0</a:t>
              </a:r>
            </a:p>
          </p:txBody>
        </p:sp>
        <p:sp>
          <p:nvSpPr>
            <p:cNvPr id="15370" name="Rectangle 78">
              <a:extLst>
                <a:ext uri="{FF2B5EF4-FFF2-40B4-BE49-F238E27FC236}">
                  <a16:creationId xmlns:a16="http://schemas.microsoft.com/office/drawing/2014/main" id="{6F868416-7883-4A04-9E08-78661DBB0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75654" y="5379025"/>
              <a:ext cx="609600" cy="371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Monotype Sorts" pitchFamily="2" charset="2"/>
                <a:buNone/>
              </a:pPr>
              <a:r>
                <a:rPr lang="en-US" altLang="en-US" sz="1800">
                  <a:latin typeface="STKaiti" panose="02010600040101010101" pitchFamily="2" charset="-122"/>
                  <a:ea typeface="STKaiti" panose="02010600040101010101" pitchFamily="2" charset="-122"/>
                </a:rPr>
                <a:t>0</a:t>
              </a:r>
            </a:p>
          </p:txBody>
        </p:sp>
        <p:sp>
          <p:nvSpPr>
            <p:cNvPr id="15371" name="Rectangle 79">
              <a:extLst>
                <a:ext uri="{FF2B5EF4-FFF2-40B4-BE49-F238E27FC236}">
                  <a16:creationId xmlns:a16="http://schemas.microsoft.com/office/drawing/2014/main" id="{AB6031D6-70C7-4126-975E-EC4CBB081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6054" y="5379025"/>
              <a:ext cx="609600" cy="371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Monotype Sorts" pitchFamily="2" charset="2"/>
                <a:buNone/>
              </a:pPr>
              <a:r>
                <a:rPr lang="en-US" altLang="en-US" sz="1800">
                  <a:latin typeface="STKaiti" panose="02010600040101010101" pitchFamily="2" charset="-122"/>
                  <a:ea typeface="STKaiti" panose="02010600040101010101" pitchFamily="2" charset="-122"/>
                </a:rPr>
                <a:t>100</a:t>
              </a:r>
            </a:p>
          </p:txBody>
        </p:sp>
        <p:sp>
          <p:nvSpPr>
            <p:cNvPr id="15372" name="Rectangle 80">
              <a:extLst>
                <a:ext uri="{FF2B5EF4-FFF2-40B4-BE49-F238E27FC236}">
                  <a16:creationId xmlns:a16="http://schemas.microsoft.com/office/drawing/2014/main" id="{F416CB2D-A044-4B57-9A22-49E4972A4D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6930" y="5379025"/>
              <a:ext cx="619125" cy="371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Monotype Sorts" pitchFamily="2" charset="2"/>
                <a:buNone/>
              </a:pPr>
              <a:r>
                <a:rPr lang="en-US" altLang="en-US" sz="1800">
                  <a:latin typeface="STKaiti" panose="02010600040101010101" pitchFamily="2" charset="-122"/>
                  <a:ea typeface="STKaiti" panose="02010600040101010101" pitchFamily="2" charset="-122"/>
                </a:rPr>
                <a:t>150</a:t>
              </a:r>
            </a:p>
          </p:txBody>
        </p:sp>
        <p:sp>
          <p:nvSpPr>
            <p:cNvPr id="15373" name="Rectangle 81">
              <a:extLst>
                <a:ext uri="{FF2B5EF4-FFF2-40B4-BE49-F238E27FC236}">
                  <a16:creationId xmlns:a16="http://schemas.microsoft.com/office/drawing/2014/main" id="{3298F818-D499-4E1A-B200-4F30AF3E43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3254" y="5005962"/>
              <a:ext cx="609600" cy="373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Monotype Sorts" pitchFamily="2" charset="2"/>
                <a:buNone/>
              </a:pPr>
              <a:r>
                <a:rPr lang="en-US" altLang="en-US" sz="1800">
                  <a:latin typeface="STKaiti" panose="02010600040101010101" pitchFamily="2" charset="-122"/>
                  <a:ea typeface="STKaiti" panose="02010600040101010101" pitchFamily="2" charset="-122"/>
                </a:rPr>
                <a:t>0</a:t>
              </a:r>
            </a:p>
          </p:txBody>
        </p:sp>
        <p:sp>
          <p:nvSpPr>
            <p:cNvPr id="15374" name="Rectangle 82">
              <a:extLst>
                <a:ext uri="{FF2B5EF4-FFF2-40B4-BE49-F238E27FC236}">
                  <a16:creationId xmlns:a16="http://schemas.microsoft.com/office/drawing/2014/main" id="{0F1D4AB0-AC1A-4B68-90D9-A54C3B015F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3654" y="5005962"/>
              <a:ext cx="609600" cy="373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Monotype Sorts" pitchFamily="2" charset="2"/>
                <a:buNone/>
              </a:pPr>
              <a:r>
                <a:rPr lang="en-US" altLang="en-US" sz="1800">
                  <a:latin typeface="STKaiti" panose="02010600040101010101" pitchFamily="2" charset="-122"/>
                  <a:ea typeface="STKaiti" panose="02010600040101010101" pitchFamily="2" charset="-122"/>
                </a:rPr>
                <a:t>0</a:t>
              </a:r>
            </a:p>
          </p:txBody>
        </p:sp>
        <p:sp>
          <p:nvSpPr>
            <p:cNvPr id="15375" name="Rectangle 83">
              <a:extLst>
                <a:ext uri="{FF2B5EF4-FFF2-40B4-BE49-F238E27FC236}">
                  <a16:creationId xmlns:a16="http://schemas.microsoft.com/office/drawing/2014/main" id="{3FE6A0B6-59DE-4D05-ABC6-AEDC423A1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14054" y="5005962"/>
              <a:ext cx="609600" cy="373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Monotype Sorts" pitchFamily="2" charset="2"/>
                <a:buNone/>
              </a:pPr>
              <a:r>
                <a:rPr lang="en-US" altLang="en-US" sz="1800">
                  <a:latin typeface="STKaiti" panose="02010600040101010101" pitchFamily="2" charset="-122"/>
                  <a:ea typeface="STKaiti" panose="02010600040101010101" pitchFamily="2" charset="-122"/>
                </a:rPr>
                <a:t>0</a:t>
              </a:r>
            </a:p>
          </p:txBody>
        </p:sp>
        <p:sp>
          <p:nvSpPr>
            <p:cNvPr id="15376" name="Rectangle 84">
              <a:extLst>
                <a:ext uri="{FF2B5EF4-FFF2-40B4-BE49-F238E27FC236}">
                  <a16:creationId xmlns:a16="http://schemas.microsoft.com/office/drawing/2014/main" id="{200C2B67-9ED9-425E-9FAA-E3EE22ADBC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04454" y="5005962"/>
              <a:ext cx="609600" cy="373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Monotype Sorts" pitchFamily="2" charset="2"/>
                <a:buNone/>
              </a:pPr>
              <a:r>
                <a:rPr lang="en-US" altLang="en-US" sz="1800">
                  <a:latin typeface="STKaiti" panose="02010600040101010101" pitchFamily="2" charset="-122"/>
                  <a:ea typeface="STKaiti" panose="02010600040101010101" pitchFamily="2" charset="-122"/>
                </a:rPr>
                <a:t>0</a:t>
              </a:r>
            </a:p>
          </p:txBody>
        </p:sp>
        <p:sp>
          <p:nvSpPr>
            <p:cNvPr id="15377" name="Rectangle 85">
              <a:extLst>
                <a:ext uri="{FF2B5EF4-FFF2-40B4-BE49-F238E27FC236}">
                  <a16:creationId xmlns:a16="http://schemas.microsoft.com/office/drawing/2014/main" id="{C63CF897-02B9-49E6-A6E9-761A699B4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4854" y="5005962"/>
              <a:ext cx="609600" cy="373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Monotype Sorts" pitchFamily="2" charset="2"/>
                <a:buNone/>
              </a:pPr>
              <a:r>
                <a:rPr lang="en-US" altLang="en-US" sz="1800">
                  <a:latin typeface="STKaiti" panose="02010600040101010101" pitchFamily="2" charset="-122"/>
                  <a:ea typeface="STKaiti" panose="02010600040101010101" pitchFamily="2" charset="-122"/>
                </a:rPr>
                <a:t>20</a:t>
              </a:r>
            </a:p>
          </p:txBody>
        </p:sp>
        <p:sp>
          <p:nvSpPr>
            <p:cNvPr id="15378" name="Rectangle 86">
              <a:extLst>
                <a:ext uri="{FF2B5EF4-FFF2-40B4-BE49-F238E27FC236}">
                  <a16:creationId xmlns:a16="http://schemas.microsoft.com/office/drawing/2014/main" id="{30E1E805-9D08-4E7A-AAE4-7A9BFA7D5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5254" y="5005962"/>
              <a:ext cx="609600" cy="373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Monotype Sorts" pitchFamily="2" charset="2"/>
                <a:buNone/>
              </a:pPr>
              <a:r>
                <a:rPr lang="en-US" altLang="en-US" sz="1800">
                  <a:latin typeface="STKaiti" panose="02010600040101010101" pitchFamily="2" charset="-122"/>
                  <a:ea typeface="STKaiti" panose="02010600040101010101" pitchFamily="2" charset="-122"/>
                </a:rPr>
                <a:t>10</a:t>
              </a:r>
            </a:p>
          </p:txBody>
        </p:sp>
        <p:sp>
          <p:nvSpPr>
            <p:cNvPr id="15379" name="Rectangle 87">
              <a:extLst>
                <a:ext uri="{FF2B5EF4-FFF2-40B4-BE49-F238E27FC236}">
                  <a16:creationId xmlns:a16="http://schemas.microsoft.com/office/drawing/2014/main" id="{21329502-04A4-4584-91F5-FB8D1FEC89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75654" y="5005962"/>
              <a:ext cx="609600" cy="373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Monotype Sorts" pitchFamily="2" charset="2"/>
                <a:buNone/>
              </a:pPr>
              <a:r>
                <a:rPr lang="en-US" altLang="en-US" sz="1800">
                  <a:latin typeface="STKaiti" panose="02010600040101010101" pitchFamily="2" charset="-122"/>
                  <a:ea typeface="STKaiti" panose="02010600040101010101" pitchFamily="2" charset="-122"/>
                </a:rPr>
                <a:t>20</a:t>
              </a:r>
            </a:p>
          </p:txBody>
        </p:sp>
        <p:sp>
          <p:nvSpPr>
            <p:cNvPr id="15380" name="Rectangle 88">
              <a:extLst>
                <a:ext uri="{FF2B5EF4-FFF2-40B4-BE49-F238E27FC236}">
                  <a16:creationId xmlns:a16="http://schemas.microsoft.com/office/drawing/2014/main" id="{0DAF6DEC-6296-4811-B374-336D3EE867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6054" y="5005962"/>
              <a:ext cx="609600" cy="373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Monotype Sorts" pitchFamily="2" charset="2"/>
                <a:buNone/>
              </a:pPr>
              <a:r>
                <a:rPr lang="en-US" altLang="en-US" sz="1800">
                  <a:latin typeface="STKaiti" panose="02010600040101010101" pitchFamily="2" charset="-122"/>
                  <a:ea typeface="STKaiti" panose="02010600040101010101" pitchFamily="2" charset="-122"/>
                </a:rPr>
                <a:t>0</a:t>
              </a:r>
            </a:p>
          </p:txBody>
        </p:sp>
        <p:sp>
          <p:nvSpPr>
            <p:cNvPr id="15381" name="Rectangle 89">
              <a:extLst>
                <a:ext uri="{FF2B5EF4-FFF2-40B4-BE49-F238E27FC236}">
                  <a16:creationId xmlns:a16="http://schemas.microsoft.com/office/drawing/2014/main" id="{F1AF7C41-E89D-4F06-B13D-8805E8F005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6930" y="5005962"/>
              <a:ext cx="619125" cy="373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Monotype Sorts" pitchFamily="2" charset="2"/>
                <a:buNone/>
              </a:pPr>
              <a:r>
                <a:rPr lang="en-US" altLang="en-US" sz="1800">
                  <a:latin typeface="STKaiti" panose="02010600040101010101" pitchFamily="2" charset="-122"/>
                  <a:ea typeface="STKaiti" panose="02010600040101010101" pitchFamily="2" charset="-122"/>
                </a:rPr>
                <a:t>0</a:t>
              </a:r>
            </a:p>
          </p:txBody>
        </p:sp>
        <p:sp>
          <p:nvSpPr>
            <p:cNvPr id="15382" name="Rectangle 90">
              <a:extLst>
                <a:ext uri="{FF2B5EF4-FFF2-40B4-BE49-F238E27FC236}">
                  <a16:creationId xmlns:a16="http://schemas.microsoft.com/office/drawing/2014/main" id="{F4E8E22C-0AF4-4797-872C-BCAD36D44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3254" y="4518600"/>
              <a:ext cx="609600" cy="487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Monotype Sorts" pitchFamily="2" charset="2"/>
                <a:buNone/>
              </a:pPr>
              <a:r>
                <a:rPr lang="en-US" altLang="en-US" baseline="-25000">
                  <a:latin typeface="STKaiti" panose="02010600040101010101" pitchFamily="2" charset="-122"/>
                  <a:ea typeface="STKaiti" panose="02010600040101010101" pitchFamily="2" charset="-122"/>
                </a:rPr>
                <a:t>9</a:t>
              </a:r>
            </a:p>
          </p:txBody>
        </p:sp>
        <p:sp>
          <p:nvSpPr>
            <p:cNvPr id="15383" name="Rectangle 91">
              <a:extLst>
                <a:ext uri="{FF2B5EF4-FFF2-40B4-BE49-F238E27FC236}">
                  <a16:creationId xmlns:a16="http://schemas.microsoft.com/office/drawing/2014/main" id="{783BD486-ACEF-4980-AD47-CCD1B7104D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3654" y="4518600"/>
              <a:ext cx="609600" cy="487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Monotype Sorts" pitchFamily="2" charset="2"/>
                <a:buNone/>
              </a:pPr>
              <a:r>
                <a:rPr lang="en-US" altLang="en-US" baseline="-25000">
                  <a:latin typeface="STKaiti" panose="02010600040101010101" pitchFamily="2" charset="-122"/>
                  <a:ea typeface="STKaiti" panose="02010600040101010101" pitchFamily="2" charset="-122"/>
                </a:rPr>
                <a:t>8</a:t>
              </a:r>
            </a:p>
          </p:txBody>
        </p:sp>
        <p:sp>
          <p:nvSpPr>
            <p:cNvPr id="15384" name="Rectangle 92">
              <a:extLst>
                <a:ext uri="{FF2B5EF4-FFF2-40B4-BE49-F238E27FC236}">
                  <a16:creationId xmlns:a16="http://schemas.microsoft.com/office/drawing/2014/main" id="{C63AC1CF-67A8-4380-B784-C896BA84FA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14054" y="4518600"/>
              <a:ext cx="609600" cy="487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Monotype Sorts" pitchFamily="2" charset="2"/>
                <a:buNone/>
              </a:pPr>
              <a:r>
                <a:rPr lang="en-US" altLang="en-US" baseline="-25000">
                  <a:latin typeface="STKaiti" panose="02010600040101010101" pitchFamily="2" charset="-122"/>
                  <a:ea typeface="STKaiti" panose="02010600040101010101" pitchFamily="2" charset="-122"/>
                </a:rPr>
                <a:t>7</a:t>
              </a:r>
            </a:p>
          </p:txBody>
        </p:sp>
        <p:sp>
          <p:nvSpPr>
            <p:cNvPr id="15385" name="Rectangle 93">
              <a:extLst>
                <a:ext uri="{FF2B5EF4-FFF2-40B4-BE49-F238E27FC236}">
                  <a16:creationId xmlns:a16="http://schemas.microsoft.com/office/drawing/2014/main" id="{1DF6882A-A931-4C24-BDBA-10F4852E8C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04454" y="4507487"/>
              <a:ext cx="609600" cy="488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Monotype Sorts" pitchFamily="2" charset="2"/>
                <a:buNone/>
              </a:pPr>
              <a:r>
                <a:rPr lang="en-US" altLang="en-US" baseline="-25000">
                  <a:latin typeface="STKaiti" panose="02010600040101010101" pitchFamily="2" charset="-122"/>
                  <a:ea typeface="STKaiti" panose="02010600040101010101" pitchFamily="2" charset="-122"/>
                </a:rPr>
                <a:t>6</a:t>
              </a:r>
            </a:p>
          </p:txBody>
        </p:sp>
        <p:sp>
          <p:nvSpPr>
            <p:cNvPr id="15386" name="Rectangle 94">
              <a:extLst>
                <a:ext uri="{FF2B5EF4-FFF2-40B4-BE49-F238E27FC236}">
                  <a16:creationId xmlns:a16="http://schemas.microsoft.com/office/drawing/2014/main" id="{28FBAD60-14FA-4C34-86E5-A48076F880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4854" y="4518600"/>
              <a:ext cx="609600" cy="487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Monotype Sorts" pitchFamily="2" charset="2"/>
                <a:buNone/>
              </a:pPr>
              <a:r>
                <a:rPr lang="en-US" altLang="en-US" baseline="-25000">
                  <a:latin typeface="STKaiti" panose="02010600040101010101" pitchFamily="2" charset="-122"/>
                  <a:ea typeface="STKaiti" panose="02010600040101010101" pitchFamily="2" charset="-122"/>
                </a:rPr>
                <a:t>5</a:t>
              </a:r>
            </a:p>
          </p:txBody>
        </p:sp>
        <p:sp>
          <p:nvSpPr>
            <p:cNvPr id="15387" name="Rectangle 95">
              <a:extLst>
                <a:ext uri="{FF2B5EF4-FFF2-40B4-BE49-F238E27FC236}">
                  <a16:creationId xmlns:a16="http://schemas.microsoft.com/office/drawing/2014/main" id="{0A154F39-573A-4D9A-8805-B9C81ED353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5254" y="4518600"/>
              <a:ext cx="609600" cy="487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Monotype Sorts" pitchFamily="2" charset="2"/>
                <a:buNone/>
              </a:pPr>
              <a:r>
                <a:rPr lang="en-US" altLang="en-US" baseline="-25000">
                  <a:latin typeface="STKaiti" panose="02010600040101010101" pitchFamily="2" charset="-122"/>
                  <a:ea typeface="STKaiti" panose="02010600040101010101" pitchFamily="2" charset="-122"/>
                </a:rPr>
                <a:t>4</a:t>
              </a:r>
            </a:p>
          </p:txBody>
        </p:sp>
        <p:sp>
          <p:nvSpPr>
            <p:cNvPr id="15388" name="Rectangle 96">
              <a:extLst>
                <a:ext uri="{FF2B5EF4-FFF2-40B4-BE49-F238E27FC236}">
                  <a16:creationId xmlns:a16="http://schemas.microsoft.com/office/drawing/2014/main" id="{F03610FD-A2FB-4F00-BB42-786C6F8D92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75654" y="4518600"/>
              <a:ext cx="609600" cy="487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Monotype Sorts" pitchFamily="2" charset="2"/>
                <a:buNone/>
              </a:pPr>
              <a:r>
                <a:rPr lang="en-US" altLang="en-US" baseline="-25000">
                  <a:latin typeface="STKaiti" panose="02010600040101010101" pitchFamily="2" charset="-122"/>
                  <a:ea typeface="STKaiti" panose="02010600040101010101" pitchFamily="2" charset="-122"/>
                </a:rPr>
                <a:t>3</a:t>
              </a:r>
            </a:p>
          </p:txBody>
        </p:sp>
        <p:sp>
          <p:nvSpPr>
            <p:cNvPr id="15389" name="Rectangle 97">
              <a:extLst>
                <a:ext uri="{FF2B5EF4-FFF2-40B4-BE49-F238E27FC236}">
                  <a16:creationId xmlns:a16="http://schemas.microsoft.com/office/drawing/2014/main" id="{4E44E020-2144-4F99-ADFA-579E02EF2F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6054" y="4518600"/>
              <a:ext cx="609600" cy="487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Monotype Sorts" pitchFamily="2" charset="2"/>
                <a:buNone/>
              </a:pPr>
              <a:r>
                <a:rPr lang="en-US" altLang="en-US" baseline="-25000">
                  <a:latin typeface="STKaiti" panose="02010600040101010101" pitchFamily="2" charset="-122"/>
                  <a:ea typeface="STKaiti" panose="02010600040101010101" pitchFamily="2" charset="-122"/>
                </a:rPr>
                <a:t>2</a:t>
              </a:r>
            </a:p>
          </p:txBody>
        </p:sp>
        <p:sp>
          <p:nvSpPr>
            <p:cNvPr id="15390" name="Rectangle 98">
              <a:extLst>
                <a:ext uri="{FF2B5EF4-FFF2-40B4-BE49-F238E27FC236}">
                  <a16:creationId xmlns:a16="http://schemas.microsoft.com/office/drawing/2014/main" id="{85352B4A-2B8E-417D-BD40-51F70EF575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6930" y="4518600"/>
              <a:ext cx="619125" cy="487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Monotype Sorts" pitchFamily="2" charset="2"/>
                <a:buNone/>
              </a:pPr>
              <a:r>
                <a:rPr lang="en-US" altLang="en-US" baseline="-25000">
                  <a:latin typeface="STKaiti" panose="02010600040101010101" pitchFamily="2" charset="-122"/>
                  <a:ea typeface="STKaiti" panose="02010600040101010101" pitchFamily="2" charset="-122"/>
                </a:rPr>
                <a:t>1</a:t>
              </a:r>
              <a:endParaRPr lang="en-US" altLang="en-US" sz="2000" baseline="-25000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15391" name="Line 100">
              <a:extLst>
                <a:ext uri="{FF2B5EF4-FFF2-40B4-BE49-F238E27FC236}">
                  <a16:creationId xmlns:a16="http://schemas.microsoft.com/office/drawing/2014/main" id="{C9BCBFCB-968F-4997-8EC2-96644F0F99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70454" y="4518600"/>
              <a:ext cx="7772400" cy="9525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15392" name="Line 101">
              <a:extLst>
                <a:ext uri="{FF2B5EF4-FFF2-40B4-BE49-F238E27FC236}">
                  <a16:creationId xmlns:a16="http://schemas.microsoft.com/office/drawing/2014/main" id="{8539114F-AC9B-4979-9C52-36A1801991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0454" y="4985324"/>
              <a:ext cx="7772400" cy="206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15393" name="Line 102">
              <a:extLst>
                <a:ext uri="{FF2B5EF4-FFF2-40B4-BE49-F238E27FC236}">
                  <a16:creationId xmlns:a16="http://schemas.microsoft.com/office/drawing/2014/main" id="{46869653-55C6-42F6-BECB-E0F6BC72E3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0454" y="5366324"/>
              <a:ext cx="7772400" cy="12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15394" name="Line 103">
              <a:extLst>
                <a:ext uri="{FF2B5EF4-FFF2-40B4-BE49-F238E27FC236}">
                  <a16:creationId xmlns:a16="http://schemas.microsoft.com/office/drawing/2014/main" id="{5D499770-0C7F-4B78-802E-82753099C0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0454" y="5747325"/>
              <a:ext cx="7772400" cy="3175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15395" name="Line 105">
              <a:extLst>
                <a:ext uri="{FF2B5EF4-FFF2-40B4-BE49-F238E27FC236}">
                  <a16:creationId xmlns:a16="http://schemas.microsoft.com/office/drawing/2014/main" id="{CFB795D4-3E1B-4F29-8A55-857D65B61E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6054" y="4518599"/>
              <a:ext cx="0" cy="1231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15396" name="Line 106">
              <a:extLst>
                <a:ext uri="{FF2B5EF4-FFF2-40B4-BE49-F238E27FC236}">
                  <a16:creationId xmlns:a16="http://schemas.microsoft.com/office/drawing/2014/main" id="{E54003BA-1156-4876-BF14-169F1C3FD4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75654" y="4518599"/>
              <a:ext cx="0" cy="1231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15397" name="Line 107">
              <a:extLst>
                <a:ext uri="{FF2B5EF4-FFF2-40B4-BE49-F238E27FC236}">
                  <a16:creationId xmlns:a16="http://schemas.microsoft.com/office/drawing/2014/main" id="{0B46CD77-B8F2-4AD8-9B25-935CFA25C7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85254" y="4518599"/>
              <a:ext cx="0" cy="1231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15398" name="Line 108">
              <a:extLst>
                <a:ext uri="{FF2B5EF4-FFF2-40B4-BE49-F238E27FC236}">
                  <a16:creationId xmlns:a16="http://schemas.microsoft.com/office/drawing/2014/main" id="{6E370F02-A95F-4973-B662-F5C3B38547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4854" y="4518599"/>
              <a:ext cx="0" cy="1231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15399" name="Line 109">
              <a:extLst>
                <a:ext uri="{FF2B5EF4-FFF2-40B4-BE49-F238E27FC236}">
                  <a16:creationId xmlns:a16="http://schemas.microsoft.com/office/drawing/2014/main" id="{873D4334-32A1-45CF-8555-A6A608B700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04454" y="4518599"/>
              <a:ext cx="0" cy="1231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15400" name="Line 110">
              <a:extLst>
                <a:ext uri="{FF2B5EF4-FFF2-40B4-BE49-F238E27FC236}">
                  <a16:creationId xmlns:a16="http://schemas.microsoft.com/office/drawing/2014/main" id="{EB79F5C7-6B29-4558-AB8B-A516285FE2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14054" y="4518599"/>
              <a:ext cx="0" cy="1231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15401" name="Line 111">
              <a:extLst>
                <a:ext uri="{FF2B5EF4-FFF2-40B4-BE49-F238E27FC236}">
                  <a16:creationId xmlns:a16="http://schemas.microsoft.com/office/drawing/2014/main" id="{5B28814C-B869-4A43-AFB9-B7E371EAA7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23654" y="4518599"/>
              <a:ext cx="0" cy="1231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15402" name="Line 112">
              <a:extLst>
                <a:ext uri="{FF2B5EF4-FFF2-40B4-BE49-F238E27FC236}">
                  <a16:creationId xmlns:a16="http://schemas.microsoft.com/office/drawing/2014/main" id="{57D6C389-9E48-492E-A388-0D7F4377FF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33254" y="4518599"/>
              <a:ext cx="0" cy="1231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15403" name="Rectangle 70">
              <a:extLst>
                <a:ext uri="{FF2B5EF4-FFF2-40B4-BE49-F238E27FC236}">
                  <a16:creationId xmlns:a16="http://schemas.microsoft.com/office/drawing/2014/main" id="{CCFE726C-3B41-4543-881A-065EB0A93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0455" y="5379025"/>
              <a:ext cx="2276475" cy="371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Monotype Sorts" pitchFamily="2" charset="2"/>
                <a:buNone/>
              </a:pPr>
              <a:r>
                <a:rPr lang="en-US" altLang="en-US" sz="1800">
                  <a:latin typeface="STKaiti" panose="02010600040101010101" pitchFamily="2" charset="-122"/>
                  <a:ea typeface="STKaiti" panose="02010600040101010101" pitchFamily="2" charset="-122"/>
                </a:rPr>
                <a:t>在线聊天 = 否</a:t>
              </a:r>
            </a:p>
          </p:txBody>
        </p:sp>
        <p:sp>
          <p:nvSpPr>
            <p:cNvPr id="15404" name="Rectangle 71">
              <a:extLst>
                <a:ext uri="{FF2B5EF4-FFF2-40B4-BE49-F238E27FC236}">
                  <a16:creationId xmlns:a16="http://schemas.microsoft.com/office/drawing/2014/main" id="{9ACEC11E-F44A-48EA-BBC4-68389E6074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0455" y="5005962"/>
              <a:ext cx="2276475" cy="373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Monotype Sorts" pitchFamily="2" charset="2"/>
                <a:buNone/>
              </a:pPr>
              <a:r>
                <a:rPr lang="en-US" altLang="en-US" sz="1800">
                  <a:latin typeface="STKaiti" panose="02010600040101010101" pitchFamily="2" charset="-122"/>
                  <a:ea typeface="STKaiti" panose="02010600040101010101" pitchFamily="2" charset="-122"/>
                </a:rPr>
                <a:t>在线聊天 = 是</a:t>
              </a:r>
            </a:p>
          </p:txBody>
        </p:sp>
        <p:sp>
          <p:nvSpPr>
            <p:cNvPr id="15405" name="Rectangle 99">
              <a:extLst>
                <a:ext uri="{FF2B5EF4-FFF2-40B4-BE49-F238E27FC236}">
                  <a16:creationId xmlns:a16="http://schemas.microsoft.com/office/drawing/2014/main" id="{74AAEE68-5D06-42B3-B4F8-405E92CC15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0455" y="4518600"/>
              <a:ext cx="2276475" cy="487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Monotype Sorts" pitchFamily="2" charset="2"/>
                <a:buNone/>
              </a:pPr>
              <a:endParaRPr lang="en-US" altLang="en-US" sz="2000" baseline="-10000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15406" name="Line 104">
              <a:extLst>
                <a:ext uri="{FF2B5EF4-FFF2-40B4-BE49-F238E27FC236}">
                  <a16:creationId xmlns:a16="http://schemas.microsoft.com/office/drawing/2014/main" id="{9C835518-4629-4843-B904-5480A8B6DA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6929" y="4518599"/>
              <a:ext cx="0" cy="1231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15407" name="Line 113">
              <a:extLst>
                <a:ext uri="{FF2B5EF4-FFF2-40B4-BE49-F238E27FC236}">
                  <a16:creationId xmlns:a16="http://schemas.microsoft.com/office/drawing/2014/main" id="{7BD28163-33AE-4F3D-AF01-B41B64E9B7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0454" y="5005962"/>
              <a:ext cx="0" cy="3730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15408" name="Line 114">
              <a:extLst>
                <a:ext uri="{FF2B5EF4-FFF2-40B4-BE49-F238E27FC236}">
                  <a16:creationId xmlns:a16="http://schemas.microsoft.com/office/drawing/2014/main" id="{C62C0C5F-5199-404D-965B-F7163A3C32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0454" y="4518600"/>
              <a:ext cx="0" cy="48736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15409" name="Line 115">
              <a:extLst>
                <a:ext uri="{FF2B5EF4-FFF2-40B4-BE49-F238E27FC236}">
                  <a16:creationId xmlns:a16="http://schemas.microsoft.com/office/drawing/2014/main" id="{63EA8125-AF65-442E-9108-780962CE13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0454" y="5379025"/>
              <a:ext cx="0" cy="371475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15410" name="Line 116">
              <a:extLst>
                <a:ext uri="{FF2B5EF4-FFF2-40B4-BE49-F238E27FC236}">
                  <a16:creationId xmlns:a16="http://schemas.microsoft.com/office/drawing/2014/main" id="{2E63ABB5-AF66-465F-B1B7-907FD067B5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42854" y="5005962"/>
              <a:ext cx="0" cy="3730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15411" name="Line 117">
              <a:extLst>
                <a:ext uri="{FF2B5EF4-FFF2-40B4-BE49-F238E27FC236}">
                  <a16:creationId xmlns:a16="http://schemas.microsoft.com/office/drawing/2014/main" id="{A2C54C0E-E8DA-415C-B772-7867457049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42854" y="4518600"/>
              <a:ext cx="0" cy="48736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15412" name="Line 118">
              <a:extLst>
                <a:ext uri="{FF2B5EF4-FFF2-40B4-BE49-F238E27FC236}">
                  <a16:creationId xmlns:a16="http://schemas.microsoft.com/office/drawing/2014/main" id="{5C50B4E8-DC91-4924-91F4-BF94FE7986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42854" y="5379025"/>
              <a:ext cx="0" cy="371475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15413" name="AutoShape 119">
              <a:extLst>
                <a:ext uri="{FF2B5EF4-FFF2-40B4-BE49-F238E27FC236}">
                  <a16:creationId xmlns:a16="http://schemas.microsoft.com/office/drawing/2014/main" id="{148B351C-5726-4DA5-B496-07C41E703BCA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5264455" y="5337750"/>
              <a:ext cx="212725" cy="1216025"/>
            </a:xfrm>
            <a:prstGeom prst="leftBrace">
              <a:avLst>
                <a:gd name="adj1" fmla="val 4763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15414" name="AutoShape 120">
              <a:extLst>
                <a:ext uri="{FF2B5EF4-FFF2-40B4-BE49-F238E27FC236}">
                  <a16:creationId xmlns:a16="http://schemas.microsoft.com/office/drawing/2014/main" id="{A295ECDD-BCE2-4626-B668-39E07CAA7E68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8904593" y="4699575"/>
              <a:ext cx="212725" cy="2422525"/>
            </a:xfrm>
            <a:prstGeom prst="leftBrace">
              <a:avLst>
                <a:gd name="adj1" fmla="val 949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15415" name="AutoShape 121">
              <a:extLst>
                <a:ext uri="{FF2B5EF4-FFF2-40B4-BE49-F238E27FC236}">
                  <a16:creationId xmlns:a16="http://schemas.microsoft.com/office/drawing/2014/main" id="{20004018-E787-4985-A869-0B73F7E57E14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6792424" y="5036919"/>
              <a:ext cx="212725" cy="1801813"/>
            </a:xfrm>
            <a:prstGeom prst="leftBrace">
              <a:avLst>
                <a:gd name="adj1" fmla="val 70585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15416" name="Text Box 122">
              <a:extLst>
                <a:ext uri="{FF2B5EF4-FFF2-40B4-BE49-F238E27FC236}">
                  <a16:creationId xmlns:a16="http://schemas.microsoft.com/office/drawing/2014/main" id="{00FF2832-F4AE-4228-AED6-4C38A76CCB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6180" y="5960050"/>
              <a:ext cx="84296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>
                  <a:latin typeface="STKaiti" panose="02010600040101010101" pitchFamily="2" charset="-122"/>
                  <a:ea typeface="STKaiti" panose="02010600040101010101" pitchFamily="2" charset="-122"/>
                </a:rPr>
                <a:t>bin</a:t>
              </a:r>
              <a:r>
                <a:rPr lang="en-US" altLang="en-US" sz="2400" baseline="-10000">
                  <a:latin typeface="STKaiti" panose="02010600040101010101" pitchFamily="2" charset="-122"/>
                  <a:ea typeface="STKaiti" panose="02010600040101010101" pitchFamily="2" charset="-122"/>
                </a:rPr>
                <a:t>1</a:t>
              </a:r>
            </a:p>
          </p:txBody>
        </p:sp>
        <p:sp>
          <p:nvSpPr>
            <p:cNvPr id="15417" name="Text Box 123">
              <a:extLst>
                <a:ext uri="{FF2B5EF4-FFF2-40B4-BE49-F238E27FC236}">
                  <a16:creationId xmlns:a16="http://schemas.microsoft.com/office/drawing/2014/main" id="{F6422003-C65C-4C32-9F74-12CE6C5863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26792" y="5952113"/>
              <a:ext cx="842962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>
                  <a:latin typeface="STKaiti" panose="02010600040101010101" pitchFamily="2" charset="-122"/>
                  <a:ea typeface="STKaiti" panose="02010600040101010101" pitchFamily="2" charset="-122"/>
                </a:rPr>
                <a:t>bin</a:t>
              </a:r>
              <a:r>
                <a:rPr lang="en-US" altLang="en-US" sz="2400" baseline="-10000">
                  <a:latin typeface="STKaiti" panose="02010600040101010101" pitchFamily="2" charset="-122"/>
                  <a:ea typeface="STKaiti" panose="02010600040101010101" pitchFamily="2" charset="-122"/>
                </a:rPr>
                <a:t>3</a:t>
              </a:r>
            </a:p>
          </p:txBody>
        </p:sp>
        <p:sp>
          <p:nvSpPr>
            <p:cNvPr id="15418" name="Text Box 124">
              <a:extLst>
                <a:ext uri="{FF2B5EF4-FFF2-40B4-BE49-F238E27FC236}">
                  <a16:creationId xmlns:a16="http://schemas.microsoft.com/office/drawing/2014/main" id="{3F83F25A-9BE6-4A26-966F-BDCE68218C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0655" y="5960050"/>
              <a:ext cx="84296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>
                  <a:latin typeface="STKaiti" panose="02010600040101010101" pitchFamily="2" charset="-122"/>
                  <a:ea typeface="STKaiti" panose="02010600040101010101" pitchFamily="2" charset="-122"/>
                </a:rPr>
                <a:t>bin</a:t>
              </a:r>
              <a:r>
                <a:rPr lang="en-US" altLang="en-US" sz="2400" baseline="-10000">
                  <a:latin typeface="STKaiti" panose="02010600040101010101" pitchFamily="2" charset="-122"/>
                  <a:ea typeface="STKaiti" panose="02010600040101010101" pitchFamily="2" charset="-122"/>
                </a:rPr>
                <a:t>2</a:t>
              </a:r>
            </a:p>
          </p:txBody>
        </p:sp>
        <p:sp>
          <p:nvSpPr>
            <p:cNvPr id="15419" name="Text Box 125">
              <a:extLst>
                <a:ext uri="{FF2B5EF4-FFF2-40B4-BE49-F238E27FC236}">
                  <a16:creationId xmlns:a16="http://schemas.microsoft.com/office/drawing/2014/main" id="{64F9FFE3-417F-43B6-A16B-419ECDF3A9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9454" y="4147125"/>
              <a:ext cx="35814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dirty="0" err="1">
                  <a:latin typeface="STKaiti" panose="02010600040101010101" pitchFamily="2" charset="-122"/>
                  <a:ea typeface="STKaiti" panose="02010600040101010101" pitchFamily="2" charset="-122"/>
                </a:rPr>
                <a:t>连续属性</a:t>
              </a:r>
              <a:endParaRPr lang="en-US" altLang="en-US" sz="2000" dirty="0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C5DF3A1-DA9F-F21E-0A1F-197DC4258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6456" y="2122596"/>
            <a:ext cx="39671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latin typeface="STKaiti" panose="02010600040101010101" pitchFamily="2" charset="-122"/>
                <a:ea typeface="STKaiti" panose="02010600040101010101" pitchFamily="2" charset="-122"/>
              </a:rPr>
              <a:t>&lt;1 2 3&gt; &lt;4 5 6&gt; &lt;7 8 9&gt;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3D1B9F-8926-BC79-7058-9F1E00307A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2472" y="3027958"/>
            <a:ext cx="39671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latin typeface="STKaiti" panose="02010600040101010101" pitchFamily="2" charset="-122"/>
                <a:ea typeface="STKaiti" panose="02010600040101010101" pitchFamily="2" charset="-122"/>
              </a:rPr>
              <a:t>&lt;1 2 &gt; &lt;3 4 5 6 7</a:t>
            </a:r>
            <a:r>
              <a:rPr lang="en-US" altLang="en-US" sz="2000" baseline="-2500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en-US" sz="2000">
                <a:latin typeface="STKaiti" panose="02010600040101010101" pitchFamily="2" charset="-122"/>
                <a:ea typeface="STKaiti" panose="02010600040101010101" pitchFamily="2" charset="-122"/>
              </a:rPr>
              <a:t>&gt; &lt; 8 9&gt;</a:t>
            </a:r>
          </a:p>
        </p:txBody>
      </p:sp>
    </p:spTree>
    <p:extLst>
      <p:ext uri="{BB962C8B-B14F-4D97-AF65-F5344CB8AC3E}">
        <p14:creationId xmlns:p14="http://schemas.microsoft.com/office/powerpoint/2010/main" val="1763378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7">
            <a:extLst>
              <a:ext uri="{FF2B5EF4-FFF2-40B4-BE49-F238E27FC236}">
                <a16:creationId xmlns:a16="http://schemas.microsoft.com/office/drawing/2014/main" id="{9ECEC1B7-58E5-423E-8B60-E714E9837619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77388" y="5633195"/>
            <a:ext cx="4800600" cy="773112"/>
          </a:xfrm>
          <a:noFill/>
        </p:spPr>
      </p:pic>
      <p:sp>
        <p:nvSpPr>
          <p:cNvPr id="16387" name="Rectangle 2">
            <a:extLst>
              <a:ext uri="{FF2B5EF4-FFF2-40B4-BE49-F238E27FC236}">
                <a16:creationId xmlns:a16="http://schemas.microsoft.com/office/drawing/2014/main" id="{437F05C5-2CB9-43E3-8970-10263B6653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离散化问题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18F85ABE-006F-44BE-94C8-1CDAE19D93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0164" y="1143000"/>
            <a:ext cx="4116637" cy="5410200"/>
          </a:xfrm>
        </p:spPr>
        <p:txBody>
          <a:bodyPr/>
          <a:lstStyle/>
          <a:p>
            <a:r>
              <a:rPr lang="en-US" altLang="en-US"/>
              <a:t>区间宽度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graphicFrame>
        <p:nvGraphicFramePr>
          <p:cNvPr id="16389" name="Object 5">
            <a:extLst>
              <a:ext uri="{FF2B5EF4-FFF2-40B4-BE49-F238E27FC236}">
                <a16:creationId xmlns:a16="http://schemas.microsoft.com/office/drawing/2014/main" id="{A6C1FC3B-665C-42FB-A7C0-93A7C3D8E010}"/>
              </a:ext>
            </a:extLst>
          </p:cNvPr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073486" y="1317337"/>
          <a:ext cx="5896778" cy="3959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8686800" imgH="5842000" progId="Visio.Drawing.6">
                  <p:embed/>
                </p:oleObj>
              </mc:Choice>
              <mc:Fallback>
                <p:oleObj name="Visio" r:id="rId3" imgW="8686800" imgH="5842000" progId="Visio.Drawing.6">
                  <p:embed/>
                  <p:pic>
                    <p:nvPicPr>
                      <p:cNvPr id="16389" name="Object 5">
                        <a:extLst>
                          <a:ext uri="{FF2B5EF4-FFF2-40B4-BE49-F238E27FC236}">
                            <a16:creationId xmlns:a16="http://schemas.microsoft.com/office/drawing/2014/main" id="{A6C1FC3B-665C-42FB-A7C0-93A7C3D8E0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3486" y="1317337"/>
                        <a:ext cx="5896778" cy="39591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AB3733C-D10C-4AE5-9FB3-35AF836B03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离散化问题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9417408E-E634-41EE-BE3E-64D1843512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4910" y="1295399"/>
            <a:ext cx="10961783" cy="5072349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/>
              <a:t>区间过宽（例如，Bin大小=30）</a:t>
            </a:r>
          </a:p>
          <a:p>
            <a:pPr lvl="1">
              <a:lnSpc>
                <a:spcPct val="80000"/>
              </a:lnSpc>
            </a:pPr>
            <a:r>
              <a:rPr lang="en-US" altLang="en-US" sz="2400"/>
              <a:t>可能合并多个不相关的模式</a:t>
            </a:r>
          </a:p>
          <a:p>
            <a:pPr lvl="2">
              <a:lnSpc>
                <a:spcPct val="80000"/>
              </a:lnSpc>
            </a:pPr>
            <a:r>
              <a:rPr lang="en-US" altLang="en-US" sz="2400"/>
              <a:t> 模式A和B被合并在一起</a:t>
            </a:r>
          </a:p>
          <a:p>
            <a:pPr lvl="1">
              <a:lnSpc>
                <a:spcPct val="80000"/>
              </a:lnSpc>
            </a:pPr>
            <a:r>
              <a:rPr lang="en-US" altLang="en-US" sz="2400"/>
              <a:t>可能丢失一些有趣的模式</a:t>
            </a:r>
          </a:p>
          <a:p>
            <a:pPr lvl="2">
              <a:lnSpc>
                <a:spcPct val="80000"/>
              </a:lnSpc>
            </a:pPr>
            <a:r>
              <a:rPr lang="en-US" altLang="en-US" sz="2400"/>
              <a:t> 模式C可能缺乏足够的置信度</a:t>
            </a:r>
          </a:p>
          <a:p>
            <a:pPr lvl="4">
              <a:lnSpc>
                <a:spcPct val="80000"/>
              </a:lnSpc>
            </a:pPr>
            <a:endParaRPr lang="en-US" altLang="en-US" sz="2400"/>
          </a:p>
          <a:p>
            <a:pPr>
              <a:lnSpc>
                <a:spcPct val="80000"/>
              </a:lnSpc>
            </a:pPr>
            <a:r>
              <a:rPr lang="en-US" altLang="en-US" sz="2400"/>
              <a:t>间隔过窄（例如，Bin大小=2）</a:t>
            </a:r>
          </a:p>
          <a:p>
            <a:pPr lvl="1">
              <a:lnSpc>
                <a:spcPct val="80000"/>
              </a:lnSpc>
            </a:pPr>
            <a:r>
              <a:rPr lang="en-US" altLang="en-US" sz="2400"/>
              <a:t>模式 A 被拆分为两个较小的模式</a:t>
            </a:r>
          </a:p>
          <a:p>
            <a:pPr lvl="2">
              <a:lnSpc>
                <a:spcPct val="80000"/>
              </a:lnSpc>
            </a:pPr>
            <a:r>
              <a:rPr lang="en-US" altLang="en-US" sz="2400"/>
              <a:t> 可通过合并相邻子模式恢复原始模式</a:t>
            </a:r>
          </a:p>
          <a:p>
            <a:pPr lvl="1">
              <a:lnSpc>
                <a:spcPct val="80000"/>
              </a:lnSpc>
            </a:pPr>
            <a:r>
              <a:rPr lang="en-US" altLang="en-US" sz="2400"/>
              <a:t>模式 B 被分解为较小的模式</a:t>
            </a:r>
          </a:p>
          <a:p>
            <a:pPr lvl="2">
              <a:lnSpc>
                <a:spcPct val="80000"/>
              </a:lnSpc>
            </a:pPr>
            <a:r>
              <a:rPr lang="en-US" altLang="en-US" sz="2400"/>
              <a:t> 无法通过合并相邻子模式恢复模式</a:t>
            </a:r>
          </a:p>
          <a:p>
            <a:pPr lvl="1">
              <a:lnSpc>
                <a:spcPct val="80000"/>
              </a:lnSpc>
            </a:pPr>
            <a:r>
              <a:rPr lang="en-US" altLang="en-US" sz="2400"/>
              <a:t>部分窗口可能未达到支持阈值</a:t>
            </a:r>
          </a:p>
          <a:p>
            <a:pPr marL="200021" lvl="1" indent="0">
              <a:lnSpc>
                <a:spcPct val="80000"/>
              </a:lnSpc>
              <a:buNone/>
            </a:pPr>
            <a:endParaRPr lang="en-US" altLang="en-US"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0CB1ECB6-46C7-438C-8ABF-713B4C838D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基于统计的方法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FA4A1316-ED94-4A77-8345-1A8F7C30F2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示例：  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2000" dirty="0"/>
              <a:t>		{收入 &gt; 100K</a:t>
            </a:r>
            <a:r>
              <a:rPr lang="en-US" altLang="en-US" sz="2000" dirty="0">
                <a:sym typeface="Symbol" panose="05050102010706020507" pitchFamily="18" charset="2"/>
              </a:rPr>
              <a:t>，网上银行=是}  年龄: =34</a:t>
            </a:r>
          </a:p>
          <a:p>
            <a:pPr>
              <a:lnSpc>
                <a:spcPct val="90000"/>
              </a:lnSpc>
            </a:pPr>
            <a:r>
              <a:rPr lang="en-US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规则后件由一个连续变量组成，其特征由统计量描述 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均值、中位数、标准差等。</a:t>
            </a:r>
          </a:p>
          <a:p>
            <a:pPr>
              <a:lnSpc>
                <a:spcPct val="90000"/>
              </a:lnSpc>
            </a:pPr>
            <a:r>
              <a:rPr lang="en-US" altLang="en-US" sz="2400" dirty="0">
                <a:sym typeface="Symbol" panose="05050102010706020507" pitchFamily="18" charset="2"/>
              </a:rPr>
              <a:t>方法：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从其余数据中屏蔽目标属性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从剩余属性中提取频繁</a:t>
            </a:r>
            <a:r>
              <a:rPr lang="en-US" altLang="en-US" sz="2000" dirty="0" err="1">
                <a:sym typeface="Symbol" panose="05050102010706020507" pitchFamily="18" charset="2"/>
              </a:rPr>
              <a:t>项集</a:t>
            </a:r>
          </a:p>
          <a:p>
            <a:pPr lvl="2">
              <a:lnSpc>
                <a:spcPct val="90000"/>
              </a:lnSpc>
            </a:pPr>
            <a:r>
              <a:rPr lang="en-US" altLang="en-US" sz="1800" dirty="0" err="1">
                <a:sym typeface="Symbol" panose="05050102010706020507" pitchFamily="18" charset="2"/>
              </a:rPr>
              <a:t>将</a:t>
            </a:r>
            <a:r>
              <a:rPr lang="en-US" altLang="en-US" sz="1800" dirty="0">
                <a:sym typeface="Symbol" panose="05050102010706020507" pitchFamily="18" charset="2"/>
              </a:rPr>
              <a:t>连续属性</a:t>
            </a:r>
            <a:r>
              <a:rPr lang="en-US" altLang="en-US" sz="1800" dirty="0" err="1">
                <a:sym typeface="Symbol" panose="05050102010706020507" pitchFamily="18" charset="2"/>
              </a:rPr>
              <a:t>二值化</a:t>
            </a:r>
            <a:r>
              <a:rPr lang="en-US" altLang="en-US" sz="1800" dirty="0">
                <a:sym typeface="Symbol" panose="05050102010706020507" pitchFamily="18" charset="2"/>
              </a:rPr>
              <a:t>（目标属性除外）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对于每个频繁</a:t>
            </a:r>
            <a:r>
              <a:rPr lang="en-US" altLang="en-US" sz="2000" dirty="0" err="1">
                <a:sym typeface="Symbol" panose="05050102010706020507" pitchFamily="18" charset="2"/>
              </a:rPr>
              <a:t>项集</a:t>
            </a:r>
            <a:r>
              <a:rPr lang="en-US" altLang="en-US" sz="2000" dirty="0">
                <a:sym typeface="Symbol" panose="05050102010706020507" pitchFamily="18" charset="2"/>
              </a:rPr>
              <a:t>，计算目标属性的对应描述性统计量</a:t>
            </a:r>
          </a:p>
          <a:p>
            <a:pPr lvl="2">
              <a:lnSpc>
                <a:spcPct val="90000"/>
              </a:lnSpc>
            </a:pPr>
            <a:r>
              <a:rPr lang="en-US" altLang="en-US" sz="1800" dirty="0">
                <a:sym typeface="Symbol" panose="05050102010706020507" pitchFamily="18" charset="2"/>
              </a:rPr>
              <a:t>通过将目标变量作为规则的后件引入， 频繁</a:t>
            </a:r>
            <a:r>
              <a:rPr lang="en-US" altLang="en-US" sz="1800" dirty="0" err="1">
                <a:sym typeface="Symbol" panose="05050102010706020507" pitchFamily="18" charset="2"/>
              </a:rPr>
              <a:t>项集</a:t>
            </a:r>
            <a:r>
              <a:rPr lang="en-US" altLang="en-US" sz="1800" dirty="0">
                <a:sym typeface="Symbol" panose="05050102010706020507" pitchFamily="18" charset="2"/>
              </a:rPr>
              <a:t>成为规则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应用统计检验以确定规则的有趣性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AA26C478-9815-4FB9-B7CF-1367AD7A6F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基于统计的方法</a:t>
            </a:r>
          </a:p>
        </p:txBody>
      </p:sp>
      <p:pic>
        <p:nvPicPr>
          <p:cNvPr id="21507" name="Picture 4">
            <a:extLst>
              <a:ext uri="{FF2B5EF4-FFF2-40B4-BE49-F238E27FC236}">
                <a16:creationId xmlns:a16="http://schemas.microsoft.com/office/drawing/2014/main" id="{AB88FAE7-8C4F-48B2-B8A0-A36DE2F41910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80133" y="1452391"/>
            <a:ext cx="6248400" cy="2643188"/>
          </a:xfrm>
          <a:noFill/>
        </p:spPr>
      </p:pic>
      <p:sp>
        <p:nvSpPr>
          <p:cNvPr id="21508" name="Text Box 11">
            <a:extLst>
              <a:ext uri="{FF2B5EF4-FFF2-40B4-BE49-F238E27FC236}">
                <a16:creationId xmlns:a16="http://schemas.microsoft.com/office/drawing/2014/main" id="{40B3F02C-076D-4C7F-901F-BF699C5D6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7133" y="4805192"/>
            <a:ext cx="3581400" cy="1293813"/>
          </a:xfrm>
          <a:prstGeom prst="rect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latin typeface="STKaiti" panose="02010600040101010101" pitchFamily="2" charset="-122"/>
                <a:ea typeface="STKaiti" panose="02010600040101010101" pitchFamily="2" charset="-122"/>
              </a:rPr>
              <a:t>{男性，收入 &gt; 100K}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latin typeface="STKaiti" panose="02010600040101010101" pitchFamily="2" charset="-122"/>
                <a:ea typeface="STKaiti" panose="02010600040101010101" pitchFamily="2" charset="-122"/>
              </a:rPr>
              <a:t>{收入 &lt; 30K，无工作时间</a:t>
            </a:r>
            <a:r>
              <a:rPr lang="en-US" altLang="en-US" sz="1400">
                <a:latin typeface="STKaiti" panose="02010600040101010101" pitchFamily="2" charset="-122"/>
                <a:ea typeface="STKaiti" panose="02010600040101010101" pitchFamily="2" charset="-122"/>
                <a:sym typeface="Symbol" panose="05050102010706020507" pitchFamily="18" charset="2"/>
              </a:rPr>
              <a:t> [10,15)}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latin typeface="STKaiti" panose="02010600040101010101" pitchFamily="2" charset="-122"/>
                <a:ea typeface="STKaiti" panose="02010600040101010101" pitchFamily="2" charset="-122"/>
                <a:sym typeface="Symbol" panose="05050102010706020507" pitchFamily="18" charset="2"/>
              </a:rPr>
              <a:t>{收入 &gt; 100K，网上银行 = 是}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latin typeface="STKaiti" panose="02010600040101010101" pitchFamily="2" charset="-122"/>
                <a:ea typeface="STKaiti" panose="02010600040101010101" pitchFamily="2" charset="-122"/>
                <a:sym typeface="Symbol" panose="05050102010706020507" pitchFamily="18" charset="2"/>
              </a:rPr>
              <a:t>…. </a:t>
            </a:r>
          </a:p>
        </p:txBody>
      </p:sp>
      <p:sp>
        <p:nvSpPr>
          <p:cNvPr id="21509" name="Text Box 12">
            <a:extLst>
              <a:ext uri="{FF2B5EF4-FFF2-40B4-BE49-F238E27FC236}">
                <a16:creationId xmlns:a16="http://schemas.microsoft.com/office/drawing/2014/main" id="{1DF8688C-57E0-41B8-A477-7FBBFE707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0933" y="4347991"/>
            <a:ext cx="1981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latin typeface="STKaiti" panose="02010600040101010101" pitchFamily="2" charset="-122"/>
                <a:ea typeface="STKaiti" panose="02010600040101010101" pitchFamily="2" charset="-122"/>
              </a:rPr>
              <a:t>高频项集:</a:t>
            </a:r>
          </a:p>
        </p:txBody>
      </p:sp>
      <p:sp>
        <p:nvSpPr>
          <p:cNvPr id="21510" name="AutoShape 14">
            <a:extLst>
              <a:ext uri="{FF2B5EF4-FFF2-40B4-BE49-F238E27FC236}">
                <a16:creationId xmlns:a16="http://schemas.microsoft.com/office/drawing/2014/main" id="{B6DCD6E6-6212-474D-AE6C-C1FD8AB835F2}"/>
              </a:ext>
            </a:extLst>
          </p:cNvPr>
          <p:cNvSpPr>
            <a:spLocks noChangeArrowheads="1"/>
          </p:cNvSpPr>
          <p:nvPr/>
        </p:nvSpPr>
        <p:spPr bwMode="auto">
          <a:xfrm rot="1018033">
            <a:off x="2013333" y="2900191"/>
            <a:ext cx="762000" cy="1295400"/>
          </a:xfrm>
          <a:prstGeom prst="curvedRightArrow">
            <a:avLst>
              <a:gd name="adj1" fmla="val 34000"/>
              <a:gd name="adj2" fmla="val 68000"/>
              <a:gd name="adj3" fmla="val 33333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1511" name="Text Box 15">
            <a:extLst>
              <a:ext uri="{FF2B5EF4-FFF2-40B4-BE49-F238E27FC236}">
                <a16:creationId xmlns:a16="http://schemas.microsoft.com/office/drawing/2014/main" id="{ED7A81CA-DED5-4A75-9C08-B991692C3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5733" y="4805191"/>
            <a:ext cx="4495800" cy="1277273"/>
          </a:xfrm>
          <a:prstGeom prst="rect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latin typeface="STKaiti" panose="02010600040101010101" pitchFamily="2" charset="-122"/>
                <a:ea typeface="STKaiti" panose="02010600040101010101" pitchFamily="2" charset="-122"/>
              </a:rPr>
              <a:t>{男性，收入 &gt; 100K}</a:t>
            </a:r>
            <a:r>
              <a:rPr lang="en-US" altLang="en-US" sz="1400">
                <a:latin typeface="STKaiti" panose="02010600040101010101" pitchFamily="2" charset="-122"/>
                <a:ea typeface="STKaiti" panose="02010600040101010101" pitchFamily="2" charset="-122"/>
                <a:sym typeface="Symbol" panose="05050102010706020507" pitchFamily="18" charset="2"/>
              </a:rPr>
              <a:t>  年龄:  = 30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latin typeface="STKaiti" panose="02010600040101010101" pitchFamily="2" charset="-122"/>
                <a:ea typeface="STKaiti" panose="02010600040101010101" pitchFamily="2" charset="-122"/>
              </a:rPr>
              <a:t>{收入 &lt; 40K，无工作时间</a:t>
            </a:r>
            <a:r>
              <a:rPr lang="en-US" altLang="en-US" sz="1400">
                <a:latin typeface="STKaiti" panose="02010600040101010101" pitchFamily="2" charset="-122"/>
                <a:ea typeface="STKaiti" panose="02010600040101010101" pitchFamily="2" charset="-122"/>
                <a:sym typeface="Symbol" panose="05050102010706020507" pitchFamily="18" charset="2"/>
              </a:rPr>
              <a:t> [10,15)}  年龄:  = 24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latin typeface="STKaiti" panose="02010600040101010101" pitchFamily="2" charset="-122"/>
                <a:ea typeface="STKaiti" panose="02010600040101010101" pitchFamily="2" charset="-122"/>
                <a:sym typeface="Symbol" panose="05050102010706020507" pitchFamily="18" charset="2"/>
              </a:rPr>
              <a:t>{收入 &gt; 100K，网上银行 = 是}  年龄:  = 34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latin typeface="STKaiti" panose="02010600040101010101" pitchFamily="2" charset="-122"/>
                <a:ea typeface="STKaiti" panose="02010600040101010101" pitchFamily="2" charset="-122"/>
                <a:sym typeface="Symbol" panose="05050102010706020507" pitchFamily="18" charset="2"/>
              </a:rPr>
              <a:t>…. </a:t>
            </a:r>
          </a:p>
        </p:txBody>
      </p:sp>
      <p:sp>
        <p:nvSpPr>
          <p:cNvPr id="21512" name="Text Box 16">
            <a:extLst>
              <a:ext uri="{FF2B5EF4-FFF2-40B4-BE49-F238E27FC236}">
                <a16:creationId xmlns:a16="http://schemas.microsoft.com/office/drawing/2014/main" id="{3467F4DC-785E-4F0F-A018-2BC31B4953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1933" y="4349579"/>
            <a:ext cx="1981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latin typeface="STKaiti" panose="02010600040101010101" pitchFamily="2" charset="-122"/>
                <a:ea typeface="STKaiti" panose="02010600040101010101" pitchFamily="2" charset="-122"/>
              </a:rPr>
              <a:t>关联规则：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69428B50-2062-460C-88FD-8BCD744145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基于统计的方法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29777A15-5463-4044-BBFB-8D19B0EE31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dirty="0" err="1">
                <a:ea typeface="STKaiti" panose="02010600040101010101" pitchFamily="2" charset="-122"/>
              </a:rPr>
              <a:t>如何判断一条关联规则是否有趣</a:t>
            </a:r>
            <a:r>
              <a:rPr lang="en-US" altLang="en-US" sz="2400" dirty="0">
                <a:ea typeface="STKaiti" panose="02010600040101010101" pitchFamily="2" charset="-122"/>
              </a:rPr>
              <a:t>？</a:t>
            </a:r>
          </a:p>
          <a:p>
            <a:pPr lvl="1"/>
            <a:r>
              <a:rPr lang="en-US" altLang="en-US" sz="2400" dirty="0" err="1">
                <a:ea typeface="STKaiti" panose="02010600040101010101" pitchFamily="2" charset="-122"/>
              </a:rPr>
              <a:t>比较规则覆盖的人口段与未覆盖的人口段的统计数据</a:t>
            </a:r>
            <a:r>
              <a:rPr lang="en-US" altLang="en-US" sz="2400" dirty="0">
                <a:ea typeface="STKaiti" panose="02010600040101010101" pitchFamily="2" charset="-122"/>
              </a:rPr>
              <a:t>：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 sz="2400" dirty="0">
                <a:ea typeface="STKaiti" panose="02010600040101010101" pitchFamily="2" charset="-122"/>
              </a:rPr>
              <a:t>	A</a:t>
            </a:r>
            <a:r>
              <a:rPr lang="en-US" altLang="en-US" sz="2400" dirty="0">
                <a:ea typeface="STKaiti" panose="02010600040101010101" pitchFamily="2" charset="-122"/>
                <a:sym typeface="Symbol" panose="05050102010706020507" pitchFamily="18" charset="2"/>
              </a:rPr>
              <a:t>  B:      </a:t>
            </a:r>
            <a:r>
              <a:rPr lang="en-US" altLang="en-US" sz="2400" dirty="0" err="1">
                <a:ea typeface="STKaiti" panose="02010600040101010101" pitchFamily="2" charset="-122"/>
                <a:sym typeface="Symbol" panose="05050102010706020507" pitchFamily="18" charset="2"/>
              </a:rPr>
              <a:t>对比</a:t>
            </a:r>
            <a:r>
              <a:rPr lang="en-US" altLang="en-US" sz="2400" dirty="0">
                <a:ea typeface="STKaiti" panose="02010600040101010101" pitchFamily="2" charset="-122"/>
                <a:sym typeface="Symbol" panose="05050102010706020507" pitchFamily="18" charset="2"/>
              </a:rPr>
              <a:t>     A  B: ’ </a:t>
            </a:r>
          </a:p>
          <a:p>
            <a:pPr lvl="2">
              <a:buFont typeface="Wingdings" panose="05000000000000000000" pitchFamily="2" charset="2"/>
              <a:buNone/>
            </a:pPr>
            <a:endParaRPr lang="en-US" altLang="en-US" sz="2400" dirty="0">
              <a:ea typeface="STKaiti" panose="02010600040101010101" pitchFamily="2" charset="-122"/>
              <a:sym typeface="Symbol" panose="05050102010706020507" pitchFamily="18" charset="2"/>
            </a:endParaRPr>
          </a:p>
          <a:p>
            <a:pPr lvl="1"/>
            <a:r>
              <a:rPr lang="en-US" altLang="en-US" sz="2400" dirty="0" err="1">
                <a:ea typeface="STKaiti" panose="02010600040101010101" pitchFamily="2" charset="-122"/>
                <a:sym typeface="Symbol" panose="05050102010706020507" pitchFamily="18" charset="2"/>
              </a:rPr>
              <a:t>统计假设检验</a:t>
            </a:r>
            <a:r>
              <a:rPr lang="en-US" altLang="en-US" sz="2400" dirty="0">
                <a:ea typeface="STKaiti" panose="02010600040101010101" pitchFamily="2" charset="-122"/>
                <a:sym typeface="Symbol" panose="05050102010706020507" pitchFamily="18" charset="2"/>
              </a:rPr>
              <a:t>：</a:t>
            </a:r>
          </a:p>
          <a:p>
            <a:pPr lvl="2"/>
            <a:r>
              <a:rPr lang="en-US" altLang="en-US" sz="2400" dirty="0">
                <a:ea typeface="STKaiti" panose="02010600040101010101" pitchFamily="2" charset="-122"/>
                <a:sym typeface="Symbol" panose="05050102010706020507" pitchFamily="18" charset="2"/>
              </a:rPr>
              <a:t> 原假设：H0: ’ =  + </a:t>
            </a:r>
          </a:p>
          <a:p>
            <a:pPr lvl="2"/>
            <a:r>
              <a:rPr lang="en-US" altLang="en-US" sz="2400" dirty="0">
                <a:ea typeface="STKaiti" panose="02010600040101010101" pitchFamily="2" charset="-122"/>
                <a:sym typeface="Symbol" panose="05050102010706020507" pitchFamily="18" charset="2"/>
              </a:rPr>
              <a:t> 备择假设：H1: ’ &gt;  + </a:t>
            </a:r>
          </a:p>
          <a:p>
            <a:pPr lvl="2"/>
            <a:r>
              <a:rPr lang="en-US" altLang="en-US" sz="2400" dirty="0">
                <a:ea typeface="STKaiti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ea typeface="STKaiti" panose="02010600040101010101" pitchFamily="2" charset="-122"/>
                <a:sym typeface="Symbol" panose="05050102010706020507" pitchFamily="18" charset="2"/>
              </a:rPr>
              <a:t>在原假设下，Z</a:t>
            </a:r>
            <a:r>
              <a:rPr lang="en-US" altLang="en-US" sz="2400" dirty="0">
                <a:ea typeface="STKaiti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ea typeface="STKaiti" panose="02010600040101010101" pitchFamily="2" charset="-122"/>
                <a:sym typeface="Symbol" panose="05050102010706020507" pitchFamily="18" charset="2"/>
              </a:rPr>
              <a:t>的均值为零，方差为</a:t>
            </a:r>
            <a:r>
              <a:rPr lang="en-US" altLang="en-US" sz="2400" dirty="0">
                <a:ea typeface="STKaiti" panose="02010600040101010101" pitchFamily="2" charset="-122"/>
                <a:sym typeface="Symbol" panose="05050102010706020507" pitchFamily="18" charset="2"/>
              </a:rPr>
              <a:t> 1。</a:t>
            </a:r>
          </a:p>
          <a:p>
            <a:pPr lvl="2">
              <a:buFont typeface="Wingdings" panose="05000000000000000000" pitchFamily="2" charset="2"/>
              <a:buNone/>
            </a:pPr>
            <a:endParaRPr lang="en-US" altLang="en-US" sz="2400" dirty="0">
              <a:ea typeface="STKaiti" panose="0201060004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22533" name="Object 5">
            <a:extLst>
              <a:ext uri="{FF2B5EF4-FFF2-40B4-BE49-F238E27FC236}">
                <a16:creationId xmlns:a16="http://schemas.microsoft.com/office/drawing/2014/main" id="{60A2E980-0BCC-4EF0-8059-1F40ED944549}"/>
              </a:ext>
            </a:extLst>
          </p:cNvPr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8119431" y="2983735"/>
          <a:ext cx="1676400" cy="125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01309" imgH="672808" progId="Equation.3">
                  <p:embed/>
                </p:oleObj>
              </mc:Choice>
              <mc:Fallback>
                <p:oleObj name="Equation" r:id="rId2" imgW="901309" imgH="672808" progId="Equation.3">
                  <p:embed/>
                  <p:pic>
                    <p:nvPicPr>
                      <p:cNvPr id="22533" name="Object 5">
                        <a:extLst>
                          <a:ext uri="{FF2B5EF4-FFF2-40B4-BE49-F238E27FC236}">
                            <a16:creationId xmlns:a16="http://schemas.microsoft.com/office/drawing/2014/main" id="{60A2E980-0BCC-4EF0-8059-1F40ED9445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9431" y="2983735"/>
                        <a:ext cx="1676400" cy="1250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06072D0C-962C-4261-91A6-E7354C3F15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基于统计的方法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37DCE971-0A7D-4AE0-9D81-CE40E7F1AC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/>
              <a:t>示例： 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sz="2000"/>
              <a:t>		     r: 确诊新冠 &amp;</a:t>
            </a:r>
            <a:r>
              <a:rPr lang="zh-CN" altLang="en-US" sz="2000"/>
              <a:t> </a:t>
            </a:r>
            <a:r>
              <a:rPr lang="en-US" altLang="en-US" sz="2000">
                <a:sym typeface="Symbol" panose="05050102010706020507" pitchFamily="18" charset="2"/>
              </a:rPr>
              <a:t>快速康复=是  年龄: =23</a:t>
            </a:r>
          </a:p>
          <a:p>
            <a:pPr lvl="1"/>
            <a:r>
              <a:rPr lang="en-US" altLang="en-US" sz="2000"/>
              <a:t>如果</a:t>
            </a:r>
            <a:r>
              <a:rPr lang="en-US" altLang="en-US" sz="2000">
                <a:sym typeface="Symbol" panose="05050102010706020507" pitchFamily="18" charset="2"/>
              </a:rPr>
              <a:t>与’之间的差异大于5年（即=5），</a:t>
            </a:r>
            <a:r>
              <a:rPr lang="en-US" altLang="en-US" sz="2000"/>
              <a:t>则该规则值得关注</a:t>
            </a:r>
          </a:p>
          <a:p>
            <a:pPr lvl="1"/>
            <a:r>
              <a:rPr lang="en-US" altLang="en-US" sz="2000">
                <a:sym typeface="Symbol" panose="05050102010706020507" pitchFamily="18" charset="2"/>
              </a:rPr>
              <a:t>对于r，假设n1 = 50，s1 = 3.5</a:t>
            </a:r>
          </a:p>
          <a:p>
            <a:pPr lvl="1"/>
            <a:r>
              <a:rPr lang="en-US" altLang="en-US" sz="2000">
                <a:sym typeface="Symbol" panose="05050102010706020507" pitchFamily="18" charset="2"/>
              </a:rPr>
              <a:t>对于r’（补集）：n2 = 250，s2 = 6.5</a:t>
            </a:r>
          </a:p>
          <a:p>
            <a:pPr lvl="1"/>
            <a:endParaRPr lang="en-US" altLang="en-US" sz="2000">
              <a:sym typeface="Symbol" panose="05050102010706020507" pitchFamily="18" charset="2"/>
            </a:endParaRPr>
          </a:p>
          <a:p>
            <a:pPr lvl="1"/>
            <a:endParaRPr lang="en-US" altLang="en-US" sz="2000">
              <a:sym typeface="Symbol" panose="05050102010706020507" pitchFamily="18" charset="2"/>
            </a:endParaRPr>
          </a:p>
          <a:p>
            <a:pPr lvl="1"/>
            <a:endParaRPr lang="en-US" altLang="en-US" sz="2000">
              <a:sym typeface="Symbol" panose="05050102010706020507" pitchFamily="18" charset="2"/>
            </a:endParaRPr>
          </a:p>
          <a:p>
            <a:pPr lvl="1"/>
            <a:endParaRPr lang="en-US" altLang="en-US" sz="2000">
              <a:sym typeface="Symbol" panose="05050102010706020507" pitchFamily="18" charset="2"/>
            </a:endParaRPr>
          </a:p>
          <a:p>
            <a:pPr lvl="1"/>
            <a:endParaRPr lang="en-US" altLang="en-US" sz="2000">
              <a:sym typeface="Symbol" panose="05050102010706020507" pitchFamily="18" charset="2"/>
            </a:endParaRPr>
          </a:p>
          <a:p>
            <a:pPr lvl="1"/>
            <a:r>
              <a:rPr lang="en-US" altLang="en-US" sz="2000">
                <a:sym typeface="Symbol" panose="05050102010706020507" pitchFamily="18" charset="2"/>
              </a:rPr>
              <a:t>对于95%置信水平的单侧检验，拒绝原假设的临界Z值为1.64。</a:t>
            </a:r>
          </a:p>
          <a:p>
            <a:pPr lvl="1"/>
            <a:r>
              <a:rPr lang="en-US" altLang="en-US" sz="2000">
                <a:sym typeface="Symbol" panose="05050102010706020507" pitchFamily="18" charset="2"/>
              </a:rPr>
              <a:t>由于 Z 大于 1.64，r 是一个有趣的规则</a:t>
            </a:r>
          </a:p>
        </p:txBody>
      </p:sp>
      <p:graphicFrame>
        <p:nvGraphicFramePr>
          <p:cNvPr id="23556" name="Object 4">
            <a:extLst>
              <a:ext uri="{FF2B5EF4-FFF2-40B4-BE49-F238E27FC236}">
                <a16:creationId xmlns:a16="http://schemas.microsoft.com/office/drawing/2014/main" id="{AE80E92A-D5A2-4653-AA4A-AFAB865807DF}"/>
              </a:ext>
            </a:extLst>
          </p:cNvPr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038600" y="3594101"/>
          <a:ext cx="4114800" cy="120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98700" imgH="673100" progId="Equation.3">
                  <p:embed/>
                </p:oleObj>
              </mc:Choice>
              <mc:Fallback>
                <p:oleObj name="Equation" r:id="rId2" imgW="2298700" imgH="673100" progId="Equation.3">
                  <p:embed/>
                  <p:pic>
                    <p:nvPicPr>
                      <p:cNvPr id="23556" name="Object 4">
                        <a:extLst>
                          <a:ext uri="{FF2B5EF4-FFF2-40B4-BE49-F238E27FC236}">
                            <a16:creationId xmlns:a16="http://schemas.microsoft.com/office/drawing/2014/main" id="{AE80E92A-D5A2-4653-AA4A-AFAB865807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3594101"/>
                        <a:ext cx="4114800" cy="1203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06072D0C-962C-4261-91A6-E7354C3F15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练习1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CCF9660-0F45-8083-2828-A55DFE71F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1" y="1251261"/>
            <a:ext cx="5886450" cy="346311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6D53FE9-50D2-1088-8D28-32BD70D65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779" y="4833652"/>
            <a:ext cx="5886451" cy="154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927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7258D-9D15-7D9E-7F8A-2DB781CA4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CEF4A94D-24CD-6E23-347F-850CF8BFA0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练习2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D6A9A46-2ED2-ED6E-0529-C4DE8415B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92" y="1245938"/>
            <a:ext cx="8027670" cy="554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3709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A9B81-762D-95A1-C0BC-0454A8806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2172CDBF-2099-8318-C537-9B0A400E7D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练习3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6A2AB81-252F-5B2B-1BB0-4AB198330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393" y="1320133"/>
            <a:ext cx="7772400" cy="4856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0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945AB04C-0F76-4B9A-8615-F410B35C47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>
                <a:latin typeface="STKaiti" panose="02010600040101010101" pitchFamily="2" charset="-122"/>
                <a:ea typeface="STKaiti" panose="02010600040101010101" pitchFamily="2" charset="-122"/>
              </a:rPr>
              <a:t>概念层次结构</a:t>
            </a:r>
          </a:p>
        </p:txBody>
      </p:sp>
      <p:graphicFrame>
        <p:nvGraphicFramePr>
          <p:cNvPr id="29699" name="Object 3">
            <a:extLst>
              <a:ext uri="{FF2B5EF4-FFF2-40B4-BE49-F238E27FC236}">
                <a16:creationId xmlns:a16="http://schemas.microsoft.com/office/drawing/2014/main" id="{C62839DA-5821-4226-BB16-DBA8CB3E8F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1371600"/>
          <a:ext cx="8458200" cy="461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0453116" imgH="5696712" progId="Visio.Drawing.6">
                  <p:embed/>
                </p:oleObj>
              </mc:Choice>
              <mc:Fallback>
                <p:oleObj name="VISIO" r:id="rId3" imgW="10453116" imgH="5696712" progId="Visio.Drawing.6">
                  <p:embed/>
                  <p:pic>
                    <p:nvPicPr>
                      <p:cNvPr id="29699" name="Object 3">
                        <a:extLst>
                          <a:ext uri="{FF2B5EF4-FFF2-40B4-BE49-F238E27FC236}">
                            <a16:creationId xmlns:a16="http://schemas.microsoft.com/office/drawing/2014/main" id="{C62839DA-5821-4226-BB16-DBA8CB3E8F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371600"/>
                        <a:ext cx="8458200" cy="461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0" y="381000"/>
            <a:ext cx="117856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挖掘多层次频繁模式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idx="1"/>
          </p:nvPr>
        </p:nvSpPr>
        <p:spPr>
          <a:xfrm>
            <a:off x="561648" y="1239896"/>
            <a:ext cx="4500490" cy="2145448"/>
          </a:xfrm>
        </p:spPr>
        <p:txBody>
          <a:bodyPr/>
          <a:lstStyle/>
          <a:p>
            <a:pPr eaLnBrk="1" hangingPunct="1">
              <a:spcAft>
                <a:spcPts val="600"/>
              </a:spcAft>
            </a:pPr>
            <a:r>
              <a:rPr lang="en-US" altLang="en-US" sz="2200" dirty="0"/>
              <a:t>项目通常形成层次结构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200" dirty="0"/>
              <a:t>牛奶：Dairyland 2%牛奶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200" dirty="0"/>
              <a:t>面包：奇妙小麦面包</a:t>
            </a:r>
          </a:p>
          <a:p>
            <a:pPr lvl="1">
              <a:spcAft>
                <a:spcPts val="600"/>
              </a:spcAft>
            </a:pPr>
            <a:endParaRPr lang="en-US" altLang="en-US" sz="22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CE59EC3-7216-8C8B-7615-66ED50D10534}"/>
              </a:ext>
            </a:extLst>
          </p:cNvPr>
          <p:cNvGrpSpPr/>
          <p:nvPr/>
        </p:nvGrpSpPr>
        <p:grpSpPr>
          <a:xfrm>
            <a:off x="5062138" y="1360512"/>
            <a:ext cx="6722933" cy="1974032"/>
            <a:chOff x="4887543" y="1249700"/>
            <a:chExt cx="6722933" cy="1974032"/>
          </a:xfrm>
        </p:grpSpPr>
        <p:grpSp>
          <p:nvGrpSpPr>
            <p:cNvPr id="3" name="Group 2"/>
            <p:cNvGrpSpPr/>
            <p:nvPr/>
          </p:nvGrpSpPr>
          <p:grpSpPr>
            <a:xfrm>
              <a:off x="4887543" y="1249700"/>
              <a:ext cx="2008049" cy="1974032"/>
              <a:chOff x="1699136" y="4386800"/>
              <a:chExt cx="2008049" cy="1974032"/>
            </a:xfrm>
          </p:grpSpPr>
          <p:sp>
            <p:nvSpPr>
              <p:cNvPr id="4102" name="Rectangle 5"/>
              <p:cNvSpPr>
                <a:spLocks noChangeArrowheads="1"/>
              </p:cNvSpPr>
              <p:nvPr/>
            </p:nvSpPr>
            <p:spPr bwMode="auto">
              <a:xfrm>
                <a:off x="1717518" y="4386800"/>
                <a:ext cx="1989667" cy="420922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marL="342900" indent="-342900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marL="342900" marR="0" lvl="0" indent="-342900" algn="l" defTabSz="457189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8C8C8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STKaiti" panose="02010600040101010101" pitchFamily="2" charset="-122"/>
                    <a:ea typeface="STKaiti" panose="02010600040101010101" pitchFamily="2" charset="-122"/>
                  </a:rPr>
                  <a:t>统一支持</a:t>
                </a:r>
              </a:p>
            </p:txBody>
          </p:sp>
          <p:sp>
            <p:nvSpPr>
              <p:cNvPr id="4106" name="Text Box 9"/>
              <p:cNvSpPr txBox="1">
                <a:spLocks noChangeArrowheads="1"/>
              </p:cNvSpPr>
              <p:nvPr/>
            </p:nvSpPr>
            <p:spPr bwMode="auto">
              <a:xfrm>
                <a:off x="1699136" y="4838178"/>
                <a:ext cx="1415772" cy="5847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marL="0" marR="0" lvl="0" indent="0" algn="l" defTabSz="457189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STKaiti" panose="02010600040101010101" pitchFamily="2" charset="-122"/>
                    <a:ea typeface="STKaiti" panose="02010600040101010101" pitchFamily="2" charset="-122"/>
                  </a:rPr>
                  <a:t>第一级</a:t>
                </a:r>
              </a:p>
              <a:p>
                <a:pPr marL="0" marR="0" lvl="0" indent="0" algn="l" defTabSz="457189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STKaiti" panose="02010600040101010101" pitchFamily="2" charset="-122"/>
                    <a:ea typeface="STKaiti" panose="02010600040101010101" pitchFamily="2" charset="-122"/>
                  </a:rPr>
                  <a:t>min_sup </a:t>
                </a: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STKaiti" panose="02010600040101010101" pitchFamily="2" charset="-122"/>
                    <a:ea typeface="STKaiti" panose="02010600040101010101" pitchFamily="2" charset="-122"/>
                  </a:rPr>
                  <a:t>= 5%</a:t>
                </a:r>
              </a:p>
            </p:txBody>
          </p:sp>
          <p:sp>
            <p:nvSpPr>
              <p:cNvPr id="4107" name="Text Box 10"/>
              <p:cNvSpPr txBox="1">
                <a:spLocks noChangeArrowheads="1"/>
              </p:cNvSpPr>
              <p:nvPr/>
            </p:nvSpPr>
            <p:spPr bwMode="auto">
              <a:xfrm>
                <a:off x="1717518" y="5776057"/>
                <a:ext cx="1415772" cy="5847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marL="0" marR="0" lvl="0" indent="0" algn="l" defTabSz="457189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STKaiti" panose="02010600040101010101" pitchFamily="2" charset="-122"/>
                    <a:ea typeface="STKaiti" panose="02010600040101010101" pitchFamily="2" charset="-122"/>
                  </a:rPr>
                  <a:t>二级</a:t>
                </a:r>
              </a:p>
              <a:p>
                <a:pPr marL="0" marR="0" lvl="0" indent="0" algn="l" defTabSz="457189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STKaiti" panose="02010600040101010101" pitchFamily="2" charset="-122"/>
                    <a:ea typeface="STKaiti" panose="02010600040101010101" pitchFamily="2" charset="-122"/>
                  </a:rPr>
                  <a:t>min_sup </a:t>
                </a: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STKaiti" panose="02010600040101010101" pitchFamily="2" charset="-122"/>
                    <a:ea typeface="STKaiti" panose="02010600040101010101" pitchFamily="2" charset="-122"/>
                  </a:rPr>
                  <a:t>= 5%</a:t>
                </a:r>
              </a:p>
            </p:txBody>
          </p:sp>
        </p:grpSp>
        <p:grpSp>
          <p:nvGrpSpPr>
            <p:cNvPr id="4" name="Group 3"/>
            <p:cNvGrpSpPr/>
            <p:nvPr/>
          </p:nvGrpSpPr>
          <p:grpSpPr>
            <a:xfrm>
              <a:off x="9589171" y="1270512"/>
              <a:ext cx="2021305" cy="1937718"/>
              <a:chOff x="8414279" y="4386800"/>
              <a:chExt cx="2161440" cy="1937718"/>
            </a:xfrm>
          </p:grpSpPr>
          <p:sp>
            <p:nvSpPr>
              <p:cNvPr id="4108" name="Text Box 11"/>
              <p:cNvSpPr txBox="1">
                <a:spLocks noChangeArrowheads="1"/>
              </p:cNvSpPr>
              <p:nvPr/>
            </p:nvSpPr>
            <p:spPr bwMode="auto">
              <a:xfrm>
                <a:off x="8737601" y="4787886"/>
                <a:ext cx="1513926" cy="5847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marL="0" marR="0" lvl="0" indent="0" algn="l" defTabSz="457189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TKaiti" panose="02010600040101010101" pitchFamily="2" charset="-122"/>
                    <a:ea typeface="STKaiti" panose="02010600040101010101" pitchFamily="2" charset="-122"/>
                  </a:rPr>
                  <a:t>一级</a:t>
                </a:r>
              </a:p>
              <a:p>
                <a:pPr marL="0" marR="0" lvl="0" indent="0" algn="l" defTabSz="457189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TKaiti" panose="02010600040101010101" pitchFamily="2" charset="-122"/>
                    <a:ea typeface="STKaiti" panose="02010600040101010101" pitchFamily="2" charset="-122"/>
                  </a:rPr>
                  <a:t>min_sup </a:t>
                </a: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TKaiti" panose="02010600040101010101" pitchFamily="2" charset="-122"/>
                    <a:ea typeface="STKaiti" panose="02010600040101010101" pitchFamily="2" charset="-122"/>
                  </a:rPr>
                  <a:t>= 5%</a:t>
                </a:r>
              </a:p>
            </p:txBody>
          </p:sp>
          <p:sp>
            <p:nvSpPr>
              <p:cNvPr id="4109" name="Text Box 12"/>
              <p:cNvSpPr txBox="1">
                <a:spLocks noChangeArrowheads="1"/>
              </p:cNvSpPr>
              <p:nvPr/>
            </p:nvSpPr>
            <p:spPr bwMode="auto">
              <a:xfrm>
                <a:off x="8754977" y="5739743"/>
                <a:ext cx="1513926" cy="5847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marL="0" marR="0" lvl="0" indent="0" algn="l" defTabSz="457189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TKaiti" panose="02010600040101010101" pitchFamily="2" charset="-122"/>
                    <a:ea typeface="STKaiti" panose="02010600040101010101" pitchFamily="2" charset="-122"/>
                  </a:rPr>
                  <a:t>二级</a:t>
                </a:r>
              </a:p>
              <a:p>
                <a:pPr marL="0" marR="0" lvl="0" indent="0" algn="l" defTabSz="457189" rtl="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TKaiti" panose="02010600040101010101" pitchFamily="2" charset="-122"/>
                    <a:ea typeface="STKaiti" panose="02010600040101010101" pitchFamily="2" charset="-122"/>
                  </a:rPr>
                  <a:t>min_sup </a:t>
                </a: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TKaiti" panose="02010600040101010101" pitchFamily="2" charset="-122"/>
                    <a:ea typeface="STKaiti" panose="02010600040101010101" pitchFamily="2" charset="-122"/>
                  </a:rPr>
                  <a:t>= 1%</a:t>
                </a:r>
              </a:p>
            </p:txBody>
          </p:sp>
          <p:sp>
            <p:nvSpPr>
              <p:cNvPr id="4110" name="Rectangle 13"/>
              <p:cNvSpPr>
                <a:spLocks noChangeArrowheads="1"/>
              </p:cNvSpPr>
              <p:nvPr/>
            </p:nvSpPr>
            <p:spPr bwMode="auto">
              <a:xfrm>
                <a:off x="8414279" y="4386800"/>
                <a:ext cx="2161440" cy="338554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marL="0" marR="0" lvl="0" indent="0" algn="ctr" defTabSz="457189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TKaiti" panose="02010600040101010101" pitchFamily="2" charset="-122"/>
                    <a:ea typeface="STKaiti" panose="02010600040101010101" pitchFamily="2" charset="-122"/>
                  </a:rPr>
                  <a:t>减少支持</a:t>
                </a:r>
              </a:p>
            </p:txBody>
          </p:sp>
        </p:grpSp>
        <p:grpSp>
          <p:nvGrpSpPr>
            <p:cNvPr id="2" name="Group 1"/>
            <p:cNvGrpSpPr/>
            <p:nvPr/>
          </p:nvGrpSpPr>
          <p:grpSpPr>
            <a:xfrm>
              <a:off x="6269713" y="1646613"/>
              <a:ext cx="3613524" cy="1462823"/>
              <a:chOff x="3556000" y="5312156"/>
              <a:chExt cx="4978401" cy="1008721"/>
            </a:xfrm>
          </p:grpSpPr>
          <p:sp>
            <p:nvSpPr>
              <p:cNvPr id="4103" name="Text Box 6"/>
              <p:cNvSpPr txBox="1">
                <a:spLocks noChangeArrowheads="1"/>
              </p:cNvSpPr>
              <p:nvPr/>
            </p:nvSpPr>
            <p:spPr bwMode="auto">
              <a:xfrm>
                <a:off x="4844954" y="5312156"/>
                <a:ext cx="2540000" cy="352308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marL="0" marR="0" lvl="0" indent="0" algn="ctr" defTabSz="457189" rtl="0" eaLnBrk="0" fontAlgn="auto" latinLnBrk="0" hangingPunct="0">
                  <a:lnSpc>
                    <a:spcPct val="6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TKaiti" panose="02010600040101010101" pitchFamily="2" charset="-122"/>
                    <a:ea typeface="STKaiti" panose="02010600040101010101" pitchFamily="2" charset="-122"/>
                  </a:rPr>
                  <a:t>牛奶</a:t>
                </a:r>
              </a:p>
              <a:p>
                <a:pPr marL="0" marR="0" lvl="0" indent="0" algn="ctr" defTabSz="457189" rtl="0" eaLnBrk="0" fontAlgn="auto" latinLnBrk="0" hangingPunct="0">
                  <a:lnSpc>
                    <a:spcPct val="6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TKaiti" panose="02010600040101010101" pitchFamily="2" charset="-122"/>
                    <a:ea typeface="STKaiti" panose="02010600040101010101" pitchFamily="2" charset="-122"/>
                  </a:rPr>
                  <a:t>[支持 = 10%]</a:t>
                </a:r>
              </a:p>
            </p:txBody>
          </p:sp>
          <p:sp>
            <p:nvSpPr>
              <p:cNvPr id="4104" name="Text Box 7"/>
              <p:cNvSpPr txBox="1">
                <a:spLocks noChangeArrowheads="1"/>
              </p:cNvSpPr>
              <p:nvPr/>
            </p:nvSpPr>
            <p:spPr bwMode="auto">
              <a:xfrm>
                <a:off x="3556000" y="5968569"/>
                <a:ext cx="2438400" cy="352308"/>
              </a:xfrm>
              <a:prstGeom prst="rect">
                <a:avLst/>
              </a:prstGeom>
              <a:solidFill>
                <a:srgbClr val="92D05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marL="0" marR="0" lvl="0" indent="0" algn="ctr" defTabSz="457189" rtl="0" eaLnBrk="0" fontAlgn="auto" latinLnBrk="0" hangingPunct="0">
                  <a:lnSpc>
                    <a:spcPct val="6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TKaiti" panose="02010600040101010101" pitchFamily="2" charset="-122"/>
                    <a:ea typeface="STKaiti" panose="02010600040101010101" pitchFamily="2" charset="-122"/>
                  </a:rPr>
                  <a:t>2% 牛奶 </a:t>
                </a:r>
              </a:p>
              <a:p>
                <a:pPr marL="0" marR="0" lvl="0" indent="0" algn="ctr" defTabSz="457189" rtl="0" eaLnBrk="0" fontAlgn="auto" latinLnBrk="0" hangingPunct="0">
                  <a:lnSpc>
                    <a:spcPct val="6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TKaiti" panose="02010600040101010101" pitchFamily="2" charset="-122"/>
                    <a:ea typeface="STKaiti" panose="02010600040101010101" pitchFamily="2" charset="-122"/>
                  </a:rPr>
                  <a:t>[支持率 = 6%]</a:t>
                </a:r>
              </a:p>
            </p:txBody>
          </p:sp>
          <p:sp>
            <p:nvSpPr>
              <p:cNvPr id="4105" name="Text Box 8"/>
              <p:cNvSpPr txBox="1">
                <a:spLocks noChangeArrowheads="1"/>
              </p:cNvSpPr>
              <p:nvPr/>
            </p:nvSpPr>
            <p:spPr bwMode="auto">
              <a:xfrm>
                <a:off x="6197600" y="5968569"/>
                <a:ext cx="2336801" cy="352308"/>
              </a:xfrm>
              <a:prstGeom prst="rect">
                <a:avLst/>
              </a:prstGeom>
              <a:solidFill>
                <a:srgbClr val="0070C0">
                  <a:alpha val="50195"/>
                </a:srgbClr>
              </a:solidFill>
              <a:ln w="9525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marL="0" marR="0" lvl="0" indent="0" algn="ctr" defTabSz="457189" rtl="0" eaLnBrk="0" fontAlgn="auto" latinLnBrk="0" hangingPunct="0">
                  <a:lnSpc>
                    <a:spcPct val="6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BD582C"/>
                    </a:solidFill>
                    <a:effectLst/>
                    <a:uLnTx/>
                    <a:uFillTx/>
                    <a:latin typeface="STKaiti" panose="02010600040101010101" pitchFamily="2" charset="-122"/>
                    <a:ea typeface="STKaiti" panose="02010600040101010101" pitchFamily="2" charset="-122"/>
                  </a:rPr>
                  <a:t>脱脂牛奶 </a:t>
                </a:r>
              </a:p>
              <a:p>
                <a:pPr marL="0" marR="0" lvl="0" indent="0" algn="ctr" defTabSz="457189" rtl="0" eaLnBrk="0" fontAlgn="auto" latinLnBrk="0" hangingPunct="0">
                  <a:lnSpc>
                    <a:spcPct val="6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BD582C"/>
                    </a:solidFill>
                    <a:effectLst/>
                    <a:uLnTx/>
                    <a:uFillTx/>
                    <a:latin typeface="STKaiti" panose="02010600040101010101" pitchFamily="2" charset="-122"/>
                    <a:ea typeface="STKaiti" panose="02010600040101010101" pitchFamily="2" charset="-122"/>
                  </a:rPr>
                  <a:t>[支持率 = 2%]</a:t>
                </a:r>
              </a:p>
            </p:txBody>
          </p:sp>
          <p:cxnSp>
            <p:nvCxnSpPr>
              <p:cNvPr id="4111" name="AutoShape 14"/>
              <p:cNvCxnSpPr>
                <a:cxnSpLocks noChangeShapeType="1"/>
                <a:stCxn id="4103" idx="2"/>
                <a:endCxn id="4104" idx="0"/>
              </p:cNvCxnSpPr>
              <p:nvPr/>
            </p:nvCxnSpPr>
            <p:spPr bwMode="auto">
              <a:xfrm flipH="1">
                <a:off x="4775201" y="5664464"/>
                <a:ext cx="1339753" cy="304105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12" name="AutoShape 15"/>
              <p:cNvCxnSpPr>
                <a:cxnSpLocks noChangeShapeType="1"/>
                <a:stCxn id="4103" idx="2"/>
                <a:endCxn id="4105" idx="0"/>
              </p:cNvCxnSpPr>
              <p:nvPr/>
            </p:nvCxnSpPr>
            <p:spPr bwMode="auto">
              <a:xfrm>
                <a:off x="6114954" y="5664464"/>
                <a:ext cx="1251047" cy="30410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sp>
        <p:nvSpPr>
          <p:cNvPr id="27" name="Rectangle 3"/>
          <p:cNvSpPr txBox="1">
            <a:spLocks noChangeArrowheads="1"/>
          </p:cNvSpPr>
          <p:nvPr/>
        </p:nvSpPr>
        <p:spPr>
          <a:xfrm>
            <a:off x="561648" y="3404399"/>
            <a:ext cx="10172753" cy="2950572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461963" indent="-4619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88" indent="-5381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4746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88" indent="-522288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63" indent="-508000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7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6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6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5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Aft>
                <a:spcPts val="600"/>
              </a:spcAft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D173B22-1933-2E25-C86A-940D9A94542F}"/>
              </a:ext>
            </a:extLst>
          </p:cNvPr>
          <p:cNvSpPr txBox="1">
            <a:spLocks noChangeArrowheads="1"/>
          </p:cNvSpPr>
          <p:nvPr/>
        </p:nvSpPr>
        <p:spPr>
          <a:xfrm>
            <a:off x="656407" y="3424861"/>
            <a:ext cx="10077993" cy="3090249"/>
          </a:xfrm>
          <a:prstGeom prst="rect">
            <a:avLst/>
          </a:prstGeom>
        </p:spPr>
        <p:txBody>
          <a:bodyPr vert="horz" lIns="91436" tIns="45718" rIns="91436" bIns="45718" rtlCol="0" anchor="t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Aft>
                <a:spcPts val="600"/>
              </a:spcAft>
            </a:pPr>
            <a:r>
              <a:rPr lang="en-US" altLang="en-US" sz="2200" dirty="0">
                <a:latin typeface="STKaiti" panose="02010600040101010101" pitchFamily="2" charset="-122"/>
                <a:ea typeface="STKaiti" panose="02010600040101010101" pitchFamily="2" charset="-122"/>
              </a:rPr>
              <a:t>概念层次结构中项的最小支持阈值</a:t>
            </a:r>
          </a:p>
          <a:p>
            <a:pPr lvl="1">
              <a:spcAft>
                <a:spcPts val="600"/>
              </a:spcAft>
            </a:pPr>
            <a:r>
              <a:rPr lang="en-US" altLang="en-US" sz="22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在多个级别上</a:t>
            </a:r>
            <a:r>
              <a:rPr lang="en-US" altLang="en-US" sz="2200" b="1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保持一致的</a:t>
            </a:r>
            <a:r>
              <a:rPr lang="en-US" altLang="en-US" sz="22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最小支持率（合理？）</a:t>
            </a:r>
          </a:p>
          <a:p>
            <a:pPr marL="738188" marR="0" lvl="1" indent="-538163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按级别降低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最小支持率：</a:t>
            </a:r>
          </a:p>
          <a:p>
            <a:pPr marL="858835" lvl="2" indent="-538163" defTabSz="914377">
              <a:spcAft>
                <a:spcPts val="600"/>
              </a:spcAft>
              <a:buClr>
                <a:srgbClr val="FF0000"/>
              </a:buClr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较低层级的项目预期支持率较低</a:t>
            </a:r>
          </a:p>
          <a:p>
            <a:pPr marL="461963" marR="0" lvl="0" indent="-461963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高效挖掘：共享多级挖掘</a:t>
            </a:r>
          </a:p>
          <a:p>
            <a:pPr marL="738188" marR="0" lvl="1" indent="-538163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使用最低最小支持阈值将候选项集传递到下一层</a:t>
            </a:r>
          </a:p>
          <a:p>
            <a:pPr marL="737870" lvl="1" indent="-537845">
              <a:spcAft>
                <a:spcPts val="600"/>
              </a:spcAft>
            </a:pPr>
            <a:endParaRPr lang="en-US" altLang="en-US" sz="2200" dirty="0">
              <a:latin typeface="STKaiti" panose="02010600040101010101" pitchFamily="2" charset="-122"/>
              <a:ea typeface="STKaiti" panose="02010600040101010101" pitchFamily="2" charset="-122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4E29B9-1938-1D4C-3BCF-7AA967357FA8}"/>
              </a:ext>
            </a:extLst>
          </p:cNvPr>
          <p:cNvSpPr txBox="1"/>
          <p:nvPr/>
        </p:nvSpPr>
        <p:spPr>
          <a:xfrm>
            <a:off x="6444308" y="4525742"/>
            <a:ext cx="4826529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 latinLnBrk="1"/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缺点：低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层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（更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细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粒度）的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项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目支持度往往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较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低，可能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Microsoft YaHei" panose="020B0503020204020204" pitchFamily="34" charset="-122"/>
              </a:rPr>
              <a:t>挖</a:t>
            </a:r>
            <a:r>
              <a:rPr lang="ko-Kore-KR" altLang="ko-Kore-KR" sz="2000" kern="100">
                <a:effectLst/>
                <a:latin typeface="Calibri" panose="020F0502020204030204" pitchFamily="34" charset="0"/>
                <a:ea typeface="KaiTi" panose="02010609060101010101" pitchFamily="49" charset="-122"/>
                <a:cs typeface="Times New Roman" panose="02020603050405020304" pitchFamily="18" charset="0"/>
              </a:rPr>
              <a:t>掘不出任何模式</a:t>
            </a:r>
            <a:endParaRPr lang="ko-Kore-KR" altLang="ko-Kore-KR" sz="2000" kern="100">
              <a:effectLst/>
              <a:latin typeface="Calibri" panose="020F0502020204030204" pitchFamily="34" charset="0"/>
              <a:ea typeface="맑은 고딕" panose="020B0503020000020004" pitchFamily="34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6702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3057"/>
            <a:ext cx="12192000" cy="8255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冗余过滤在挖掘多层次关联中的应用 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635174" y="1385375"/>
            <a:ext cx="10660899" cy="4664443"/>
          </a:xfrm>
        </p:spPr>
        <p:txBody>
          <a:bodyPr vert="horz" lIns="91436" tIns="45718" rIns="91436" bIns="45718" rtlCol="0" anchor="t">
            <a:noAutofit/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>
                <a:ea typeface="STKaiti" panose="02010600040101010101" pitchFamily="2" charset="-122"/>
              </a:rPr>
              <a:t>冗余过滤：由于“祖先”关系导致的冗余 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>
                <a:solidFill>
                  <a:srgbClr val="0000CC"/>
                </a:solidFill>
                <a:ea typeface="STKaiti" panose="02010600040101010101" pitchFamily="2" charset="-122"/>
              </a:rPr>
              <a:t>牛奶</a:t>
            </a:r>
            <a:r>
              <a:rPr lang="en-US" altLang="en-US" sz="2400" dirty="0">
                <a:solidFill>
                  <a:srgbClr val="0000CC"/>
                </a:solidFill>
                <a:ea typeface="STKaiti" panose="02010600040101010101" pitchFamily="2" charset="-122"/>
                <a:sym typeface="Symbol" pitchFamily="18" charset="2"/>
              </a:rPr>
              <a:t>  小麦面包 [支持率 = 8%，置信度 = 70%] (1)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>
                <a:solidFill>
                  <a:srgbClr val="0000CC"/>
                </a:solidFill>
                <a:ea typeface="STKaiti" panose="02010600040101010101" pitchFamily="2" charset="-122"/>
                <a:sym typeface="Symbol" pitchFamily="18" charset="2"/>
              </a:rPr>
              <a:t>2% 牛奶  小麦面包 [支持率 = 2%，置信度 = 72%] (2)</a:t>
            </a:r>
          </a:p>
          <a:p>
            <a:pPr lvl="2">
              <a:spcAft>
                <a:spcPts val="600"/>
              </a:spcAft>
            </a:pPr>
            <a:r>
              <a:rPr lang="en-US" altLang="en-US" sz="2400" dirty="0">
                <a:ea typeface="STKaiti" panose="02010600040101010101" pitchFamily="2" charset="-122"/>
              </a:rPr>
              <a:t>假设2%的牛奶销售量约占总牛奶销售量的1/4</a:t>
            </a:r>
          </a:p>
          <a:p>
            <a:pPr lvl="3">
              <a:spcAft>
                <a:spcPts val="600"/>
              </a:spcAft>
            </a:pPr>
            <a:r>
              <a:rPr lang="en-US" altLang="en-US" sz="2400" dirty="0">
                <a:ea typeface="STKaiti" panose="02010600040101010101" pitchFamily="2" charset="-122"/>
              </a:rPr>
              <a:t>(2) 应能从(1)中“推导”出来</a:t>
            </a:r>
          </a:p>
          <a:p>
            <a:pPr lvl="3">
              <a:spcAft>
                <a:spcPts val="600"/>
              </a:spcAft>
            </a:pPr>
            <a:endParaRPr lang="en-US" altLang="en-US" sz="2400" dirty="0">
              <a:solidFill>
                <a:srgbClr val="0000CC"/>
              </a:solidFill>
              <a:ea typeface="STKaiti" panose="02010600040101010101" pitchFamily="2" charset="-122"/>
              <a:sym typeface="Symbol" pitchFamily="18" charset="2"/>
            </a:endParaRPr>
          </a:p>
          <a:p>
            <a:pPr>
              <a:spcAft>
                <a:spcPts val="600"/>
              </a:spcAft>
            </a:pPr>
            <a:r>
              <a:rPr lang="en-US" altLang="en-US" sz="2400" dirty="0">
                <a:solidFill>
                  <a:srgbClr val="0000CC"/>
                </a:solidFill>
                <a:ea typeface="STKaiti" panose="02010600040101010101" pitchFamily="2" charset="-122"/>
                <a:sym typeface="Symbol" pitchFamily="18" charset="2"/>
              </a:rPr>
              <a:t>一般来说：</a:t>
            </a:r>
            <a:r>
              <a:rPr lang="en-US" sz="2400" dirty="0">
                <a:ea typeface="STKaiti" panose="02010600040101010101" pitchFamily="2" charset="-122"/>
                <a:cs typeface="Calibri"/>
              </a:rPr>
              <a:t>如果一条规则的支持率接近其“祖先”规则的“预期”值，且其置信度与“祖先”规则相似，则该规则为</a:t>
            </a:r>
            <a:r>
              <a:rPr lang="en-US" sz="2400" i="1" dirty="0">
                <a:ea typeface="STKaiti" panose="02010600040101010101" pitchFamily="2" charset="-122"/>
                <a:cs typeface="Calibri"/>
              </a:rPr>
              <a:t>冗余</a:t>
            </a:r>
            <a:endParaRPr lang="en-US" altLang="en-US" sz="2400" dirty="0">
              <a:solidFill>
                <a:srgbClr val="0000CC"/>
              </a:solidFill>
              <a:ea typeface="STKaiti" panose="02010600040101010101" pitchFamily="2" charset="-122"/>
              <a:sym typeface="Symbol" pitchFamily="18" charset="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F32809-1315-343F-A62F-5C7414A17A85}"/>
              </a:ext>
            </a:extLst>
          </p:cNvPr>
          <p:cNvSpPr txBox="1"/>
          <p:nvPr/>
        </p:nvSpPr>
        <p:spPr>
          <a:xfrm>
            <a:off x="1625599" y="5553443"/>
            <a:ext cx="7112001" cy="400110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rPr>
              <a:t>问题：如果规则 (1) 是规则 (2) 的祖先，应剪枝哪个规则？</a:t>
            </a:r>
          </a:p>
        </p:txBody>
      </p:sp>
    </p:spTree>
    <p:extLst>
      <p:ext uri="{BB962C8B-B14F-4D97-AF65-F5344CB8AC3E}">
        <p14:creationId xmlns:p14="http://schemas.microsoft.com/office/powerpoint/2010/main" val="23029525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668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/>
              <a:t>针对不同类型项的自定义最小支持度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1503" y="1240220"/>
            <a:ext cx="10987769" cy="50029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en-US" sz="2400" dirty="0"/>
              <a:t>在每次关联挖掘中，我们对所有待挖掘的物品或物品集使用相同的最小支持阈值</a:t>
            </a:r>
          </a:p>
          <a:p>
            <a:pPr>
              <a:spcAft>
                <a:spcPts val="600"/>
              </a:spcAft>
            </a:pPr>
            <a:r>
              <a:rPr lang="en-US" altLang="en-US" sz="2400" dirty="0"/>
              <a:t>实际上，某些项目（如钻石、手表等）虽然价值高但出现频率较低</a:t>
            </a:r>
          </a:p>
          <a:p>
            <a:pPr>
              <a:spcAft>
                <a:spcPts val="600"/>
              </a:spcAft>
            </a:pPr>
            <a:r>
              <a:rPr lang="en-US" altLang="en-US" sz="2400" dirty="0"/>
              <a:t>因此，针对不同类型的商品，需要设置定制化的最小支持度阈值 </a:t>
            </a:r>
          </a:p>
          <a:p>
            <a:pPr>
              <a:spcAft>
                <a:spcPts val="600"/>
              </a:spcAft>
            </a:pPr>
            <a:r>
              <a:rPr lang="en-US" altLang="en-US" sz="2400" dirty="0"/>
              <a:t>一种方法：使用</a:t>
            </a:r>
            <a:r>
              <a:rPr lang="en-US" altLang="en-US" sz="2400" dirty="0">
                <a:solidFill>
                  <a:srgbClr val="FF0000"/>
                </a:solidFill>
              </a:rPr>
              <a:t>基于组的“个性化”最小支持度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例如：{钻石, 手表}: 0.05%; {面包, 牛奶}: 5%; …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如何高效挖掘此类规则？</a:t>
            </a:r>
          </a:p>
          <a:p>
            <a:pPr lvl="2">
              <a:spcAft>
                <a:spcPts val="600"/>
              </a:spcAft>
            </a:pPr>
            <a:r>
              <a:rPr lang="en-US" altLang="en-US" sz="2400" dirty="0"/>
              <a:t>现有的可扩展挖掘算法可轻松扩展以支持此类场景</a:t>
            </a:r>
          </a:p>
        </p:txBody>
      </p:sp>
    </p:spTree>
    <p:extLst>
      <p:ext uri="{BB962C8B-B14F-4D97-AF65-F5344CB8AC3E}">
        <p14:creationId xmlns:p14="http://schemas.microsoft.com/office/powerpoint/2010/main" val="2500503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508000" y="228600"/>
            <a:ext cx="11176000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挖掘多维关联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>
          <a:xfrm>
            <a:off x="425120" y="1130968"/>
            <a:ext cx="10954079" cy="5571046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 sz="2400" dirty="0"/>
              <a:t>单维规则（例如，所有商品均属于“产品”维度）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dirty="0">
                <a:solidFill>
                  <a:srgbClr val="C00000"/>
                </a:solidFill>
              </a:rPr>
              <a:t>购买</a:t>
            </a:r>
            <a:r>
              <a:rPr lang="en-US" altLang="en-US" sz="2400" dirty="0"/>
              <a:t>(X, “牛奶”)</a:t>
            </a:r>
            <a:r>
              <a:rPr lang="en-US" altLang="en-US" sz="2400" dirty="0">
                <a:solidFill>
                  <a:srgbClr val="C00000"/>
                </a:solidFill>
                <a:sym typeface="Symbol" pitchFamily="18" charset="2"/>
              </a:rPr>
              <a:t>  购买</a:t>
            </a:r>
            <a:r>
              <a:rPr lang="en-US" altLang="en-US" sz="2400" dirty="0">
                <a:sym typeface="Symbol" pitchFamily="18" charset="2"/>
              </a:rPr>
              <a:t>(X, “面包”)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dirty="0"/>
              <a:t>多维规则（即商品</a:t>
            </a:r>
            <a:r>
              <a:rPr lang="en-US" altLang="en-US" sz="2400" dirty="0">
                <a:sym typeface="Symbol" pitchFamily="18" charset="2"/>
              </a:rPr>
              <a:t>位于</a:t>
            </a:r>
            <a:r>
              <a:rPr lang="en-US" altLang="en-US" sz="2400" dirty="0"/>
              <a:t>2个维度或谓词中）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dirty="0"/>
              <a:t>跨维度关联规则（无重复谓词）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 sz="2400" dirty="0">
                <a:solidFill>
                  <a:srgbClr val="C00000"/>
                </a:solidFill>
              </a:rPr>
              <a:t>年龄</a:t>
            </a:r>
            <a:r>
              <a:rPr lang="en-US" altLang="en-US" sz="2400" dirty="0"/>
              <a:t>(X, “18-25”)</a:t>
            </a:r>
            <a:r>
              <a:rPr lang="en-US" altLang="en-US" sz="2400" dirty="0">
                <a:sym typeface="Symbol" pitchFamily="18" charset="2"/>
              </a:rPr>
              <a:t> </a:t>
            </a:r>
            <a:r>
              <a:rPr lang="en-US" altLang="en-US" sz="2400" dirty="0">
                <a:solidFill>
                  <a:srgbClr val="0033CC"/>
                </a:solidFill>
              </a:rPr>
              <a:t> 职业</a:t>
            </a:r>
            <a:r>
              <a:rPr lang="en-US" altLang="en-US" sz="2400" dirty="0"/>
              <a:t>(X, “学生”)</a:t>
            </a:r>
            <a:r>
              <a:rPr lang="en-US" altLang="en-US" sz="2400" dirty="0">
                <a:sym typeface="Symbol" pitchFamily="18" charset="2"/>
              </a:rPr>
              <a:t> </a:t>
            </a:r>
            <a:r>
              <a:rPr lang="en-US" altLang="en-US" sz="2400" dirty="0">
                <a:solidFill>
                  <a:srgbClr val="00B050"/>
                </a:solidFill>
                <a:sym typeface="Symbol" pitchFamily="18" charset="2"/>
              </a:rPr>
              <a:t> 购买</a:t>
            </a:r>
            <a:r>
              <a:rPr lang="en-US" altLang="en-US" sz="2400" dirty="0">
                <a:sym typeface="Symbol" pitchFamily="18" charset="2"/>
              </a:rPr>
              <a:t>(X, “可乐”)</a:t>
            </a:r>
          </a:p>
          <a:p>
            <a:pPr lvl="1">
              <a:lnSpc>
                <a:spcPct val="110000"/>
              </a:lnSpc>
            </a:pPr>
            <a:r>
              <a:rPr lang="en-US" altLang="en-US" sz="2400" dirty="0">
                <a:sym typeface="Symbol" pitchFamily="18" charset="2"/>
              </a:rPr>
              <a:t>混合维度</a:t>
            </a:r>
            <a:r>
              <a:rPr lang="en-US" altLang="en-US" sz="2400" dirty="0"/>
              <a:t>关联</a:t>
            </a:r>
            <a:r>
              <a:rPr lang="en-US" altLang="en-US" sz="2400" dirty="0">
                <a:sym typeface="Symbol" pitchFamily="18" charset="2"/>
              </a:rPr>
              <a:t>规则（重复谓词）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 sz="2400" dirty="0">
                <a:solidFill>
                  <a:srgbClr val="C00000"/>
                </a:solidFill>
              </a:rPr>
              <a:t>age</a:t>
            </a:r>
            <a:r>
              <a:rPr lang="en-US" altLang="en-US" sz="2400" dirty="0"/>
              <a:t>(X, “18-25”)</a:t>
            </a:r>
            <a:r>
              <a:rPr lang="en-US" altLang="en-US" sz="2400" dirty="0">
                <a:sym typeface="Symbol" pitchFamily="18" charset="2"/>
              </a:rPr>
              <a:t>  </a:t>
            </a:r>
            <a:r>
              <a:rPr lang="en-US" altLang="en-US" sz="2400" dirty="0">
                <a:solidFill>
                  <a:srgbClr val="0033CC"/>
                </a:solidFill>
              </a:rPr>
              <a:t> buys</a:t>
            </a:r>
            <a:r>
              <a:rPr lang="en-US" altLang="en-US" sz="2400" dirty="0"/>
              <a:t>(X, “popcorn”)</a:t>
            </a:r>
            <a:r>
              <a:rPr lang="en-US" altLang="en-US" sz="2400" dirty="0">
                <a:sym typeface="Symbol" pitchFamily="18" charset="2"/>
              </a:rPr>
              <a:t>  </a:t>
            </a:r>
            <a:r>
              <a:rPr lang="en-US" altLang="en-US" sz="2400" dirty="0">
                <a:solidFill>
                  <a:srgbClr val="0033CC"/>
                </a:solidFill>
                <a:sym typeface="Symbol" pitchFamily="18" charset="2"/>
              </a:rPr>
              <a:t>buys</a:t>
            </a:r>
            <a:r>
              <a:rPr lang="en-US" altLang="en-US" sz="2400" dirty="0">
                <a:sym typeface="Symbol" pitchFamily="18" charset="2"/>
              </a:rPr>
              <a:t>(X, “coke”)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dirty="0"/>
              <a:t>属性可以是分类型或数值型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dirty="0"/>
              <a:t>类别属性（例如：职业、产品：值之间无顺序）：跨维关联的数据立方体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dirty="0"/>
              <a:t>定量属性：数值型，值之间存在隐式排序——离散化、聚类和梯度方法</a:t>
            </a:r>
          </a:p>
          <a:p>
            <a:pPr eaLnBrk="1" hangingPunct="1">
              <a:lnSpc>
                <a:spcPct val="110000"/>
              </a:lnSpc>
            </a:pPr>
            <a:endParaRPr lang="en-US" altLang="en-US" dirty="0">
              <a:solidFill>
                <a:schemeClr val="folHlink"/>
              </a:solidFill>
              <a:sym typeface="Symbol" pitchFamily="18" charset="2"/>
            </a:endParaRPr>
          </a:p>
        </p:txBody>
      </p:sp>
      <p:sp>
        <p:nvSpPr>
          <p:cNvPr id="1553412" name="Rectangle 4"/>
          <p:cNvSpPr>
            <a:spLocks noChangeArrowheads="1"/>
          </p:cNvSpPr>
          <p:nvPr/>
        </p:nvSpPr>
        <p:spPr bwMode="auto">
          <a:xfrm>
            <a:off x="508000" y="3886200"/>
            <a:ext cx="1117600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342900" marR="0" lvl="0" indent="-34290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8C8C8C"/>
              </a:buClr>
              <a:buSzPct val="60000"/>
              <a:buFont typeface="Wingdings" pitchFamily="2" charset="2"/>
              <a:buChar char="n"/>
              <a:tabLst/>
              <a:defRPr/>
            </a:pPr>
            <a:endParaRPr kumimoji="0" lang="en-US" altLang="en-US" sz="2800" b="0" i="0" u="none" strike="noStrike" kern="1200" cap="none" spc="0" normalizeH="0" baseline="0" noProof="0">
              <a:ln>
                <a:noFill/>
              </a:ln>
              <a:solidFill>
                <a:srgbClr val="8C8C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16012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101600" y="304800"/>
            <a:ext cx="119888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罕见模式与负面模式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6400" y="1143000"/>
            <a:ext cx="11074400" cy="53340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罕见模式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/>
              <a:t>支持率极低但具有研究价值（例如购买劳力士手表）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/>
              <a:t>如何挖掘它们？为不同类别的项目设置个性化的、基于群组的最小支持阈值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负面模式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/>
              <a:t>负相关：不太可能同时发生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/>
              <a:t>例如：由于同一客户</a:t>
            </a:r>
            <a:r>
              <a:rPr lang="en-US" altLang="en-US" sz="2400" dirty="0">
                <a:solidFill>
                  <a:srgbClr val="FF0000"/>
                </a:solidFill>
              </a:rPr>
              <a:t>同时购买福特探险者</a:t>
            </a:r>
            <a:r>
              <a:rPr lang="en-US" altLang="en-US" sz="2400" dirty="0"/>
              <a:t>（SUV车型）</a:t>
            </a:r>
            <a:r>
              <a:rPr lang="en-US" altLang="en-US" sz="2400" dirty="0">
                <a:solidFill>
                  <a:srgbClr val="FF0000"/>
                </a:solidFill>
              </a:rPr>
              <a:t>和福特 Fusion</a:t>
            </a:r>
            <a:r>
              <a:rPr lang="en-US" altLang="en-US" sz="2400" dirty="0"/>
              <a:t>（混合动力车型）的可能性较低，因此购买福特探险者</a:t>
            </a:r>
            <a:r>
              <a:rPr lang="en-US" altLang="en-US" sz="2400" dirty="0">
                <a:solidFill>
                  <a:srgbClr val="FF0000"/>
                </a:solidFill>
              </a:rPr>
              <a:t>与购买福特 Fusion</a:t>
            </a:r>
            <a:r>
              <a:rPr lang="en-US" altLang="en-US" sz="2400" dirty="0"/>
              <a:t> 可能是负相关模式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/>
              <a:t>如何定义负相关模式？</a:t>
            </a:r>
          </a:p>
        </p:txBody>
      </p:sp>
    </p:spTree>
    <p:extLst>
      <p:ext uri="{BB962C8B-B14F-4D97-AF65-F5344CB8AC3E}">
        <p14:creationId xmlns:p14="http://schemas.microsoft.com/office/powerpoint/2010/main" val="3214532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101600" y="304800"/>
            <a:ext cx="11988800" cy="6096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定义负相关模式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6473" y="1115291"/>
            <a:ext cx="11028218" cy="5715001"/>
          </a:xfrm>
        </p:spPr>
        <p:txBody>
          <a:bodyPr/>
          <a:lstStyle/>
          <a:p>
            <a:r>
              <a:rPr lang="en-US" altLang="en-US" sz="2200" dirty="0"/>
              <a:t>基于支持的定义 </a:t>
            </a:r>
          </a:p>
          <a:p>
            <a:pPr lvl="1"/>
            <a:r>
              <a:rPr lang="en-US" altLang="en-US" sz="2200" dirty="0"/>
              <a:t>如果</a:t>
            </a:r>
            <a:r>
              <a:rPr lang="en-US" altLang="en-US" sz="2200" dirty="0" err="1"/>
              <a:t>两个项集</a:t>
            </a:r>
            <a:r>
              <a:rPr lang="en-US" altLang="en-US" sz="2200" dirty="0"/>
              <a:t>A和B都频繁出现但很少同时出现，即  </a:t>
            </a:r>
          </a:p>
          <a:p>
            <a:pPr lvl="2"/>
            <a:r>
              <a:rPr lang="en-US" altLang="en-US" sz="2200" dirty="0">
                <a:solidFill>
                  <a:srgbClr val="FF0000"/>
                </a:solidFill>
              </a:rPr>
              <a:t>sup(A ∪ B) &lt;&lt;=sup(A) </a:t>
            </a:r>
            <a:r>
              <a:rPr lang="en-US" altLang="en-US" sz="2200" dirty="0">
                <a:solidFill>
                  <a:srgbClr val="FF0000"/>
                </a:solidFill>
                <a:cs typeface="Tahoma" pitchFamily="34" charset="0"/>
              </a:rPr>
              <a:t>× </a:t>
            </a:r>
            <a:r>
              <a:rPr lang="en-US" altLang="en-US" sz="2200" dirty="0">
                <a:solidFill>
                  <a:srgbClr val="FF0000"/>
                </a:solidFill>
              </a:rPr>
              <a:t>sup(B)</a:t>
            </a:r>
          </a:p>
          <a:p>
            <a:pPr lvl="1"/>
            <a:r>
              <a:rPr lang="en-US" altLang="en-US" sz="2200" dirty="0"/>
              <a:t>则 A 和 B 之间存在负相关性</a:t>
            </a:r>
          </a:p>
          <a:p>
            <a:r>
              <a:rPr lang="en-US" altLang="en-US" sz="2200" dirty="0"/>
              <a:t>这个定义适用于大型交易数据集吗？ </a:t>
            </a:r>
          </a:p>
          <a:p>
            <a:r>
              <a:rPr lang="en-US" altLang="en-US" sz="2200" dirty="0"/>
              <a:t>例：假设一家商店出售两种针包A和B，每种各售出100次，但仅有一笔交易同时包含A和B</a:t>
            </a:r>
          </a:p>
          <a:p>
            <a:pPr lvl="1"/>
            <a:r>
              <a:rPr lang="en-US" altLang="en-US" sz="2200" dirty="0"/>
              <a:t>当总交易数为 200 时，我们有 </a:t>
            </a:r>
          </a:p>
          <a:p>
            <a:pPr lvl="2"/>
            <a:r>
              <a:rPr lang="en-US" altLang="en-US" sz="2200" dirty="0">
                <a:solidFill>
                  <a:srgbClr val="FF0000"/>
                </a:solidFill>
              </a:rPr>
              <a:t>s(A ∪ B) = 0.005, s(A) </a:t>
            </a:r>
            <a:r>
              <a:rPr lang="en-US" altLang="en-US" sz="2200" dirty="0">
                <a:solidFill>
                  <a:srgbClr val="FF0000"/>
                </a:solidFill>
                <a:cs typeface="Tahoma" pitchFamily="34" charset="0"/>
              </a:rPr>
              <a:t>× </a:t>
            </a:r>
            <a:r>
              <a:rPr lang="en-US" altLang="en-US" sz="2200" dirty="0">
                <a:solidFill>
                  <a:srgbClr val="FF0000"/>
                </a:solidFill>
              </a:rPr>
              <a:t>s(B) = 0.25, s(A ∪ B) &lt;&lt;=s(A) </a:t>
            </a:r>
            <a:r>
              <a:rPr lang="en-US" altLang="en-US" sz="2200" dirty="0">
                <a:solidFill>
                  <a:srgbClr val="FF0000"/>
                </a:solidFill>
                <a:cs typeface="Tahoma" pitchFamily="34" charset="0"/>
              </a:rPr>
              <a:t>× </a:t>
            </a:r>
            <a:r>
              <a:rPr lang="en-US" altLang="en-US" sz="2200" dirty="0">
                <a:solidFill>
                  <a:srgbClr val="FF0000"/>
                </a:solidFill>
              </a:rPr>
              <a:t>s(B)</a:t>
            </a:r>
          </a:p>
          <a:p>
            <a:pPr lvl="1"/>
            <a:r>
              <a:rPr lang="en-US" altLang="en-US" sz="2200" dirty="0"/>
              <a:t>但当有10个</a:t>
            </a:r>
            <a:r>
              <a:rPr lang="en-US" altLang="en-US" sz="2200" baseline="30000" dirty="0"/>
              <a:t>5</a:t>
            </a:r>
            <a:r>
              <a:rPr lang="en-US" altLang="en-US" sz="2200" dirty="0"/>
              <a:t> 交易时，我们有</a:t>
            </a:r>
          </a:p>
          <a:p>
            <a:pPr lvl="2"/>
            <a:r>
              <a:rPr lang="en-US" altLang="en-US" sz="2200" dirty="0">
                <a:solidFill>
                  <a:srgbClr val="FF0000"/>
                </a:solidFill>
              </a:rPr>
              <a:t>s(A ∪ B) = 1/10</a:t>
            </a:r>
            <a:r>
              <a:rPr lang="en-US" altLang="en-US" sz="2200" baseline="30000" dirty="0">
                <a:solidFill>
                  <a:srgbClr val="FF0000"/>
                </a:solidFill>
              </a:rPr>
              <a:t>5</a:t>
            </a:r>
            <a:r>
              <a:rPr lang="en-US" altLang="en-US" sz="2200" dirty="0">
                <a:solidFill>
                  <a:srgbClr val="FF0000"/>
                </a:solidFill>
              </a:rPr>
              <a:t> , s(A) </a:t>
            </a:r>
            <a:r>
              <a:rPr lang="en-US" altLang="en-US" sz="2200" dirty="0">
                <a:solidFill>
                  <a:srgbClr val="FF0000"/>
                </a:solidFill>
                <a:cs typeface="Tahoma" pitchFamily="34" charset="0"/>
              </a:rPr>
              <a:t>× </a:t>
            </a:r>
            <a:r>
              <a:rPr lang="en-US" altLang="en-US" sz="2200" dirty="0">
                <a:solidFill>
                  <a:srgbClr val="FF0000"/>
                </a:solidFill>
              </a:rPr>
              <a:t>s(B) = 1/10</a:t>
            </a:r>
            <a:r>
              <a:rPr lang="en-US" altLang="en-US" sz="2200" baseline="30000" dirty="0">
                <a:solidFill>
                  <a:srgbClr val="FF0000"/>
                </a:solidFill>
              </a:rPr>
              <a:t>3 </a:t>
            </a:r>
            <a:r>
              <a:rPr lang="en-US" altLang="en-US" sz="2200" dirty="0">
                <a:solidFill>
                  <a:srgbClr val="FF0000"/>
                </a:solidFill>
                <a:cs typeface="Tahoma" pitchFamily="34" charset="0"/>
              </a:rPr>
              <a:t> ×</a:t>
            </a:r>
            <a:r>
              <a:rPr lang="en-US" altLang="en-US" sz="2200" baseline="30000" dirty="0">
                <a:solidFill>
                  <a:srgbClr val="FF0000"/>
                </a:solidFill>
              </a:rPr>
              <a:t> </a:t>
            </a:r>
            <a:r>
              <a:rPr lang="en-US" altLang="en-US" sz="2200" dirty="0">
                <a:solidFill>
                  <a:srgbClr val="FF0000"/>
                </a:solidFill>
              </a:rPr>
              <a:t> 1/10</a:t>
            </a:r>
            <a:r>
              <a:rPr lang="en-US" altLang="en-US" sz="2200" baseline="30000" dirty="0">
                <a:solidFill>
                  <a:srgbClr val="FF0000"/>
                </a:solidFill>
              </a:rPr>
              <a:t>3</a:t>
            </a:r>
            <a:r>
              <a:rPr lang="en-US" altLang="en-US" sz="2200" dirty="0">
                <a:solidFill>
                  <a:srgbClr val="FF0000"/>
                </a:solidFill>
              </a:rPr>
              <a:t> , s(A ∪ B) &gt; s(A) </a:t>
            </a:r>
            <a:r>
              <a:rPr lang="en-US" altLang="en-US" sz="2200" dirty="0">
                <a:solidFill>
                  <a:srgbClr val="FF0000"/>
                </a:solidFill>
                <a:cs typeface="Tahoma" pitchFamily="34" charset="0"/>
              </a:rPr>
              <a:t>× </a:t>
            </a:r>
            <a:r>
              <a:rPr lang="en-US" altLang="en-US" sz="2200" dirty="0">
                <a:solidFill>
                  <a:srgbClr val="FF0000"/>
                </a:solidFill>
              </a:rPr>
              <a:t>s(B)</a:t>
            </a:r>
          </a:p>
          <a:p>
            <a:r>
              <a:rPr lang="en-US" altLang="en-US" sz="2200" dirty="0"/>
              <a:t>这里的问题是什么？</a:t>
            </a:r>
          </a:p>
          <a:p>
            <a:pPr marL="384166" lvl="2" indent="0">
              <a:buNone/>
            </a:pPr>
            <a:r>
              <a:rPr lang="en-US" altLang="en-US" sz="2200" dirty="0"/>
              <a:t>—空交易：基于支持的定义不具备空交易不变性！</a:t>
            </a:r>
          </a:p>
        </p:txBody>
      </p:sp>
      <p:sp>
        <p:nvSpPr>
          <p:cNvPr id="2" name="TextBox 1"/>
          <p:cNvSpPr txBox="1"/>
          <p:nvPr/>
        </p:nvSpPr>
        <p:spPr>
          <a:xfrm rot="21361928">
            <a:off x="6658426" y="2163570"/>
            <a:ext cx="4671589" cy="400110"/>
          </a:xfrm>
          <a:prstGeom prst="rect">
            <a:avLst/>
          </a:prstGeom>
          <a:solidFill>
            <a:srgbClr val="F0CDBC"/>
          </a:solidFill>
        </p:spPr>
        <p:txBody>
          <a:bodyPr wrap="square" rtlCol="0">
            <a:spAutoFit/>
          </a:bodyPr>
          <a:lstStyle/>
          <a:p>
            <a:r>
              <a:rPr lang="en-US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这让你联想到</a:t>
            </a:r>
            <a:r>
              <a:rPr lang="en-US" altLang="en-US" sz="2000" i="1" dirty="0">
                <a:latin typeface="STKaiti" panose="02010600040101010101" pitchFamily="2" charset="-122"/>
                <a:ea typeface="STKaiti" panose="02010600040101010101" pitchFamily="2" charset="-122"/>
              </a:rPr>
              <a:t>提升的</a:t>
            </a:r>
            <a:r>
              <a:rPr lang="en-US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定义吗</a:t>
            </a:r>
            <a:r>
              <a:rPr lang="en-US" altLang="en-US" sz="2000" i="1" dirty="0">
                <a:latin typeface="STKaiti" panose="02010600040101010101" pitchFamily="2" charset="-122"/>
                <a:ea typeface="STKaiti" panose="02010600040101010101" pitchFamily="2" charset="-122"/>
              </a:rPr>
              <a:t>？</a:t>
            </a:r>
            <a:endParaRPr lang="en-US" altLang="en-US" sz="20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2390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1856403" y="0"/>
            <a:ext cx="8610788" cy="1094874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定义负相关：定义中需满足零不变性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451" y="1185394"/>
            <a:ext cx="10654149" cy="5500783"/>
          </a:xfrm>
        </p:spPr>
        <p:txBody>
          <a:bodyPr/>
          <a:lstStyle/>
          <a:p>
            <a:r>
              <a:rPr lang="en-US" altLang="en-US" sz="2400" dirty="0">
                <a:ea typeface="STKaiti" panose="02010600040101010101" pitchFamily="2" charset="-122"/>
              </a:rPr>
              <a:t>一个好的负相关定义应满足零不变性！ </a:t>
            </a:r>
          </a:p>
          <a:p>
            <a:pPr lvl="1"/>
            <a:r>
              <a:rPr lang="en-US" altLang="en-US" sz="2400" dirty="0">
                <a:ea typeface="STKaiti" panose="02010600040101010101" pitchFamily="2" charset="-122"/>
              </a:rPr>
              <a:t>直观理解： </a:t>
            </a:r>
            <a:r>
              <a:rPr lang="en-US" altLang="en-US" sz="2400" dirty="0" err="1">
                <a:ea typeface="STKaiti" panose="02010600040101010101" pitchFamily="2" charset="-122"/>
              </a:rPr>
              <a:t> 两个项</a:t>
            </a:r>
            <a:r>
              <a:rPr lang="en-US" altLang="en-US" sz="2400" dirty="0">
                <a:ea typeface="STKaiti" panose="02010600040101010101" pitchFamily="2" charset="-122"/>
              </a:rPr>
              <a:t>集A和B是否负相关不应受空交易数量的影响 </a:t>
            </a:r>
          </a:p>
          <a:p>
            <a:r>
              <a:rPr lang="en-US" altLang="en-US" sz="2400" dirty="0">
                <a:ea typeface="STKaiti" panose="02010600040101010101" pitchFamily="2" charset="-122"/>
              </a:rPr>
              <a:t>基于</a:t>
            </a:r>
            <a:r>
              <a:rPr lang="en-US" altLang="en-US" sz="2400" dirty="0" err="1">
                <a:ea typeface="STKaiti" panose="02010600040101010101" pitchFamily="2" charset="-122"/>
              </a:rPr>
              <a:t>库尔</a:t>
            </a:r>
            <a:r>
              <a:rPr lang="en-US" altLang="en-US" sz="2400" dirty="0">
                <a:ea typeface="STKaiti" panose="02010600040101010101" pitchFamily="2" charset="-122"/>
              </a:rPr>
              <a:t>钦斯基测度的定义  </a:t>
            </a:r>
          </a:p>
          <a:p>
            <a:pPr lvl="1"/>
            <a:r>
              <a:rPr lang="en-US" altLang="en-US" sz="2400" dirty="0" err="1">
                <a:ea typeface="STKaiti" panose="02010600040101010101" pitchFamily="2" charset="-122"/>
              </a:rPr>
              <a:t>若集合 </a:t>
            </a:r>
            <a:r>
              <a:rPr lang="en-US" altLang="en-US" sz="2400" dirty="0">
                <a:ea typeface="STKaiti" panose="02010600040101010101" pitchFamily="2" charset="-122"/>
              </a:rPr>
              <a:t>A 和 B 频繁且 </a:t>
            </a:r>
            <a:r>
              <a:rPr lang="en-US" altLang="en-US" sz="2400" dirty="0">
                <a:solidFill>
                  <a:srgbClr val="FF0000"/>
                </a:solidFill>
                <a:ea typeface="STKaiti" panose="02010600040101010101" pitchFamily="2" charset="-122"/>
              </a:rPr>
              <a:t> (s(A ∪ B)/s(A) + s(A ∪ B)/s(B))/2 &lt; </a:t>
            </a:r>
            <a:r>
              <a:rPr lang="ru-RU" altLang="en-US" sz="2400" dirty="0">
                <a:solidFill>
                  <a:srgbClr val="FF0000"/>
                </a:solidFill>
                <a:ea typeface="STKaiti" panose="02010600040101010101" pitchFamily="2" charset="-122"/>
                <a:cs typeface="Tahoma" pitchFamily="34" charset="0"/>
              </a:rPr>
              <a:t>є</a:t>
            </a:r>
            <a:r>
              <a:rPr lang="en-US" altLang="en-US" sz="2400" dirty="0">
                <a:ea typeface="STKaiti" panose="02010600040101010101" pitchFamily="2" charset="-122"/>
                <a:cs typeface="Tahoma" pitchFamily="34" charset="0"/>
              </a:rPr>
              <a:t>, </a:t>
            </a:r>
            <a:endParaRPr lang="en-US" altLang="en-US" sz="2400" dirty="0">
              <a:ea typeface="STKaiti" panose="02010600040101010101" pitchFamily="2" charset="-122"/>
            </a:endParaRPr>
          </a:p>
          <a:p>
            <a:pPr marL="838200" lvl="4" indent="0">
              <a:buNone/>
            </a:pPr>
            <a:r>
              <a:rPr lang="en-US" altLang="en-US" sz="2400" dirty="0">
                <a:ea typeface="STKaiti" panose="02010600040101010101" pitchFamily="2" charset="-122"/>
              </a:rPr>
              <a:t>则 A 和 B 负相关</a:t>
            </a:r>
          </a:p>
          <a:p>
            <a:r>
              <a:rPr lang="en-US" altLang="en-US" sz="2400" dirty="0">
                <a:ea typeface="STKaiti" panose="02010600040101010101" pitchFamily="2" charset="-122"/>
              </a:rPr>
              <a:t>对于相同的针剂包问题：</a:t>
            </a:r>
          </a:p>
          <a:p>
            <a:pPr lvl="1"/>
            <a:r>
              <a:rPr lang="en-US" altLang="en-US" sz="2400" dirty="0">
                <a:ea typeface="STKaiti" panose="02010600040101010101" pitchFamily="2" charset="-122"/>
              </a:rPr>
              <a:t>无论总共有200个还是10个</a:t>
            </a:r>
            <a:r>
              <a:rPr lang="en-US" altLang="en-US" sz="2400" baseline="30000" dirty="0">
                <a:ea typeface="STKaiti" panose="02010600040101010101" pitchFamily="2" charset="-122"/>
              </a:rPr>
              <a:t>5</a:t>
            </a:r>
            <a:r>
              <a:rPr lang="en-US" altLang="en-US" sz="2400" dirty="0">
                <a:ea typeface="STKaiti" panose="02010600040101010101" pitchFamily="2" charset="-122"/>
              </a:rPr>
              <a:t> 交易</a:t>
            </a:r>
          </a:p>
          <a:p>
            <a:pPr lvl="2"/>
            <a:r>
              <a:rPr lang="ru-RU" altLang="en-US" sz="2400" dirty="0">
                <a:ea typeface="STKaiti" panose="02010600040101010101" pitchFamily="2" charset="-122"/>
                <a:cs typeface="Tahoma" pitchFamily="34" charset="0"/>
              </a:rPr>
              <a:t>若є </a:t>
            </a:r>
            <a:r>
              <a:rPr lang="en-US" altLang="en-US" sz="2400" dirty="0">
                <a:ea typeface="STKaiti" panose="02010600040101010101" pitchFamily="2" charset="-122"/>
              </a:rPr>
              <a:t>= 0.01，则有 </a:t>
            </a:r>
          </a:p>
          <a:p>
            <a:pPr marL="854075" lvl="4" indent="0">
              <a:buNone/>
            </a:pPr>
            <a:r>
              <a:rPr lang="en-US" altLang="en-US" sz="2400" dirty="0">
                <a:solidFill>
                  <a:srgbClr val="FF0000"/>
                </a:solidFill>
                <a:ea typeface="STKaiti" panose="02010600040101010101" pitchFamily="2" charset="-122"/>
              </a:rPr>
              <a:t>(s(A ∪ B)/s(A) + s(A ∪ B)/s(B))/2 = (0.01 + 0.01)/2 &lt; </a:t>
            </a:r>
            <a:r>
              <a:rPr lang="ru-RU" altLang="en-US" sz="2400" dirty="0">
                <a:solidFill>
                  <a:srgbClr val="FF0000"/>
                </a:solidFill>
                <a:ea typeface="STKaiti" panose="02010600040101010101" pitchFamily="2" charset="-122"/>
                <a:cs typeface="Tahoma" pitchFamily="34" charset="0"/>
              </a:rPr>
              <a:t>є</a:t>
            </a:r>
            <a:endParaRPr lang="en-US" altLang="en-US" sz="2400" dirty="0">
              <a:solidFill>
                <a:srgbClr val="FF0000"/>
              </a:solidFill>
              <a:ea typeface="STKaiti" panose="02010600040101010101" pitchFamily="2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E7F72C-F399-473B-8578-512B44BF603A}"/>
              </a:ext>
            </a:extLst>
          </p:cNvPr>
          <p:cNvSpPr txBox="1"/>
          <p:nvPr/>
        </p:nvSpPr>
        <p:spPr>
          <a:xfrm>
            <a:off x="8268935" y="3421314"/>
            <a:ext cx="2198256" cy="400110"/>
          </a:xfrm>
          <a:prstGeom prst="rect">
            <a:avLst/>
          </a:prstGeom>
          <a:solidFill>
            <a:srgbClr val="CCFF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altLang="en-US" sz="2000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  <a:cs typeface="Tahoma" pitchFamily="34" charset="0"/>
              </a:rPr>
              <a:t>є </a:t>
            </a:r>
            <a:r>
              <a:rPr lang="en-US" altLang="en-US" sz="2000" dirty="0">
                <a:latin typeface="STKaiti" panose="02010600040101010101" pitchFamily="2" charset="-122"/>
                <a:ea typeface="STKaiti" panose="02010600040101010101" pitchFamily="2" charset="-122"/>
                <a:cs typeface="Tahoma" pitchFamily="34" charset="0"/>
              </a:rPr>
              <a:t>是</a:t>
            </a:r>
            <a:r>
              <a:rPr lang="en-US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负</a:t>
            </a:r>
            <a:r>
              <a:rPr lang="en-US" altLang="en-US" sz="2000" dirty="0">
                <a:latin typeface="STKaiti" panose="02010600040101010101" pitchFamily="2" charset="-122"/>
                <a:ea typeface="STKaiti" panose="02010600040101010101" pitchFamily="2" charset="-122"/>
                <a:cs typeface="Tahoma" pitchFamily="34" charset="0"/>
              </a:rPr>
              <a:t>的 </a:t>
            </a:r>
            <a:r>
              <a:rPr lang="en-US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模式阈值</a:t>
            </a:r>
            <a:endParaRPr 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60ECABB-54E2-5DB6-A676-317B82B18091}"/>
              </a:ext>
            </a:extLst>
          </p:cNvPr>
          <p:cNvSpPr/>
          <p:nvPr/>
        </p:nvSpPr>
        <p:spPr>
          <a:xfrm flipH="1" flipV="1">
            <a:off x="9140783" y="2643414"/>
            <a:ext cx="205179" cy="367750"/>
          </a:xfrm>
          <a:prstGeom prst="ellipse">
            <a:avLst/>
          </a:prstGeom>
          <a:noFill/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3AD96A7-B602-94E9-707C-CC2EC1FDFF1C}"/>
              </a:ext>
            </a:extLst>
          </p:cNvPr>
          <p:cNvCxnSpPr>
            <a:cxnSpLocks/>
            <a:stCxn id="3" idx="7"/>
          </p:cNvCxnSpPr>
          <p:nvPr/>
        </p:nvCxnSpPr>
        <p:spPr>
          <a:xfrm flipH="1">
            <a:off x="9000094" y="2957308"/>
            <a:ext cx="170737" cy="471692"/>
          </a:xfrm>
          <a:prstGeom prst="straightConnector1">
            <a:avLst/>
          </a:prstGeom>
          <a:ln>
            <a:solidFill>
              <a:srgbClr val="00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5193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"/>
            <a:ext cx="12192000" cy="1050634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marL="457200" indent="-457200">
              <a:lnSpc>
                <a:spcPct val="200000"/>
              </a:lnSpc>
              <a:buSzTx/>
            </a:pPr>
            <a:r>
              <a:rPr lang="en-US" altLang="en-US" dirty="0"/>
              <a:t>模式挖掘：高级方法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29979" y="1131454"/>
            <a:ext cx="10532282" cy="5574146"/>
          </a:xfrm>
          <a:noFill/>
        </p:spPr>
        <p:txBody>
          <a:bodyPr vert="horz" lIns="92075" tIns="46038" rIns="92075" bIns="46038" rtlCol="0" anchor="t">
            <a:noAutofit/>
          </a:bodyPr>
          <a:lstStyle/>
          <a:p>
            <a:pPr marL="457200" indent="-457200">
              <a:lnSpc>
                <a:spcPct val="200000"/>
              </a:lnSpc>
              <a:buSzTx/>
            </a:pPr>
            <a:r>
              <a:rPr lang="en-US" b="1" i="0" u="none" strike="noStrike" baseline="0" dirty="0"/>
              <a:t>挖掘各种类型的模式 </a:t>
            </a:r>
          </a:p>
          <a:p>
            <a:pPr marL="457200" indent="-457200">
              <a:lnSpc>
                <a:spcPct val="200000"/>
              </a:lnSpc>
              <a:buSzTx/>
            </a:pPr>
            <a:r>
              <a:rPr lang="en-US" b="1" i="0" u="none" strike="noStrike" baseline="0" dirty="0"/>
              <a:t>挖掘压缩或近似模式  </a:t>
            </a:r>
          </a:p>
          <a:p>
            <a:pPr marL="457200" indent="-457200">
              <a:lnSpc>
                <a:spcPct val="200000"/>
              </a:lnSpc>
              <a:buSzTx/>
            </a:pPr>
            <a:r>
              <a:rPr lang="en-US" b="1" i="0" u="none" strike="noStrike" baseline="0" dirty="0"/>
              <a:t>约束基于模式挖掘</a:t>
            </a:r>
          </a:p>
          <a:p>
            <a:pPr marL="457200" indent="-457200">
              <a:lnSpc>
                <a:spcPct val="200000"/>
              </a:lnSpc>
              <a:buSzTx/>
            </a:pPr>
            <a:r>
              <a:rPr lang="en-US" b="1" i="0" u="none" strike="noStrike" baseline="0" dirty="0"/>
              <a:t>序列模式挖掘</a:t>
            </a:r>
            <a:endParaRPr lang="en-US" b="1" dirty="0"/>
          </a:p>
          <a:p>
            <a:pPr marL="457200" indent="-457200">
              <a:lnSpc>
                <a:spcPct val="200000"/>
              </a:lnSpc>
              <a:buSzTx/>
            </a:pPr>
            <a:r>
              <a:rPr lang="en-US" b="1" i="0" u="none" strike="noStrike" baseline="0" dirty="0"/>
              <a:t>子图模式挖掘</a:t>
            </a:r>
          </a:p>
          <a:p>
            <a:pPr marL="457200" indent="-457200">
              <a:lnSpc>
                <a:spcPct val="200000"/>
              </a:lnSpc>
              <a:buSzTx/>
            </a:pPr>
            <a:r>
              <a:rPr lang="en-US" b="1" i="0" u="none" strike="noStrike" baseline="0" dirty="0"/>
              <a:t>模式挖掘：应用示例</a:t>
            </a:r>
          </a:p>
          <a:p>
            <a:pPr marL="457200" indent="-457200">
              <a:lnSpc>
                <a:spcPct val="200000"/>
              </a:lnSpc>
              <a:buSzTx/>
            </a:pPr>
            <a:r>
              <a:rPr lang="en-US" altLang="en-US" b="1" dirty="0"/>
              <a:t>总结</a:t>
            </a:r>
            <a:endParaRPr lang="en-US" altLang="en-US" sz="2800" b="1" dirty="0"/>
          </a:p>
        </p:txBody>
      </p:sp>
      <p:sp>
        <p:nvSpPr>
          <p:cNvPr id="2" name="Striped Right Arrow 1"/>
          <p:cNvSpPr/>
          <p:nvPr/>
        </p:nvSpPr>
        <p:spPr>
          <a:xfrm rot="9075611">
            <a:off x="7048297" y="2016686"/>
            <a:ext cx="502920" cy="457200"/>
          </a:xfrm>
          <a:prstGeom prst="stripedRightArrow">
            <a:avLst/>
          </a:prstGeom>
          <a:solidFill>
            <a:srgbClr val="00808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939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36500-27BB-6B7F-FE05-63B192D77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>
            <a:extLst>
              <a:ext uri="{FF2B5EF4-FFF2-40B4-BE49-F238E27FC236}">
                <a16:creationId xmlns:a16="http://schemas.microsoft.com/office/drawing/2014/main" id="{98049EF0-30A0-7102-52E5-1B086EF7B8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12192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挖掘压缩模式</a:t>
            </a:r>
            <a:endParaRPr lang="en-US" altLang="en-US" sz="3200" dirty="0"/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A61D5951-F21A-B18F-7C60-792DA8117A1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716375" y="1215189"/>
            <a:ext cx="7060538" cy="5490411"/>
          </a:xfrm>
        </p:spPr>
        <p:txBody>
          <a:bodyPr/>
          <a:lstStyle/>
          <a:p>
            <a:pPr eaLnBrk="1" hangingPunct="1">
              <a:spcAft>
                <a:spcPts val="300"/>
              </a:spcAft>
            </a:pPr>
            <a:r>
              <a:rPr lang="en-US" altLang="en-US" dirty="0">
                <a:ea typeface="STKaiti" panose="02010600040101010101" pitchFamily="2" charset="-122"/>
              </a:rPr>
              <a:t>为什么挖掘压缩模式？</a:t>
            </a:r>
            <a:r>
              <a:rPr lang="en-US" altLang="zh-CN" dirty="0">
                <a:ea typeface="STKaiti" panose="02010600040101010101" pitchFamily="2" charset="-122"/>
              </a:rPr>
              <a:t>模式过于分散且缺乏意义</a:t>
            </a:r>
          </a:p>
          <a:p>
            <a:pPr eaLnBrk="1" hangingPunct="1">
              <a:spcAft>
                <a:spcPts val="300"/>
              </a:spcAft>
            </a:pPr>
            <a:r>
              <a:rPr lang="en-US" altLang="zh-CN" dirty="0">
                <a:ea typeface="STKaiti" panose="02010600040101010101" pitchFamily="2" charset="-122"/>
              </a:rPr>
              <a:t>模式距离度量</a:t>
            </a:r>
          </a:p>
          <a:p>
            <a:pPr marL="200025" lvl="1" indent="0" eaLnBrk="1" hangingPunct="1">
              <a:spcAft>
                <a:spcPts val="300"/>
              </a:spcAft>
              <a:buNone/>
            </a:pPr>
            <a:endParaRPr lang="en-US" altLang="zh-CN" dirty="0">
              <a:ea typeface="STKaiti" panose="02010600040101010101" pitchFamily="2" charset="-122"/>
            </a:endParaRPr>
          </a:p>
          <a:p>
            <a:pPr eaLnBrk="1" hangingPunct="1">
              <a:spcAft>
                <a:spcPts val="300"/>
              </a:spcAft>
            </a:pPr>
            <a:r>
              <a:rPr lang="en-US" altLang="zh-CN" dirty="0">
                <a:ea typeface="STKaiti" panose="02010600040101010101" pitchFamily="2" charset="-122"/>
                <a:cs typeface="Arial" pitchFamily="34" charset="0"/>
              </a:rPr>
              <a:t>δ-聚类：对于每个模式P，找到所有能够用P表示且与P的距离</a:t>
            </a:r>
            <a:r>
              <a:rPr lang="el-GR" altLang="zh-CN" dirty="0">
                <a:ea typeface="STKaiti" panose="02010600040101010101" pitchFamily="2" charset="-122"/>
                <a:cs typeface="Arial" pitchFamily="34" charset="0"/>
              </a:rPr>
              <a:t>在δ范围内的</a:t>
            </a:r>
            <a:r>
              <a:rPr lang="en-US" altLang="zh-CN" dirty="0">
                <a:ea typeface="STKaiti" panose="02010600040101010101" pitchFamily="2" charset="-122"/>
                <a:cs typeface="Arial" pitchFamily="34" charset="0"/>
              </a:rPr>
              <a:t>模式</a:t>
            </a:r>
            <a:r>
              <a:rPr lang="en-US" altLang="zh-CN" dirty="0">
                <a:ea typeface="STKaiti" panose="02010600040101010101" pitchFamily="2" charset="-122"/>
              </a:rPr>
              <a:t>（δ覆盖）</a:t>
            </a:r>
          </a:p>
          <a:p>
            <a:pPr eaLnBrk="1" hangingPunct="1">
              <a:spcAft>
                <a:spcPts val="300"/>
              </a:spcAft>
            </a:pPr>
            <a:r>
              <a:rPr lang="en-US" altLang="zh-CN" dirty="0">
                <a:ea typeface="STKaiti" panose="02010600040101010101" pitchFamily="2" charset="-122"/>
              </a:rPr>
              <a:t>聚类中的所有模式均可由P表示</a:t>
            </a:r>
          </a:p>
        </p:txBody>
      </p:sp>
      <p:graphicFrame>
        <p:nvGraphicFramePr>
          <p:cNvPr id="2087973" name="Group 37">
            <a:extLst>
              <a:ext uri="{FF2B5EF4-FFF2-40B4-BE49-F238E27FC236}">
                <a16:creationId xmlns:a16="http://schemas.microsoft.com/office/drawing/2014/main" id="{B67E493F-5841-7B87-1927-2283E5CFA017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53452" y="1217437"/>
          <a:ext cx="3982453" cy="2194128"/>
        </p:xfrm>
        <a:graphic>
          <a:graphicData uri="http://schemas.openxmlformats.org/drawingml/2006/table">
            <a:tbl>
              <a:tblPr/>
              <a:tblGrid>
                <a:gridCol w="977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7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6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9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模式ID</a:t>
                      </a:r>
                    </a:p>
                  </a:txBody>
                  <a:tcPr marL="121920" marR="121920" marT="45684" marB="456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项集</a:t>
                      </a:r>
                    </a:p>
                  </a:txBody>
                  <a:tcPr marL="121920" marR="121920" marT="45684" marB="456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支持</a:t>
                      </a:r>
                    </a:p>
                  </a:txBody>
                  <a:tcPr marL="121920" marR="121920" marT="45684" marB="456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9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P1</a:t>
                      </a:r>
                    </a:p>
                  </a:txBody>
                  <a:tcPr marL="121920" marR="121920" marT="45684" marB="456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{38,16,18,12}</a:t>
                      </a:r>
                    </a:p>
                  </a:txBody>
                  <a:tcPr marL="121920" marR="121920" marT="45684" marB="456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205227</a:t>
                      </a:r>
                    </a:p>
                  </a:txBody>
                  <a:tcPr marL="121920" marR="121920" marT="45684" marB="456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9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P2</a:t>
                      </a:r>
                    </a:p>
                  </a:txBody>
                  <a:tcPr marL="121920" marR="121920" marT="45684" marB="456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{38,16,18,12,17}</a:t>
                      </a:r>
                    </a:p>
                  </a:txBody>
                  <a:tcPr marL="121920" marR="121920" marT="45684" marB="456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205211</a:t>
                      </a:r>
                    </a:p>
                  </a:txBody>
                  <a:tcPr marL="121920" marR="121920" marT="45684" marB="456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9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P3</a:t>
                      </a:r>
                    </a:p>
                  </a:txBody>
                  <a:tcPr marL="121920" marR="121920" marT="45684" marB="456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{39,38,16,18,12,17}</a:t>
                      </a:r>
                    </a:p>
                  </a:txBody>
                  <a:tcPr marL="121920" marR="121920" marT="45684" marB="456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101758</a:t>
                      </a:r>
                    </a:p>
                  </a:txBody>
                  <a:tcPr marL="121920" marR="121920" marT="45684" marB="456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9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P4</a:t>
                      </a:r>
                    </a:p>
                  </a:txBody>
                  <a:tcPr marL="121920" marR="121920" marT="45684" marB="456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{39,16,18,12,17}</a:t>
                      </a:r>
                    </a:p>
                  </a:txBody>
                  <a:tcPr marL="121920" marR="121920" marT="45684" marB="456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161563</a:t>
                      </a:r>
                    </a:p>
                  </a:txBody>
                  <a:tcPr marL="121920" marR="121920" marT="45684" marB="456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9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P5</a:t>
                      </a:r>
                    </a:p>
                  </a:txBody>
                  <a:tcPr marL="121920" marR="121920" marT="45684" marB="456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{39,16,18,12}</a:t>
                      </a:r>
                    </a:p>
                  </a:txBody>
                  <a:tcPr marL="121920" marR="121920" marT="45684" marB="456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161576</a:t>
                      </a:r>
                    </a:p>
                  </a:txBody>
                  <a:tcPr marL="121920" marR="121920" marT="45684" marB="456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3523" name="Rectangle 38">
            <a:extLst>
              <a:ext uri="{FF2B5EF4-FFF2-40B4-BE49-F238E27FC236}">
                <a16:creationId xmlns:a16="http://schemas.microsoft.com/office/drawing/2014/main" id="{29F4A3D3-E9C0-9404-FE5E-B520F00A1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087" y="3714602"/>
            <a:ext cx="4162926" cy="24684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marL="342900" marR="0" lvl="0" indent="-34290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ct val="60000"/>
              <a:buFont typeface="Wingdings" pitchFamily="2" charset="2"/>
              <a:buChar char="n"/>
              <a:tabLst/>
              <a:defRPr/>
            </a:pP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SimSun" pitchFamily="2" charset="-122"/>
              <a:cs typeface="+mn-cs"/>
            </a:endParaRPr>
          </a:p>
        </p:txBody>
      </p:sp>
      <p:pic>
        <p:nvPicPr>
          <p:cNvPr id="12324" name="Picture 37">
            <a:extLst>
              <a:ext uri="{FF2B5EF4-FFF2-40B4-BE49-F238E27FC236}">
                <a16:creationId xmlns:a16="http://schemas.microsoft.com/office/drawing/2014/main" id="{F7947B85-7502-28C4-34D8-C9E48401D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1791" y="2196697"/>
            <a:ext cx="4100508" cy="488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D7EDEA33-726C-F423-AFB1-F9576AB0C6FD}"/>
              </a:ext>
            </a:extLst>
          </p:cNvPr>
          <p:cNvSpPr txBox="1">
            <a:spLocks noChangeArrowheads="1"/>
          </p:cNvSpPr>
          <p:nvPr/>
        </p:nvSpPr>
        <p:spPr>
          <a:xfrm>
            <a:off x="415087" y="3684057"/>
            <a:ext cx="4259180" cy="2468448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341313" indent="-34131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88" indent="-3730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96" indent="-300031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813" indent="-29051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74638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7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6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6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5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marR="0" lvl="0" indent="-341313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闭合模式 </a:t>
            </a:r>
          </a:p>
          <a:p>
            <a:pPr marL="573088" marR="0" lvl="1" indent="-373063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P1、P2、P3、P4、P5</a:t>
            </a:r>
          </a:p>
          <a:p>
            <a:pPr marL="573088" marR="0" lvl="1" indent="-373063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过分强调支撑</a:t>
            </a:r>
          </a:p>
          <a:p>
            <a:pPr marL="341313" marR="0" lvl="0" indent="-341313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最大模式</a:t>
            </a:r>
          </a:p>
          <a:p>
            <a:pPr marL="573088" marR="0" lvl="1" indent="-373063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P3：信息丢失</a:t>
            </a:r>
          </a:p>
          <a:p>
            <a:pPr marL="341313" marR="0" lvl="0" indent="-341313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理想输出（良好平衡）：</a:t>
            </a:r>
          </a:p>
          <a:p>
            <a:pPr marL="573088" marR="0" lvl="1" indent="-373063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P2、P3、P4</a:t>
            </a:r>
          </a:p>
        </p:txBody>
      </p:sp>
    </p:spTree>
    <p:extLst>
      <p:ext uri="{BB962C8B-B14F-4D97-AF65-F5344CB8AC3E}">
        <p14:creationId xmlns:p14="http://schemas.microsoft.com/office/powerpoint/2010/main" val="2839496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 xmlns:a16="http://schemas.microsoft.com/office/drawing/2014/main" xmlns:a14="http://schemas.microsoft.com/office/drawing/2010/main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23" grpId="0" animBg="1"/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12192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挖掘压缩模式</a:t>
            </a:r>
            <a:endParaRPr lang="en-US" altLang="en-US" sz="3200" dirty="0"/>
          </a:p>
        </p:txBody>
      </p:sp>
      <p:sp>
        <p:nvSpPr>
          <p:cNvPr id="63523" name="Rectangle 38"/>
          <p:cNvSpPr>
            <a:spLocks noChangeArrowheads="1"/>
          </p:cNvSpPr>
          <p:nvPr/>
        </p:nvSpPr>
        <p:spPr bwMode="auto">
          <a:xfrm>
            <a:off x="508000" y="1371600"/>
            <a:ext cx="4162926" cy="24684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marL="342900" marR="0" lvl="0" indent="-34290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ct val="60000"/>
              <a:buFont typeface="Wingdings" pitchFamily="2" charset="2"/>
              <a:buChar char="n"/>
              <a:tabLst/>
              <a:defRPr/>
            </a:pP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SimSun" pitchFamily="2" charset="-122"/>
              <a:cs typeface="+mn-cs"/>
            </a:endParaRPr>
          </a:p>
        </p:txBody>
      </p:sp>
      <p:pic>
        <p:nvPicPr>
          <p:cNvPr id="12324" name="Picture 3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5105" y="1506641"/>
            <a:ext cx="4100508" cy="488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A7F9EB4-8C47-F8FA-1F90-DB67917002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988593"/>
              </p:ext>
            </p:extLst>
          </p:nvPr>
        </p:nvGraphicFramePr>
        <p:xfrm>
          <a:off x="510745" y="1400373"/>
          <a:ext cx="4160181" cy="243967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136050">
                  <a:extLst>
                    <a:ext uri="{9D8B030D-6E8A-4147-A177-3AD203B41FA5}">
                      <a16:colId xmlns:a16="http://schemas.microsoft.com/office/drawing/2014/main" val="1044763713"/>
                    </a:ext>
                  </a:extLst>
                </a:gridCol>
                <a:gridCol w="3024131">
                  <a:extLst>
                    <a:ext uri="{9D8B030D-6E8A-4147-A177-3AD203B41FA5}">
                      <a16:colId xmlns:a16="http://schemas.microsoft.com/office/drawing/2014/main" val="3999160162"/>
                    </a:ext>
                  </a:extLst>
                </a:gridCol>
              </a:tblGrid>
              <a:tr h="3485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400" dirty="0">
                          <a:effectLst/>
                        </a:rPr>
                        <a:t>事务</a:t>
                      </a:r>
                      <a:r>
                        <a:rPr lang="en-US" sz="1400" dirty="0">
                          <a:effectLst/>
                        </a:rPr>
                        <a:t>ID</a:t>
                      </a:r>
                      <a:endParaRPr lang="ko-KR" sz="1400" dirty="0">
                        <a:effectLst/>
                        <a:latin typeface="KaiTi" panose="02010609060101010101" pitchFamily="49" charset="-122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400">
                          <a:effectLst/>
                        </a:rPr>
                        <a:t>商品项</a:t>
                      </a:r>
                      <a:endParaRPr lang="ko-KR" sz="1400">
                        <a:effectLst/>
                        <a:latin typeface="KaiTi" panose="02010609060101010101" pitchFamily="49" charset="-122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91808971"/>
                  </a:ext>
                </a:extLst>
              </a:tr>
              <a:tr h="3485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T1</a:t>
                      </a:r>
                      <a:endParaRPr lang="ko-KR" sz="1400" dirty="0">
                        <a:effectLst/>
                        <a:latin typeface="KaiTi" panose="02010609060101010101" pitchFamily="49" charset="-122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{</a:t>
                      </a:r>
                      <a:r>
                        <a:rPr lang="ko-KR" sz="1400">
                          <a:effectLst/>
                        </a:rPr>
                        <a:t>牛奶</a:t>
                      </a:r>
                      <a:r>
                        <a:rPr lang="en-US" sz="1400">
                          <a:effectLst/>
                        </a:rPr>
                        <a:t>, </a:t>
                      </a:r>
                      <a:r>
                        <a:rPr lang="ko-KR" sz="1400">
                          <a:effectLst/>
                        </a:rPr>
                        <a:t>面包</a:t>
                      </a:r>
                      <a:r>
                        <a:rPr lang="en-US" sz="1400">
                          <a:effectLst/>
                        </a:rPr>
                        <a:t>, </a:t>
                      </a:r>
                      <a:r>
                        <a:rPr lang="ko-KR" sz="1400">
                          <a:effectLst/>
                        </a:rPr>
                        <a:t>鸡蛋</a:t>
                      </a:r>
                      <a:r>
                        <a:rPr lang="en-US" sz="1400">
                          <a:effectLst/>
                        </a:rPr>
                        <a:t>}</a:t>
                      </a:r>
                      <a:endParaRPr lang="ko-KR" sz="1400">
                        <a:effectLst/>
                        <a:latin typeface="KaiTi" panose="02010609060101010101" pitchFamily="49" charset="-122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6076600"/>
                  </a:ext>
                </a:extLst>
              </a:tr>
              <a:tr h="3485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T2</a:t>
                      </a:r>
                      <a:endParaRPr lang="ko-KR" sz="1400">
                        <a:effectLst/>
                        <a:latin typeface="KaiTi" panose="02010609060101010101" pitchFamily="49" charset="-122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{</a:t>
                      </a:r>
                      <a:r>
                        <a:rPr lang="ko-KR" sz="1400" dirty="0">
                          <a:effectLst/>
                        </a:rPr>
                        <a:t>牛奶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ko-KR" sz="1400" dirty="0">
                          <a:effectLst/>
                        </a:rPr>
                        <a:t>面包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ko-KR" sz="1400" dirty="0">
                          <a:effectLst/>
                        </a:rPr>
                        <a:t>鸡蛋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ko-KR" sz="1400" dirty="0">
                          <a:effectLst/>
                        </a:rPr>
                        <a:t>黄油</a:t>
                      </a:r>
                      <a:r>
                        <a:rPr lang="en-US" sz="1400" dirty="0">
                          <a:effectLst/>
                        </a:rPr>
                        <a:t>}</a:t>
                      </a:r>
                      <a:endParaRPr lang="ko-KR" sz="1400" dirty="0">
                        <a:effectLst/>
                        <a:latin typeface="KaiTi" panose="02010609060101010101" pitchFamily="49" charset="-122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25227892"/>
                  </a:ext>
                </a:extLst>
              </a:tr>
              <a:tr h="3485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T3</a:t>
                      </a:r>
                      <a:endParaRPr lang="ko-KR" sz="1400">
                        <a:effectLst/>
                        <a:latin typeface="KaiTi" panose="02010609060101010101" pitchFamily="49" charset="-122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{</a:t>
                      </a:r>
                      <a:r>
                        <a:rPr lang="ko-KR" sz="1400" dirty="0">
                          <a:effectLst/>
                        </a:rPr>
                        <a:t>牛奶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ko-KR" sz="1400" dirty="0">
                          <a:effectLst/>
                        </a:rPr>
                        <a:t>面包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ko-KR" sz="1400" dirty="0">
                          <a:effectLst/>
                        </a:rPr>
                        <a:t>鸡蛋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ko-KR" sz="1400" dirty="0">
                          <a:effectLst/>
                        </a:rPr>
                        <a:t>果汁</a:t>
                      </a:r>
                      <a:r>
                        <a:rPr lang="en-US" sz="1400" dirty="0">
                          <a:effectLst/>
                        </a:rPr>
                        <a:t>}</a:t>
                      </a:r>
                      <a:endParaRPr lang="ko-KR" sz="1400" dirty="0">
                        <a:effectLst/>
                        <a:latin typeface="KaiTi" panose="02010609060101010101" pitchFamily="49" charset="-122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34486946"/>
                  </a:ext>
                </a:extLst>
              </a:tr>
              <a:tr h="3485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T4</a:t>
                      </a:r>
                      <a:endParaRPr lang="ko-KR" sz="1400" dirty="0">
                        <a:effectLst/>
                        <a:latin typeface="KaiTi" panose="02010609060101010101" pitchFamily="49" charset="-122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{</a:t>
                      </a:r>
                      <a:r>
                        <a:rPr lang="ko-KR" sz="1400" dirty="0">
                          <a:effectLst/>
                        </a:rPr>
                        <a:t>牛奶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ko-KR" sz="1400" dirty="0">
                          <a:effectLst/>
                        </a:rPr>
                        <a:t>面包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ko-KR" sz="1400" dirty="0">
                          <a:effectLst/>
                        </a:rPr>
                        <a:t>鸡蛋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ko-KR" sz="1400" dirty="0">
                          <a:effectLst/>
                        </a:rPr>
                        <a:t>奶酪</a:t>
                      </a:r>
                      <a:r>
                        <a:rPr lang="en-US" sz="1400" dirty="0">
                          <a:effectLst/>
                        </a:rPr>
                        <a:t>}</a:t>
                      </a:r>
                      <a:endParaRPr lang="ko-KR" sz="1400" dirty="0">
                        <a:effectLst/>
                        <a:latin typeface="KaiTi" panose="02010609060101010101" pitchFamily="49" charset="-122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28399180"/>
                  </a:ext>
                </a:extLst>
              </a:tr>
              <a:tr h="3485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T5</a:t>
                      </a:r>
                      <a:endParaRPr lang="ko-KR" sz="1400">
                        <a:effectLst/>
                        <a:latin typeface="KaiTi" panose="02010609060101010101" pitchFamily="49" charset="-122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{</a:t>
                      </a:r>
                      <a:r>
                        <a:rPr lang="zh-CN" sz="1400" dirty="0">
                          <a:effectLst/>
                        </a:rPr>
                        <a:t>牛奶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zh-CN" sz="1400" dirty="0">
                          <a:effectLst/>
                        </a:rPr>
                        <a:t>面包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zh-CN" sz="1400" dirty="0">
                          <a:effectLst/>
                        </a:rPr>
                        <a:t>鸡蛋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zh-CN" sz="1400" dirty="0">
                          <a:effectLst/>
                        </a:rPr>
                        <a:t>黄油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zh-CN" sz="1400" dirty="0">
                          <a:effectLst/>
                        </a:rPr>
                        <a:t>果汁</a:t>
                      </a:r>
                      <a:r>
                        <a:rPr lang="en-US" sz="1400" dirty="0">
                          <a:effectLst/>
                        </a:rPr>
                        <a:t>}</a:t>
                      </a:r>
                      <a:endParaRPr lang="ko-KR" sz="1400" dirty="0">
                        <a:effectLst/>
                        <a:latin typeface="KaiTi" panose="02010609060101010101" pitchFamily="49" charset="-122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63548675"/>
                  </a:ext>
                </a:extLst>
              </a:tr>
              <a:tr h="3485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T6</a:t>
                      </a:r>
                      <a:endParaRPr lang="ko-KR" sz="1400" dirty="0">
                        <a:effectLst/>
                        <a:latin typeface="KaiTi" panose="02010609060101010101" pitchFamily="49" charset="-122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{</a:t>
                      </a:r>
                      <a:r>
                        <a:rPr lang="ko-KR" sz="1400" dirty="0">
                          <a:effectLst/>
                        </a:rPr>
                        <a:t>牛奶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ko-KR" sz="1400" dirty="0">
                          <a:effectLst/>
                        </a:rPr>
                        <a:t>面包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ko-KR" sz="1400" dirty="0">
                          <a:effectLst/>
                        </a:rPr>
                        <a:t>鸡蛋</a:t>
                      </a:r>
                      <a:r>
                        <a:rPr lang="en-US" sz="1400" dirty="0">
                          <a:effectLst/>
                        </a:rPr>
                        <a:t>}</a:t>
                      </a:r>
                      <a:endParaRPr lang="ko-KR" sz="1400" dirty="0">
                        <a:effectLst/>
                        <a:latin typeface="KaiTi" panose="02010609060101010101" pitchFamily="49" charset="-122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4844513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916A483-C082-6A74-A893-FBE28F017415}"/>
              </a:ext>
            </a:extLst>
          </p:cNvPr>
          <p:cNvSpPr txBox="1"/>
          <p:nvPr/>
        </p:nvSpPr>
        <p:spPr>
          <a:xfrm>
            <a:off x="5368489" y="2232894"/>
            <a:ext cx="5212425" cy="2074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ko-KR" sz="18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  </a:t>
            </a:r>
            <a:r>
              <a:rPr lang="en-US" altLang="ko-KR" sz="1800" b="1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P1 = {</a:t>
            </a:r>
            <a:r>
              <a:rPr lang="zh-CN" altLang="ko-KR" sz="1800" b="1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牛奶</a:t>
            </a:r>
            <a:r>
              <a:rPr lang="en-US" altLang="ko-KR" sz="1800" b="1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800" b="1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面包</a:t>
            </a:r>
            <a:r>
              <a:rPr lang="en-US" altLang="ko-KR" sz="1800" b="1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800" b="1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鸡蛋</a:t>
            </a:r>
            <a:r>
              <a:rPr lang="en-US" altLang="ko-KR" sz="1800" b="1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}</a:t>
            </a:r>
            <a:br>
              <a:rPr lang="en-US" altLang="ko-KR" sz="18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zh-CN" altLang="ko-KR" sz="18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出现在事务</a:t>
            </a:r>
            <a:r>
              <a:rPr lang="en-US" altLang="ko-KR" sz="18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 T1, T2, T3, T4, T5, T6</a:t>
            </a:r>
            <a:br>
              <a:rPr lang="en-US" altLang="ko-KR" sz="18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zh-CN" altLang="ko-KR" sz="18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所以 </a:t>
            </a:r>
            <a:r>
              <a:rPr lang="en-US" altLang="ko-KR" sz="18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T(P1)={1,2,3,4,5,6} 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ko-KR" sz="18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  </a:t>
            </a:r>
            <a:r>
              <a:rPr lang="en-US" altLang="ko-KR" sz="1800" b="1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P2 = {</a:t>
            </a:r>
            <a:r>
              <a:rPr lang="zh-CN" altLang="ko-KR" sz="1800" b="1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牛奶</a:t>
            </a:r>
            <a:r>
              <a:rPr lang="en-US" altLang="ko-KR" sz="1800" b="1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800" b="1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面包</a:t>
            </a:r>
            <a:r>
              <a:rPr lang="en-US" altLang="ko-KR" sz="1800" b="1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800" b="1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鸡蛋</a:t>
            </a:r>
            <a:r>
              <a:rPr lang="en-US" altLang="ko-KR" sz="1800" b="1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800" b="1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黄油</a:t>
            </a:r>
            <a:r>
              <a:rPr lang="en-US" altLang="ko-KR" sz="1800" b="1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}</a:t>
            </a:r>
            <a:br>
              <a:rPr lang="en-US" altLang="ko-KR" sz="18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zh-CN" altLang="ko-KR" sz="18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出现在事务</a:t>
            </a:r>
            <a:r>
              <a:rPr lang="en-US" altLang="ko-KR" sz="18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 T2, T5</a:t>
            </a:r>
            <a:br>
              <a:rPr lang="en-US" altLang="ko-KR" sz="18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zh-CN" altLang="ko-KR" sz="18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所以 </a:t>
            </a:r>
            <a:r>
              <a:rPr lang="en-US" altLang="ko-KR" sz="18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T(P2)={2,5}</a:t>
            </a:r>
            <a:endParaRPr lang="ko-KR" altLang="ko-KR" sz="18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E6D60A2-0B85-6D80-3E24-1C9160C29CEE}"/>
                  </a:ext>
                </a:extLst>
              </p:cNvPr>
              <p:cNvSpPr txBox="1"/>
              <p:nvPr/>
            </p:nvSpPr>
            <p:spPr>
              <a:xfrm>
                <a:off x="704849" y="4307821"/>
                <a:ext cx="6112328" cy="17860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Font typeface="+mj-lt"/>
                  <a:buAutoNum type="arabicPeriod"/>
                </a:pPr>
                <a:r>
                  <a:rPr lang="ko-KR" altLang="en-US" sz="1600" b="1" dirty="0"/>
                  <a:t>交集</a:t>
                </a:r>
                <a:br>
                  <a:rPr lang="ko-KR" altLang="en-US" sz="1600" dirty="0"/>
                </a:br>
                <a14:m>
                  <m:oMath xmlns:m="http://schemas.openxmlformats.org/officeDocument/2006/math">
                    <m:r>
                      <a:rPr lang="ko-KR" altLang="en-US" sz="1600">
                        <a:latin typeface="Cambria Math" panose="02040503050406030204" pitchFamily="18" charset="0"/>
                      </a:rPr>
                      <m:t>∣</m:t>
                    </m:r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ar-AE" sz="16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ar-AE" altLang="ko-KR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 altLang="ko-KR" sz="1600" i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ko-KR" altLang="ar-AE" sz="16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ar-AE" sz="16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ar-AE" altLang="ko-KR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ar-AE" altLang="ko-KR" sz="1600" i="0">
                        <a:latin typeface="Cambria Math" panose="02040503050406030204" pitchFamily="18" charset="0"/>
                      </a:rPr>
                      <m:t>∣=∣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ko-KR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e>
                        <m:r>
                          <a:rPr lang="ar-AE" altLang="ko-KR" sz="1600" i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ar-AE" altLang="ko-KR" sz="1600" i="0">
                        <a:latin typeface="Cambria Math" panose="02040503050406030204" pitchFamily="18" charset="0"/>
                      </a:rPr>
                      <m:t>∣=</m:t>
                    </m:r>
                    <m:r>
                      <a:rPr lang="ar-AE" altLang="ko-KR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ar-AE" altLang="ko-KR" sz="1600" dirty="0"/>
              </a:p>
              <a:p>
                <a:pPr>
                  <a:buFont typeface="+mj-lt"/>
                  <a:buAutoNum type="arabicPeriod"/>
                </a:pPr>
                <a:r>
                  <a:rPr lang="ko-KR" altLang="en-US" sz="1600" b="1" dirty="0"/>
                  <a:t>并集</a:t>
                </a:r>
                <a:br>
                  <a:rPr lang="ko-KR" altLang="en-US" sz="1600" dirty="0"/>
                </a:br>
                <a14:m>
                  <m:oMath xmlns:m="http://schemas.openxmlformats.org/officeDocument/2006/math">
                    <m:r>
                      <a:rPr lang="ko-KR" altLang="en-US" sz="1600">
                        <a:latin typeface="Cambria Math" panose="02040503050406030204" pitchFamily="18" charset="0"/>
                      </a:rPr>
                      <m:t>∣</m:t>
                    </m:r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ar-AE" sz="16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ar-AE" altLang="ko-KR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 altLang="ko-KR" sz="1600" i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ko-KR" altLang="ar-AE" sz="16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ar-AE" sz="16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ar-AE" altLang="ko-KR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ar-AE" altLang="ko-KR" sz="1600" i="0">
                        <a:latin typeface="Cambria Math" panose="02040503050406030204" pitchFamily="18" charset="0"/>
                      </a:rPr>
                      <m:t>∣=∣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ko-KR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r>
                          <a:rPr lang="ar-AE" altLang="ko-KR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e>
                        <m:r>
                          <a:rPr lang="ar-AE" altLang="ko-KR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e>
                        <m:r>
                          <a:rPr lang="ar-AE" altLang="ko-KR" sz="1600" i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e>
                        <m:r>
                          <a:rPr lang="ar-AE" altLang="ko-KR" sz="1600" i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e>
                        <m:r>
                          <a:rPr lang="ar-AE" altLang="ko-KR" sz="1600" i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ar-AE" altLang="ko-KR" sz="1600" i="0">
                        <a:latin typeface="Cambria Math" panose="02040503050406030204" pitchFamily="18" charset="0"/>
                      </a:rPr>
                      <m:t>∣=</m:t>
                    </m:r>
                    <m:r>
                      <a:rPr lang="ar-AE" altLang="ko-KR" sz="1600" i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ar-AE" altLang="ko-KR" sz="1600" dirty="0"/>
              </a:p>
              <a:p>
                <a:pPr>
                  <a:buFont typeface="+mj-lt"/>
                  <a:buAutoNum type="arabicPeriod"/>
                </a:pPr>
                <a:r>
                  <a:rPr lang="ko-KR" altLang="en-US" sz="1600" b="1" dirty="0"/>
                  <a:t>距离</a:t>
                </a:r>
                <a:endParaRPr lang="ko-KR" altLang="en-US" sz="16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600" i="1">
                          <a:latin typeface="Cambria Math" panose="02040503050406030204" pitchFamily="18" charset="0"/>
                        </a:rPr>
                        <m:t>𝐷𝑖𝑠𝑡</m:t>
                      </m:r>
                      <m:d>
                        <m:dPr>
                          <m:sepChr m:val=","/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e>
                          <m:r>
                            <a:rPr lang="ar-AE" altLang="ko-KR" sz="16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ar-AE" altLang="ko-KR" sz="16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ar-AE" altLang="ko-KR" sz="16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ko-KR" sz="1600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altLang="ko-KR" sz="1600" i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ko-KR" sz="1600" i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ar-AE" altLang="ko-KR" sz="1600" i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ar-AE" altLang="ko-KR" sz="16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ko-KR" sz="1600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altLang="ko-KR" sz="16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altLang="ko-KR" sz="16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altLang="ko-KR" sz="16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altLang="ko-KR" sz="1600" i="0">
                          <a:latin typeface="Cambria Math" panose="02040503050406030204" pitchFamily="18" charset="0"/>
                        </a:rPr>
                        <m:t>333</m:t>
                      </m:r>
                      <m:r>
                        <a:rPr lang="ar-AE" altLang="ko-KR" sz="1600" i="0">
                          <a:latin typeface="Cambria Math" panose="02040503050406030204" pitchFamily="18" charset="0"/>
                        </a:rPr>
                        <m:t>...=</m:t>
                      </m:r>
                      <m:r>
                        <a:rPr lang="ar-AE" altLang="ko-KR" sz="16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altLang="ko-KR" sz="16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altLang="ko-KR" sz="1600" i="0">
                          <a:latin typeface="Cambria Math" panose="02040503050406030204" pitchFamily="18" charset="0"/>
                        </a:rPr>
                        <m:t>667</m:t>
                      </m:r>
                    </m:oMath>
                  </m:oMathPara>
                </a14:m>
                <a:endParaRPr lang="ar-AE" altLang="ko-KR"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E6D60A2-0B85-6D80-3E24-1C9160C29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849" y="4307821"/>
                <a:ext cx="6112328" cy="1786066"/>
              </a:xfrm>
              <a:prstGeom prst="rect">
                <a:avLst/>
              </a:prstGeom>
              <a:blipFill>
                <a:blip r:embed="rId4"/>
                <a:stretch>
                  <a:fillRect l="-599" t="-13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CF7CEFCA-5FD9-264A-9FAD-F79E3D76BEC5}"/>
              </a:ext>
            </a:extLst>
          </p:cNvPr>
          <p:cNvSpPr txBox="1"/>
          <p:nvPr/>
        </p:nvSpPr>
        <p:spPr>
          <a:xfrm>
            <a:off x="6923315" y="4775594"/>
            <a:ext cx="4484914" cy="868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按照同样的方法，再计算</a:t>
            </a:r>
            <a:endParaRPr lang="en-US" altLang="zh-CN" sz="2000" dirty="0">
              <a:effectLst/>
              <a:latin typeface="맑은 고딕" panose="020B0503020000020004" pitchFamily="50" charset="-127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ko-KR" sz="2000" b="1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P1 vs P3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ko-KR" sz="2000" b="1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P2 vs P3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的距离</a:t>
            </a:r>
            <a:endParaRPr lang="ko-KR" altLang="ko-KR" sz="20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8619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 xmlns:a16="http://schemas.microsoft.com/office/drawing/2014/main" xmlns:a14="http://schemas.microsoft.com/office/drawing/2010/main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101600" y="228599"/>
            <a:ext cx="11988800" cy="72274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冗余感知Top-k模式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143000"/>
            <a:ext cx="8636000" cy="5334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期望模式：高显著性与低冗余性</a:t>
            </a:r>
          </a:p>
        </p:txBody>
      </p:sp>
      <p:pic>
        <p:nvPicPr>
          <p:cNvPr id="1331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476" y="1608041"/>
            <a:ext cx="6363855" cy="3715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318" name="Rectangle 5"/>
          <p:cNvSpPr>
            <a:spLocks noChangeArrowheads="1"/>
          </p:cNvSpPr>
          <p:nvPr/>
        </p:nvSpPr>
        <p:spPr bwMode="auto">
          <a:xfrm>
            <a:off x="508000" y="5334000"/>
            <a:ext cx="9458036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342900" marR="0" lvl="0" indent="-34290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8C8C8C"/>
              </a:buClr>
              <a:buSzPct val="60000"/>
              <a:buFont typeface="Wingdings" pitchFamily="2" charset="2"/>
              <a:buChar char="n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58800" y="5326912"/>
            <a:ext cx="9807418" cy="1429487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461963" indent="-4619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88" indent="-5381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4746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88" indent="-522288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63" indent="-508000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7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6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6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5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1963" marR="0" lvl="0" indent="-461963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方法：使用最大边际显著性（MMS）来衡量模式集的综合显著性 </a:t>
            </a:r>
          </a:p>
          <a:p>
            <a:pPr marL="461963" marR="0" lvl="0" indent="-461963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Xin 等，提取冗余感知Top-K模式，KDD’06</a:t>
            </a:r>
          </a:p>
        </p:txBody>
      </p:sp>
    </p:spTree>
    <p:extLst>
      <p:ext uri="{BB962C8B-B14F-4D97-AF65-F5344CB8AC3E}">
        <p14:creationId xmlns:p14="http://schemas.microsoft.com/office/powerpoint/2010/main" val="1324363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"/>
            <a:ext cx="12192000" cy="1050634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marL="457200" indent="-457200">
              <a:lnSpc>
                <a:spcPct val="200000"/>
              </a:lnSpc>
              <a:buSzTx/>
            </a:pPr>
            <a:r>
              <a:rPr lang="en-US" altLang="en-US" dirty="0"/>
              <a:t>模式挖掘：高级方法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29979" y="1131454"/>
            <a:ext cx="10532282" cy="5574146"/>
          </a:xfrm>
          <a:noFill/>
        </p:spPr>
        <p:txBody>
          <a:bodyPr vert="horz" lIns="92075" tIns="46038" rIns="92075" bIns="46038" rtlCol="0" anchor="t">
            <a:noAutofit/>
          </a:bodyPr>
          <a:lstStyle/>
          <a:p>
            <a:pPr marL="457200" indent="-457200">
              <a:lnSpc>
                <a:spcPct val="200000"/>
              </a:lnSpc>
              <a:buSzTx/>
            </a:pPr>
            <a:r>
              <a:rPr lang="en-US" b="1" i="0" u="none" strike="noStrike" baseline="0" dirty="0"/>
              <a:t>挖掘各种类型的模式 </a:t>
            </a:r>
          </a:p>
          <a:p>
            <a:pPr marL="457200" indent="-457200">
              <a:lnSpc>
                <a:spcPct val="200000"/>
              </a:lnSpc>
              <a:buSzTx/>
            </a:pPr>
            <a:r>
              <a:rPr lang="en-US" b="1" i="0" u="none" strike="noStrike" baseline="0" dirty="0"/>
              <a:t>挖掘压缩或近似模式  </a:t>
            </a:r>
          </a:p>
          <a:p>
            <a:pPr marL="457200" indent="-457200">
              <a:lnSpc>
                <a:spcPct val="200000"/>
              </a:lnSpc>
              <a:buSzTx/>
            </a:pPr>
            <a:r>
              <a:rPr lang="en-US" b="1" i="0" u="none" strike="noStrike" baseline="0" dirty="0"/>
              <a:t>约束基于模式挖掘</a:t>
            </a:r>
          </a:p>
          <a:p>
            <a:pPr marL="457200" indent="-457200">
              <a:lnSpc>
                <a:spcPct val="200000"/>
              </a:lnSpc>
              <a:buSzTx/>
            </a:pPr>
            <a:r>
              <a:rPr lang="en-US" b="1" i="0" u="none" strike="noStrike" baseline="0" dirty="0"/>
              <a:t>序列模式挖掘</a:t>
            </a:r>
            <a:endParaRPr lang="en-US" b="1" dirty="0"/>
          </a:p>
          <a:p>
            <a:pPr marL="457200" indent="-457200">
              <a:lnSpc>
                <a:spcPct val="200000"/>
              </a:lnSpc>
              <a:buSzTx/>
            </a:pPr>
            <a:r>
              <a:rPr lang="en-US" b="1" i="0" u="none" strike="noStrike" baseline="0" dirty="0"/>
              <a:t>子图模式挖掘</a:t>
            </a:r>
          </a:p>
          <a:p>
            <a:pPr marL="457200" indent="-457200">
              <a:lnSpc>
                <a:spcPct val="200000"/>
              </a:lnSpc>
              <a:buSzTx/>
            </a:pPr>
            <a:r>
              <a:rPr lang="en-US" b="1" i="0" u="none" strike="noStrike" baseline="0" dirty="0"/>
              <a:t>模式挖掘：应用示例</a:t>
            </a:r>
          </a:p>
          <a:p>
            <a:pPr marL="457200" indent="-457200">
              <a:lnSpc>
                <a:spcPct val="200000"/>
              </a:lnSpc>
              <a:buSzTx/>
            </a:pPr>
            <a:r>
              <a:rPr lang="en-US" altLang="en-US" b="1" dirty="0"/>
              <a:t>总结</a:t>
            </a:r>
            <a:endParaRPr lang="en-US" altLang="en-US" sz="2800" b="1" dirty="0"/>
          </a:p>
        </p:txBody>
      </p:sp>
      <p:sp>
        <p:nvSpPr>
          <p:cNvPr id="2" name="Striped Right Arrow 1"/>
          <p:cNvSpPr/>
          <p:nvPr/>
        </p:nvSpPr>
        <p:spPr>
          <a:xfrm rot="9075611">
            <a:off x="5644660" y="2879050"/>
            <a:ext cx="502920" cy="457200"/>
          </a:xfrm>
          <a:prstGeom prst="stripedRightArrow">
            <a:avLst/>
          </a:prstGeom>
          <a:solidFill>
            <a:srgbClr val="00808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1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304800"/>
            <a:ext cx="11508317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STKaiti" panose="02010600040101010101" pitchFamily="2" charset="-122"/>
              </a:rPr>
              <a:t>为什么选择约束基于挖掘？</a:t>
            </a:r>
            <a:endParaRPr lang="en-GB" dirty="0">
              <a:ea typeface="STKaiti" panose="02010600040101010101" pitchFamily="2" charset="-122"/>
            </a:endParaRPr>
          </a:p>
        </p:txBody>
      </p:sp>
      <p:sp>
        <p:nvSpPr>
          <p:cNvPr id="4100" name="Rectangle 3"/>
          <p:cNvSpPr>
            <a:spLocks noGrp="1" noChangeArrowheads="1"/>
          </p:cNvSpPr>
          <p:nvPr>
            <p:ph idx="1"/>
          </p:nvPr>
        </p:nvSpPr>
        <p:spPr>
          <a:xfrm>
            <a:off x="529020" y="1179688"/>
            <a:ext cx="11082758" cy="5525911"/>
          </a:xfrm>
        </p:spPr>
        <p:txBody>
          <a:bodyPr/>
          <a:lstStyle/>
          <a:p>
            <a:pPr eaLnBrk="1" hangingPunct="1">
              <a:spcAft>
                <a:spcPts val="400"/>
              </a:spcAft>
              <a:defRPr/>
            </a:pPr>
            <a:r>
              <a:rPr lang="en-US" altLang="en-US" sz="2400" dirty="0"/>
              <a:t>模式挖掘在实践中：通常是一个用户引导的</a:t>
            </a:r>
            <a:r>
              <a:rPr lang="en-US" altLang="en-US" sz="2400" dirty="0">
                <a:solidFill>
                  <a:srgbClr val="FF0000"/>
                </a:solidFill>
              </a:rPr>
              <a:t>交互式</a:t>
            </a:r>
            <a:r>
              <a:rPr lang="en-US" altLang="en-US" sz="2400" dirty="0"/>
              <a:t>过程 </a:t>
            </a:r>
          </a:p>
          <a:p>
            <a:pPr lvl="1" eaLnBrk="1" hangingPunct="1">
              <a:spcAft>
                <a:spcPts val="400"/>
              </a:spcAft>
              <a:defRPr/>
            </a:pPr>
            <a:r>
              <a:rPr lang="en-US" altLang="en-US" sz="2400" dirty="0"/>
              <a:t>用户通过</a:t>
            </a:r>
            <a:r>
              <a:rPr lang="en-US" altLang="en-US" sz="2400" dirty="0">
                <a:solidFill>
                  <a:srgbClr val="FF0000"/>
                </a:solidFill>
              </a:rPr>
              <a:t>数据挖掘查询语言</a:t>
            </a:r>
            <a:r>
              <a:rPr lang="en-US" altLang="en-US" sz="2400" dirty="0"/>
              <a:t>（或图形用户界面）指定要挖掘的内容，</a:t>
            </a:r>
            <a:r>
              <a:rPr lang="en-US" altLang="en-US" sz="2400" dirty="0">
                <a:solidFill>
                  <a:srgbClr val="FF0000"/>
                </a:solidFill>
              </a:rPr>
              <a:t>并明确各种约束条件</a:t>
            </a:r>
          </a:p>
          <a:p>
            <a:pPr lvl="1" eaLnBrk="1" hangingPunct="1">
              <a:spcAft>
                <a:spcPts val="400"/>
              </a:spcAft>
              <a:defRPr/>
            </a:pPr>
            <a:endParaRPr lang="en-US" altLang="en-US" sz="2400" dirty="0">
              <a:solidFill>
                <a:srgbClr val="FF0000"/>
              </a:solidFill>
            </a:endParaRPr>
          </a:p>
          <a:p>
            <a:pPr eaLnBrk="1" hangingPunct="1">
              <a:spcAft>
                <a:spcPts val="400"/>
              </a:spcAft>
              <a:defRPr/>
            </a:pPr>
            <a:r>
              <a:rPr lang="en-US" altLang="en-US" sz="2400" dirty="0"/>
              <a:t>什么是约束基于挖掘？</a:t>
            </a:r>
          </a:p>
          <a:p>
            <a:pPr lvl="1">
              <a:spcAft>
                <a:spcPts val="400"/>
              </a:spcAft>
              <a:defRPr/>
            </a:pPr>
            <a:r>
              <a:rPr lang="en-US" altLang="en-US" sz="2400" dirty="0"/>
              <a:t>与用户提供的约束条件一起进行挖掘</a:t>
            </a:r>
          </a:p>
          <a:p>
            <a:pPr lvl="1">
              <a:spcAft>
                <a:spcPts val="400"/>
              </a:spcAft>
              <a:defRPr/>
            </a:pPr>
            <a:endParaRPr lang="en-US" altLang="en-US" sz="2400" dirty="0"/>
          </a:p>
          <a:p>
            <a:pPr>
              <a:spcAft>
                <a:spcPts val="400"/>
              </a:spcAft>
              <a:defRPr/>
            </a:pPr>
            <a:r>
              <a:rPr lang="en-US" altLang="en-US" sz="2400" dirty="0"/>
              <a:t>为什么选择约束基于挖掘？</a:t>
            </a:r>
          </a:p>
          <a:p>
            <a:pPr lvl="1" eaLnBrk="1" hangingPunct="1">
              <a:spcAft>
                <a:spcPts val="400"/>
              </a:spcAft>
              <a:defRPr/>
            </a:pPr>
            <a:r>
              <a:rPr lang="en-US" altLang="en-US" sz="2400" dirty="0"/>
              <a:t>用户灵活性：用户提供挖掘对象的</a:t>
            </a:r>
            <a:r>
              <a:rPr lang="en-US" altLang="en-US" sz="2400" dirty="0">
                <a:solidFill>
                  <a:srgbClr val="FF0000"/>
                </a:solidFill>
              </a:rPr>
              <a:t>约束条件</a:t>
            </a:r>
          </a:p>
          <a:p>
            <a:pPr lvl="1">
              <a:spcAft>
                <a:spcPts val="400"/>
              </a:spcAft>
              <a:defRPr/>
            </a:pPr>
            <a:r>
              <a:rPr lang="en-US" altLang="en-US" sz="2400" dirty="0"/>
              <a:t>优化：系统探索这些约束以提升挖掘效率</a:t>
            </a:r>
          </a:p>
          <a:p>
            <a:pPr lvl="2">
              <a:spcAft>
                <a:spcPts val="400"/>
              </a:spcAft>
              <a:defRPr/>
            </a:pPr>
            <a:r>
              <a:rPr lang="en-US" altLang="en-US" sz="2400" dirty="0"/>
              <a:t>例如，将约束条件深度融入挖掘过程</a:t>
            </a:r>
          </a:p>
        </p:txBody>
      </p:sp>
    </p:spTree>
    <p:extLst>
      <p:ext uri="{BB962C8B-B14F-4D97-AF65-F5344CB8AC3E}">
        <p14:creationId xmlns:p14="http://schemas.microsoft.com/office/powerpoint/2010/main" val="3737670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-252247" y="277475"/>
            <a:ext cx="12643944" cy="568325"/>
          </a:xfrm>
        </p:spPr>
        <p:txBody>
          <a:bodyPr lIns="92075" tIns="46038" rIns="92075" bIns="46038" anchor="ctr">
            <a:noAutofit/>
          </a:bodyPr>
          <a:lstStyle/>
          <a:p>
            <a:pPr eaLnBrk="1" hangingPunct="1">
              <a:defRPr/>
            </a:pPr>
            <a:r>
              <a:rPr lang="en-US" sz="3800" dirty="0">
                <a:ea typeface="STKaiti" panose="02010600040101010101" pitchFamily="2" charset="-122"/>
              </a:rPr>
              <a:t>数据挖掘中用户指定的各种约束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3F3626F-CE50-4B2F-8442-2DB61A09878C}"/>
              </a:ext>
            </a:extLst>
          </p:cNvPr>
          <p:cNvSpPr txBox="1">
            <a:spLocks noChangeArrowheads="1"/>
          </p:cNvSpPr>
          <p:nvPr/>
        </p:nvSpPr>
        <p:spPr>
          <a:xfrm>
            <a:off x="634123" y="1221729"/>
            <a:ext cx="10966638" cy="5094230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461963" indent="-4619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88" indent="-5381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4746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88" indent="-522288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63" indent="-508000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7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6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6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5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1963" marR="0" lvl="0" indent="-461963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知识类型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Times New Roman" pitchFamily="18" charset="0"/>
              </a:rPr>
              <a:t>约束——指定要挖掘的知识类型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marL="738188" marR="0" lvl="1" indent="-538163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例如：分类、关联分析、聚类分析、异常值检测等</a:t>
            </a:r>
          </a:p>
          <a:p>
            <a:pPr marL="461963" marR="0" lvl="0" indent="-461963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数据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Times New Roman" pitchFamily="18" charset="0"/>
              </a:rPr>
              <a:t>约束——使用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类似SQL的查询</a:t>
            </a:r>
          </a:p>
          <a:p>
            <a:pPr marL="738188" marR="0" lvl="1" indent="-538163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例如：查找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70981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今年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在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70981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纽约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商店中一起销售的产品</a:t>
            </a:r>
          </a:p>
          <a:p>
            <a:pPr marL="461963" marR="0" lvl="0" indent="-461963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维度/级别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约束——类似于关系数据库中的投影 </a:t>
            </a:r>
          </a:p>
          <a:p>
            <a:pPr marL="738188" marR="0" lvl="1" indent="-538163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例如：按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70981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地区、价格、品牌、客户类别等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维度</a:t>
            </a:r>
          </a:p>
          <a:p>
            <a:pPr marL="461963" marR="0" lvl="0" indent="-461963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有趣性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Times New Roman" pitchFamily="18" charset="0"/>
              </a:rPr>
              <a:t>约束——各种阈值</a:t>
            </a:r>
          </a:p>
          <a:p>
            <a:pPr marL="738188" marR="0" lvl="1" indent="-538163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例如：严格规则：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min_sup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rPr>
              <a:t>≥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 0.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02，min_conf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rPr>
              <a:t>≥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 0.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6，min_correlation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sym typeface="Symbol" pitchFamily="18" charset="2"/>
              </a:rPr>
              <a:t>≥ 0.7</a:t>
            </a:r>
          </a:p>
          <a:p>
            <a:pPr marL="461963" marR="0" lvl="0" indent="-461963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规则（或模式）约束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lvl="1">
              <a:spcAft>
                <a:spcPts val="400"/>
              </a:spcAft>
              <a:defRPr/>
            </a:pPr>
            <a:r>
              <a:rPr lang="en-US" altLang="en-US" sz="2400" dirty="0">
                <a:solidFill>
                  <a:prstClr val="black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例如：小额销售（(price &lt; $10）触发大额销售（sum &gt; $200）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0BA267-46E6-486D-8082-6C4D5C1780CF}"/>
              </a:ext>
            </a:extLst>
          </p:cNvPr>
          <p:cNvSpPr txBox="1"/>
          <p:nvPr/>
        </p:nvSpPr>
        <p:spPr>
          <a:xfrm>
            <a:off x="4871268" y="5266939"/>
            <a:ext cx="1562583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本研究的重点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FC955BA-3126-44C5-9C45-112D54A8CAD3}"/>
              </a:ext>
            </a:extLst>
          </p:cNvPr>
          <p:cNvSpPr/>
          <p:nvPr/>
        </p:nvSpPr>
        <p:spPr>
          <a:xfrm rot="10800000">
            <a:off x="4408812" y="5329978"/>
            <a:ext cx="462456" cy="388883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5381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-76200" y="228600"/>
            <a:ext cx="12344400" cy="609600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4000" dirty="0">
                <a:ea typeface="STKaiti" panose="02010600040101010101" pitchFamily="2" charset="-122"/>
              </a:rPr>
              <a:t>基于模式反单调性的模式空间剪枝 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>
          <a:xfrm>
            <a:off x="2689274" y="1168836"/>
            <a:ext cx="9022757" cy="5030949"/>
          </a:xfrm>
        </p:spPr>
        <p:txBody>
          <a:bodyPr/>
          <a:lstStyle/>
          <a:p>
            <a:pPr eaLnBrk="1" hangingPunct="1">
              <a:spcAft>
                <a:spcPts val="200"/>
              </a:spcAft>
              <a:buFont typeface="Wingdings" charset="0"/>
              <a:buChar char="n"/>
              <a:defRPr/>
            </a:pPr>
            <a:r>
              <a:rPr lang="en-US" altLang="zh-CN" sz="2400" dirty="0">
                <a:ea typeface="STKaiti" panose="02010600040101010101" pitchFamily="2" charset="-122"/>
                <a:cs typeface="SimSun" charset="0"/>
              </a:rPr>
              <a:t>约束 c 具有</a:t>
            </a:r>
            <a:r>
              <a:rPr lang="en-US" altLang="zh-CN" sz="2400" b="1" dirty="0">
                <a:solidFill>
                  <a:srgbClr val="FF0000"/>
                </a:solidFill>
                <a:ea typeface="STKaiti" panose="02010600040101010101" pitchFamily="2" charset="-122"/>
                <a:cs typeface="SimSun" charset="0"/>
              </a:rPr>
              <a:t>反单调性</a:t>
            </a:r>
          </a:p>
          <a:p>
            <a:pPr lvl="1">
              <a:spcAft>
                <a:spcPts val="200"/>
              </a:spcAft>
              <a:buFont typeface="Wingdings" charset="0"/>
              <a:buChar char="n"/>
              <a:defRPr/>
            </a:pPr>
            <a:r>
              <a:rPr lang="en-US" altLang="zh-CN" sz="2400" dirty="0">
                <a:ea typeface="STKaiti" panose="02010600040101010101" pitchFamily="2" charset="-122"/>
                <a:cs typeface="SimSun" charset="0"/>
              </a:rPr>
              <a:t>如果</a:t>
            </a:r>
            <a:r>
              <a:rPr lang="en-US" sz="2400" dirty="0">
                <a:ea typeface="STKaiti" panose="02010600040101010101" pitchFamily="2" charset="-122"/>
              </a:rPr>
              <a:t>一个</a:t>
            </a:r>
            <a:r>
              <a:rPr lang="en-US" sz="2400" dirty="0" err="1">
                <a:ea typeface="STKaiti" panose="02010600040101010101" pitchFamily="2" charset="-122"/>
              </a:rPr>
              <a:t>项目集 </a:t>
            </a:r>
            <a:r>
              <a:rPr lang="en-US" sz="2400" dirty="0">
                <a:ea typeface="STKaiti" panose="02010600040101010101" pitchFamily="2" charset="-122"/>
              </a:rPr>
              <a:t>S </a:t>
            </a:r>
            <a:r>
              <a:rPr lang="en-US" sz="2400" b="1" dirty="0">
                <a:ea typeface="STKaiti" panose="02010600040101010101" pitchFamily="2" charset="-122"/>
              </a:rPr>
              <a:t>违反</a:t>
            </a:r>
            <a:r>
              <a:rPr lang="en-US" sz="2400" dirty="0">
                <a:ea typeface="STKaiti" panose="02010600040101010101" pitchFamily="2" charset="-122"/>
              </a:rPr>
              <a:t>约束 c，那么其任何超集也违反约束 c </a:t>
            </a:r>
          </a:p>
          <a:p>
            <a:pPr lvl="1">
              <a:spcAft>
                <a:spcPts val="200"/>
              </a:spcAft>
              <a:buFont typeface="Wingdings" charset="0"/>
              <a:buChar char="n"/>
              <a:defRPr/>
            </a:pPr>
            <a:r>
              <a:rPr lang="en-US" sz="2400" dirty="0">
                <a:ea typeface="STKaiti" panose="02010600040101010101" pitchFamily="2" charset="-122"/>
              </a:rPr>
              <a:t>也就是说，对项集 S 的挖掘可以终止</a:t>
            </a:r>
          </a:p>
          <a:p>
            <a:pPr>
              <a:spcAft>
                <a:spcPts val="200"/>
              </a:spcAft>
              <a:buFont typeface="Wingdings" charset="0"/>
              <a:buChar char="n"/>
              <a:defRPr/>
            </a:pPr>
            <a:r>
              <a:rPr lang="en-US" sz="2400" dirty="0">
                <a:ea typeface="STKaiti" panose="02010600040101010101" pitchFamily="2" charset="-122"/>
                <a:sym typeface="Symbol" charset="0"/>
              </a:rPr>
              <a:t>例 1：c</a:t>
            </a:r>
            <a:r>
              <a:rPr lang="en-US" sz="2400" baseline="-25000" dirty="0">
                <a:ea typeface="STKaiti" panose="02010600040101010101" pitchFamily="2" charset="-122"/>
                <a:sym typeface="Symbol" charset="0"/>
              </a:rPr>
              <a:t>1</a:t>
            </a:r>
            <a:r>
              <a:rPr lang="en-US" sz="2400" dirty="0">
                <a:ea typeface="STKaiti" panose="02010600040101010101" pitchFamily="2" charset="-122"/>
                <a:sym typeface="Symbol" charset="0"/>
              </a:rPr>
              <a:t> ：sum(</a:t>
            </a:r>
            <a:r>
              <a:rPr lang="en-US" sz="2400" dirty="0" err="1">
                <a:ea typeface="STKaiti" panose="02010600040101010101" pitchFamily="2" charset="-122"/>
                <a:sym typeface="Symbol" charset="0"/>
              </a:rPr>
              <a:t>S.price</a:t>
            </a:r>
            <a:r>
              <a:rPr lang="en-US" sz="2400" dirty="0">
                <a:ea typeface="STKaiti" panose="02010600040101010101" pitchFamily="2" charset="-122"/>
                <a:sym typeface="Symbol" charset="0"/>
              </a:rPr>
              <a:t>) ≤ v 是</a:t>
            </a:r>
            <a:r>
              <a:rPr lang="en-US" sz="2400" dirty="0">
                <a:solidFill>
                  <a:srgbClr val="FF0000"/>
                </a:solidFill>
                <a:ea typeface="STKaiti" panose="02010600040101010101" pitchFamily="2" charset="-122"/>
                <a:sym typeface="Symbol" charset="0"/>
              </a:rPr>
              <a:t>反单调的</a:t>
            </a:r>
          </a:p>
          <a:p>
            <a:pPr>
              <a:spcAft>
                <a:spcPts val="200"/>
              </a:spcAft>
              <a:buFont typeface="Wingdings" charset="0"/>
              <a:buChar char="n"/>
              <a:defRPr/>
            </a:pPr>
            <a:r>
              <a:rPr lang="en-US" sz="2400" dirty="0">
                <a:ea typeface="STKaiti" panose="02010600040101010101" pitchFamily="2" charset="-122"/>
                <a:sym typeface="Symbol" charset="0"/>
              </a:rPr>
              <a:t>例 2：c</a:t>
            </a:r>
            <a:r>
              <a:rPr lang="en-US" sz="2400" baseline="-25000" dirty="0">
                <a:ea typeface="STKaiti" panose="02010600040101010101" pitchFamily="2" charset="-122"/>
                <a:sym typeface="Symbol" charset="0"/>
              </a:rPr>
              <a:t>2</a:t>
            </a:r>
            <a:r>
              <a:rPr lang="en-US" sz="2400" dirty="0">
                <a:ea typeface="STKaiti" panose="02010600040101010101" pitchFamily="2" charset="-122"/>
                <a:sym typeface="Symbol" charset="0"/>
              </a:rPr>
              <a:t> ：</a:t>
            </a:r>
            <a:r>
              <a:rPr lang="en-US" sz="2400" dirty="0">
                <a:ea typeface="STKaiti" panose="02010600040101010101" pitchFamily="2" charset="-122"/>
                <a:sym typeface="Wingdings" charset="0"/>
              </a:rPr>
              <a:t>range(</a:t>
            </a:r>
            <a:r>
              <a:rPr lang="en-US" sz="2400" dirty="0" err="1">
                <a:ea typeface="STKaiti" panose="02010600040101010101" pitchFamily="2" charset="-122"/>
                <a:sym typeface="Wingdings" charset="0"/>
              </a:rPr>
              <a:t>S.profit</a:t>
            </a:r>
            <a:r>
              <a:rPr lang="en-US" sz="2400" dirty="0">
                <a:ea typeface="STKaiti" panose="02010600040101010101" pitchFamily="2" charset="-122"/>
                <a:sym typeface="Wingdings" charset="0"/>
              </a:rPr>
              <a:t>) </a:t>
            </a:r>
            <a:r>
              <a:rPr lang="en-US" sz="2400" dirty="0">
                <a:ea typeface="STKaiti" panose="02010600040101010101" pitchFamily="2" charset="-122"/>
                <a:sym typeface="Symbol" charset="0"/>
              </a:rPr>
              <a:t>≤</a:t>
            </a:r>
            <a:r>
              <a:rPr lang="en-US" sz="2400" dirty="0">
                <a:ea typeface="STKaiti" panose="02010600040101010101" pitchFamily="2" charset="-122"/>
                <a:sym typeface="Wingdings" charset="0"/>
              </a:rPr>
              <a:t> 15 </a:t>
            </a:r>
            <a:r>
              <a:rPr lang="en-US" sz="2400" dirty="0">
                <a:solidFill>
                  <a:srgbClr val="FF0000"/>
                </a:solidFill>
                <a:ea typeface="STKaiti" panose="02010600040101010101" pitchFamily="2" charset="-122"/>
                <a:sym typeface="Symbol" charset="0"/>
              </a:rPr>
              <a:t>是反单调的</a:t>
            </a:r>
            <a:endParaRPr lang="en-US" sz="2400" dirty="0">
              <a:solidFill>
                <a:srgbClr val="FF0000"/>
              </a:solidFill>
              <a:ea typeface="STKaiti" panose="02010600040101010101" pitchFamily="2" charset="-122"/>
              <a:sym typeface="Wingdings" charset="0"/>
            </a:endParaRPr>
          </a:p>
          <a:p>
            <a:pPr lvl="1">
              <a:spcAft>
                <a:spcPts val="200"/>
              </a:spcAft>
              <a:buFont typeface="Wingdings" charset="0"/>
              <a:buChar char="n"/>
              <a:defRPr/>
            </a:pPr>
            <a:r>
              <a:rPr lang="en-US" sz="2400" dirty="0">
                <a:ea typeface="STKaiti" panose="02010600040101010101" pitchFamily="2" charset="-122"/>
              </a:rPr>
              <a:t>项集 ab</a:t>
            </a:r>
            <a:r>
              <a:rPr lang="en-US" sz="2400" dirty="0">
                <a:ea typeface="STKaiti" panose="02010600040101010101" pitchFamily="2" charset="-122"/>
                <a:sym typeface="Symbol" charset="0"/>
              </a:rPr>
              <a:t> 违反条件 </a:t>
            </a:r>
            <a:r>
              <a:rPr lang="en-US" sz="2400" dirty="0">
                <a:ea typeface="STKaiti" panose="02010600040101010101" pitchFamily="2" charset="-122"/>
              </a:rPr>
              <a:t>c</a:t>
            </a:r>
            <a:r>
              <a:rPr lang="en-US" sz="2400" baseline="-25000" dirty="0">
                <a:ea typeface="STKaiti" panose="02010600040101010101" pitchFamily="2" charset="-122"/>
                <a:sym typeface="Symbol" charset="0"/>
              </a:rPr>
              <a:t>2</a:t>
            </a:r>
            <a:r>
              <a:rPr lang="en-US" sz="2400" dirty="0">
                <a:ea typeface="STKaiti" panose="02010600040101010101" pitchFamily="2" charset="-122"/>
              </a:rPr>
              <a:t> （range(ab) = 40）</a:t>
            </a:r>
          </a:p>
          <a:p>
            <a:pPr lvl="1">
              <a:spcAft>
                <a:spcPts val="200"/>
              </a:spcAft>
              <a:buFont typeface="Wingdings" charset="0"/>
              <a:buChar char="n"/>
              <a:defRPr/>
            </a:pPr>
            <a:r>
              <a:rPr lang="en-US" sz="2400" dirty="0">
                <a:ea typeface="STKaiti" panose="02010600040101010101" pitchFamily="2" charset="-122"/>
                <a:sym typeface="Wingdings" charset="0"/>
              </a:rPr>
              <a:t>因此，ab </a:t>
            </a:r>
            <a:r>
              <a:rPr lang="en-US" sz="2400" dirty="0" err="1">
                <a:ea typeface="STKaiti" panose="02010600040101010101" pitchFamily="2" charset="-122"/>
                <a:sym typeface="Wingdings" charset="0"/>
              </a:rPr>
              <a:t>的每个超集也违反</a:t>
            </a:r>
            <a:r>
              <a:rPr lang="en-US" sz="2400" dirty="0">
                <a:ea typeface="STKaiti" panose="02010600040101010101" pitchFamily="2" charset="-122"/>
                <a:sym typeface="Wingdings" charset="0"/>
              </a:rPr>
              <a:t> c</a:t>
            </a:r>
            <a:endParaRPr lang="en-US" sz="2400" dirty="0">
              <a:ea typeface="STKaiti" panose="02010600040101010101" pitchFamily="2" charset="-122"/>
              <a:sym typeface="Symbol" charset="0"/>
            </a:endParaRPr>
          </a:p>
          <a:p>
            <a:pPr>
              <a:spcAft>
                <a:spcPts val="200"/>
              </a:spcAft>
              <a:buFont typeface="Wingdings" charset="0"/>
              <a:buChar char="n"/>
              <a:defRPr/>
            </a:pPr>
            <a:r>
              <a:rPr lang="en-US" sz="2400" dirty="0">
                <a:ea typeface="STKaiti" panose="02010600040101010101" pitchFamily="2" charset="-122"/>
                <a:sym typeface="Symbol" charset="0"/>
              </a:rPr>
              <a:t>例 3</a:t>
            </a:r>
            <a:r>
              <a:rPr lang="en-US" altLang="zh-CN" sz="2400" dirty="0">
                <a:ea typeface="STKaiti" panose="02010600040101010101" pitchFamily="2" charset="-122"/>
                <a:sym typeface="Symbol" charset="0"/>
              </a:rPr>
              <a:t>：c</a:t>
            </a:r>
            <a:r>
              <a:rPr lang="en-US" altLang="zh-CN" sz="2400" baseline="-25000" dirty="0">
                <a:ea typeface="STKaiti" panose="02010600040101010101" pitchFamily="2" charset="-122"/>
                <a:sym typeface="Symbol" charset="0"/>
              </a:rPr>
              <a:t>3</a:t>
            </a:r>
            <a:r>
              <a:rPr lang="en-US" altLang="zh-CN" sz="2400" dirty="0">
                <a:ea typeface="STKaiti" panose="02010600040101010101" pitchFamily="2" charset="-122"/>
                <a:sym typeface="Symbol" charset="0"/>
              </a:rPr>
              <a:t> ： </a:t>
            </a:r>
            <a:r>
              <a:rPr lang="en-US" sz="2400" dirty="0">
                <a:ea typeface="STKaiti" panose="02010600040101010101" pitchFamily="2" charset="-122"/>
                <a:sym typeface="Symbol" charset="0"/>
              </a:rPr>
              <a:t>sum(</a:t>
            </a:r>
            <a:r>
              <a:rPr lang="en-US" sz="2400" dirty="0" err="1">
                <a:ea typeface="STKaiti" panose="02010600040101010101" pitchFamily="2" charset="-122"/>
                <a:sym typeface="Symbol" charset="0"/>
              </a:rPr>
              <a:t>S.Price</a:t>
            </a:r>
            <a:r>
              <a:rPr lang="en-US" sz="2400" dirty="0">
                <a:ea typeface="STKaiti" panose="02010600040101010101" pitchFamily="2" charset="-122"/>
                <a:sym typeface="Symbol" charset="0"/>
              </a:rPr>
              <a:t>) ≥ v</a:t>
            </a:r>
            <a:r>
              <a:rPr lang="en-US" sz="2400" dirty="0">
                <a:solidFill>
                  <a:srgbClr val="FF0000"/>
                </a:solidFill>
                <a:ea typeface="STKaiti" panose="02010600040101010101" pitchFamily="2" charset="-122"/>
                <a:sym typeface="Symbol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ea typeface="STKaiti" panose="02010600040101010101" pitchFamily="2" charset="-122"/>
                <a:sym typeface="Symbol" charset="0"/>
              </a:rPr>
              <a:t>是单调的</a:t>
            </a:r>
            <a:endParaRPr lang="en-US" sz="2400" dirty="0">
              <a:solidFill>
                <a:srgbClr val="FF0000"/>
              </a:solidFill>
              <a:ea typeface="STKaiti" panose="02010600040101010101" pitchFamily="2" charset="-122"/>
              <a:sym typeface="Symbol" charset="0"/>
            </a:endParaRPr>
          </a:p>
          <a:p>
            <a:pPr>
              <a:spcAft>
                <a:spcPts val="200"/>
              </a:spcAft>
              <a:buFont typeface="Wingdings" charset="0"/>
              <a:buChar char="n"/>
              <a:defRPr/>
            </a:pPr>
            <a:r>
              <a:rPr lang="en-US" sz="2400" dirty="0">
                <a:ea typeface="STKaiti" panose="02010600040101010101" pitchFamily="2" charset="-122"/>
                <a:sym typeface="Symbol" charset="0"/>
              </a:rPr>
              <a:t>例 4</a:t>
            </a:r>
            <a:r>
              <a:rPr lang="en-US" altLang="zh-CN" sz="2400" dirty="0">
                <a:ea typeface="STKaiti" panose="02010600040101010101" pitchFamily="2" charset="-122"/>
                <a:sym typeface="Symbol" charset="0"/>
              </a:rPr>
              <a:t>：c</a:t>
            </a:r>
            <a:r>
              <a:rPr lang="en-US" altLang="zh-CN" sz="2400" baseline="-25000" dirty="0">
                <a:ea typeface="STKaiti" panose="02010600040101010101" pitchFamily="2" charset="-122"/>
                <a:sym typeface="Symbol" charset="0"/>
              </a:rPr>
              <a:t>4</a:t>
            </a:r>
            <a:r>
              <a:rPr lang="en-US" altLang="zh-CN" sz="2400" dirty="0">
                <a:ea typeface="STKaiti" panose="02010600040101010101" pitchFamily="2" charset="-122"/>
                <a:sym typeface="Symbol" charset="0"/>
              </a:rPr>
              <a:t> ： </a:t>
            </a:r>
            <a:r>
              <a:rPr lang="en-US" sz="2400" dirty="0">
                <a:ea typeface="STKaiti" panose="02010600040101010101" pitchFamily="2" charset="-122"/>
                <a:sym typeface="Symbol" charset="0"/>
              </a:rPr>
              <a:t>support(S)  ≥ </a:t>
            </a:r>
            <a:r>
              <a:rPr lang="el-GR" sz="2400" dirty="0">
                <a:ea typeface="STKaiti" panose="02010600040101010101" pitchFamily="2" charset="-122"/>
                <a:sym typeface="Symbol" charset="0"/>
              </a:rPr>
              <a:t>σ</a:t>
            </a:r>
            <a:r>
              <a:rPr lang="en-US" sz="2400" dirty="0">
                <a:ea typeface="STKaiti" panose="02010600040101010101" pitchFamily="2" charset="-122"/>
                <a:sym typeface="Symbol" charset="0"/>
              </a:rPr>
              <a:t> 是否反单调？</a:t>
            </a:r>
          </a:p>
          <a:p>
            <a:pPr lvl="1">
              <a:spcAft>
                <a:spcPts val="200"/>
              </a:spcAft>
              <a:buFont typeface="Wingdings" charset="0"/>
              <a:buChar char="n"/>
              <a:defRPr/>
            </a:pPr>
            <a:r>
              <a:rPr lang="en-US" sz="2400" dirty="0">
                <a:ea typeface="STKaiti" panose="02010600040101010101" pitchFamily="2" charset="-122"/>
                <a:sym typeface="Symbol" charset="0"/>
              </a:rPr>
              <a:t>是的！</a:t>
            </a:r>
            <a:r>
              <a:rPr lang="en-US" sz="2400" dirty="0" err="1">
                <a:ea typeface="STKaiti" panose="02010600040101010101" pitchFamily="2" charset="-122"/>
                <a:sym typeface="Symbol" charset="0"/>
              </a:rPr>
              <a:t>先验</a:t>
            </a:r>
            <a:r>
              <a:rPr lang="en-US" sz="2400" dirty="0">
                <a:ea typeface="STKaiti" panose="02010600040101010101" pitchFamily="2" charset="-122"/>
                <a:sym typeface="Symbol" charset="0"/>
              </a:rPr>
              <a:t>剪枝本质上是带有反单调约束的剪枝！</a:t>
            </a:r>
          </a:p>
        </p:txBody>
      </p:sp>
      <p:sp>
        <p:nvSpPr>
          <p:cNvPr id="8199" name="Text Box 24"/>
          <p:cNvSpPr txBox="1">
            <a:spLocks noChangeArrowheads="1"/>
          </p:cNvSpPr>
          <p:nvPr/>
        </p:nvSpPr>
        <p:spPr bwMode="auto">
          <a:xfrm>
            <a:off x="506319" y="3096616"/>
            <a:ext cx="1430779" cy="3683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 err="1">
                <a:solidFill>
                  <a:prstClr val="black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min_sup </a:t>
            </a:r>
            <a:r>
              <a:rPr lang="en-US" altLang="en-US" sz="1800" dirty="0">
                <a:solidFill>
                  <a:prstClr val="black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= 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016700"/>
              </p:ext>
            </p:extLst>
          </p:nvPr>
        </p:nvGraphicFramePr>
        <p:xfrm>
          <a:off x="479969" y="1166650"/>
          <a:ext cx="2209307" cy="185236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09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9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3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TID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交易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a, b, c, d, f, h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b, c, d, f, g, h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b, c, d, f, g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a, c, e, f, g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049197"/>
              </p:ext>
            </p:extLst>
          </p:nvPr>
        </p:nvGraphicFramePr>
        <p:xfrm>
          <a:off x="506319" y="3464916"/>
          <a:ext cx="2209307" cy="3260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69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978">
                  <a:extLst>
                    <a:ext uri="{9D8B030D-6E8A-4147-A177-3AD203B41FA5}">
                      <a16:colId xmlns:a16="http://schemas.microsoft.com/office/drawing/2014/main" val="70790107"/>
                    </a:ext>
                  </a:extLst>
                </a:gridCol>
                <a:gridCol w="795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11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项目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价格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利润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a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100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40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b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40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0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c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150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−20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d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35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−15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e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55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−30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f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45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−10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g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80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20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h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10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5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252" name="TextBox 12"/>
          <p:cNvSpPr txBox="1">
            <a:spLocks noChangeArrowheads="1"/>
          </p:cNvSpPr>
          <p:nvPr/>
        </p:nvSpPr>
        <p:spPr bwMode="auto">
          <a:xfrm>
            <a:off x="2799710" y="6199785"/>
            <a:ext cx="2098871" cy="5847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>
                <a:solidFill>
                  <a:prstClr val="black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注：</a:t>
            </a:r>
            <a:r>
              <a:rPr lang="en-US" altLang="en-US" sz="1600" dirty="0" err="1">
                <a:solidFill>
                  <a:prstClr val="black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item.price </a:t>
            </a:r>
            <a:r>
              <a:rPr lang="en-US" altLang="en-US" sz="1600" dirty="0">
                <a:solidFill>
                  <a:prstClr val="black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&gt; 0</a:t>
            </a:r>
          </a:p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>
                <a:solidFill>
                  <a:prstClr val="black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利润可以为负值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9527F2A-A186-446E-8DF1-EE6FE3E01248}"/>
              </a:ext>
            </a:extLst>
          </p:cNvPr>
          <p:cNvSpPr txBox="1">
            <a:spLocks noChangeArrowheads="1"/>
          </p:cNvSpPr>
          <p:nvPr/>
        </p:nvSpPr>
        <p:spPr>
          <a:xfrm>
            <a:off x="2689274" y="2880275"/>
            <a:ext cx="7066456" cy="5517928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461963" indent="-4619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88" indent="-5381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4746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88" indent="-522288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63" indent="-508000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7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6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6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5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200"/>
              </a:spcAft>
              <a:buFont typeface="Wingdings" charset="0"/>
              <a:buChar char="n"/>
              <a:defRPr/>
            </a:pPr>
            <a:endParaRPr lang="en-US" sz="2400" dirty="0">
              <a:latin typeface="Calibri" charset="0"/>
              <a:ea typeface="ＭＳ Ｐゴシック" charset="0"/>
              <a:sym typeface="Symbo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6980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9" grpId="0" animBg="1"/>
      <p:bldP spid="825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-203200" y="304800"/>
            <a:ext cx="12598400" cy="6096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000" dirty="0">
                <a:ea typeface="STKaiti" panose="02010600040101010101" pitchFamily="2" charset="-122"/>
              </a:rPr>
              <a:t>模式单调性及其作用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idx="1"/>
          </p:nvPr>
        </p:nvSpPr>
        <p:spPr>
          <a:xfrm>
            <a:off x="2893848" y="1368103"/>
            <a:ext cx="8184055" cy="4193626"/>
          </a:xfrm>
        </p:spPr>
        <p:txBody>
          <a:bodyPr/>
          <a:lstStyle/>
          <a:p>
            <a:pPr>
              <a:spcAft>
                <a:spcPts val="600"/>
              </a:spcAft>
              <a:buFont typeface="Wingdings" charset="0"/>
              <a:buChar char="n"/>
              <a:defRPr/>
            </a:pPr>
            <a:r>
              <a:rPr lang="en-US" altLang="zh-CN" sz="2200" dirty="0">
                <a:ea typeface="STKaiti" panose="02010600040101010101" pitchFamily="2" charset="-122"/>
                <a:cs typeface="SimSun" charset="0"/>
              </a:rPr>
              <a:t>一个约束 </a:t>
            </a:r>
            <a:r>
              <a:rPr lang="en-US" altLang="zh-CN" sz="2200" i="1" dirty="0">
                <a:ea typeface="STKaiti" panose="02010600040101010101" pitchFamily="2" charset="-122"/>
                <a:cs typeface="SimSun" charset="0"/>
              </a:rPr>
              <a:t>c </a:t>
            </a:r>
            <a:r>
              <a:rPr lang="en-US" altLang="zh-CN" sz="2200" dirty="0">
                <a:ea typeface="STKaiti" panose="02010600040101010101" pitchFamily="2" charset="-122"/>
                <a:cs typeface="SimSun" charset="0"/>
              </a:rPr>
              <a:t>是</a:t>
            </a:r>
            <a:r>
              <a:rPr lang="en-US" altLang="zh-CN" sz="2200" i="1" dirty="0">
                <a:ea typeface="STKaiti" panose="02010600040101010101" pitchFamily="2" charset="-122"/>
                <a:cs typeface="SimSun" charset="0"/>
              </a:rPr>
              <a:t>单调的</a:t>
            </a:r>
            <a:r>
              <a:rPr lang="en-US" altLang="zh-CN" sz="2200" dirty="0">
                <a:ea typeface="STKaiti" panose="02010600040101010101" pitchFamily="2" charset="-122"/>
                <a:cs typeface="SimSun" charset="0"/>
              </a:rPr>
              <a:t>：</a:t>
            </a:r>
            <a:r>
              <a:rPr lang="en-US" sz="2200" dirty="0">
                <a:ea typeface="STKaiti" panose="02010600040101010101" pitchFamily="2" charset="-122"/>
              </a:rPr>
              <a:t>如果一个</a:t>
            </a:r>
            <a:r>
              <a:rPr lang="en-US" sz="2200" dirty="0" err="1">
                <a:ea typeface="STKaiti" panose="02010600040101010101" pitchFamily="2" charset="-122"/>
              </a:rPr>
              <a:t>项集 </a:t>
            </a:r>
            <a:r>
              <a:rPr lang="en-US" sz="2200" dirty="0">
                <a:ea typeface="STKaiti" panose="02010600040101010101" pitchFamily="2" charset="-122"/>
              </a:rPr>
              <a:t>S </a:t>
            </a:r>
            <a:r>
              <a:rPr lang="en-US" sz="2200" b="1" dirty="0">
                <a:ea typeface="STKaiti" panose="02010600040101010101" pitchFamily="2" charset="-122"/>
              </a:rPr>
              <a:t>满足</a:t>
            </a:r>
            <a:r>
              <a:rPr lang="en-US" sz="2200" dirty="0">
                <a:ea typeface="STKaiti" panose="02010600040101010101" pitchFamily="2" charset="-122"/>
              </a:rPr>
              <a:t>约束 c，那么它的任何</a:t>
            </a:r>
            <a:r>
              <a:rPr lang="en-US" sz="2200" i="1" dirty="0">
                <a:ea typeface="STKaiti" panose="02010600040101010101" pitchFamily="2" charset="-122"/>
              </a:rPr>
              <a:t>超集</a:t>
            </a:r>
            <a:r>
              <a:rPr lang="en-US" sz="2200" dirty="0">
                <a:ea typeface="STKaiti" panose="02010600040101010101" pitchFamily="2" charset="-122"/>
              </a:rPr>
              <a:t>也满足约束 c</a:t>
            </a:r>
            <a:r>
              <a:rPr lang="en-US" sz="2200" i="1" dirty="0">
                <a:ea typeface="STKaiti" panose="02010600040101010101" pitchFamily="2" charset="-122"/>
              </a:rPr>
              <a:t>。 </a:t>
            </a:r>
          </a:p>
          <a:p>
            <a:pPr lvl="1">
              <a:spcAft>
                <a:spcPts val="600"/>
              </a:spcAft>
              <a:buFont typeface="Wingdings" charset="0"/>
              <a:buChar char="n"/>
              <a:defRPr/>
            </a:pPr>
            <a:r>
              <a:rPr lang="en-US" sz="2200" dirty="0">
                <a:ea typeface="STKaiti" panose="02010600040101010101" pitchFamily="2" charset="-122"/>
              </a:rPr>
              <a:t>也就是说，</a:t>
            </a:r>
            <a:r>
              <a:rPr lang="en-US" altLang="zh-CN" sz="2200" dirty="0">
                <a:ea typeface="STKaiti" panose="02010600040101010101" pitchFamily="2" charset="-122"/>
                <a:cs typeface="SimSun" charset="0"/>
              </a:rPr>
              <a:t>我们在后续挖掘中无需再检查 </a:t>
            </a:r>
            <a:r>
              <a:rPr lang="en-US" altLang="zh-CN" sz="2200" i="1" dirty="0">
                <a:ea typeface="STKaiti" panose="02010600040101010101" pitchFamily="2" charset="-122"/>
                <a:cs typeface="SimSun" charset="0"/>
              </a:rPr>
              <a:t>c</a:t>
            </a:r>
          </a:p>
          <a:p>
            <a:pPr lvl="1">
              <a:spcAft>
                <a:spcPts val="1200"/>
              </a:spcAft>
              <a:buFont typeface="Wingdings" charset="0"/>
              <a:buChar char="n"/>
              <a:defRPr/>
            </a:pPr>
            <a:r>
              <a:rPr lang="en-US" sz="2200" dirty="0">
                <a:ea typeface="STKaiti" panose="02010600040101010101" pitchFamily="2" charset="-122"/>
              </a:rPr>
              <a:t>不如反单调性有益</a:t>
            </a:r>
          </a:p>
          <a:p>
            <a:pPr eaLnBrk="1" hangingPunct="1">
              <a:spcAft>
                <a:spcPts val="600"/>
              </a:spcAft>
              <a:buFont typeface="Wingdings" charset="0"/>
              <a:buChar char="n"/>
              <a:defRPr/>
            </a:pPr>
            <a:r>
              <a:rPr lang="en-US" sz="2200" dirty="0">
                <a:ea typeface="STKaiti" panose="02010600040101010101" pitchFamily="2" charset="-122"/>
                <a:sym typeface="Symbol" charset="0"/>
              </a:rPr>
              <a:t>例 1：约束</a:t>
            </a:r>
            <a:r>
              <a:rPr lang="en-US" sz="2200" baseline="-25000" dirty="0">
                <a:ea typeface="STKaiti" panose="02010600040101010101" pitchFamily="2" charset="-122"/>
                <a:sym typeface="Symbol" charset="0"/>
              </a:rPr>
              <a:t>1</a:t>
            </a:r>
            <a:r>
              <a:rPr lang="en-US" sz="2200" dirty="0">
                <a:ea typeface="STKaiti" panose="02010600040101010101" pitchFamily="2" charset="-122"/>
                <a:sym typeface="Symbol" charset="0"/>
              </a:rPr>
              <a:t> ：</a:t>
            </a:r>
            <a:r>
              <a:rPr lang="en-US" sz="2200" i="1" dirty="0">
                <a:ea typeface="STKaiti" panose="02010600040101010101" pitchFamily="2" charset="-122"/>
                <a:sym typeface="Symbol" charset="0"/>
              </a:rPr>
              <a:t>sum</a:t>
            </a:r>
            <a:r>
              <a:rPr lang="en-US" sz="2200" dirty="0">
                <a:ea typeface="STKaiti" panose="02010600040101010101" pitchFamily="2" charset="-122"/>
                <a:sym typeface="Symbol" charset="0"/>
              </a:rPr>
              <a:t>(</a:t>
            </a:r>
            <a:r>
              <a:rPr lang="en-US" sz="2200" i="1" dirty="0" err="1">
                <a:ea typeface="STKaiti" panose="02010600040101010101" pitchFamily="2" charset="-122"/>
                <a:sym typeface="Symbol" charset="0"/>
              </a:rPr>
              <a:t>S.Price</a:t>
            </a:r>
            <a:r>
              <a:rPr lang="en-US" sz="2200" dirty="0">
                <a:ea typeface="STKaiti" panose="02010600040101010101" pitchFamily="2" charset="-122"/>
                <a:sym typeface="Symbol" charset="0"/>
              </a:rPr>
              <a:t>) ≥ </a:t>
            </a:r>
            <a:r>
              <a:rPr lang="en-US" sz="2200" i="1" dirty="0">
                <a:ea typeface="STKaiti" panose="02010600040101010101" pitchFamily="2" charset="-122"/>
                <a:sym typeface="Symbol" charset="0"/>
              </a:rPr>
              <a:t>v </a:t>
            </a:r>
            <a:r>
              <a:rPr lang="en-US" sz="2200" dirty="0">
                <a:ea typeface="STKaiti" panose="02010600040101010101" pitchFamily="2" charset="-122"/>
                <a:sym typeface="Symbol" charset="0"/>
              </a:rPr>
              <a:t>是</a:t>
            </a:r>
            <a:r>
              <a:rPr lang="en-US" sz="2200" dirty="0">
                <a:solidFill>
                  <a:srgbClr val="FF0000"/>
                </a:solidFill>
                <a:ea typeface="STKaiti" panose="02010600040101010101" pitchFamily="2" charset="-122"/>
                <a:sym typeface="Symbol" charset="0"/>
              </a:rPr>
              <a:t>单调的</a:t>
            </a:r>
          </a:p>
          <a:p>
            <a:pPr eaLnBrk="1" hangingPunct="1">
              <a:spcAft>
                <a:spcPts val="600"/>
              </a:spcAft>
              <a:buFont typeface="Wingdings" charset="0"/>
              <a:buChar char="n"/>
              <a:defRPr/>
            </a:pPr>
            <a:endParaRPr lang="en-US" sz="2200" dirty="0">
              <a:solidFill>
                <a:srgbClr val="FF0000"/>
              </a:solidFill>
              <a:ea typeface="STKaiti" panose="02010600040101010101" pitchFamily="2" charset="-122"/>
              <a:sym typeface="Symbol" charset="0"/>
            </a:endParaRPr>
          </a:p>
          <a:p>
            <a:pPr>
              <a:spcAft>
                <a:spcPts val="600"/>
              </a:spcAft>
              <a:buFont typeface="Wingdings" charset="0"/>
              <a:buChar char="n"/>
              <a:defRPr/>
            </a:pPr>
            <a:r>
              <a:rPr lang="en-US" sz="2200" dirty="0">
                <a:ea typeface="STKaiti" panose="02010600040101010101" pitchFamily="2" charset="-122"/>
                <a:sym typeface="Wingdings" charset="0"/>
              </a:rPr>
              <a:t>例 2：</a:t>
            </a:r>
            <a:r>
              <a:rPr lang="en-US" sz="2200" dirty="0">
                <a:ea typeface="STKaiti" panose="02010600040101010101" pitchFamily="2" charset="-122"/>
                <a:sym typeface="Symbol" charset="0"/>
              </a:rPr>
              <a:t>约束</a:t>
            </a:r>
            <a:r>
              <a:rPr lang="en-US" sz="2200" baseline="-25000" dirty="0">
                <a:ea typeface="STKaiti" panose="02010600040101010101" pitchFamily="2" charset="-122"/>
                <a:sym typeface="Symbol" charset="0"/>
              </a:rPr>
              <a:t>2</a:t>
            </a:r>
            <a:r>
              <a:rPr lang="en-US" sz="2200" dirty="0">
                <a:ea typeface="STKaiti" panose="02010600040101010101" pitchFamily="2" charset="-122"/>
                <a:sym typeface="Symbol" charset="0"/>
              </a:rPr>
              <a:t> ：</a:t>
            </a:r>
            <a:r>
              <a:rPr lang="en-US" sz="2200" i="1" dirty="0">
                <a:ea typeface="STKaiti" panose="02010600040101010101" pitchFamily="2" charset="-122"/>
                <a:sym typeface="Wingdings" charset="0"/>
              </a:rPr>
              <a:t>min</a:t>
            </a:r>
            <a:r>
              <a:rPr lang="en-US" sz="2200" dirty="0">
                <a:ea typeface="STKaiti" panose="02010600040101010101" pitchFamily="2" charset="-122"/>
                <a:sym typeface="Wingdings" charset="0"/>
              </a:rPr>
              <a:t>(</a:t>
            </a:r>
            <a:r>
              <a:rPr lang="en-US" sz="2200" i="1" dirty="0" err="1">
                <a:ea typeface="STKaiti" panose="02010600040101010101" pitchFamily="2" charset="-122"/>
                <a:sym typeface="Wingdings" charset="0"/>
              </a:rPr>
              <a:t>S.Price</a:t>
            </a:r>
            <a:r>
              <a:rPr lang="en-US" sz="2200" dirty="0">
                <a:ea typeface="STKaiti" panose="02010600040101010101" pitchFamily="2" charset="-122"/>
                <a:sym typeface="Wingdings" charset="0"/>
              </a:rPr>
              <a:t>) </a:t>
            </a:r>
            <a:r>
              <a:rPr lang="en-US" sz="2200" dirty="0">
                <a:ea typeface="STKaiti" panose="02010600040101010101" pitchFamily="2" charset="-122"/>
                <a:sym typeface="Symbol" charset="0"/>
              </a:rPr>
              <a:t>≤ </a:t>
            </a:r>
            <a:r>
              <a:rPr lang="en-US" sz="2200" i="1" dirty="0">
                <a:ea typeface="STKaiti" panose="02010600040101010101" pitchFamily="2" charset="-122"/>
                <a:sym typeface="Wingdings" charset="0"/>
              </a:rPr>
              <a:t>v </a:t>
            </a:r>
            <a:r>
              <a:rPr lang="en-US" sz="2200" dirty="0">
                <a:ea typeface="STKaiti" panose="02010600040101010101" pitchFamily="2" charset="-122"/>
                <a:sym typeface="Symbol" charset="0"/>
              </a:rPr>
              <a:t>是</a:t>
            </a:r>
            <a:r>
              <a:rPr lang="en-US" sz="2200" dirty="0">
                <a:solidFill>
                  <a:srgbClr val="FF0000"/>
                </a:solidFill>
                <a:ea typeface="STKaiti" panose="02010600040101010101" pitchFamily="2" charset="-122"/>
                <a:sym typeface="Symbol" charset="0"/>
              </a:rPr>
              <a:t>单调的</a:t>
            </a:r>
          </a:p>
          <a:p>
            <a:pPr>
              <a:spcAft>
                <a:spcPts val="600"/>
              </a:spcAft>
              <a:buFont typeface="Wingdings" charset="0"/>
              <a:buChar char="n"/>
              <a:defRPr/>
            </a:pPr>
            <a:endParaRPr lang="en-US" sz="2200" dirty="0">
              <a:solidFill>
                <a:srgbClr val="FF0000"/>
              </a:solidFill>
              <a:ea typeface="STKaiti" panose="02010600040101010101" pitchFamily="2" charset="-122"/>
              <a:sym typeface="Symbol" charset="0"/>
            </a:endParaRPr>
          </a:p>
          <a:p>
            <a:pPr eaLnBrk="1" hangingPunct="1">
              <a:spcAft>
                <a:spcPts val="600"/>
              </a:spcAft>
              <a:buFont typeface="Wingdings" charset="0"/>
              <a:buChar char="n"/>
              <a:defRPr/>
            </a:pPr>
            <a:r>
              <a:rPr lang="en-US" sz="2200" dirty="0">
                <a:ea typeface="STKaiti" panose="02010600040101010101" pitchFamily="2" charset="-122"/>
                <a:sym typeface="Wingdings" charset="0"/>
              </a:rPr>
              <a:t>示例 3：c</a:t>
            </a:r>
            <a:r>
              <a:rPr lang="en-US" sz="2200" i="1" baseline="-25000" dirty="0">
                <a:ea typeface="STKaiti" panose="02010600040101010101" pitchFamily="2" charset="-122"/>
                <a:sym typeface="Wingdings" charset="0"/>
              </a:rPr>
              <a:t>3</a:t>
            </a:r>
            <a:r>
              <a:rPr lang="en-US" sz="2200" dirty="0">
                <a:ea typeface="STKaiti" panose="02010600040101010101" pitchFamily="2" charset="-122"/>
                <a:sym typeface="Wingdings" charset="0"/>
              </a:rPr>
              <a:t> ：range(</a:t>
            </a:r>
            <a:r>
              <a:rPr lang="en-US" sz="2200" dirty="0" err="1">
                <a:ea typeface="STKaiti" panose="02010600040101010101" pitchFamily="2" charset="-122"/>
                <a:sym typeface="Wingdings" charset="0"/>
              </a:rPr>
              <a:t>S.profit</a:t>
            </a:r>
            <a:r>
              <a:rPr lang="en-US" sz="2200" dirty="0">
                <a:ea typeface="STKaiti" panose="02010600040101010101" pitchFamily="2" charset="-122"/>
                <a:sym typeface="Wingdings" charset="0"/>
              </a:rPr>
              <a:t>) </a:t>
            </a:r>
            <a:r>
              <a:rPr lang="en-US" sz="2200" dirty="0">
                <a:ea typeface="STKaiti" panose="02010600040101010101" pitchFamily="2" charset="-122"/>
                <a:sym typeface="Symbol" charset="0"/>
              </a:rPr>
              <a:t>≥</a:t>
            </a:r>
            <a:r>
              <a:rPr lang="en-US" sz="2200" dirty="0">
                <a:ea typeface="STKaiti" panose="02010600040101010101" pitchFamily="2" charset="-122"/>
                <a:sym typeface="Wingdings" charset="0"/>
              </a:rPr>
              <a:t> 15 </a:t>
            </a:r>
            <a:r>
              <a:rPr lang="en-US" sz="2200" dirty="0">
                <a:ea typeface="STKaiti" panose="02010600040101010101" pitchFamily="2" charset="-122"/>
                <a:sym typeface="Symbol" charset="0"/>
              </a:rPr>
              <a:t>是</a:t>
            </a:r>
            <a:r>
              <a:rPr lang="en-US" sz="2200" dirty="0">
                <a:solidFill>
                  <a:srgbClr val="FF0000"/>
                </a:solidFill>
                <a:ea typeface="STKaiti" panose="02010600040101010101" pitchFamily="2" charset="-122"/>
                <a:sym typeface="Symbol" charset="0"/>
              </a:rPr>
              <a:t>单调的</a:t>
            </a:r>
            <a:endParaRPr lang="en-US" sz="2200" dirty="0">
              <a:solidFill>
                <a:srgbClr val="FF0000"/>
              </a:solidFill>
              <a:ea typeface="STKaiti" panose="02010600040101010101" pitchFamily="2" charset="-122"/>
              <a:sym typeface="Wingdings" charset="0"/>
            </a:endParaRPr>
          </a:p>
          <a:p>
            <a:pPr lvl="1" eaLnBrk="1" hangingPunct="1">
              <a:spcAft>
                <a:spcPts val="600"/>
              </a:spcAft>
              <a:buFont typeface="Wingdings" charset="0"/>
              <a:buChar char="n"/>
              <a:defRPr/>
            </a:pPr>
            <a:r>
              <a:rPr lang="en-US" sz="2200" dirty="0" err="1">
                <a:ea typeface="STKaiti" panose="02010600040101010101" pitchFamily="2" charset="-122"/>
              </a:rPr>
              <a:t>项集 </a:t>
            </a:r>
            <a:r>
              <a:rPr lang="en-US" sz="2200" i="1" dirty="0" err="1">
                <a:ea typeface="STKaiti" panose="02010600040101010101" pitchFamily="2" charset="-122"/>
              </a:rPr>
              <a:t>ab</a:t>
            </a:r>
            <a:r>
              <a:rPr lang="en-US" sz="2200" dirty="0">
                <a:ea typeface="STKaiti" panose="02010600040101010101" pitchFamily="2" charset="-122"/>
              </a:rPr>
              <a:t> 满足条件 </a:t>
            </a:r>
            <a:r>
              <a:rPr lang="en-US" sz="2200" i="1" dirty="0">
                <a:ea typeface="STKaiti" panose="02010600040101010101" pitchFamily="2" charset="-122"/>
                <a:sym typeface="Wingdings" charset="0"/>
              </a:rPr>
              <a:t>c</a:t>
            </a:r>
            <a:r>
              <a:rPr lang="en-US" sz="2200" i="1" baseline="-25000" dirty="0">
                <a:ea typeface="STKaiti" panose="02010600040101010101" pitchFamily="2" charset="-122"/>
                <a:sym typeface="Wingdings" charset="0"/>
              </a:rPr>
              <a:t>3</a:t>
            </a:r>
            <a:endParaRPr lang="en-US" sz="2200" i="1" dirty="0">
              <a:ea typeface="STKaiti" panose="02010600040101010101" pitchFamily="2" charset="-122"/>
              <a:sym typeface="Wingdings" charset="0"/>
            </a:endParaRPr>
          </a:p>
          <a:p>
            <a:pPr lvl="1" eaLnBrk="1" hangingPunct="1">
              <a:spcAft>
                <a:spcPts val="600"/>
              </a:spcAft>
              <a:buFont typeface="Wingdings" charset="0"/>
              <a:buChar char="n"/>
              <a:defRPr/>
            </a:pPr>
            <a:r>
              <a:rPr lang="en-US" sz="2200" dirty="0">
                <a:ea typeface="STKaiti" panose="02010600040101010101" pitchFamily="2" charset="-122"/>
                <a:sym typeface="Wingdings" charset="0"/>
              </a:rPr>
              <a:t>因此，</a:t>
            </a:r>
            <a:r>
              <a:rPr lang="en-US" sz="2200" i="1" dirty="0" err="1">
                <a:ea typeface="STKaiti" panose="02010600040101010101" pitchFamily="2" charset="-122"/>
                <a:sym typeface="Wingdings" charset="0"/>
              </a:rPr>
              <a:t>ab</a:t>
            </a:r>
            <a:r>
              <a:rPr lang="en-US" sz="2200" dirty="0">
                <a:ea typeface="STKaiti" panose="02010600040101010101" pitchFamily="2" charset="-122"/>
                <a:sym typeface="Wingdings" charset="0"/>
              </a:rPr>
              <a:t> 的每个超集也满足 c</a:t>
            </a:r>
            <a:endParaRPr lang="en-US" sz="2200" i="1" dirty="0">
              <a:ea typeface="STKaiti" panose="02010600040101010101" pitchFamily="2" charset="-122"/>
              <a:sym typeface="Wingdings" charset="0"/>
            </a:endParaRPr>
          </a:p>
        </p:txBody>
      </p:sp>
      <p:sp>
        <p:nvSpPr>
          <p:cNvPr id="8" name="Text Box 24">
            <a:extLst>
              <a:ext uri="{FF2B5EF4-FFF2-40B4-BE49-F238E27FC236}">
                <a16:creationId xmlns:a16="http://schemas.microsoft.com/office/drawing/2014/main" id="{7885A8BA-91E8-4FB8-B2FD-6D0563E9F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319" y="3096616"/>
            <a:ext cx="1430779" cy="3683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min_sup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= 2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36BD597-92DB-4271-86AF-5535E8743F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24463"/>
              </p:ext>
            </p:extLst>
          </p:nvPr>
        </p:nvGraphicFramePr>
        <p:xfrm>
          <a:off x="479969" y="1166650"/>
          <a:ext cx="2209307" cy="185236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98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04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3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TID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事务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a, b, c, d, f, h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b, c, d, f, g, h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b, c, d, f, g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a, c, e, f, g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1396D7B-0675-4A8E-933A-51D192689E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239327"/>
              </p:ext>
            </p:extLst>
          </p:nvPr>
        </p:nvGraphicFramePr>
        <p:xfrm>
          <a:off x="506319" y="3464916"/>
          <a:ext cx="2209307" cy="3260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69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978">
                  <a:extLst>
                    <a:ext uri="{9D8B030D-6E8A-4147-A177-3AD203B41FA5}">
                      <a16:colId xmlns:a16="http://schemas.microsoft.com/office/drawing/2014/main" val="70790107"/>
                    </a:ext>
                  </a:extLst>
                </a:gridCol>
                <a:gridCol w="795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11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项目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价格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利润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a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100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40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b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40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0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c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150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−20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d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35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−15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e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55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−30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f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45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−10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g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80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20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h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10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5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47932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12192000" cy="60960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ea typeface="STKaiti" panose="02010600040101010101" pitchFamily="2" charset="-122"/>
              </a:rPr>
              <a:t>先验</a:t>
            </a:r>
            <a:r>
              <a:rPr lang="en-US" dirty="0">
                <a:ea typeface="STKaiti" panose="02010600040101010101" pitchFamily="2" charset="-122"/>
              </a:rPr>
              <a:t>方法在模式</a:t>
            </a:r>
            <a:r>
              <a:rPr lang="en-US" altLang="zh-CN" dirty="0">
                <a:ea typeface="STKaiti" panose="02010600040101010101" pitchFamily="2" charset="-122"/>
              </a:rPr>
              <a:t>反单调约束中的</a:t>
            </a:r>
            <a:r>
              <a:rPr lang="en-US" dirty="0">
                <a:ea typeface="STKaiti" panose="02010600040101010101" pitchFamily="2" charset="-122"/>
              </a:rPr>
              <a:t>应用</a:t>
            </a:r>
          </a:p>
        </p:txBody>
      </p:sp>
      <p:graphicFrame>
        <p:nvGraphicFramePr>
          <p:cNvPr id="3072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8438085"/>
              </p:ext>
            </p:extLst>
          </p:nvPr>
        </p:nvGraphicFramePr>
        <p:xfrm>
          <a:off x="1827213" y="1795463"/>
          <a:ext cx="1893887" cy="164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739681" imgH="1765316" progId="Excel.Sheet.8">
                  <p:embed/>
                </p:oleObj>
              </mc:Choice>
              <mc:Fallback>
                <p:oleObj name="Worksheet" r:id="rId3" imgW="1739681" imgH="1765316" progId="Excel.Sheet.8">
                  <p:embed/>
                  <p:pic>
                    <p:nvPicPr>
                      <p:cNvPr id="3072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7213" y="1795463"/>
                        <a:ext cx="1893887" cy="164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5" name="Text Box 4"/>
          <p:cNvSpPr txBox="1">
            <a:spLocks noChangeArrowheads="1"/>
          </p:cNvSpPr>
          <p:nvPr/>
        </p:nvSpPr>
        <p:spPr bwMode="auto">
          <a:xfrm>
            <a:off x="1867009" y="1386831"/>
            <a:ext cx="14221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>
                <a:latin typeface="STKaiti" panose="02010600040101010101" pitchFamily="2" charset="-122"/>
                <a:ea typeface="STKaiti" panose="02010600040101010101" pitchFamily="2" charset="-122"/>
              </a:rPr>
              <a:t>数据库 D</a:t>
            </a:r>
          </a:p>
        </p:txBody>
      </p:sp>
      <p:graphicFrame>
        <p:nvGraphicFramePr>
          <p:cNvPr id="3072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9182677"/>
              </p:ext>
            </p:extLst>
          </p:nvPr>
        </p:nvGraphicFramePr>
        <p:xfrm>
          <a:off x="4786314" y="1468438"/>
          <a:ext cx="1824037" cy="194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1619701" imgH="2086337" progId="Excel.Sheet.8">
                  <p:embed/>
                </p:oleObj>
              </mc:Choice>
              <mc:Fallback>
                <p:oleObj name="Worksheet" r:id="rId5" imgW="1619701" imgH="2086337" progId="Excel.Sheet.8">
                  <p:embed/>
                  <p:pic>
                    <p:nvPicPr>
                      <p:cNvPr id="3072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6314" y="1468438"/>
                        <a:ext cx="1824037" cy="194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3125615"/>
              </p:ext>
            </p:extLst>
          </p:nvPr>
        </p:nvGraphicFramePr>
        <p:xfrm>
          <a:off x="7308850" y="1560513"/>
          <a:ext cx="2046288" cy="166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1619701" imgH="1743437" progId="Excel.Sheet.8">
                  <p:embed/>
                </p:oleObj>
              </mc:Choice>
              <mc:Fallback>
                <p:oleObj name="Worksheet" r:id="rId7" imgW="1619701" imgH="1743437" progId="Excel.Sheet.8">
                  <p:embed/>
                  <p:pic>
                    <p:nvPicPr>
                      <p:cNvPr id="3072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1560513"/>
                        <a:ext cx="2046288" cy="166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8" name="Text Box 7"/>
          <p:cNvSpPr txBox="1">
            <a:spLocks noChangeArrowheads="1"/>
          </p:cNvSpPr>
          <p:nvPr/>
        </p:nvSpPr>
        <p:spPr bwMode="auto">
          <a:xfrm>
            <a:off x="3684596" y="2271068"/>
            <a:ext cx="11144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>
                <a:latin typeface="STKaiti" panose="02010600040101010101" pitchFamily="2" charset="-122"/>
                <a:ea typeface="STKaiti" panose="02010600040101010101" pitchFamily="2" charset="-122"/>
              </a:rPr>
              <a:t>扫描 D</a:t>
            </a:r>
          </a:p>
        </p:txBody>
      </p:sp>
      <p:sp>
        <p:nvSpPr>
          <p:cNvPr id="30729" name="Line 8"/>
          <p:cNvSpPr>
            <a:spLocks noChangeShapeType="1"/>
          </p:cNvSpPr>
          <p:nvPr/>
        </p:nvSpPr>
        <p:spPr bwMode="auto">
          <a:xfrm>
            <a:off x="3821113" y="2719388"/>
            <a:ext cx="831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0730" name="Text Box 9"/>
          <p:cNvSpPr txBox="1">
            <a:spLocks noChangeArrowheads="1"/>
          </p:cNvSpPr>
          <p:nvPr/>
        </p:nvSpPr>
        <p:spPr bwMode="auto">
          <a:xfrm>
            <a:off x="4283075" y="17208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i="1">
                <a:latin typeface="STKaiti" panose="02010600040101010101" pitchFamily="2" charset="-122"/>
                <a:ea typeface="STKaiti" panose="02010600040101010101" pitchFamily="2" charset="-122"/>
              </a:rPr>
              <a:t>C</a:t>
            </a:r>
            <a:r>
              <a:rPr lang="en-US" i="1" baseline="-25000">
                <a:latin typeface="STKaiti" panose="02010600040101010101" pitchFamily="2" charset="-122"/>
                <a:ea typeface="STKaiti" panose="02010600040101010101" pitchFamily="2" charset="-122"/>
              </a:rPr>
              <a:t>1</a:t>
            </a:r>
          </a:p>
        </p:txBody>
      </p:sp>
      <p:sp>
        <p:nvSpPr>
          <p:cNvPr id="30731" name="Text Box 10"/>
          <p:cNvSpPr txBox="1">
            <a:spLocks noChangeArrowheads="1"/>
          </p:cNvSpPr>
          <p:nvPr/>
        </p:nvSpPr>
        <p:spPr bwMode="auto">
          <a:xfrm>
            <a:off x="6861103" y="1561456"/>
            <a:ext cx="47480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i="1" dirty="0">
                <a:latin typeface="STKaiti" panose="02010600040101010101" pitchFamily="2" charset="-122"/>
                <a:ea typeface="STKaiti" panose="02010600040101010101" pitchFamily="2" charset="-122"/>
              </a:rPr>
              <a:t>F</a:t>
            </a:r>
            <a:r>
              <a:rPr lang="en-US" i="1" baseline="-25000" dirty="0">
                <a:latin typeface="STKaiti" panose="02010600040101010101" pitchFamily="2" charset="-122"/>
                <a:ea typeface="STKaiti" panose="02010600040101010101" pitchFamily="2" charset="-122"/>
              </a:rPr>
              <a:t>1</a:t>
            </a:r>
          </a:p>
        </p:txBody>
      </p:sp>
      <p:graphicFrame>
        <p:nvGraphicFramePr>
          <p:cNvPr id="3073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8506696"/>
              </p:ext>
            </p:extLst>
          </p:nvPr>
        </p:nvGraphicFramePr>
        <p:xfrm>
          <a:off x="8134351" y="3381376"/>
          <a:ext cx="1120775" cy="233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9" imgW="990735" imgH="2428944" progId="Excel.Sheet.8">
                  <p:embed/>
                </p:oleObj>
              </mc:Choice>
              <mc:Fallback>
                <p:oleObj name="Worksheet" r:id="rId9" imgW="990735" imgH="2428944" progId="Excel.Sheet.8">
                  <p:embed/>
                  <p:pic>
                    <p:nvPicPr>
                      <p:cNvPr id="3073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4351" y="3381376"/>
                        <a:ext cx="1120775" cy="233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8310740"/>
              </p:ext>
            </p:extLst>
          </p:nvPr>
        </p:nvGraphicFramePr>
        <p:xfrm>
          <a:off x="4724401" y="3492500"/>
          <a:ext cx="1736725" cy="224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1" imgW="1581421" imgH="2429237" progId="Excel.Sheet.8">
                  <p:embed/>
                </p:oleObj>
              </mc:Choice>
              <mc:Fallback>
                <p:oleObj name="Worksheet" r:id="rId11" imgW="1581421" imgH="2429237" progId="Excel.Sheet.8">
                  <p:embed/>
                  <p:pic>
                    <p:nvPicPr>
                      <p:cNvPr id="3073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1" y="3492500"/>
                        <a:ext cx="1736725" cy="224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3906678"/>
              </p:ext>
            </p:extLst>
          </p:nvPr>
        </p:nvGraphicFramePr>
        <p:xfrm>
          <a:off x="2336801" y="3756026"/>
          <a:ext cx="1717675" cy="180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3" imgW="1581421" imgH="1743437" progId="Excel.Sheet.8">
                  <p:embed/>
                </p:oleObj>
              </mc:Choice>
              <mc:Fallback>
                <p:oleObj name="Worksheet" r:id="rId13" imgW="1581421" imgH="1743437" progId="Excel.Sheet.8">
                  <p:embed/>
                  <p:pic>
                    <p:nvPicPr>
                      <p:cNvPr id="3073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6801" y="3756026"/>
                        <a:ext cx="1717675" cy="180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5" name="Text Box 14"/>
          <p:cNvSpPr txBox="1">
            <a:spLocks noChangeArrowheads="1"/>
          </p:cNvSpPr>
          <p:nvPr/>
        </p:nvSpPr>
        <p:spPr bwMode="auto">
          <a:xfrm>
            <a:off x="1816028" y="3726806"/>
            <a:ext cx="47480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i="1" dirty="0">
                <a:latin typeface="STKaiti" panose="02010600040101010101" pitchFamily="2" charset="-122"/>
                <a:ea typeface="STKaiti" panose="02010600040101010101" pitchFamily="2" charset="-122"/>
              </a:rPr>
              <a:t>F</a:t>
            </a:r>
            <a:r>
              <a:rPr lang="en-US" i="1" baseline="-25000" dirty="0">
                <a:latin typeface="STKaiti" panose="02010600040101010101" pitchFamily="2" charset="-122"/>
                <a:ea typeface="STKaiti" panose="02010600040101010101" pitchFamily="2" charset="-122"/>
              </a:rPr>
              <a:t>2</a:t>
            </a:r>
          </a:p>
        </p:txBody>
      </p:sp>
      <p:sp>
        <p:nvSpPr>
          <p:cNvPr id="30736" name="Text Box 15"/>
          <p:cNvSpPr txBox="1">
            <a:spLocks noChangeArrowheads="1"/>
          </p:cNvSpPr>
          <p:nvPr/>
        </p:nvSpPr>
        <p:spPr bwMode="auto">
          <a:xfrm>
            <a:off x="4252913" y="33321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i="1">
                <a:latin typeface="STKaiti" panose="02010600040101010101" pitchFamily="2" charset="-122"/>
                <a:ea typeface="STKaiti" panose="02010600040101010101" pitchFamily="2" charset="-122"/>
              </a:rPr>
              <a:t>C</a:t>
            </a:r>
            <a:r>
              <a:rPr lang="en-US" i="1" baseline="-25000">
                <a:latin typeface="STKaiti" panose="02010600040101010101" pitchFamily="2" charset="-122"/>
                <a:ea typeface="STKaiti" panose="02010600040101010101" pitchFamily="2" charset="-122"/>
              </a:rPr>
              <a:t>2</a:t>
            </a:r>
          </a:p>
        </p:txBody>
      </p:sp>
      <p:sp>
        <p:nvSpPr>
          <p:cNvPr id="30737" name="Text Box 16"/>
          <p:cNvSpPr txBox="1">
            <a:spLocks noChangeArrowheads="1"/>
          </p:cNvSpPr>
          <p:nvPr/>
        </p:nvSpPr>
        <p:spPr bwMode="auto">
          <a:xfrm>
            <a:off x="7540625" y="33829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i="1">
                <a:latin typeface="STKaiti" panose="02010600040101010101" pitchFamily="2" charset="-122"/>
                <a:ea typeface="STKaiti" panose="02010600040101010101" pitchFamily="2" charset="-122"/>
              </a:rPr>
              <a:t>C</a:t>
            </a:r>
            <a:r>
              <a:rPr lang="en-US" i="1" baseline="-25000">
                <a:latin typeface="STKaiti" panose="02010600040101010101" pitchFamily="2" charset="-122"/>
                <a:ea typeface="STKaiti" panose="02010600040101010101" pitchFamily="2" charset="-122"/>
              </a:rPr>
              <a:t>2</a:t>
            </a:r>
          </a:p>
        </p:txBody>
      </p:sp>
      <p:sp>
        <p:nvSpPr>
          <p:cNvPr id="30738" name="Line 17"/>
          <p:cNvSpPr>
            <a:spLocks noChangeShapeType="1"/>
          </p:cNvSpPr>
          <p:nvPr/>
        </p:nvSpPr>
        <p:spPr bwMode="auto">
          <a:xfrm flipH="1">
            <a:off x="6651626" y="4252913"/>
            <a:ext cx="11207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0739" name="Text Box 18"/>
          <p:cNvSpPr txBox="1">
            <a:spLocks noChangeArrowheads="1"/>
          </p:cNvSpPr>
          <p:nvPr/>
        </p:nvSpPr>
        <p:spPr bwMode="auto">
          <a:xfrm>
            <a:off x="6651634" y="3749031"/>
            <a:ext cx="11144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>
                <a:latin typeface="STKaiti" panose="02010600040101010101" pitchFamily="2" charset="-122"/>
                <a:ea typeface="STKaiti" panose="02010600040101010101" pitchFamily="2" charset="-122"/>
              </a:rPr>
              <a:t>扫描 D</a:t>
            </a:r>
          </a:p>
        </p:txBody>
      </p:sp>
      <p:sp>
        <p:nvSpPr>
          <p:cNvPr id="30740" name="AutoShape 19"/>
          <p:cNvSpPr>
            <a:spLocks noChangeArrowheads="1"/>
          </p:cNvSpPr>
          <p:nvPr/>
        </p:nvSpPr>
        <p:spPr bwMode="auto">
          <a:xfrm>
            <a:off x="9385301" y="3305697"/>
            <a:ext cx="627063" cy="384721"/>
          </a:xfrm>
          <a:prstGeom prst="curvedLeftArrow">
            <a:avLst>
              <a:gd name="adj1" fmla="val 27291"/>
              <a:gd name="adj2" fmla="val 54582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0741" name="Line 20"/>
          <p:cNvSpPr>
            <a:spLocks noChangeShapeType="1"/>
          </p:cNvSpPr>
          <p:nvPr/>
        </p:nvSpPr>
        <p:spPr bwMode="auto">
          <a:xfrm>
            <a:off x="4059239" y="6299200"/>
            <a:ext cx="16922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0742" name="Text Box 21"/>
          <p:cNvSpPr txBox="1">
            <a:spLocks noChangeArrowheads="1"/>
          </p:cNvSpPr>
          <p:nvPr/>
        </p:nvSpPr>
        <p:spPr bwMode="auto">
          <a:xfrm>
            <a:off x="2222500" y="580231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i="1">
                <a:latin typeface="STKaiti" panose="02010600040101010101" pitchFamily="2" charset="-122"/>
                <a:ea typeface="STKaiti" panose="02010600040101010101" pitchFamily="2" charset="-122"/>
              </a:rPr>
              <a:t>C</a:t>
            </a:r>
            <a:r>
              <a:rPr lang="en-US" i="1" baseline="-25000">
                <a:latin typeface="STKaiti" panose="02010600040101010101" pitchFamily="2" charset="-122"/>
                <a:ea typeface="STKaiti" panose="02010600040101010101" pitchFamily="2" charset="-122"/>
              </a:rPr>
              <a:t>3</a:t>
            </a:r>
          </a:p>
        </p:txBody>
      </p:sp>
      <p:sp>
        <p:nvSpPr>
          <p:cNvPr id="30743" name="Text Box 22"/>
          <p:cNvSpPr txBox="1">
            <a:spLocks noChangeArrowheads="1"/>
          </p:cNvSpPr>
          <p:nvPr/>
        </p:nvSpPr>
        <p:spPr bwMode="auto">
          <a:xfrm>
            <a:off x="5629203" y="5788968"/>
            <a:ext cx="47480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i="1" dirty="0">
                <a:latin typeface="STKaiti" panose="02010600040101010101" pitchFamily="2" charset="-122"/>
                <a:ea typeface="STKaiti" panose="02010600040101010101" pitchFamily="2" charset="-122"/>
              </a:rPr>
              <a:t>F</a:t>
            </a:r>
            <a:r>
              <a:rPr lang="en-US" i="1" baseline="-25000" dirty="0">
                <a:latin typeface="STKaiti" panose="02010600040101010101" pitchFamily="2" charset="-122"/>
                <a:ea typeface="STKaiti" panose="02010600040101010101" pitchFamily="2" charset="-122"/>
              </a:rPr>
              <a:t>3</a:t>
            </a:r>
          </a:p>
        </p:txBody>
      </p:sp>
      <p:graphicFrame>
        <p:nvGraphicFramePr>
          <p:cNvPr id="3074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4016832"/>
              </p:ext>
            </p:extLst>
          </p:nvPr>
        </p:nvGraphicFramePr>
        <p:xfrm>
          <a:off x="2690814" y="5845175"/>
          <a:ext cx="1125537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5" imgW="990961" imgH="714737" progId="Excel.Sheet.8">
                  <p:embed/>
                </p:oleObj>
              </mc:Choice>
              <mc:Fallback>
                <p:oleObj name="Worksheet" r:id="rId15" imgW="990961" imgH="714737" progId="Excel.Sheet.8">
                  <p:embed/>
                  <p:pic>
                    <p:nvPicPr>
                      <p:cNvPr id="30744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0814" y="5845175"/>
                        <a:ext cx="1125537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5" name="Text Box 24"/>
          <p:cNvSpPr txBox="1">
            <a:spLocks noChangeArrowheads="1"/>
          </p:cNvSpPr>
          <p:nvPr/>
        </p:nvSpPr>
        <p:spPr bwMode="auto">
          <a:xfrm>
            <a:off x="4235459" y="5879456"/>
            <a:ext cx="11144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>
                <a:latin typeface="STKaiti" panose="02010600040101010101" pitchFamily="2" charset="-122"/>
                <a:ea typeface="STKaiti" panose="02010600040101010101" pitchFamily="2" charset="-122"/>
              </a:rPr>
              <a:t>扫描 D</a:t>
            </a:r>
          </a:p>
        </p:txBody>
      </p:sp>
      <p:graphicFrame>
        <p:nvGraphicFramePr>
          <p:cNvPr id="30746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085821"/>
              </p:ext>
            </p:extLst>
          </p:nvPr>
        </p:nvGraphicFramePr>
        <p:xfrm>
          <a:off x="6092825" y="5835651"/>
          <a:ext cx="1754188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7" imgW="1581421" imgH="705332" progId="Excel.Sheet.8">
                  <p:embed/>
                </p:oleObj>
              </mc:Choice>
              <mc:Fallback>
                <p:oleObj name="Worksheet" r:id="rId17" imgW="1581421" imgH="705332" progId="Excel.Sheet.8">
                  <p:embed/>
                  <p:pic>
                    <p:nvPicPr>
                      <p:cNvPr id="30746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2825" y="5835651"/>
                        <a:ext cx="1754188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7" name="AutoShape 26"/>
          <p:cNvSpPr>
            <a:spLocks noChangeArrowheads="1"/>
          </p:cNvSpPr>
          <p:nvPr/>
        </p:nvSpPr>
        <p:spPr bwMode="auto">
          <a:xfrm>
            <a:off x="1725614" y="5278959"/>
            <a:ext cx="184731" cy="384721"/>
          </a:xfrm>
          <a:prstGeom prst="curvedRightArrow">
            <a:avLst>
              <a:gd name="adj1" fmla="val 56619"/>
              <a:gd name="adj2" fmla="val 113237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0748" name="Line 27"/>
          <p:cNvSpPr>
            <a:spLocks noChangeShapeType="1"/>
          </p:cNvSpPr>
          <p:nvPr/>
        </p:nvSpPr>
        <p:spPr bwMode="auto">
          <a:xfrm>
            <a:off x="6705600" y="2438400"/>
            <a:ext cx="5270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0749" name="Line 28"/>
          <p:cNvSpPr>
            <a:spLocks noChangeShapeType="1"/>
          </p:cNvSpPr>
          <p:nvPr/>
        </p:nvSpPr>
        <p:spPr bwMode="auto">
          <a:xfrm flipH="1">
            <a:off x="4191000" y="4648200"/>
            <a:ext cx="381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0750" name="Text Box 29"/>
          <p:cNvSpPr txBox="1">
            <a:spLocks noChangeArrowheads="1"/>
          </p:cNvSpPr>
          <p:nvPr/>
        </p:nvSpPr>
        <p:spPr bwMode="auto">
          <a:xfrm>
            <a:off x="9501186" y="5510123"/>
            <a:ext cx="24384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600" b="1" dirty="0">
                <a:solidFill>
                  <a:schemeClr val="hlink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最小上界=2</a:t>
            </a:r>
          </a:p>
          <a:p>
            <a:pPr eaLnBrk="1" hangingPunct="1">
              <a:spcBef>
                <a:spcPct val="50000"/>
              </a:spcBef>
            </a:pPr>
            <a:r>
              <a:rPr lang="en-US" sz="1600" b="1" dirty="0">
                <a:solidFill>
                  <a:schemeClr val="hlink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约束条件： </a:t>
            </a:r>
          </a:p>
          <a:p>
            <a:pPr eaLnBrk="1" hangingPunct="1">
              <a:spcBef>
                <a:spcPct val="50000"/>
              </a:spcBef>
            </a:pPr>
            <a:r>
              <a:rPr lang="en-US" sz="1600" b="1" dirty="0">
                <a:solidFill>
                  <a:schemeClr val="hlink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Sum{</a:t>
            </a:r>
            <a:r>
              <a:rPr lang="en-US" sz="1600" b="1" dirty="0" err="1">
                <a:solidFill>
                  <a:schemeClr val="hlink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S.price</a:t>
            </a:r>
            <a:r>
              <a:rPr lang="en-US" sz="1600" b="1" dirty="0">
                <a:solidFill>
                  <a:schemeClr val="hlink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} &lt;=5</a:t>
            </a:r>
          </a:p>
        </p:txBody>
      </p:sp>
      <p:grpSp>
        <p:nvGrpSpPr>
          <p:cNvPr id="30751" name="Group 30"/>
          <p:cNvGrpSpPr>
            <a:grpSpLocks/>
          </p:cNvGrpSpPr>
          <p:nvPr/>
        </p:nvGrpSpPr>
        <p:grpSpPr bwMode="auto">
          <a:xfrm>
            <a:off x="7620000" y="2971800"/>
            <a:ext cx="1524000" cy="152400"/>
            <a:chOff x="2160" y="2016"/>
            <a:chExt cx="960" cy="96"/>
          </a:xfrm>
        </p:grpSpPr>
        <p:sp>
          <p:nvSpPr>
            <p:cNvPr id="30788" name="Line 31"/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30789" name="Line 32"/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</p:grpSp>
      <p:grpSp>
        <p:nvGrpSpPr>
          <p:cNvPr id="30752" name="Group 33"/>
          <p:cNvGrpSpPr>
            <a:grpSpLocks/>
          </p:cNvGrpSpPr>
          <p:nvPr/>
        </p:nvGrpSpPr>
        <p:grpSpPr bwMode="auto">
          <a:xfrm>
            <a:off x="2438400" y="4572000"/>
            <a:ext cx="1524000" cy="152400"/>
            <a:chOff x="2160" y="2016"/>
            <a:chExt cx="960" cy="96"/>
          </a:xfrm>
        </p:grpSpPr>
        <p:sp>
          <p:nvSpPr>
            <p:cNvPr id="30786" name="Line 34"/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30787" name="Line 35"/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</p:grpSp>
      <p:grpSp>
        <p:nvGrpSpPr>
          <p:cNvPr id="30753" name="Group 36"/>
          <p:cNvGrpSpPr>
            <a:grpSpLocks/>
          </p:cNvGrpSpPr>
          <p:nvPr/>
        </p:nvGrpSpPr>
        <p:grpSpPr bwMode="auto">
          <a:xfrm>
            <a:off x="2438400" y="4953000"/>
            <a:ext cx="1524000" cy="152400"/>
            <a:chOff x="2160" y="2016"/>
            <a:chExt cx="960" cy="96"/>
          </a:xfrm>
        </p:grpSpPr>
        <p:sp>
          <p:nvSpPr>
            <p:cNvPr id="30784" name="Line 37"/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30785" name="Line 38"/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</p:grpSp>
      <p:grpSp>
        <p:nvGrpSpPr>
          <p:cNvPr id="30754" name="Group 39"/>
          <p:cNvGrpSpPr>
            <a:grpSpLocks/>
          </p:cNvGrpSpPr>
          <p:nvPr/>
        </p:nvGrpSpPr>
        <p:grpSpPr bwMode="auto">
          <a:xfrm>
            <a:off x="2438400" y="5257800"/>
            <a:ext cx="1524000" cy="152400"/>
            <a:chOff x="2160" y="2016"/>
            <a:chExt cx="960" cy="96"/>
          </a:xfrm>
        </p:grpSpPr>
        <p:sp>
          <p:nvSpPr>
            <p:cNvPr id="30782" name="Line 40"/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30783" name="Line 41"/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</p:grpSp>
      <p:grpSp>
        <p:nvGrpSpPr>
          <p:cNvPr id="30755" name="Group 42"/>
          <p:cNvGrpSpPr>
            <a:grpSpLocks/>
          </p:cNvGrpSpPr>
          <p:nvPr/>
        </p:nvGrpSpPr>
        <p:grpSpPr bwMode="auto">
          <a:xfrm>
            <a:off x="6172200" y="6400800"/>
            <a:ext cx="1524000" cy="152400"/>
            <a:chOff x="2160" y="2016"/>
            <a:chExt cx="960" cy="96"/>
          </a:xfrm>
        </p:grpSpPr>
        <p:sp>
          <p:nvSpPr>
            <p:cNvPr id="30780" name="Line 43"/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30781" name="Line 44"/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</p:grpSp>
      <p:grpSp>
        <p:nvGrpSpPr>
          <p:cNvPr id="30756" name="Group 30"/>
          <p:cNvGrpSpPr>
            <a:grpSpLocks/>
          </p:cNvGrpSpPr>
          <p:nvPr/>
        </p:nvGrpSpPr>
        <p:grpSpPr bwMode="auto">
          <a:xfrm>
            <a:off x="8229600" y="4467226"/>
            <a:ext cx="990600" cy="257175"/>
            <a:chOff x="2160" y="2016"/>
            <a:chExt cx="960" cy="96"/>
          </a:xfrm>
        </p:grpSpPr>
        <p:sp>
          <p:nvSpPr>
            <p:cNvPr id="30778" name="Line 31"/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30779" name="Line 32"/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</p:grpSp>
      <p:grpSp>
        <p:nvGrpSpPr>
          <p:cNvPr id="30757" name="Group 30"/>
          <p:cNvGrpSpPr>
            <a:grpSpLocks/>
          </p:cNvGrpSpPr>
          <p:nvPr/>
        </p:nvGrpSpPr>
        <p:grpSpPr bwMode="auto">
          <a:xfrm>
            <a:off x="8181975" y="5105401"/>
            <a:ext cx="990600" cy="257175"/>
            <a:chOff x="2160" y="2016"/>
            <a:chExt cx="960" cy="96"/>
          </a:xfrm>
        </p:grpSpPr>
        <p:sp>
          <p:nvSpPr>
            <p:cNvPr id="30776" name="Line 31"/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30777" name="Line 32"/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</p:grpSp>
      <p:grpSp>
        <p:nvGrpSpPr>
          <p:cNvPr id="30758" name="Group 30"/>
          <p:cNvGrpSpPr>
            <a:grpSpLocks/>
          </p:cNvGrpSpPr>
          <p:nvPr/>
        </p:nvGrpSpPr>
        <p:grpSpPr bwMode="auto">
          <a:xfrm>
            <a:off x="8277225" y="5410201"/>
            <a:ext cx="990600" cy="257175"/>
            <a:chOff x="2160" y="2016"/>
            <a:chExt cx="960" cy="96"/>
          </a:xfrm>
        </p:grpSpPr>
        <p:sp>
          <p:nvSpPr>
            <p:cNvPr id="30774" name="Line 31"/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30775" name="Line 32"/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</p:grpSp>
      <p:grpSp>
        <p:nvGrpSpPr>
          <p:cNvPr id="30759" name="Group 33"/>
          <p:cNvGrpSpPr>
            <a:grpSpLocks/>
          </p:cNvGrpSpPr>
          <p:nvPr/>
        </p:nvGrpSpPr>
        <p:grpSpPr bwMode="auto">
          <a:xfrm>
            <a:off x="4792663" y="4519613"/>
            <a:ext cx="1524000" cy="152400"/>
            <a:chOff x="2160" y="2016"/>
            <a:chExt cx="960" cy="96"/>
          </a:xfrm>
        </p:grpSpPr>
        <p:sp>
          <p:nvSpPr>
            <p:cNvPr id="30772" name="Line 34"/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30773" name="Line 35"/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</p:grpSp>
      <p:grpSp>
        <p:nvGrpSpPr>
          <p:cNvPr id="30760" name="Group 33"/>
          <p:cNvGrpSpPr>
            <a:grpSpLocks/>
          </p:cNvGrpSpPr>
          <p:nvPr/>
        </p:nvGrpSpPr>
        <p:grpSpPr bwMode="auto">
          <a:xfrm>
            <a:off x="4770438" y="5181600"/>
            <a:ext cx="1524000" cy="152400"/>
            <a:chOff x="2160" y="2016"/>
            <a:chExt cx="960" cy="96"/>
          </a:xfrm>
        </p:grpSpPr>
        <p:sp>
          <p:nvSpPr>
            <p:cNvPr id="30770" name="Line 34"/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30771" name="Line 35"/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</p:grpSp>
      <p:grpSp>
        <p:nvGrpSpPr>
          <p:cNvPr id="30761" name="Group 33"/>
          <p:cNvGrpSpPr>
            <a:grpSpLocks/>
          </p:cNvGrpSpPr>
          <p:nvPr/>
        </p:nvGrpSpPr>
        <p:grpSpPr bwMode="auto">
          <a:xfrm>
            <a:off x="4895850" y="5494338"/>
            <a:ext cx="1524000" cy="152400"/>
            <a:chOff x="2160" y="2016"/>
            <a:chExt cx="960" cy="96"/>
          </a:xfrm>
        </p:grpSpPr>
        <p:sp>
          <p:nvSpPr>
            <p:cNvPr id="30768" name="Line 34"/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30769" name="Line 35"/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</p:grpSp>
      <p:grpSp>
        <p:nvGrpSpPr>
          <p:cNvPr id="30762" name="Group 33"/>
          <p:cNvGrpSpPr>
            <a:grpSpLocks/>
          </p:cNvGrpSpPr>
          <p:nvPr/>
        </p:nvGrpSpPr>
        <p:grpSpPr bwMode="auto">
          <a:xfrm>
            <a:off x="2740025" y="6321426"/>
            <a:ext cx="960438" cy="231775"/>
            <a:chOff x="2160" y="2016"/>
            <a:chExt cx="960" cy="96"/>
          </a:xfrm>
        </p:grpSpPr>
        <p:sp>
          <p:nvSpPr>
            <p:cNvPr id="30766" name="Line 34"/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30767" name="Line 35"/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</p:grpSp>
      <p:grpSp>
        <p:nvGrpSpPr>
          <p:cNvPr id="30763" name="Group 33"/>
          <p:cNvGrpSpPr>
            <a:grpSpLocks/>
          </p:cNvGrpSpPr>
          <p:nvPr/>
        </p:nvGrpSpPr>
        <p:grpSpPr bwMode="auto">
          <a:xfrm>
            <a:off x="4800600" y="4876800"/>
            <a:ext cx="1524000" cy="152400"/>
            <a:chOff x="2160" y="2016"/>
            <a:chExt cx="960" cy="96"/>
          </a:xfrm>
        </p:grpSpPr>
        <p:sp>
          <p:nvSpPr>
            <p:cNvPr id="30764" name="Line 34"/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30765" name="Line 35"/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</p:grpSp>
      <p:graphicFrame>
        <p:nvGraphicFramePr>
          <p:cNvPr id="71" name="Table 70">
            <a:extLst>
              <a:ext uri="{FF2B5EF4-FFF2-40B4-BE49-F238E27FC236}">
                <a16:creationId xmlns:a16="http://schemas.microsoft.com/office/drawing/2014/main" id="{29059600-69F8-44C3-BAD2-F143230153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417852"/>
              </p:ext>
            </p:extLst>
          </p:nvPr>
        </p:nvGraphicFramePr>
        <p:xfrm>
          <a:off x="218788" y="1278827"/>
          <a:ext cx="1413956" cy="2163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69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978">
                  <a:extLst>
                    <a:ext uri="{9D8B030D-6E8A-4147-A177-3AD203B41FA5}">
                      <a16:colId xmlns:a16="http://schemas.microsoft.com/office/drawing/2014/main" val="70790107"/>
                    </a:ext>
                  </a:extLst>
                </a:gridCol>
              </a:tblGrid>
              <a:tr h="335211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项目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价格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5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5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DB6D2A2-8544-4FB2-A816-1296B1BF4F70}"/>
              </a:ext>
            </a:extLst>
          </p:cNvPr>
          <p:cNvCxnSpPr>
            <a:cxnSpLocks/>
          </p:cNvCxnSpPr>
          <p:nvPr/>
        </p:nvCxnSpPr>
        <p:spPr>
          <a:xfrm flipH="1">
            <a:off x="9355138" y="2360687"/>
            <a:ext cx="657226" cy="6111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 Box 29">
            <a:extLst>
              <a:ext uri="{FF2B5EF4-FFF2-40B4-BE49-F238E27FC236}">
                <a16:creationId xmlns:a16="http://schemas.microsoft.com/office/drawing/2014/main" id="{62F01CB9-D687-41BF-A654-5F113ECD0E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88113" y="1786696"/>
            <a:ext cx="168751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800" b="1" dirty="0">
                <a:solidFill>
                  <a:schemeClr val="hlink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可提前切碎</a:t>
            </a:r>
          </a:p>
        </p:txBody>
      </p:sp>
    </p:spTree>
    <p:extLst>
      <p:ext uri="{BB962C8B-B14F-4D97-AF65-F5344CB8AC3E}">
        <p14:creationId xmlns:p14="http://schemas.microsoft.com/office/powerpoint/2010/main" val="22822374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-406400" y="381000"/>
            <a:ext cx="13004800" cy="533400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4000" dirty="0">
                <a:ea typeface="STKaiti" panose="02010600040101010101" pitchFamily="2" charset="-122"/>
              </a:rPr>
              <a:t>可转换约束：事务中数据的排序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2799710" y="1187037"/>
            <a:ext cx="9171573" cy="5255804"/>
          </a:xfrm>
        </p:spPr>
        <p:txBody>
          <a:bodyPr/>
          <a:lstStyle/>
          <a:p>
            <a:pPr eaLnBrk="1" hangingPunct="1">
              <a:buFont typeface="Wingdings" charset="0"/>
              <a:buChar char="n"/>
              <a:defRPr/>
            </a:pPr>
            <a:r>
              <a:rPr lang="en-US" sz="2400" dirty="0">
                <a:ea typeface="STKaiti" panose="02010600040101010101" pitchFamily="2" charset="-122"/>
              </a:rPr>
              <a:t>通过在事务中对项目进行适当排序，将严格约束转换为（反）单调约束</a:t>
            </a:r>
          </a:p>
          <a:p>
            <a:pPr marL="0" indent="0" eaLnBrk="1" hangingPunct="1">
              <a:buNone/>
              <a:defRPr/>
            </a:pPr>
            <a:endParaRPr lang="en-US" sz="2400" dirty="0">
              <a:ea typeface="STKaiti" panose="02010600040101010101" pitchFamily="2" charset="-122"/>
            </a:endParaRPr>
          </a:p>
          <a:p>
            <a:pPr eaLnBrk="1" hangingPunct="1">
              <a:buFont typeface="Wingdings" charset="0"/>
              <a:buChar char="n"/>
              <a:defRPr/>
            </a:pPr>
            <a:r>
              <a:rPr lang="en-US" sz="2400" dirty="0">
                <a:ea typeface="STKaiti" panose="02010600040101010101" pitchFamily="2" charset="-122"/>
              </a:rPr>
              <a:t>检查条件</a:t>
            </a:r>
            <a:r>
              <a:rPr lang="en-US" sz="2400" baseline="-25000" dirty="0">
                <a:ea typeface="STKaiti" panose="02010600040101010101" pitchFamily="2" charset="-122"/>
              </a:rPr>
              <a:t>1</a:t>
            </a:r>
            <a:r>
              <a:rPr lang="en-US" sz="2400" dirty="0">
                <a:ea typeface="STKaiti" panose="02010600040101010101" pitchFamily="2" charset="-122"/>
              </a:rPr>
              <a:t> ：</a:t>
            </a:r>
            <a:r>
              <a:rPr lang="en-US" sz="2400" dirty="0" err="1">
                <a:ea typeface="STKaiti" panose="02010600040101010101" pitchFamily="2" charset="-122"/>
              </a:rPr>
              <a:t>avg</a:t>
            </a:r>
            <a:r>
              <a:rPr lang="en-US" sz="2400" dirty="0">
                <a:ea typeface="STKaiti" panose="02010600040101010101" pitchFamily="2" charset="-122"/>
              </a:rPr>
              <a:t>(</a:t>
            </a:r>
            <a:r>
              <a:rPr lang="en-US" sz="2400" i="1" dirty="0" err="1">
                <a:ea typeface="STKaiti" panose="02010600040101010101" pitchFamily="2" charset="-122"/>
              </a:rPr>
              <a:t>S</a:t>
            </a:r>
            <a:r>
              <a:rPr lang="en-US" sz="2400" dirty="0" err="1">
                <a:ea typeface="STKaiti" panose="02010600040101010101" pitchFamily="2" charset="-122"/>
              </a:rPr>
              <a:t>.profit</a:t>
            </a:r>
            <a:r>
              <a:rPr lang="en-US" sz="2400" dirty="0">
                <a:ea typeface="STKaiti" panose="02010600040101010101" pitchFamily="2" charset="-122"/>
              </a:rPr>
              <a:t>) </a:t>
            </a:r>
            <a:r>
              <a:rPr lang="en-US" sz="2400" b="1" dirty="0">
                <a:ea typeface="STKaiti" panose="02010600040101010101" pitchFamily="2" charset="-122"/>
                <a:sym typeface="Symbol" charset="0"/>
              </a:rPr>
              <a:t>&gt;</a:t>
            </a:r>
            <a:r>
              <a:rPr lang="en-US" sz="2400" dirty="0">
                <a:ea typeface="STKaiti" panose="02010600040101010101" pitchFamily="2" charset="-122"/>
              </a:rPr>
              <a:t> 20 </a:t>
            </a:r>
          </a:p>
          <a:p>
            <a:pPr lvl="1" eaLnBrk="1" hangingPunct="1">
              <a:buFont typeface="Wingdings" charset="0"/>
              <a:buChar char="n"/>
              <a:defRPr/>
            </a:pPr>
            <a:r>
              <a:rPr lang="en-US" sz="2400" dirty="0">
                <a:ea typeface="STKaiti" panose="02010600040101010101" pitchFamily="2" charset="-122"/>
              </a:rPr>
              <a:t>按(profit)值降序排列项目</a:t>
            </a:r>
          </a:p>
          <a:p>
            <a:pPr lvl="2" eaLnBrk="1" hangingPunct="1">
              <a:buFont typeface="Wingdings" charset="0"/>
              <a:buChar char="n"/>
              <a:defRPr/>
            </a:pPr>
            <a:r>
              <a:rPr lang="en-US" sz="2400" dirty="0">
                <a:ea typeface="STKaiti" panose="02010600040101010101" pitchFamily="2" charset="-122"/>
              </a:rPr>
              <a:t>&lt;</a:t>
            </a:r>
            <a:r>
              <a:rPr lang="en-US" sz="2400" i="1" dirty="0">
                <a:ea typeface="STKaiti" panose="02010600040101010101" pitchFamily="2" charset="-122"/>
              </a:rPr>
              <a:t>a, g, h, b, f, d, c, </a:t>
            </a:r>
            <a:r>
              <a:rPr lang="en-US" sz="2400" dirty="0">
                <a:ea typeface="STKaiti" panose="02010600040101010101" pitchFamily="2" charset="-122"/>
              </a:rPr>
              <a:t>e&gt;</a:t>
            </a:r>
          </a:p>
          <a:p>
            <a:pPr lvl="1" eaLnBrk="1" hangingPunct="1">
              <a:buFont typeface="Wingdings" charset="0"/>
              <a:buChar char="n"/>
              <a:defRPr/>
            </a:pPr>
            <a:r>
              <a:rPr lang="en-US" sz="2400" dirty="0" err="1">
                <a:ea typeface="STKaiti" panose="02010600040101010101" pitchFamily="2" charset="-122"/>
              </a:rPr>
              <a:t>项集 </a:t>
            </a:r>
            <a:r>
              <a:rPr lang="en-US" sz="2400" i="1" dirty="0">
                <a:ea typeface="STKaiti" panose="02010600040101010101" pitchFamily="2" charset="-122"/>
              </a:rPr>
              <a:t>ab</a:t>
            </a:r>
            <a:r>
              <a:rPr lang="en-US" sz="2400" dirty="0">
                <a:ea typeface="STKaiti" panose="02010600040101010101" pitchFamily="2" charset="-122"/>
              </a:rPr>
              <a:t> 违反约束 c</a:t>
            </a:r>
            <a:r>
              <a:rPr lang="en-US" sz="2400" baseline="-25000" dirty="0">
                <a:ea typeface="STKaiti" panose="02010600040101010101" pitchFamily="2" charset="-122"/>
              </a:rPr>
              <a:t>1</a:t>
            </a:r>
            <a:r>
              <a:rPr lang="en-US" sz="2400" dirty="0">
                <a:ea typeface="STKaiti" panose="02010600040101010101" pitchFamily="2" charset="-122"/>
              </a:rPr>
              <a:t> （</a:t>
            </a:r>
            <a:r>
              <a:rPr lang="en-US" sz="2400" dirty="0" err="1">
                <a:ea typeface="STKaiti" panose="02010600040101010101" pitchFamily="2" charset="-122"/>
              </a:rPr>
              <a:t>avg</a:t>
            </a:r>
            <a:r>
              <a:rPr lang="en-US" sz="2400" dirty="0">
                <a:ea typeface="STKaiti" panose="02010600040101010101" pitchFamily="2" charset="-122"/>
              </a:rPr>
              <a:t>(ab) = 20）</a:t>
            </a:r>
            <a:endParaRPr lang="en-US" sz="2400" dirty="0">
              <a:ea typeface="STKaiti" panose="02010600040101010101" pitchFamily="2" charset="-122"/>
              <a:sym typeface="Wingdings" charset="0"/>
            </a:endParaRPr>
          </a:p>
          <a:p>
            <a:pPr lvl="2" eaLnBrk="1" hangingPunct="1">
              <a:buFont typeface="Wingdings" charset="0"/>
              <a:buChar char="n"/>
              <a:defRPr/>
            </a:pPr>
            <a:r>
              <a:rPr lang="en-US" sz="2400" dirty="0">
                <a:ea typeface="STKaiti" panose="02010600040101010101" pitchFamily="2" charset="-122"/>
              </a:rPr>
              <a:t>同样，</a:t>
            </a:r>
            <a:r>
              <a:rPr lang="en-US" sz="2400" i="1" dirty="0">
                <a:ea typeface="STKaiti" panose="02010600040101010101" pitchFamily="2" charset="-122"/>
              </a:rPr>
              <a:t>ab*</a:t>
            </a:r>
            <a:r>
              <a:rPr lang="en-US" sz="2400" dirty="0">
                <a:ea typeface="STKaiti" panose="02010600040101010101" pitchFamily="2" charset="-122"/>
              </a:rPr>
              <a:t>（即 ab </a:t>
            </a:r>
            <a:r>
              <a:rPr lang="en-US" sz="2400" i="1" dirty="0">
                <a:ea typeface="STKaiti" panose="02010600040101010101" pitchFamily="2" charset="-122"/>
              </a:rPr>
              <a:t>的投影数据库）</a:t>
            </a:r>
            <a:r>
              <a:rPr lang="en-US" sz="2400" dirty="0">
                <a:ea typeface="STKaiti" panose="02010600040101010101" pitchFamily="2" charset="-122"/>
              </a:rPr>
              <a:t>也违反条件</a:t>
            </a:r>
          </a:p>
          <a:p>
            <a:pPr lvl="2" eaLnBrk="1" hangingPunct="1">
              <a:buFont typeface="Wingdings" charset="0"/>
              <a:buChar char="n"/>
              <a:defRPr/>
            </a:pPr>
            <a:r>
              <a:rPr lang="en-US" sz="2400" dirty="0">
                <a:ea typeface="STKaiti" panose="02010600040101010101" pitchFamily="2" charset="-122"/>
              </a:rPr>
              <a:t>C</a:t>
            </a:r>
            <a:r>
              <a:rPr lang="en-US" sz="2400" baseline="-25000" dirty="0">
                <a:ea typeface="STKaiti" panose="02010600040101010101" pitchFamily="2" charset="-122"/>
              </a:rPr>
              <a:t>1</a:t>
            </a:r>
            <a:r>
              <a:rPr lang="en-US" sz="2400" dirty="0">
                <a:ea typeface="STKaiti" panose="02010600040101010101" pitchFamily="2" charset="-122"/>
              </a:rPr>
              <a:t> ：</a:t>
            </a:r>
            <a:r>
              <a:rPr lang="en-US" sz="2400" dirty="0">
                <a:solidFill>
                  <a:srgbClr val="FF0000"/>
                </a:solidFill>
                <a:ea typeface="STKaiti" panose="02010600040101010101" pitchFamily="2" charset="-122"/>
              </a:rPr>
              <a:t>反单调，若模式以正确顺序增长！</a:t>
            </a:r>
          </a:p>
        </p:txBody>
      </p:sp>
      <p:sp>
        <p:nvSpPr>
          <p:cNvPr id="8" name="Text Box 24">
            <a:extLst>
              <a:ext uri="{FF2B5EF4-FFF2-40B4-BE49-F238E27FC236}">
                <a16:creationId xmlns:a16="http://schemas.microsoft.com/office/drawing/2014/main" id="{6284A1F0-07F0-46BC-8F7D-213731217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319" y="3096616"/>
            <a:ext cx="1430779" cy="3683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min_sup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= 2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FB037F6-39C6-4F33-887C-96CB0576E9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525840"/>
              </p:ext>
            </p:extLst>
          </p:nvPr>
        </p:nvGraphicFramePr>
        <p:xfrm>
          <a:off x="396730" y="1187037"/>
          <a:ext cx="2428484" cy="191332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66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2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32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TID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事务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a, b, c, d, f, h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a, b, c, d, f, g, h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b, c, d, f, g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a, c, e, f, g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33D25CF-02B2-4D43-8B53-3C02105E18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55359"/>
              </p:ext>
            </p:extLst>
          </p:nvPr>
        </p:nvGraphicFramePr>
        <p:xfrm>
          <a:off x="506319" y="3464916"/>
          <a:ext cx="2209307" cy="3260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69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978">
                  <a:extLst>
                    <a:ext uri="{9D8B030D-6E8A-4147-A177-3AD203B41FA5}">
                      <a16:colId xmlns:a16="http://schemas.microsoft.com/office/drawing/2014/main" val="70790107"/>
                    </a:ext>
                  </a:extLst>
                </a:gridCol>
                <a:gridCol w="795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11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项目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价格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利润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a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100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40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b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40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0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c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150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−20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d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35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−15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e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55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−30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f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45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−5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g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80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30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h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10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5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4407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4C725-FFEC-4E7D-B726-D1C234CCB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36" y="210659"/>
            <a:ext cx="11369963" cy="738909"/>
          </a:xfrm>
        </p:spPr>
        <p:txBody>
          <a:bodyPr/>
          <a:lstStyle/>
          <a:p>
            <a:r>
              <a:rPr lang="en-US" dirty="0" err="1">
                <a:ea typeface="STKaiti" panose="02010600040101010101" pitchFamily="2" charset="-122"/>
              </a:rPr>
              <a:t>Apriori</a:t>
            </a:r>
            <a:r>
              <a:rPr lang="en-US" dirty="0">
                <a:ea typeface="STKaiti" panose="02010600040101010101" pitchFamily="2" charset="-122"/>
              </a:rPr>
              <a:t> 算法是否支持项目重新排序？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478AF-F25F-4801-A39D-D43BEE066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0090" y="4396527"/>
            <a:ext cx="8770851" cy="2196455"/>
          </a:xfrm>
        </p:spPr>
        <p:txBody>
          <a:bodyPr/>
          <a:lstStyle/>
          <a:p>
            <a:pPr>
              <a:buFont typeface="Wingdings" charset="0"/>
              <a:buChar char="n"/>
              <a:defRPr/>
            </a:pPr>
            <a:r>
              <a:rPr lang="en-US" sz="2400" dirty="0">
                <a:ea typeface="STKaiti" panose="02010600040101010101" pitchFamily="2" charset="-122"/>
              </a:rPr>
              <a:t>avg(gf) = 12.5 &lt; 20, avg(af) = 17.5 &lt; 20, avg(ag) = 35 &gt; 20</a:t>
            </a:r>
          </a:p>
          <a:p>
            <a:pPr>
              <a:buFont typeface="Wingdings" charset="0"/>
              <a:buChar char="n"/>
              <a:defRPr/>
            </a:pPr>
            <a:r>
              <a:rPr lang="en-US" sz="2400" dirty="0">
                <a:ea typeface="STKaiti" panose="02010600040101010101" pitchFamily="2" charset="-122"/>
              </a:rPr>
              <a:t>But avg(agf) = 21.7 &gt; 20 </a:t>
            </a:r>
          </a:p>
          <a:p>
            <a:pPr>
              <a:buFont typeface="Wingdings" charset="0"/>
              <a:buChar char="n"/>
              <a:defRPr/>
            </a:pPr>
            <a:r>
              <a:rPr lang="en-US" sz="2400" dirty="0" err="1">
                <a:ea typeface="STKaiti" panose="02010600040101010101" pitchFamily="2" charset="-122"/>
              </a:rPr>
              <a:t>Apriori</a:t>
            </a:r>
            <a:r>
              <a:rPr lang="en-US" sz="2400" dirty="0">
                <a:ea typeface="STKaiti" panose="02010600040101010101" pitchFamily="2" charset="-122"/>
              </a:rPr>
              <a:t>不会生成“agf”作为候选项</a:t>
            </a:r>
          </a:p>
          <a:p>
            <a:endParaRPr lang="en-US" sz="2400" dirty="0">
              <a:ea typeface="STKaiti" panose="02010600040101010101" pitchFamily="2" charset="-122"/>
            </a:endParaRPr>
          </a:p>
        </p:txBody>
      </p:sp>
      <p:sp>
        <p:nvSpPr>
          <p:cNvPr id="4" name="Text Box 24">
            <a:extLst>
              <a:ext uri="{FF2B5EF4-FFF2-40B4-BE49-F238E27FC236}">
                <a16:creationId xmlns:a16="http://schemas.microsoft.com/office/drawing/2014/main" id="{E52F0700-5B49-4121-957D-D3994442BB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370" y="3085599"/>
            <a:ext cx="1430779" cy="3683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min_sup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= 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5D319FA-05BA-4C64-B4D0-1F53C16A22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647683"/>
              </p:ext>
            </p:extLst>
          </p:nvPr>
        </p:nvGraphicFramePr>
        <p:xfrm>
          <a:off x="513020" y="1155633"/>
          <a:ext cx="2455432" cy="185236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610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4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3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TID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交易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a, b, c, d, f, h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a, b, c, d, f, g, h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b, c, d, f, g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a, c, e, f, g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C8DA71A-F717-4775-B9F6-72A39DF8F4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459364"/>
              </p:ext>
            </p:extLst>
          </p:nvPr>
        </p:nvGraphicFramePr>
        <p:xfrm>
          <a:off x="539370" y="3453899"/>
          <a:ext cx="2209307" cy="3260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69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978">
                  <a:extLst>
                    <a:ext uri="{9D8B030D-6E8A-4147-A177-3AD203B41FA5}">
                      <a16:colId xmlns:a16="http://schemas.microsoft.com/office/drawing/2014/main" val="70790107"/>
                    </a:ext>
                  </a:extLst>
                </a:gridCol>
                <a:gridCol w="795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11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项目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价格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利润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a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100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40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b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40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0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c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150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−20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d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35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−15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e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55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−30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f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45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−5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g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80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30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h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10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5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B799919D-A889-46EB-9C5E-D3612C5042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9308140"/>
              </p:ext>
            </p:extLst>
          </p:nvPr>
        </p:nvGraphicFramePr>
        <p:xfrm>
          <a:off x="4314539" y="1858217"/>
          <a:ext cx="1909762" cy="196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695447" imgH="2114660" progId="Excel.Sheet.8">
                  <p:embed/>
                </p:oleObj>
              </mc:Choice>
              <mc:Fallback>
                <p:oleObj name="Worksheet" r:id="rId2" imgW="1695447" imgH="2114660" progId="Excel.Sheet.8">
                  <p:embed/>
                  <p:pic>
                    <p:nvPicPr>
                      <p:cNvPr id="3072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4539" y="1858217"/>
                        <a:ext cx="1909762" cy="196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3" name="Group 72">
            <a:extLst>
              <a:ext uri="{FF2B5EF4-FFF2-40B4-BE49-F238E27FC236}">
                <a16:creationId xmlns:a16="http://schemas.microsoft.com/office/drawing/2014/main" id="{C04EB109-79C8-475A-88A5-EB2A87ECA44B}"/>
              </a:ext>
            </a:extLst>
          </p:cNvPr>
          <p:cNvGrpSpPr/>
          <p:nvPr/>
        </p:nvGrpSpPr>
        <p:grpSpPr>
          <a:xfrm>
            <a:off x="2870333" y="2330103"/>
            <a:ext cx="1114408" cy="461665"/>
            <a:chOff x="4736674" y="3085715"/>
            <a:chExt cx="1114408" cy="461665"/>
          </a:xfrm>
        </p:grpSpPr>
        <p:sp>
          <p:nvSpPr>
            <p:cNvPr id="11" name="Text Box 7">
              <a:extLst>
                <a:ext uri="{FF2B5EF4-FFF2-40B4-BE49-F238E27FC236}">
                  <a16:creationId xmlns:a16="http://schemas.microsoft.com/office/drawing/2014/main" id="{096532EB-EBDF-4B49-84C4-76D9D7B23B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6674" y="3085715"/>
              <a:ext cx="111440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/>
              <a:r>
                <a:rPr lang="en-US" dirty="0">
                  <a:latin typeface="STKaiti" panose="02010600040101010101" pitchFamily="2" charset="-122"/>
                  <a:ea typeface="STKaiti" panose="02010600040101010101" pitchFamily="2" charset="-122"/>
                </a:rPr>
                <a:t>扫描 D</a:t>
              </a:r>
            </a:p>
          </p:txBody>
        </p:sp>
        <p:sp>
          <p:nvSpPr>
            <p:cNvPr id="12" name="Line 8">
              <a:extLst>
                <a:ext uri="{FF2B5EF4-FFF2-40B4-BE49-F238E27FC236}">
                  <a16:creationId xmlns:a16="http://schemas.microsoft.com/office/drawing/2014/main" id="{C92CF549-ACCF-442C-84DA-C2790C6250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5209" y="3532188"/>
              <a:ext cx="8318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</p:grpSp>
      <p:sp>
        <p:nvSpPr>
          <p:cNvPr id="13" name="Text Box 9">
            <a:extLst>
              <a:ext uri="{FF2B5EF4-FFF2-40B4-BE49-F238E27FC236}">
                <a16:creationId xmlns:a16="http://schemas.microsoft.com/office/drawing/2014/main" id="{3BD2A826-3D94-476B-A41D-5558E2F2A4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7514" y="1761581"/>
            <a:ext cx="4748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altLang="zh-CN" i="1" dirty="0">
                <a:latin typeface="STKaiti" panose="02010600040101010101" pitchFamily="2" charset="-122"/>
                <a:ea typeface="STKaiti" panose="02010600040101010101" pitchFamily="2" charset="-122"/>
              </a:rPr>
              <a:t>F</a:t>
            </a:r>
            <a:r>
              <a:rPr lang="en-US" i="1" baseline="-25000" dirty="0">
                <a:latin typeface="STKaiti" panose="02010600040101010101" pitchFamily="2" charset="-122"/>
                <a:ea typeface="STKaiti" panose="02010600040101010101" pitchFamily="2" charset="-122"/>
              </a:rPr>
              <a:t>1</a:t>
            </a:r>
          </a:p>
        </p:txBody>
      </p:sp>
      <p:sp>
        <p:nvSpPr>
          <p:cNvPr id="14" name="Text Box 10">
            <a:extLst>
              <a:ext uri="{FF2B5EF4-FFF2-40B4-BE49-F238E27FC236}">
                <a16:creationId xmlns:a16="http://schemas.microsoft.com/office/drawing/2014/main" id="{56E6E172-2D78-4AFC-AA49-85E38E519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7592" y="1782970"/>
            <a:ext cx="4748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i="1" dirty="0">
                <a:latin typeface="STKaiti" panose="02010600040101010101" pitchFamily="2" charset="-122"/>
                <a:ea typeface="STKaiti" panose="02010600040101010101" pitchFamily="2" charset="-122"/>
              </a:rPr>
              <a:t>F</a:t>
            </a:r>
            <a:r>
              <a:rPr lang="en-US" i="1" baseline="-25000" dirty="0">
                <a:latin typeface="STKaiti" panose="02010600040101010101" pitchFamily="2" charset="-122"/>
                <a:ea typeface="STKaiti" panose="02010600040101010101" pitchFamily="2" charset="-122"/>
              </a:rPr>
              <a:t>2</a:t>
            </a:r>
          </a:p>
        </p:txBody>
      </p:sp>
      <p:sp>
        <p:nvSpPr>
          <p:cNvPr id="31" name="Line 27">
            <a:extLst>
              <a:ext uri="{FF2B5EF4-FFF2-40B4-BE49-F238E27FC236}">
                <a16:creationId xmlns:a16="http://schemas.microsoft.com/office/drawing/2014/main" id="{4D21FFDD-3119-4160-9E22-781B875854DF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4301" y="2799922"/>
            <a:ext cx="5270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06EB2E5-630E-445B-AE4F-567EE9512890}"/>
              </a:ext>
            </a:extLst>
          </p:cNvPr>
          <p:cNvCxnSpPr>
            <a:cxnSpLocks/>
          </p:cNvCxnSpPr>
          <p:nvPr/>
        </p:nvCxnSpPr>
        <p:spPr>
          <a:xfrm flipH="1" flipV="1">
            <a:off x="8945279" y="2666456"/>
            <a:ext cx="712370" cy="2774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4" name="Object 5">
            <a:extLst>
              <a:ext uri="{FF2B5EF4-FFF2-40B4-BE49-F238E27FC236}">
                <a16:creationId xmlns:a16="http://schemas.microsoft.com/office/drawing/2014/main" id="{C387B2D1-CE14-4E6A-AD46-2247947BB5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7279831"/>
              </p:ext>
            </p:extLst>
          </p:nvPr>
        </p:nvGraphicFramePr>
        <p:xfrm>
          <a:off x="6986094" y="1851073"/>
          <a:ext cx="1909762" cy="196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695447" imgH="2114660" progId="Excel.Sheet.8">
                  <p:embed/>
                </p:oleObj>
              </mc:Choice>
              <mc:Fallback>
                <p:oleObj name="Worksheet" r:id="rId4" imgW="1695447" imgH="2114660" progId="Excel.Sheet.8">
                  <p:embed/>
                  <p:pic>
                    <p:nvPicPr>
                      <p:cNvPr id="9" name="Object 5">
                        <a:extLst>
                          <a:ext uri="{FF2B5EF4-FFF2-40B4-BE49-F238E27FC236}">
                            <a16:creationId xmlns:a16="http://schemas.microsoft.com/office/drawing/2014/main" id="{B799919D-A889-46EB-9C5E-D3612C5042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6094" y="1851073"/>
                        <a:ext cx="1909762" cy="196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Group 30">
            <a:extLst>
              <a:ext uri="{FF2B5EF4-FFF2-40B4-BE49-F238E27FC236}">
                <a16:creationId xmlns:a16="http://schemas.microsoft.com/office/drawing/2014/main" id="{90353636-74BE-4D30-BA85-514CDC2CB869}"/>
              </a:ext>
            </a:extLst>
          </p:cNvPr>
          <p:cNvGrpSpPr>
            <a:grpSpLocks/>
          </p:cNvGrpSpPr>
          <p:nvPr/>
        </p:nvGrpSpPr>
        <p:grpSpPr bwMode="auto">
          <a:xfrm>
            <a:off x="7274242" y="2611486"/>
            <a:ext cx="1524000" cy="152400"/>
            <a:chOff x="2160" y="2016"/>
            <a:chExt cx="960" cy="96"/>
          </a:xfrm>
        </p:grpSpPr>
        <p:sp>
          <p:nvSpPr>
            <p:cNvPr id="34" name="Line 31">
              <a:extLst>
                <a:ext uri="{FF2B5EF4-FFF2-40B4-BE49-F238E27FC236}">
                  <a16:creationId xmlns:a16="http://schemas.microsoft.com/office/drawing/2014/main" id="{424C771C-1EE2-4070-9587-667A3D1F90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35" name="Line 32">
              <a:extLst>
                <a:ext uri="{FF2B5EF4-FFF2-40B4-BE49-F238E27FC236}">
                  <a16:creationId xmlns:a16="http://schemas.microsoft.com/office/drawing/2014/main" id="{2C2C0827-0BFD-4594-9584-FA57D19052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</p:grpSp>
      <p:grpSp>
        <p:nvGrpSpPr>
          <p:cNvPr id="75" name="Group 30">
            <a:extLst>
              <a:ext uri="{FF2B5EF4-FFF2-40B4-BE49-F238E27FC236}">
                <a16:creationId xmlns:a16="http://schemas.microsoft.com/office/drawing/2014/main" id="{01AE6B22-87AA-48AD-BA86-A77B91D95247}"/>
              </a:ext>
            </a:extLst>
          </p:cNvPr>
          <p:cNvGrpSpPr>
            <a:grpSpLocks/>
          </p:cNvGrpSpPr>
          <p:nvPr/>
        </p:nvGrpSpPr>
        <p:grpSpPr bwMode="auto">
          <a:xfrm>
            <a:off x="7311829" y="2262686"/>
            <a:ext cx="1524000" cy="152400"/>
            <a:chOff x="2160" y="2016"/>
            <a:chExt cx="960" cy="96"/>
          </a:xfrm>
        </p:grpSpPr>
        <p:sp>
          <p:nvSpPr>
            <p:cNvPr id="76" name="Line 31">
              <a:extLst>
                <a:ext uri="{FF2B5EF4-FFF2-40B4-BE49-F238E27FC236}">
                  <a16:creationId xmlns:a16="http://schemas.microsoft.com/office/drawing/2014/main" id="{7B665A27-F641-4827-84B9-0865D7F81C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77" name="Line 32">
              <a:extLst>
                <a:ext uri="{FF2B5EF4-FFF2-40B4-BE49-F238E27FC236}">
                  <a16:creationId xmlns:a16="http://schemas.microsoft.com/office/drawing/2014/main" id="{7E887FC3-A0F3-4930-9DDB-C15A245653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</p:grpSp>
      <p:grpSp>
        <p:nvGrpSpPr>
          <p:cNvPr id="78" name="Group 30">
            <a:extLst>
              <a:ext uri="{FF2B5EF4-FFF2-40B4-BE49-F238E27FC236}">
                <a16:creationId xmlns:a16="http://schemas.microsoft.com/office/drawing/2014/main" id="{74EA436D-1C23-4976-B93B-FFA939EE45F9}"/>
              </a:ext>
            </a:extLst>
          </p:cNvPr>
          <p:cNvGrpSpPr>
            <a:grpSpLocks/>
          </p:cNvGrpSpPr>
          <p:nvPr/>
        </p:nvGrpSpPr>
        <p:grpSpPr bwMode="auto">
          <a:xfrm>
            <a:off x="7274242" y="3273473"/>
            <a:ext cx="1524000" cy="152400"/>
            <a:chOff x="2160" y="2016"/>
            <a:chExt cx="960" cy="96"/>
          </a:xfrm>
        </p:grpSpPr>
        <p:sp>
          <p:nvSpPr>
            <p:cNvPr id="79" name="Line 31">
              <a:extLst>
                <a:ext uri="{FF2B5EF4-FFF2-40B4-BE49-F238E27FC236}">
                  <a16:creationId xmlns:a16="http://schemas.microsoft.com/office/drawing/2014/main" id="{83B4ADAC-B4C7-4AE6-9856-32BC7E5B1B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80" name="Line 32">
              <a:extLst>
                <a:ext uri="{FF2B5EF4-FFF2-40B4-BE49-F238E27FC236}">
                  <a16:creationId xmlns:a16="http://schemas.microsoft.com/office/drawing/2014/main" id="{79425960-D24C-4999-B7E4-D99F7DE82B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</p:grp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AEC05453-68DE-409E-827F-BDACA41AA8F5}"/>
              </a:ext>
            </a:extLst>
          </p:cNvPr>
          <p:cNvCxnSpPr>
            <a:cxnSpLocks/>
          </p:cNvCxnSpPr>
          <p:nvPr/>
        </p:nvCxnSpPr>
        <p:spPr>
          <a:xfrm flipH="1" flipV="1">
            <a:off x="8895857" y="2319228"/>
            <a:ext cx="761792" cy="62462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29">
            <a:extLst>
              <a:ext uri="{FF2B5EF4-FFF2-40B4-BE49-F238E27FC236}">
                <a16:creationId xmlns:a16="http://schemas.microsoft.com/office/drawing/2014/main" id="{0BB0274D-2C7C-49C5-9B77-57DB74D56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40567" y="2890576"/>
            <a:ext cx="168751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800" b="1" dirty="0">
                <a:solidFill>
                  <a:schemeClr val="hlink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切得太早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4CD99F7-ED49-4CCC-BEE4-092835538F2D}"/>
              </a:ext>
            </a:extLst>
          </p:cNvPr>
          <p:cNvSpPr/>
          <p:nvPr/>
        </p:nvSpPr>
        <p:spPr>
          <a:xfrm>
            <a:off x="4575342" y="1276059"/>
            <a:ext cx="29995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b="1" dirty="0">
                <a:solidFill>
                  <a:schemeClr val="hlink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约束条件：平均</a:t>
            </a:r>
            <a:r>
              <a:rPr lang="en-US" sz="1800" b="1" dirty="0" err="1">
                <a:solidFill>
                  <a:schemeClr val="hlink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利润</a:t>
            </a:r>
            <a:r>
              <a:rPr lang="en-US" sz="1800" b="1" dirty="0">
                <a:solidFill>
                  <a:schemeClr val="hlink"/>
                </a:solidFill>
                <a:latin typeface="STKaiti" panose="02010600040101010101" pitchFamily="2" charset="-122"/>
                <a:ea typeface="STKaiti" panose="02010600040101010101" pitchFamily="2" charset="-122"/>
                <a:sym typeface="Symbol" charset="0"/>
              </a:rPr>
              <a:t>大于</a:t>
            </a:r>
            <a:r>
              <a:rPr lang="en-US" sz="1800" b="1" dirty="0">
                <a:solidFill>
                  <a:schemeClr val="hlink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20 </a:t>
            </a:r>
          </a:p>
        </p:txBody>
      </p:sp>
    </p:spTree>
    <p:extLst>
      <p:ext uri="{BB962C8B-B14F-4D97-AF65-F5344CB8AC3E}">
        <p14:creationId xmlns:p14="http://schemas.microsoft.com/office/powerpoint/2010/main" val="3560577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599089" y="258820"/>
            <a:ext cx="11116441" cy="71437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4000" dirty="0">
                <a:ea typeface="STKaiti" panose="02010600040101010101" pitchFamily="2" charset="-122"/>
                <a:cs typeface="SimSun" charset="0"/>
              </a:rPr>
              <a:t>基于数据反单调性的数据空间剪枝</a:t>
            </a:r>
            <a:endParaRPr lang="en-US" sz="4000" dirty="0">
              <a:ea typeface="STKaiti" panose="02010600040101010101" pitchFamily="2" charset="-122"/>
              <a:cs typeface="SimSun" charset="0"/>
            </a:endParaRPr>
          </a:p>
        </p:txBody>
      </p:sp>
      <p:sp>
        <p:nvSpPr>
          <p:cNvPr id="10244" name="Rectangle 3"/>
          <p:cNvSpPr>
            <a:spLocks noGrp="1" noChangeArrowheads="1"/>
          </p:cNvSpPr>
          <p:nvPr>
            <p:ph idx="1"/>
          </p:nvPr>
        </p:nvSpPr>
        <p:spPr>
          <a:xfrm>
            <a:off x="2799710" y="1165668"/>
            <a:ext cx="8593504" cy="5433512"/>
          </a:xfrm>
        </p:spPr>
        <p:txBody>
          <a:bodyPr/>
          <a:lstStyle/>
          <a:p>
            <a:pPr>
              <a:spcAft>
                <a:spcPts val="300"/>
              </a:spcAft>
              <a:defRPr/>
            </a:pPr>
            <a:r>
              <a:rPr lang="en-US" altLang="zh-CN" sz="2200" dirty="0">
                <a:ea typeface="STKaiti" panose="02010600040101010101" pitchFamily="2" charset="-122"/>
              </a:rPr>
              <a:t>约束 c</a:t>
            </a:r>
            <a:r>
              <a:rPr lang="en-US" altLang="zh-CN" sz="2200" i="1" dirty="0">
                <a:solidFill>
                  <a:srgbClr val="FF0000"/>
                </a:solidFill>
                <a:ea typeface="STKaiti" panose="02010600040101010101" pitchFamily="2" charset="-122"/>
              </a:rPr>
              <a:t> 具有数据反单调性</a:t>
            </a:r>
            <a:r>
              <a:rPr lang="en-US" altLang="zh-CN" sz="2200" dirty="0">
                <a:ea typeface="STKaiti" panose="02010600040101010101" pitchFamily="2" charset="-122"/>
              </a:rPr>
              <a:t>：在挖掘过程中，若数据条目 </a:t>
            </a:r>
            <a:r>
              <a:rPr lang="en-US" altLang="zh-CN" sz="2200" i="1" dirty="0">
                <a:ea typeface="STKaiti" panose="02010600040101010101" pitchFamily="2" charset="-122"/>
              </a:rPr>
              <a:t>t </a:t>
            </a:r>
            <a:r>
              <a:rPr lang="en-US" altLang="zh-CN" sz="2200" dirty="0">
                <a:ea typeface="STKaiti" panose="02010600040101010101" pitchFamily="2" charset="-122"/>
              </a:rPr>
              <a:t>在约束 </a:t>
            </a:r>
            <a:r>
              <a:rPr lang="en-US" altLang="zh-CN" sz="2200" i="1" dirty="0">
                <a:ea typeface="STKaiti" panose="02010600040101010101" pitchFamily="2" charset="-122"/>
              </a:rPr>
              <a:t>c</a:t>
            </a:r>
            <a:r>
              <a:rPr lang="en-US" altLang="zh-CN" sz="2200" dirty="0">
                <a:ea typeface="STKaiti" panose="02010600040101010101" pitchFamily="2" charset="-122"/>
              </a:rPr>
              <a:t> 下无法满足模式 </a:t>
            </a:r>
            <a:r>
              <a:rPr lang="en-US" altLang="zh-CN" sz="2200" i="1" dirty="0">
                <a:ea typeface="STKaiti" panose="02010600040101010101" pitchFamily="2" charset="-122"/>
              </a:rPr>
              <a:t>p</a:t>
            </a:r>
            <a:r>
              <a:rPr lang="en-US" altLang="zh-CN" sz="2200" dirty="0">
                <a:ea typeface="STKaiti" panose="02010600040101010101" pitchFamily="2" charset="-122"/>
              </a:rPr>
              <a:t>，则 </a:t>
            </a:r>
            <a:r>
              <a:rPr lang="en-US" altLang="zh-CN" sz="2200" i="1" dirty="0">
                <a:ea typeface="STKaiti" panose="02010600040101010101" pitchFamily="2" charset="-122"/>
              </a:rPr>
              <a:t>t</a:t>
            </a:r>
            <a:r>
              <a:rPr lang="en-US" altLang="zh-CN" sz="2200" dirty="0">
                <a:ea typeface="STKaiti" panose="02010600040101010101" pitchFamily="2" charset="-122"/>
              </a:rPr>
              <a:t> 亦无法满足 p 的超集</a:t>
            </a:r>
          </a:p>
          <a:p>
            <a:pPr lvl="1">
              <a:spcAft>
                <a:spcPts val="300"/>
              </a:spcAft>
              <a:defRPr/>
            </a:pPr>
            <a:r>
              <a:rPr lang="en-US" altLang="zh-CN" sz="2200" dirty="0">
                <a:ea typeface="STKaiti" panose="02010600040101010101" pitchFamily="2" charset="-122"/>
              </a:rPr>
              <a:t>数据空间剪枝：数据条目 </a:t>
            </a:r>
            <a:r>
              <a:rPr lang="en-US" altLang="zh-CN" sz="2200" i="1" dirty="0">
                <a:ea typeface="STKaiti" panose="02010600040101010101" pitchFamily="2" charset="-122"/>
              </a:rPr>
              <a:t>t</a:t>
            </a:r>
            <a:r>
              <a:rPr lang="en-US" altLang="zh-CN" sz="2200" dirty="0">
                <a:ea typeface="STKaiti" panose="02010600040101010101" pitchFamily="2" charset="-122"/>
              </a:rPr>
              <a:t> 可被剪枝 </a:t>
            </a:r>
          </a:p>
          <a:p>
            <a:pPr>
              <a:spcAft>
                <a:spcPts val="300"/>
              </a:spcAft>
              <a:defRPr/>
            </a:pPr>
            <a:r>
              <a:rPr lang="en-US" altLang="en-US" sz="2200" dirty="0">
                <a:ea typeface="STKaiti" panose="02010600040101010101" pitchFamily="2" charset="-122"/>
              </a:rPr>
              <a:t>例 1： </a:t>
            </a:r>
            <a:r>
              <a:rPr lang="en-US" altLang="en-US" sz="2200" dirty="0" err="1">
                <a:ea typeface="STKaiti" panose="02010600040101010101" pitchFamily="2" charset="-122"/>
              </a:rPr>
              <a:t>约束条件</a:t>
            </a:r>
            <a:r>
              <a:rPr lang="en-US" altLang="en-US" sz="2200" dirty="0">
                <a:ea typeface="STKaiti" panose="02010600040101010101" pitchFamily="2" charset="-122"/>
              </a:rPr>
              <a:t> c</a:t>
            </a:r>
            <a:r>
              <a:rPr lang="en-US" altLang="en-US" sz="2200" baseline="-25000" dirty="0">
                <a:ea typeface="STKaiti" panose="02010600040101010101" pitchFamily="2" charset="-122"/>
              </a:rPr>
              <a:t>1</a:t>
            </a:r>
            <a:r>
              <a:rPr lang="en-US" altLang="en-US" sz="2200" dirty="0">
                <a:ea typeface="STKaiti" panose="02010600040101010101" pitchFamily="2" charset="-122"/>
              </a:rPr>
              <a:t> ：</a:t>
            </a:r>
            <a:r>
              <a:rPr lang="en-US" altLang="en-US" sz="2200" i="1" dirty="0">
                <a:ea typeface="STKaiti" panose="02010600040101010101" pitchFamily="2" charset="-122"/>
                <a:sym typeface="Symbol" pitchFamily="18" charset="2"/>
              </a:rPr>
              <a:t>sum</a:t>
            </a:r>
            <a:r>
              <a:rPr lang="en-US" altLang="en-US" sz="2200" dirty="0">
                <a:ea typeface="STKaiti" panose="02010600040101010101" pitchFamily="2" charset="-122"/>
                <a:sym typeface="Symbol" pitchFamily="18" charset="2"/>
              </a:rPr>
              <a:t>(</a:t>
            </a:r>
            <a:r>
              <a:rPr lang="en-US" altLang="en-US" sz="2200" i="1" dirty="0" err="1">
                <a:ea typeface="STKaiti" panose="02010600040101010101" pitchFamily="2" charset="-122"/>
                <a:sym typeface="Symbol" pitchFamily="18" charset="2"/>
              </a:rPr>
              <a:t>S.Profit</a:t>
            </a:r>
            <a:r>
              <a:rPr lang="en-US" altLang="en-US" sz="2200" dirty="0">
                <a:ea typeface="STKaiti" panose="02010600040101010101" pitchFamily="2" charset="-122"/>
                <a:sym typeface="Symbol" pitchFamily="18" charset="2"/>
              </a:rPr>
              <a:t>) ≥ </a:t>
            </a:r>
            <a:r>
              <a:rPr lang="en-US" altLang="en-US" sz="2200" i="1" dirty="0">
                <a:ea typeface="STKaiti" panose="02010600040101010101" pitchFamily="2" charset="-122"/>
                <a:sym typeface="Symbol" pitchFamily="18" charset="2"/>
              </a:rPr>
              <a:t>v </a:t>
            </a:r>
            <a:r>
              <a:rPr lang="en-US" altLang="en-US" sz="2200" dirty="0">
                <a:ea typeface="STKaiti" panose="02010600040101010101" pitchFamily="2" charset="-122"/>
                <a:sym typeface="Symbol" pitchFamily="18" charset="2"/>
              </a:rPr>
              <a:t>是</a:t>
            </a:r>
            <a:r>
              <a:rPr lang="en-US" altLang="en-US" sz="2200" dirty="0">
                <a:solidFill>
                  <a:srgbClr val="FF0000"/>
                </a:solidFill>
                <a:ea typeface="STKaiti" panose="02010600040101010101" pitchFamily="2" charset="-122"/>
                <a:sym typeface="Symbol" pitchFamily="18" charset="2"/>
              </a:rPr>
              <a:t>数据反单调的</a:t>
            </a:r>
          </a:p>
          <a:p>
            <a:pPr lvl="1" defTabSz="914400" fontAlgn="base">
              <a:lnSpc>
                <a:spcPct val="70000"/>
              </a:lnSpc>
              <a:spcAft>
                <a:spcPts val="300"/>
              </a:spcAft>
              <a:defRPr/>
            </a:pPr>
            <a:r>
              <a:rPr lang="en-US" altLang="en-US" sz="2200" dirty="0">
                <a:ea typeface="STKaiti" panose="02010600040101010101" pitchFamily="2" charset="-122"/>
                <a:sym typeface="Symbol" pitchFamily="18" charset="2"/>
              </a:rPr>
              <a:t>设</a:t>
            </a:r>
            <a:r>
              <a:rPr lang="en-US" altLang="en-US" sz="2200" dirty="0">
                <a:ea typeface="STKaiti" panose="02010600040101010101" pitchFamily="2" charset="-122"/>
              </a:rPr>
              <a:t>约束条件 c</a:t>
            </a:r>
            <a:r>
              <a:rPr lang="en-US" altLang="en-US" sz="2200" baseline="-25000" dirty="0">
                <a:ea typeface="STKaiti" panose="02010600040101010101" pitchFamily="2" charset="-122"/>
              </a:rPr>
              <a:t>1</a:t>
            </a:r>
            <a:r>
              <a:rPr lang="en-US" altLang="en-US" sz="2200" dirty="0">
                <a:ea typeface="STKaiti" panose="02010600040101010101" pitchFamily="2" charset="-122"/>
              </a:rPr>
              <a:t> 为：</a:t>
            </a:r>
            <a:r>
              <a:rPr lang="en-US" altLang="en-US" sz="2200" i="1" dirty="0">
                <a:ea typeface="STKaiti" panose="02010600040101010101" pitchFamily="2" charset="-122"/>
                <a:sym typeface="Symbol" pitchFamily="18" charset="2"/>
              </a:rPr>
              <a:t>sum</a:t>
            </a:r>
            <a:r>
              <a:rPr lang="en-US" altLang="en-US" sz="2200" dirty="0">
                <a:ea typeface="STKaiti" panose="02010600040101010101" pitchFamily="2" charset="-122"/>
                <a:sym typeface="Symbol" pitchFamily="18" charset="2"/>
              </a:rPr>
              <a:t>(</a:t>
            </a:r>
            <a:r>
              <a:rPr lang="en-US" altLang="en-US" sz="2200" i="1" dirty="0" err="1">
                <a:ea typeface="STKaiti" panose="02010600040101010101" pitchFamily="2" charset="-122"/>
                <a:sym typeface="Symbol" pitchFamily="18" charset="2"/>
              </a:rPr>
              <a:t>S.Profit</a:t>
            </a:r>
            <a:r>
              <a:rPr lang="en-US" altLang="en-US" sz="2200" dirty="0">
                <a:ea typeface="STKaiti" panose="02010600040101010101" pitchFamily="2" charset="-122"/>
                <a:sym typeface="Symbol" pitchFamily="18" charset="2"/>
              </a:rPr>
              <a:t>) </a:t>
            </a:r>
            <a:r>
              <a:rPr lang="en-US" altLang="en-US" sz="2200" dirty="0">
                <a:ea typeface="STKaiti" panose="02010600040101010101" pitchFamily="2" charset="-122"/>
              </a:rPr>
              <a:t>≥ 25</a:t>
            </a:r>
          </a:p>
          <a:p>
            <a:pPr lvl="2">
              <a:spcAft>
                <a:spcPts val="300"/>
              </a:spcAft>
              <a:defRPr/>
            </a:pPr>
            <a:r>
              <a:rPr lang="en-US" altLang="en-US" sz="2200" dirty="0">
                <a:ea typeface="STKaiti" panose="02010600040101010101" pitchFamily="2" charset="-122"/>
                <a:sym typeface="Symbol" pitchFamily="18" charset="2"/>
              </a:rPr>
              <a:t>T</a:t>
            </a:r>
            <a:r>
              <a:rPr lang="en-US" altLang="en-US" sz="2200" baseline="-25000" dirty="0">
                <a:ea typeface="STKaiti" panose="02010600040101010101" pitchFamily="2" charset="-122"/>
                <a:sym typeface="Symbol" pitchFamily="18" charset="2"/>
              </a:rPr>
              <a:t>30</a:t>
            </a:r>
            <a:r>
              <a:rPr lang="en-US" altLang="en-US" sz="2200" dirty="0">
                <a:ea typeface="STKaiti" panose="02010600040101010101" pitchFamily="2" charset="-122"/>
                <a:sym typeface="Symbol" pitchFamily="18" charset="2"/>
              </a:rPr>
              <a:t> ：</a:t>
            </a:r>
            <a:r>
              <a:rPr lang="en-US" altLang="en-US" sz="2200" baseline="-25000" dirty="0">
                <a:ea typeface="STKaiti" panose="02010600040101010101" pitchFamily="2" charset="-122"/>
                <a:sym typeface="Symbol" pitchFamily="18" charset="2"/>
              </a:rPr>
              <a:t> </a:t>
            </a:r>
            <a:r>
              <a:rPr lang="en-US" altLang="en-US" sz="2200" dirty="0">
                <a:ea typeface="STKaiti" panose="02010600040101010101" pitchFamily="2" charset="-122"/>
                <a:sym typeface="Symbol" pitchFamily="18" charset="2"/>
              </a:rPr>
              <a:t> {</a:t>
            </a:r>
            <a:r>
              <a:rPr lang="en-US" sz="2200" dirty="0">
                <a:ea typeface="STKaiti" panose="02010600040101010101" pitchFamily="2" charset="-122"/>
              </a:rPr>
              <a:t>b, c, d, f, g</a:t>
            </a:r>
            <a:r>
              <a:rPr lang="en-US" altLang="en-US" sz="2200" dirty="0">
                <a:ea typeface="STKaiti" panose="02010600040101010101" pitchFamily="2" charset="-122"/>
                <a:sym typeface="Symbol" pitchFamily="18" charset="2"/>
              </a:rPr>
              <a:t>}可被移除，因其任意组合均无法构成满足条件S且利润总和≥25的S</a:t>
            </a:r>
          </a:p>
          <a:p>
            <a:pPr>
              <a:spcAft>
                <a:spcPts val="300"/>
              </a:spcAft>
              <a:defRPr/>
            </a:pPr>
            <a:r>
              <a:rPr lang="en-US" altLang="en-US" sz="2200" dirty="0">
                <a:ea typeface="STKaiti" panose="02010600040101010101" pitchFamily="2" charset="-122"/>
              </a:rPr>
              <a:t>例 2：约束条件 c</a:t>
            </a:r>
            <a:r>
              <a:rPr lang="en-US" altLang="en-US" sz="2200" baseline="-25000" dirty="0">
                <a:ea typeface="STKaiti" panose="02010600040101010101" pitchFamily="2" charset="-122"/>
              </a:rPr>
              <a:t>2</a:t>
            </a:r>
            <a:r>
              <a:rPr lang="en-US" altLang="en-US" sz="2200" dirty="0">
                <a:ea typeface="STKaiti" panose="02010600040101010101" pitchFamily="2" charset="-122"/>
              </a:rPr>
              <a:t> ：</a:t>
            </a:r>
            <a:r>
              <a:rPr lang="en-US" altLang="en-US" sz="2200" i="1" dirty="0">
                <a:ea typeface="STKaiti" panose="02010600040101010101" pitchFamily="2" charset="-122"/>
                <a:sym typeface="Wingdings" pitchFamily="2" charset="2"/>
              </a:rPr>
              <a:t>min</a:t>
            </a:r>
            <a:r>
              <a:rPr lang="en-US" altLang="en-US" sz="2200" dirty="0">
                <a:ea typeface="STKaiti" panose="02010600040101010101" pitchFamily="2" charset="-122"/>
                <a:sym typeface="Wingdings" pitchFamily="2" charset="2"/>
              </a:rPr>
              <a:t>(</a:t>
            </a:r>
            <a:r>
              <a:rPr lang="en-US" altLang="en-US" sz="2200" i="1" dirty="0" err="1">
                <a:ea typeface="STKaiti" panose="02010600040101010101" pitchFamily="2" charset="-122"/>
                <a:sym typeface="Wingdings" pitchFamily="2" charset="2"/>
              </a:rPr>
              <a:t>S.Price</a:t>
            </a:r>
            <a:r>
              <a:rPr lang="en-US" altLang="en-US" sz="2200" dirty="0">
                <a:ea typeface="STKaiti" panose="02010600040101010101" pitchFamily="2" charset="-122"/>
                <a:sym typeface="Wingdings" pitchFamily="2" charset="2"/>
              </a:rPr>
              <a:t>) </a:t>
            </a:r>
            <a:r>
              <a:rPr lang="en-US" altLang="en-US" sz="2200" dirty="0">
                <a:ea typeface="STKaiti" panose="02010600040101010101" pitchFamily="2" charset="-122"/>
                <a:sym typeface="Symbol" pitchFamily="18" charset="2"/>
              </a:rPr>
              <a:t>≤ </a:t>
            </a:r>
            <a:r>
              <a:rPr lang="en-US" altLang="en-US" sz="2200" i="1" dirty="0">
                <a:ea typeface="STKaiti" panose="02010600040101010101" pitchFamily="2" charset="-122"/>
                <a:sym typeface="Wingdings" pitchFamily="2" charset="2"/>
              </a:rPr>
              <a:t>v </a:t>
            </a:r>
            <a:r>
              <a:rPr lang="en-US" altLang="en-US" sz="2200" dirty="0">
                <a:ea typeface="STKaiti" panose="02010600040101010101" pitchFamily="2" charset="-122"/>
                <a:sym typeface="Symbol" pitchFamily="18" charset="2"/>
              </a:rPr>
              <a:t>是</a:t>
            </a:r>
            <a:r>
              <a:rPr lang="en-US" altLang="en-US" sz="2200" dirty="0">
                <a:solidFill>
                  <a:srgbClr val="FF0000"/>
                </a:solidFill>
                <a:ea typeface="STKaiti" panose="02010600040101010101" pitchFamily="2" charset="-122"/>
                <a:sym typeface="Symbol" pitchFamily="18" charset="2"/>
              </a:rPr>
              <a:t>数据反单调的</a:t>
            </a:r>
          </a:p>
          <a:p>
            <a:pPr lvl="2">
              <a:spcAft>
                <a:spcPts val="300"/>
              </a:spcAft>
              <a:defRPr/>
            </a:pPr>
            <a:r>
              <a:rPr lang="en-US" altLang="en-US" sz="2200" dirty="0">
                <a:ea typeface="STKaiti" panose="02010600040101010101" pitchFamily="2" charset="-122"/>
                <a:sym typeface="Symbol" pitchFamily="18" charset="2"/>
              </a:rPr>
              <a:t>考虑 </a:t>
            </a:r>
            <a:r>
              <a:rPr lang="en-US" altLang="en-US" sz="2200" i="1" dirty="0">
                <a:ea typeface="STKaiti" panose="02010600040101010101" pitchFamily="2" charset="-122"/>
                <a:sym typeface="Symbol" pitchFamily="18" charset="2"/>
              </a:rPr>
              <a:t>v </a:t>
            </a:r>
            <a:r>
              <a:rPr lang="en-US" altLang="en-US" sz="2200" dirty="0">
                <a:ea typeface="STKaiti" panose="02010600040101010101" pitchFamily="2" charset="-122"/>
                <a:sym typeface="Symbol" pitchFamily="18" charset="2"/>
              </a:rPr>
              <a:t>= 5，但交易 T</a:t>
            </a:r>
            <a:r>
              <a:rPr lang="en-US" altLang="en-US" sz="2200" i="1" baseline="-25000" dirty="0">
                <a:ea typeface="STKaiti" panose="02010600040101010101" pitchFamily="2" charset="-122"/>
                <a:sym typeface="Symbol" pitchFamily="18" charset="2"/>
              </a:rPr>
              <a:t>50</a:t>
            </a:r>
            <a:r>
              <a:rPr lang="en-US" altLang="en-US" sz="2200" baseline="-25000" dirty="0">
                <a:ea typeface="STKaiti" panose="02010600040101010101" pitchFamily="2" charset="-122"/>
                <a:sym typeface="Symbol" pitchFamily="18" charset="2"/>
              </a:rPr>
              <a:t> </a:t>
            </a:r>
            <a:r>
              <a:rPr lang="en-US" altLang="en-US" sz="2200" dirty="0">
                <a:ea typeface="STKaiti" panose="02010600040101010101" pitchFamily="2" charset="-122"/>
                <a:sym typeface="Symbol" pitchFamily="18" charset="2"/>
              </a:rPr>
              <a:t> 中每个商品的价格均高于 10</a:t>
            </a:r>
          </a:p>
          <a:p>
            <a:pPr>
              <a:spcAft>
                <a:spcPts val="300"/>
              </a:spcAft>
              <a:defRPr/>
            </a:pPr>
            <a:r>
              <a:rPr lang="en-US" altLang="en-US" sz="2200" dirty="0">
                <a:ea typeface="STKaiti" panose="02010600040101010101" pitchFamily="2" charset="-122"/>
                <a:sym typeface="Wingdings" pitchFamily="2" charset="2"/>
              </a:rPr>
              <a:t>例 3：</a:t>
            </a:r>
            <a:r>
              <a:rPr lang="en-US" altLang="en-US" sz="2200" dirty="0">
                <a:ea typeface="STKaiti" panose="02010600040101010101" pitchFamily="2" charset="-122"/>
              </a:rPr>
              <a:t> </a:t>
            </a:r>
            <a:r>
              <a:rPr lang="en-US" altLang="en-US" sz="2200" dirty="0" err="1">
                <a:ea typeface="STKaiti" panose="02010600040101010101" pitchFamily="2" charset="-122"/>
              </a:rPr>
              <a:t>约束条件</a:t>
            </a:r>
            <a:r>
              <a:rPr lang="en-US" altLang="en-US" sz="2200" dirty="0">
                <a:ea typeface="STKaiti" panose="02010600040101010101" pitchFamily="2" charset="-122"/>
              </a:rPr>
              <a:t> c</a:t>
            </a:r>
            <a:r>
              <a:rPr lang="en-US" altLang="en-US" sz="2200" baseline="-25000" dirty="0">
                <a:ea typeface="STKaiti" panose="02010600040101010101" pitchFamily="2" charset="-122"/>
              </a:rPr>
              <a:t>3 </a:t>
            </a:r>
            <a:r>
              <a:rPr lang="en-US" altLang="en-US" sz="2200" dirty="0">
                <a:ea typeface="STKaiti" panose="02010600040101010101" pitchFamily="2" charset="-122"/>
              </a:rPr>
              <a:t>：</a:t>
            </a:r>
            <a:r>
              <a:rPr lang="en-US" altLang="en-US" sz="2200" i="1" dirty="0">
                <a:ea typeface="STKaiti" panose="02010600040101010101" pitchFamily="2" charset="-122"/>
                <a:sym typeface="Wingdings" pitchFamily="2" charset="2"/>
              </a:rPr>
              <a:t>range</a:t>
            </a:r>
            <a:r>
              <a:rPr lang="en-US" altLang="en-US" sz="2200" dirty="0">
                <a:ea typeface="STKaiti" panose="02010600040101010101" pitchFamily="2" charset="-122"/>
                <a:sym typeface="Wingdings" pitchFamily="2" charset="2"/>
              </a:rPr>
              <a:t>(</a:t>
            </a:r>
            <a:r>
              <a:rPr lang="en-US" altLang="en-US" sz="2200" i="1" dirty="0" err="1">
                <a:ea typeface="STKaiti" panose="02010600040101010101" pitchFamily="2" charset="-122"/>
                <a:sym typeface="Wingdings" pitchFamily="2" charset="2"/>
              </a:rPr>
              <a:t>S.Profit</a:t>
            </a:r>
            <a:r>
              <a:rPr lang="en-US" altLang="en-US" sz="2200" dirty="0">
                <a:ea typeface="STKaiti" panose="02010600040101010101" pitchFamily="2" charset="-122"/>
                <a:sym typeface="Wingdings" pitchFamily="2" charset="2"/>
              </a:rPr>
              <a:t>) </a:t>
            </a:r>
            <a:r>
              <a:rPr lang="en-US" altLang="en-US" sz="2200" dirty="0">
                <a:ea typeface="STKaiti" panose="02010600040101010101" pitchFamily="2" charset="-122"/>
                <a:sym typeface="Symbol" pitchFamily="18" charset="2"/>
              </a:rPr>
              <a:t>&gt;</a:t>
            </a:r>
            <a:r>
              <a:rPr lang="en-US" altLang="en-US" sz="2200" i="1" dirty="0">
                <a:ea typeface="STKaiti" panose="02010600040101010101" pitchFamily="2" charset="-122"/>
                <a:sym typeface="Wingdings" pitchFamily="2" charset="2"/>
              </a:rPr>
              <a:t> 25</a:t>
            </a:r>
            <a:r>
              <a:rPr lang="en-US" altLang="en-US" sz="2200" dirty="0">
                <a:solidFill>
                  <a:srgbClr val="FF0000"/>
                </a:solidFill>
                <a:ea typeface="STKaiti" panose="02010600040101010101" pitchFamily="2" charset="-122"/>
                <a:sym typeface="Wingdings" pitchFamily="2" charset="2"/>
              </a:rPr>
              <a:t> </a:t>
            </a:r>
            <a:r>
              <a:rPr lang="en-US" altLang="en-US" sz="2200" dirty="0">
                <a:ea typeface="STKaiti" panose="02010600040101010101" pitchFamily="2" charset="-122"/>
                <a:sym typeface="Wingdings" pitchFamily="2" charset="2"/>
              </a:rPr>
              <a:t>满足</a:t>
            </a:r>
            <a:r>
              <a:rPr lang="en-US" altLang="en-US" sz="2200" dirty="0">
                <a:solidFill>
                  <a:srgbClr val="FF0000"/>
                </a:solidFill>
                <a:ea typeface="STKaiti" panose="02010600040101010101" pitchFamily="2" charset="-122"/>
                <a:sym typeface="Wingdings" pitchFamily="2" charset="2"/>
              </a:rPr>
              <a:t>数据</a:t>
            </a:r>
            <a:r>
              <a:rPr lang="en-US" altLang="en-US" sz="2200" dirty="0">
                <a:ea typeface="STKaiti" panose="02010600040101010101" pitchFamily="2" charset="-122"/>
                <a:sym typeface="Wingdings" pitchFamily="2" charset="2"/>
              </a:rPr>
              <a:t>反单调性 </a:t>
            </a:r>
          </a:p>
        </p:txBody>
      </p:sp>
      <p:sp>
        <p:nvSpPr>
          <p:cNvPr id="8" name="Text Box 24">
            <a:extLst>
              <a:ext uri="{FF2B5EF4-FFF2-40B4-BE49-F238E27FC236}">
                <a16:creationId xmlns:a16="http://schemas.microsoft.com/office/drawing/2014/main" id="{58ADA6B8-FD75-4CCB-8BE3-F07CF6B35C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319" y="3096616"/>
            <a:ext cx="1430779" cy="3683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 err="1">
                <a:solidFill>
                  <a:prstClr val="black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min_sup </a:t>
            </a:r>
            <a:r>
              <a:rPr lang="en-US" altLang="en-US" sz="1800" dirty="0">
                <a:solidFill>
                  <a:prstClr val="black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= 2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41FFF71-BAAE-4B6C-925A-10B344B3A1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18173"/>
              </p:ext>
            </p:extLst>
          </p:nvPr>
        </p:nvGraphicFramePr>
        <p:xfrm>
          <a:off x="479969" y="1166650"/>
          <a:ext cx="2209307" cy="185236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98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04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3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TID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交易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a, b, c, d, f, h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b, c, d, f, g, h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b, c, d, f, g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a, c, e, f, g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4C51E42-FD6E-40A9-9E8E-29C31D243E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817656"/>
              </p:ext>
            </p:extLst>
          </p:nvPr>
        </p:nvGraphicFramePr>
        <p:xfrm>
          <a:off x="506319" y="3464916"/>
          <a:ext cx="2209307" cy="3260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69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978">
                  <a:extLst>
                    <a:ext uri="{9D8B030D-6E8A-4147-A177-3AD203B41FA5}">
                      <a16:colId xmlns:a16="http://schemas.microsoft.com/office/drawing/2014/main" val="70790107"/>
                    </a:ext>
                  </a:extLst>
                </a:gridCol>
                <a:gridCol w="795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11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项目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价格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利润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a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100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40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b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40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0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c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150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−20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d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35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−15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e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55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−30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f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45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−10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g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80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20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h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10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5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DA559A5-C8E0-9212-6CA9-D4E9EA83C162}"/>
              </a:ext>
            </a:extLst>
          </p:cNvPr>
          <p:cNvSpPr txBox="1"/>
          <p:nvPr/>
        </p:nvSpPr>
        <p:spPr>
          <a:xfrm>
            <a:off x="3277930" y="5377179"/>
            <a:ext cx="8785540" cy="868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如果在某事务里，最大值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-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最小值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 ≤ 25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，那无论扩展多少项也不会超过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25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。</a:t>
            </a:r>
            <a:endParaRPr lang="ko-KR" altLang="ko-KR" sz="20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所以直接剪掉</a:t>
            </a:r>
            <a:endParaRPr lang="ko-KR" altLang="ko-KR" sz="20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978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-101600" y="228599"/>
            <a:ext cx="12395200" cy="71437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CN" sz="4000" dirty="0">
                <a:ea typeface="STKaiti" panose="02010600040101010101" pitchFamily="2" charset="-122"/>
              </a:rPr>
              <a:t>数据空间剪枝应采用递归方式探索 </a:t>
            </a:r>
            <a:endParaRPr lang="en-US" sz="4000" dirty="0">
              <a:ea typeface="STKaiti" panose="02010600040101010101" pitchFamily="2" charset="-122"/>
              <a:cs typeface="SimSun" charset="0"/>
            </a:endParaRPr>
          </a:p>
        </p:txBody>
      </p:sp>
      <p:sp>
        <p:nvSpPr>
          <p:cNvPr id="10244" name="Rectangle 3"/>
          <p:cNvSpPr>
            <a:spLocks noGrp="1" noChangeArrowheads="1"/>
          </p:cNvSpPr>
          <p:nvPr>
            <p:ph idx="1"/>
          </p:nvPr>
        </p:nvSpPr>
        <p:spPr>
          <a:xfrm>
            <a:off x="3965365" y="1277647"/>
            <a:ext cx="7926023" cy="3047256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400" dirty="0" err="1">
                <a:ea typeface="STKaiti" panose="02010600040101010101" pitchFamily="2" charset="-122"/>
                <a:sym typeface="Wingdings" pitchFamily="2" charset="2"/>
              </a:rPr>
              <a:t>示例</a:t>
            </a:r>
            <a:r>
              <a:rPr lang="zh-CN" altLang="en-US" sz="2400" dirty="0">
                <a:ea typeface="STKaiti" panose="02010600040101010101" pitchFamily="2" charset="-122"/>
                <a:sym typeface="Wingdings" pitchFamily="2" charset="2"/>
              </a:rPr>
              <a:t>：</a:t>
            </a:r>
            <a:r>
              <a:rPr lang="en-US" altLang="en-US" sz="2400" dirty="0">
                <a:ea typeface="STKaiti" panose="02010600040101010101" pitchFamily="2" charset="-122"/>
                <a:sym typeface="Wingdings" pitchFamily="2" charset="2"/>
              </a:rPr>
              <a:t>c</a:t>
            </a:r>
            <a:r>
              <a:rPr lang="en-US" altLang="en-US" sz="2400" baseline="-25000" dirty="0">
                <a:ea typeface="STKaiti" panose="02010600040101010101" pitchFamily="2" charset="-122"/>
                <a:sym typeface="Wingdings" pitchFamily="2" charset="2"/>
              </a:rPr>
              <a:t>3</a:t>
            </a:r>
            <a:r>
              <a:rPr lang="en-US" altLang="en-US" sz="2400" dirty="0">
                <a:ea typeface="STKaiti" panose="02010600040101010101" pitchFamily="2" charset="-122"/>
                <a:sym typeface="Wingdings" pitchFamily="2" charset="2"/>
              </a:rPr>
              <a:t> : </a:t>
            </a:r>
            <a:r>
              <a:rPr lang="en-US" altLang="en-US" sz="2400" i="1" dirty="0">
                <a:ea typeface="STKaiti" panose="02010600040101010101" pitchFamily="2" charset="-122"/>
                <a:sym typeface="Wingdings" pitchFamily="2" charset="2"/>
              </a:rPr>
              <a:t>range</a:t>
            </a:r>
            <a:r>
              <a:rPr lang="en-US" altLang="en-US" sz="2400" dirty="0">
                <a:ea typeface="STKaiti" panose="02010600040101010101" pitchFamily="2" charset="-122"/>
                <a:sym typeface="Wingdings" pitchFamily="2" charset="2"/>
              </a:rPr>
              <a:t>(</a:t>
            </a:r>
            <a:r>
              <a:rPr lang="en-US" altLang="en-US" sz="2400" i="1" dirty="0" err="1">
                <a:ea typeface="STKaiti" panose="02010600040101010101" pitchFamily="2" charset="-122"/>
                <a:sym typeface="Wingdings" pitchFamily="2" charset="2"/>
              </a:rPr>
              <a:t>S.Profit</a:t>
            </a:r>
            <a:r>
              <a:rPr lang="en-US" altLang="en-US" sz="2400" dirty="0">
                <a:ea typeface="STKaiti" panose="02010600040101010101" pitchFamily="2" charset="-122"/>
                <a:sym typeface="Wingdings" pitchFamily="2" charset="2"/>
              </a:rPr>
              <a:t>) </a:t>
            </a:r>
            <a:r>
              <a:rPr lang="en-US" altLang="en-US" sz="2400" dirty="0">
                <a:ea typeface="STKaiti" panose="02010600040101010101" pitchFamily="2" charset="-122"/>
                <a:sym typeface="Symbol" pitchFamily="18" charset="2"/>
              </a:rPr>
              <a:t>&gt;</a:t>
            </a:r>
            <a:r>
              <a:rPr lang="en-US" altLang="en-US" sz="2400" i="1" dirty="0">
                <a:ea typeface="STKaiti" panose="02010600040101010101" pitchFamily="2" charset="-122"/>
                <a:sym typeface="Wingdings" pitchFamily="2" charset="2"/>
              </a:rPr>
              <a:t> 25</a:t>
            </a:r>
            <a:endParaRPr lang="en-US" altLang="en-US" dirty="0">
              <a:ea typeface="STKaiti" panose="02010600040101010101" pitchFamily="2" charset="-122"/>
              <a:sym typeface="Wingdings" pitchFamily="2" charset="2"/>
            </a:endParaRPr>
          </a:p>
          <a:p>
            <a:pPr lvl="1">
              <a:defRPr/>
            </a:pPr>
            <a:r>
              <a:rPr lang="en-US" altLang="en-US" sz="2400" dirty="0">
                <a:solidFill>
                  <a:prstClr val="black"/>
                </a:solidFill>
                <a:ea typeface="STKaiti" panose="02010600040101010101" pitchFamily="2" charset="-122"/>
                <a:sym typeface="Wingdings" pitchFamily="2" charset="2"/>
              </a:rPr>
              <a:t>我们检查 b 的投影数据库</a:t>
            </a:r>
          </a:p>
          <a:p>
            <a:pPr lvl="2">
              <a:defRPr/>
            </a:pPr>
            <a:r>
              <a:rPr lang="en-US" altLang="en-US" sz="2400" dirty="0">
                <a:solidFill>
                  <a:prstClr val="black"/>
                </a:solidFill>
                <a:ea typeface="STKaiti" panose="02010600040101010101" pitchFamily="2" charset="-122"/>
                <a:sym typeface="Wingdings" pitchFamily="2" charset="2"/>
              </a:rPr>
              <a:t>但项“a”是罕见的（sup = 1）</a:t>
            </a:r>
          </a:p>
          <a:p>
            <a:pPr marL="384166" lvl="2" indent="0">
              <a:buNone/>
              <a:defRPr/>
            </a:pPr>
            <a:endParaRPr lang="en-US" altLang="en-US" sz="2400" dirty="0">
              <a:solidFill>
                <a:prstClr val="black"/>
              </a:solidFill>
              <a:ea typeface="STKaiti" panose="02010600040101010101" pitchFamily="2" charset="-122"/>
              <a:sym typeface="Wingdings" pitchFamily="2" charset="2"/>
            </a:endParaRPr>
          </a:p>
          <a:p>
            <a:pPr lvl="1">
              <a:defRPr/>
            </a:pPr>
            <a:r>
              <a:rPr lang="en-US" altLang="en-US" sz="2400" dirty="0">
                <a:solidFill>
                  <a:prstClr val="black"/>
                </a:solidFill>
                <a:ea typeface="STKaiti" panose="02010600040101010101" pitchFamily="2" charset="-122"/>
                <a:sym typeface="Wingdings" pitchFamily="2" charset="2"/>
              </a:rPr>
              <a:t>从T中移除“a (40)”</a:t>
            </a:r>
            <a:r>
              <a:rPr lang="en-US" altLang="en-US" sz="2400" baseline="-25000" dirty="0">
                <a:solidFill>
                  <a:prstClr val="black"/>
                </a:solidFill>
                <a:ea typeface="STKaiti" panose="02010600040101010101" pitchFamily="2" charset="-122"/>
                <a:sym typeface="Wingdings" pitchFamily="2" charset="2"/>
              </a:rPr>
              <a:t>10</a:t>
            </a:r>
            <a:r>
              <a:rPr lang="en-US" altLang="en-US" sz="2400" dirty="0">
                <a:solidFill>
                  <a:prstClr val="black"/>
                </a:solidFill>
                <a:ea typeface="STKaiti" panose="02010600040101010101" pitchFamily="2" charset="-122"/>
                <a:sym typeface="Wingdings" pitchFamily="2" charset="2"/>
              </a:rPr>
              <a:t> </a:t>
            </a:r>
          </a:p>
          <a:p>
            <a:pPr lvl="2">
              <a:defRPr/>
            </a:pPr>
            <a:r>
              <a:rPr lang="en-US" altLang="en-US" sz="2400" dirty="0">
                <a:solidFill>
                  <a:prstClr val="black"/>
                </a:solidFill>
                <a:ea typeface="STKaiti" panose="02010600040101010101" pitchFamily="2" charset="-122"/>
                <a:sym typeface="Wingdings" pitchFamily="2" charset="2"/>
              </a:rPr>
              <a:t>T</a:t>
            </a:r>
            <a:r>
              <a:rPr lang="en-US" altLang="en-US" sz="2400" baseline="-25000" dirty="0">
                <a:solidFill>
                  <a:prstClr val="black"/>
                </a:solidFill>
                <a:ea typeface="STKaiti" panose="02010600040101010101" pitchFamily="2" charset="-122"/>
                <a:sym typeface="Wingdings" pitchFamily="2" charset="2"/>
              </a:rPr>
              <a:t>10</a:t>
            </a:r>
            <a:r>
              <a:rPr lang="en-US" altLang="en-US" sz="2400" dirty="0">
                <a:solidFill>
                  <a:prstClr val="black"/>
                </a:solidFill>
                <a:ea typeface="STKaiti" panose="02010600040101010101" pitchFamily="2" charset="-122"/>
                <a:sym typeface="Wingdings" pitchFamily="2" charset="2"/>
              </a:rPr>
              <a:t> 无法再满足 </a:t>
            </a:r>
            <a:r>
              <a:rPr lang="en-US" altLang="en-US" sz="2400" dirty="0">
                <a:ea typeface="STKaiti" panose="02010600040101010101" pitchFamily="2" charset="-122"/>
                <a:sym typeface="Wingdings" pitchFamily="2" charset="2"/>
              </a:rPr>
              <a:t>c</a:t>
            </a:r>
            <a:r>
              <a:rPr lang="en-US" altLang="en-US" sz="2400" baseline="-25000" dirty="0">
                <a:ea typeface="STKaiti" panose="02010600040101010101" pitchFamily="2" charset="-122"/>
                <a:sym typeface="Wingdings" pitchFamily="2" charset="2"/>
              </a:rPr>
              <a:t>3</a:t>
            </a:r>
            <a:r>
              <a:rPr lang="en-US" altLang="en-US" sz="2400" dirty="0">
                <a:solidFill>
                  <a:prstClr val="black"/>
                </a:solidFill>
                <a:ea typeface="STKaiti" panose="02010600040101010101" pitchFamily="2" charset="-122"/>
                <a:sym typeface="Wingdings" pitchFamily="2" charset="2"/>
              </a:rPr>
              <a:t> </a:t>
            </a:r>
          </a:p>
          <a:p>
            <a:pPr lvl="3">
              <a:defRPr/>
            </a:pPr>
            <a:r>
              <a:rPr lang="en-US" altLang="en-US" sz="2400" dirty="0">
                <a:solidFill>
                  <a:prstClr val="black"/>
                </a:solidFill>
                <a:ea typeface="STKaiti" panose="02010600040101010101" pitchFamily="2" charset="-122"/>
                <a:sym typeface="Wingdings" pitchFamily="2" charset="2"/>
              </a:rPr>
              <a:t>由于“b (0)”和“c (−20), d (−15), f (−10), h (5)”</a:t>
            </a:r>
          </a:p>
          <a:p>
            <a:pPr lvl="2">
              <a:defRPr/>
            </a:pPr>
            <a:r>
              <a:rPr lang="en-US" altLang="en-US" sz="2400" dirty="0">
                <a:solidFill>
                  <a:prstClr val="black"/>
                </a:solidFill>
                <a:ea typeface="STKaiti" panose="02010600040101010101" pitchFamily="2" charset="-122"/>
                <a:sym typeface="Wingdings" pitchFamily="2" charset="2"/>
              </a:rPr>
              <a:t>通过移除 T</a:t>
            </a:r>
            <a:r>
              <a:rPr lang="en-US" altLang="en-US" sz="2400" baseline="-25000" dirty="0">
                <a:solidFill>
                  <a:prstClr val="black"/>
                </a:solidFill>
                <a:ea typeface="STKaiti" panose="02010600040101010101" pitchFamily="2" charset="-122"/>
                <a:sym typeface="Wingdings" pitchFamily="2" charset="2"/>
              </a:rPr>
              <a:t>10</a:t>
            </a:r>
            <a:r>
              <a:rPr lang="en-US" altLang="en-US" sz="2400" dirty="0">
                <a:solidFill>
                  <a:prstClr val="black"/>
                </a:solidFill>
                <a:ea typeface="STKaiti" panose="02010600040101010101" pitchFamily="2" charset="-122"/>
                <a:sym typeface="Wingdings" pitchFamily="2" charset="2"/>
              </a:rPr>
              <a:t> ，我们还可以从 T</a:t>
            </a:r>
            <a:r>
              <a:rPr lang="en-US" altLang="en-US" sz="2400" baseline="-25000" dirty="0">
                <a:solidFill>
                  <a:prstClr val="black"/>
                </a:solidFill>
                <a:ea typeface="STKaiti" panose="02010600040101010101" pitchFamily="2" charset="-122"/>
                <a:sym typeface="Wingdings" pitchFamily="2" charset="2"/>
              </a:rPr>
              <a:t>20</a:t>
            </a:r>
            <a:r>
              <a:rPr lang="en-US" altLang="en-US" sz="2400" dirty="0">
                <a:solidFill>
                  <a:prstClr val="black"/>
                </a:solidFill>
                <a:ea typeface="STKaiti" panose="02010600040101010101" pitchFamily="2" charset="-122"/>
                <a:sym typeface="Wingdings" pitchFamily="2" charset="2"/>
              </a:rPr>
              <a:t> 中剪枝“h” </a:t>
            </a:r>
          </a:p>
        </p:txBody>
      </p:sp>
      <p:sp>
        <p:nvSpPr>
          <p:cNvPr id="10245" name="Text Box 24"/>
          <p:cNvSpPr txBox="1">
            <a:spLocks noChangeArrowheads="1"/>
          </p:cNvSpPr>
          <p:nvPr/>
        </p:nvSpPr>
        <p:spPr bwMode="auto">
          <a:xfrm>
            <a:off x="300082" y="3177119"/>
            <a:ext cx="1828800" cy="40011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min_sup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= 2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8814184"/>
              </p:ext>
            </p:extLst>
          </p:nvPr>
        </p:nvGraphicFramePr>
        <p:xfrm>
          <a:off x="101164" y="1283609"/>
          <a:ext cx="2126589" cy="174467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34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24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59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TID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事务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a, b, c, d, f, h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b, c, d, f, g, h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b, c, d, f, g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a, c, e, f, g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343816"/>
              </p:ext>
            </p:extLst>
          </p:nvPr>
        </p:nvGraphicFramePr>
        <p:xfrm>
          <a:off x="2176434" y="1292753"/>
          <a:ext cx="1727200" cy="3260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11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项目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利润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a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40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b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0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c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−20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d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−15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e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−30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f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−10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g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20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h</a:t>
                      </a:r>
                    </a:p>
                  </a:txBody>
                  <a:tcPr marL="121920" marR="121920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5</a:t>
                      </a:r>
                    </a:p>
                  </a:txBody>
                  <a:tcPr marL="121920" marR="121920" marT="45690" marB="456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316" name="Text Box 123"/>
          <p:cNvSpPr txBox="1">
            <a:spLocks noChangeArrowheads="1"/>
          </p:cNvSpPr>
          <p:nvPr/>
        </p:nvSpPr>
        <p:spPr bwMode="auto">
          <a:xfrm>
            <a:off x="10215507" y="1092981"/>
            <a:ext cx="1705916" cy="36933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b’s-proj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. 数据库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686924"/>
              </p:ext>
            </p:extLst>
          </p:nvPr>
        </p:nvGraphicFramePr>
        <p:xfrm>
          <a:off x="9628741" y="1483716"/>
          <a:ext cx="2292681" cy="148992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6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2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216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TID</a:t>
                      </a:r>
                    </a:p>
                  </a:txBody>
                  <a:tcPr marL="121920" marR="121920" marT="45740" marB="457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事务</a:t>
                      </a:r>
                    </a:p>
                  </a:txBody>
                  <a:tcPr marL="121920" marR="121920" marT="45740" marB="4574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10</a:t>
                      </a:r>
                    </a:p>
                  </a:txBody>
                  <a:tcPr marL="121920" marR="121920" marT="45740" marB="4574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a, c, d, f, h</a:t>
                      </a:r>
                    </a:p>
                  </a:txBody>
                  <a:tcPr marL="121920" marR="121920" marT="45740" marB="4574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20</a:t>
                      </a:r>
                    </a:p>
                  </a:txBody>
                  <a:tcPr marL="121920" marR="121920" marT="45740" marB="4574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c, d, f, g, h</a:t>
                      </a:r>
                    </a:p>
                  </a:txBody>
                  <a:tcPr marL="121920" marR="121920" marT="45740" marB="4574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30</a:t>
                      </a:r>
                    </a:p>
                  </a:txBody>
                  <a:tcPr marL="121920" marR="121920" marT="45740" marB="4574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c, d, f, g</a:t>
                      </a:r>
                    </a:p>
                  </a:txBody>
                  <a:tcPr marL="121920" marR="121920" marT="45740" marB="4574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ight Arrow 3"/>
          <p:cNvSpPr/>
          <p:nvPr/>
        </p:nvSpPr>
        <p:spPr>
          <a:xfrm>
            <a:off x="8733866" y="1752533"/>
            <a:ext cx="548952" cy="325776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5" name="Oval 4"/>
          <p:cNvSpPr/>
          <p:nvPr/>
        </p:nvSpPr>
        <p:spPr>
          <a:xfrm>
            <a:off x="10426100" y="1938452"/>
            <a:ext cx="262497" cy="2797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graphicFrame>
        <p:nvGraphicFramePr>
          <p:cNvPr id="28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962108"/>
              </p:ext>
            </p:extLst>
          </p:nvPr>
        </p:nvGraphicFramePr>
        <p:xfrm>
          <a:off x="9397388" y="5344072"/>
          <a:ext cx="2526437" cy="143307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80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62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8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TID</a:t>
                      </a:r>
                    </a:p>
                  </a:txBody>
                  <a:tcPr marL="121920" marR="121920" marT="45740" marB="457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交易</a:t>
                      </a:r>
                    </a:p>
                  </a:txBody>
                  <a:tcPr marL="121920" marR="121920" marT="45740" marB="4574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10</a:t>
                      </a:r>
                    </a:p>
                  </a:txBody>
                  <a:tcPr marL="121920" marR="121920" marT="45740" marB="4574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a, c, d, f, h</a:t>
                      </a:r>
                    </a:p>
                  </a:txBody>
                  <a:tcPr marL="121920" marR="121920" marT="45740" marB="4574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20</a:t>
                      </a:r>
                    </a:p>
                  </a:txBody>
                  <a:tcPr marL="121920" marR="121920" marT="45740" marB="4574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c, d, f, g, h</a:t>
                      </a:r>
                    </a:p>
                  </a:txBody>
                  <a:tcPr marL="121920" marR="121920" marT="45740" marB="4574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30</a:t>
                      </a:r>
                    </a:p>
                  </a:txBody>
                  <a:tcPr marL="121920" marR="121920" marT="45740" marB="4574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c, d, f, g</a:t>
                      </a:r>
                    </a:p>
                  </a:txBody>
                  <a:tcPr marL="121920" marR="121920" marT="45740" marB="4574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Line 299"/>
          <p:cNvSpPr>
            <a:spLocks noChangeShapeType="1"/>
          </p:cNvSpPr>
          <p:nvPr/>
        </p:nvSpPr>
        <p:spPr bwMode="auto">
          <a:xfrm>
            <a:off x="9859838" y="5891141"/>
            <a:ext cx="1955214" cy="6708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0" name="Line 310"/>
          <p:cNvSpPr>
            <a:spLocks noChangeShapeType="1"/>
          </p:cNvSpPr>
          <p:nvPr/>
        </p:nvSpPr>
        <p:spPr bwMode="auto">
          <a:xfrm>
            <a:off x="10900368" y="6153134"/>
            <a:ext cx="304800" cy="22860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1" name="Line 310"/>
          <p:cNvSpPr>
            <a:spLocks noChangeShapeType="1"/>
          </p:cNvSpPr>
          <p:nvPr/>
        </p:nvSpPr>
        <p:spPr bwMode="auto">
          <a:xfrm>
            <a:off x="10163603" y="5809049"/>
            <a:ext cx="304800" cy="22860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2" name="Oval 24"/>
          <p:cNvSpPr/>
          <p:nvPr/>
        </p:nvSpPr>
        <p:spPr>
          <a:xfrm>
            <a:off x="10163603" y="5757992"/>
            <a:ext cx="262497" cy="2797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3" name="Text Box 123"/>
          <p:cNvSpPr txBox="1">
            <a:spLocks noChangeArrowheads="1"/>
          </p:cNvSpPr>
          <p:nvPr/>
        </p:nvSpPr>
        <p:spPr bwMode="auto">
          <a:xfrm>
            <a:off x="9770482" y="4922294"/>
            <a:ext cx="1705916" cy="36933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b’s-proj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. 数据库</a:t>
            </a:r>
          </a:p>
        </p:txBody>
      </p:sp>
      <p:sp>
        <p:nvSpPr>
          <p:cNvPr id="34" name="Oval 26"/>
          <p:cNvSpPr/>
          <p:nvPr/>
        </p:nvSpPr>
        <p:spPr>
          <a:xfrm>
            <a:off x="10900368" y="6121857"/>
            <a:ext cx="262497" cy="2797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65768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5" grpId="0" animBg="1"/>
      <p:bldP spid="10316" grpId="0" animBg="1"/>
      <p:bldP spid="4" grpId="0" animBg="1"/>
      <p:bldP spid="5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-101600" y="228599"/>
            <a:ext cx="12395200" cy="71437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CN" sz="4000" dirty="0">
                <a:ea typeface="STKaiti" panose="02010600040101010101" pitchFamily="2" charset="-122"/>
              </a:rPr>
              <a:t>数据空间剪枝的递归探索（续）</a:t>
            </a:r>
            <a:endParaRPr lang="en-US" sz="4000" dirty="0">
              <a:ea typeface="STKaiti" panose="02010600040101010101" pitchFamily="2" charset="-122"/>
              <a:cs typeface="SimSun" charset="0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069110"/>
              </p:ext>
            </p:extLst>
          </p:nvPr>
        </p:nvGraphicFramePr>
        <p:xfrm>
          <a:off x="1712686" y="3086124"/>
          <a:ext cx="2153343" cy="146355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79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35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85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TID</a:t>
                      </a:r>
                    </a:p>
                  </a:txBody>
                  <a:tcPr marL="121920" marR="121920" marT="45740" marB="457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事务</a:t>
                      </a:r>
                    </a:p>
                  </a:txBody>
                  <a:tcPr marL="121920" marR="121920" marT="45740" marB="4574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121920" marR="121920" marT="45740" marB="4574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a, c, d, f, h</a:t>
                      </a:r>
                    </a:p>
                  </a:txBody>
                  <a:tcPr marL="121920" marR="121920" marT="45740" marB="4574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121920" marR="121920" marT="45740" marB="4574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c, d, f, g, h</a:t>
                      </a:r>
                    </a:p>
                  </a:txBody>
                  <a:tcPr marL="121920" marR="121920" marT="45740" marB="4574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121920" marR="121920" marT="45740" marB="4574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c, d, f, g</a:t>
                      </a:r>
                    </a:p>
                  </a:txBody>
                  <a:tcPr marL="121920" marR="121920" marT="45740" marB="4574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317" name="Line 299"/>
          <p:cNvSpPr>
            <a:spLocks noChangeShapeType="1"/>
          </p:cNvSpPr>
          <p:nvPr/>
        </p:nvSpPr>
        <p:spPr bwMode="auto">
          <a:xfrm>
            <a:off x="1802042" y="3633193"/>
            <a:ext cx="1955214" cy="6708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0318" name="AutoShape 302"/>
          <p:cNvSpPr>
            <a:spLocks noChangeArrowheads="1"/>
          </p:cNvSpPr>
          <p:nvPr/>
        </p:nvSpPr>
        <p:spPr bwMode="auto">
          <a:xfrm>
            <a:off x="4230494" y="3146217"/>
            <a:ext cx="1359764" cy="973952"/>
          </a:xfrm>
          <a:prstGeom prst="wedgeRoundRectCallout">
            <a:avLst>
              <a:gd name="adj1" fmla="val -75662"/>
              <a:gd name="adj2" fmla="val 1917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递归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数据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剪枝</a:t>
            </a:r>
          </a:p>
        </p:txBody>
      </p:sp>
      <p:sp>
        <p:nvSpPr>
          <p:cNvPr id="10319" name="Line 310"/>
          <p:cNvSpPr>
            <a:spLocks noChangeShapeType="1"/>
          </p:cNvSpPr>
          <p:nvPr/>
        </p:nvSpPr>
        <p:spPr bwMode="auto">
          <a:xfrm>
            <a:off x="3172104" y="3899303"/>
            <a:ext cx="304800" cy="22860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0320" name="Line 310"/>
          <p:cNvSpPr>
            <a:spLocks noChangeShapeType="1"/>
          </p:cNvSpPr>
          <p:nvPr/>
        </p:nvSpPr>
        <p:spPr bwMode="auto">
          <a:xfrm>
            <a:off x="2274475" y="3537148"/>
            <a:ext cx="304800" cy="22860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0321" name="Curved Left Arrow 16"/>
          <p:cNvSpPr>
            <a:spLocks noChangeArrowheads="1"/>
          </p:cNvSpPr>
          <p:nvPr/>
        </p:nvSpPr>
        <p:spPr bwMode="auto">
          <a:xfrm rot="16200000" flipH="1">
            <a:off x="4611849" y="3052661"/>
            <a:ext cx="411376" cy="2774585"/>
          </a:xfrm>
          <a:prstGeom prst="curvedLeftArrow">
            <a:avLst>
              <a:gd name="adj1" fmla="val 24965"/>
              <a:gd name="adj2" fmla="val 49949"/>
              <a:gd name="adj3" fmla="val 25000"/>
            </a:avLst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0322" name="Text Box 123"/>
          <p:cNvSpPr txBox="1">
            <a:spLocks noChangeArrowheads="1"/>
          </p:cNvSpPr>
          <p:nvPr/>
        </p:nvSpPr>
        <p:spPr bwMode="auto">
          <a:xfrm>
            <a:off x="6276835" y="3337093"/>
            <a:ext cx="1334020" cy="40011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b 的 FP-树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42632" y="3760227"/>
            <a:ext cx="2363694" cy="4000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单分支：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cdfg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：2 </a:t>
            </a:r>
          </a:p>
        </p:txBody>
      </p:sp>
      <p:sp>
        <p:nvSpPr>
          <p:cNvPr id="20" name="Text Box 56"/>
          <p:cNvSpPr txBox="1">
            <a:spLocks noChangeArrowheads="1"/>
          </p:cNvSpPr>
          <p:nvPr/>
        </p:nvSpPr>
        <p:spPr bwMode="auto">
          <a:xfrm>
            <a:off x="8116690" y="2881114"/>
            <a:ext cx="2362624" cy="707886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约束条件: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范围{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S.profit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} &gt; 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15744" y="3923701"/>
            <a:ext cx="3471465" cy="707886"/>
          </a:xfrm>
          <a:prstGeom prst="rect">
            <a:avLst/>
          </a:prstGeom>
          <a:solidFill>
            <a:srgbClr val="F0CDBC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仅在 b 的投影数据库中挖掘单个分支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“cdfg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: 2”</a:t>
            </a:r>
          </a:p>
        </p:txBody>
      </p:sp>
      <p:sp>
        <p:nvSpPr>
          <p:cNvPr id="24" name="Rectangle 3"/>
          <p:cNvSpPr txBox="1">
            <a:spLocks noChangeArrowheads="1"/>
          </p:cNvSpPr>
          <p:nvPr/>
        </p:nvSpPr>
        <p:spPr>
          <a:xfrm>
            <a:off x="335760" y="5560676"/>
            <a:ext cx="11650592" cy="641303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461963" indent="-4619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88" indent="-5381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4746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88" indent="-522288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63" indent="-508000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7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6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6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5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1963" marR="0" lvl="0" indent="-461963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sym typeface="Wingdings" pitchFamily="2" charset="2"/>
              </a:rPr>
              <a:t>注：c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sym typeface="Wingdings" pitchFamily="2" charset="2"/>
              </a:rPr>
              <a:t>3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 仅在b的投影数据库中“a”被剪枝（由min-sup操作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sym typeface="Wingdings" pitchFamily="2" charset="2"/>
              </a:rPr>
              <a:t>）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后，才有效地剪枝T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10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Kaiti" panose="02010600040101010101" pitchFamily="2" charset="-122"/>
              <a:ea typeface="STKaiti" panose="02010600040101010101" pitchFamily="2" charset="-122"/>
              <a:sym typeface="Wingdings" pitchFamily="2" charset="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2334558" y="3500044"/>
            <a:ext cx="262497" cy="2797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26" name="Text Box 123"/>
          <p:cNvSpPr txBox="1">
            <a:spLocks noChangeArrowheads="1"/>
          </p:cNvSpPr>
          <p:nvPr/>
        </p:nvSpPr>
        <p:spPr bwMode="auto">
          <a:xfrm>
            <a:off x="538747" y="3070877"/>
            <a:ext cx="1747594" cy="36933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b 的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投影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数据库</a:t>
            </a:r>
          </a:p>
        </p:txBody>
      </p:sp>
      <p:sp>
        <p:nvSpPr>
          <p:cNvPr id="27" name="Oval 26"/>
          <p:cNvSpPr/>
          <p:nvPr/>
        </p:nvSpPr>
        <p:spPr>
          <a:xfrm>
            <a:off x="3172104" y="3868026"/>
            <a:ext cx="262497" cy="2797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0265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17" grpId="0" animBg="1"/>
      <p:bldP spid="10318" grpId="0" animBg="1"/>
      <p:bldP spid="10319" grpId="0" animBg="1"/>
      <p:bldP spid="10320" grpId="0" animBg="1"/>
      <p:bldP spid="10321" grpId="0" animBg="1"/>
      <p:bldP spid="10322" grpId="0" animBg="1"/>
      <p:bldP spid="19" grpId="0" animBg="1"/>
      <p:bldP spid="20" grpId="0" animBg="1"/>
      <p:bldP spid="23" grpId="0" animBg="1"/>
      <p:bldP spid="24" grpId="0"/>
      <p:bldP spid="25" grpId="0" animBg="1"/>
      <p:bldP spid="26" grpId="0" animBg="1"/>
      <p:bldP spid="2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32509"/>
            <a:ext cx="12192000" cy="658091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>
                <a:ea typeface="STKaiti" panose="02010600040101010101" pitchFamily="2" charset="-122"/>
              </a:rPr>
              <a:t>简洁性：同时对数据空间和模式空间进行剪枝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idx="1"/>
          </p:nvPr>
        </p:nvSpPr>
        <p:spPr>
          <a:xfrm>
            <a:off x="508000" y="1210147"/>
            <a:ext cx="10845046" cy="5453204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charset="0"/>
              <a:buChar char="n"/>
              <a:defRPr/>
            </a:pPr>
            <a:r>
              <a:rPr lang="en-US" sz="2400" dirty="0">
                <a:ea typeface="STKaiti" panose="02010600040101010101" pitchFamily="2" charset="-122"/>
              </a:rPr>
              <a:t>简洁性：如果约束</a:t>
            </a:r>
            <a:r>
              <a:rPr lang="en-US" sz="2400" i="1" dirty="0">
                <a:ea typeface="STKaiti" panose="02010600040101010101" pitchFamily="2" charset="-122"/>
              </a:rPr>
              <a:t>条件c</a:t>
            </a:r>
            <a:r>
              <a:rPr lang="en-US" sz="2400" dirty="0">
                <a:ea typeface="STKaiti" panose="02010600040101010101" pitchFamily="2" charset="-122"/>
              </a:rPr>
              <a:t>可以通过直接操作数据来满足</a:t>
            </a:r>
          </a:p>
          <a:p>
            <a:pPr eaLnBrk="1" hangingPunct="1">
              <a:lnSpc>
                <a:spcPct val="110000"/>
              </a:lnSpc>
              <a:buFont typeface="Wingdings" charset="0"/>
              <a:buChar char="n"/>
              <a:defRPr/>
            </a:pPr>
            <a:r>
              <a:rPr lang="en-US" sz="2400" dirty="0">
                <a:ea typeface="STKaiti" panose="02010600040101010101" pitchFamily="2" charset="-122"/>
              </a:rPr>
              <a:t>示例 1：查找包含项目 </a:t>
            </a:r>
            <a:r>
              <a:rPr lang="en-US" sz="2400" i="1" dirty="0" err="1">
                <a:ea typeface="STKaiti" panose="02010600040101010101" pitchFamily="2" charset="-122"/>
              </a:rPr>
              <a:t>i</a:t>
            </a:r>
            <a:r>
              <a:rPr lang="en-US" sz="2400" dirty="0">
                <a:ea typeface="STKaiti" panose="02010600040101010101" pitchFamily="2" charset="-122"/>
              </a:rPr>
              <a:t> 的模式</a:t>
            </a:r>
            <a:endParaRPr lang="en-US" sz="2400" i="1" dirty="0">
              <a:ea typeface="STKaiti" panose="02010600040101010101" pitchFamily="2" charset="-122"/>
            </a:endParaRPr>
          </a:p>
          <a:p>
            <a:pPr lvl="1">
              <a:lnSpc>
                <a:spcPct val="110000"/>
              </a:lnSpc>
              <a:buFont typeface="Wingdings" charset="0"/>
              <a:buChar char="n"/>
              <a:defRPr/>
            </a:pPr>
            <a:r>
              <a:rPr lang="en-US" sz="2400" dirty="0">
                <a:ea typeface="STKaiti" panose="02010600040101010101" pitchFamily="2" charset="-122"/>
                <a:sym typeface="Symbol" charset="0"/>
              </a:rPr>
              <a:t>仅挖掘i-投影数据库</a:t>
            </a:r>
            <a:r>
              <a:rPr lang="en-US" sz="2400" dirty="0">
                <a:ea typeface="STKaiti" panose="02010600040101010101" pitchFamily="2" charset="-122"/>
              </a:rPr>
              <a:t>（数据空间剪枝）</a:t>
            </a:r>
          </a:p>
          <a:p>
            <a:pPr>
              <a:lnSpc>
                <a:spcPct val="110000"/>
              </a:lnSpc>
              <a:buFont typeface="Wingdings" charset="0"/>
              <a:buChar char="n"/>
              <a:defRPr/>
            </a:pPr>
            <a:r>
              <a:rPr lang="en-US" sz="2400" dirty="0">
                <a:ea typeface="STKaiti" panose="02010600040101010101" pitchFamily="2" charset="-122"/>
              </a:rPr>
              <a:t>示例 2：查找不包含项 </a:t>
            </a:r>
            <a:r>
              <a:rPr lang="en-US" sz="2400" i="1" dirty="0" err="1">
                <a:ea typeface="STKaiti" panose="02010600040101010101" pitchFamily="2" charset="-122"/>
              </a:rPr>
              <a:t>i</a:t>
            </a:r>
            <a:r>
              <a:rPr lang="en-US" sz="2400" dirty="0">
                <a:ea typeface="STKaiti" panose="02010600040101010101" pitchFamily="2" charset="-122"/>
              </a:rPr>
              <a:t> 的模式</a:t>
            </a:r>
            <a:endParaRPr lang="en-US" sz="2400" i="1" dirty="0">
              <a:ea typeface="STKaiti" panose="02010600040101010101" pitchFamily="2" charset="-122"/>
            </a:endParaRPr>
          </a:p>
          <a:p>
            <a:pPr lvl="1">
              <a:lnSpc>
                <a:spcPct val="110000"/>
              </a:lnSpc>
              <a:buFont typeface="Wingdings" charset="0"/>
              <a:buChar char="n"/>
              <a:defRPr/>
            </a:pPr>
            <a:r>
              <a:rPr lang="en-US" sz="2400" dirty="0">
                <a:ea typeface="STKaiti" panose="02010600040101010101" pitchFamily="2" charset="-122"/>
              </a:rPr>
              <a:t>从数据库中移除</a:t>
            </a:r>
            <a:r>
              <a:rPr lang="en-US" sz="2400" i="1" dirty="0" err="1">
                <a:ea typeface="STKaiti" panose="02010600040101010101" pitchFamily="2" charset="-122"/>
              </a:rPr>
              <a:t>i</a:t>
            </a:r>
            <a:r>
              <a:rPr lang="en-US" sz="2400" dirty="0">
                <a:ea typeface="STKaiti" panose="02010600040101010101" pitchFamily="2" charset="-122"/>
              </a:rPr>
              <a:t>，然后进行挖掘（模式空间剪枝）</a:t>
            </a:r>
            <a:endParaRPr lang="en-US" sz="2400" dirty="0">
              <a:ea typeface="STKaiti" panose="02010600040101010101" pitchFamily="2" charset="-122"/>
              <a:sym typeface="Symbol" charset="0"/>
            </a:endParaRPr>
          </a:p>
          <a:p>
            <a:pPr eaLnBrk="1" hangingPunct="1">
              <a:lnSpc>
                <a:spcPct val="110000"/>
              </a:lnSpc>
              <a:buFont typeface="Wingdings" charset="0"/>
              <a:buChar char="n"/>
              <a:defRPr/>
            </a:pPr>
            <a:r>
              <a:rPr lang="en-US" sz="2400" dirty="0">
                <a:ea typeface="STKaiti" panose="02010600040101010101" pitchFamily="2" charset="-122"/>
                <a:sym typeface="Symbol" charset="0"/>
              </a:rPr>
              <a:t>示例 3：约束 c</a:t>
            </a:r>
            <a:r>
              <a:rPr lang="en-US" sz="2400" baseline="-25000" dirty="0">
                <a:ea typeface="STKaiti" panose="02010600040101010101" pitchFamily="2" charset="-122"/>
                <a:sym typeface="Symbol" charset="0"/>
              </a:rPr>
              <a:t>3</a:t>
            </a:r>
            <a:r>
              <a:rPr lang="en-US" sz="2400" dirty="0">
                <a:ea typeface="STKaiti" panose="02010600040101010101" pitchFamily="2" charset="-122"/>
                <a:sym typeface="Symbol" charset="0"/>
              </a:rPr>
              <a:t> ：</a:t>
            </a:r>
            <a:r>
              <a:rPr lang="en-US" sz="2400" i="1" dirty="0">
                <a:ea typeface="STKaiti" panose="02010600040101010101" pitchFamily="2" charset="-122"/>
                <a:sym typeface="Symbol" charset="0"/>
              </a:rPr>
              <a:t>min</a:t>
            </a:r>
            <a:r>
              <a:rPr lang="en-US" sz="2400" dirty="0">
                <a:ea typeface="STKaiti" panose="02010600040101010101" pitchFamily="2" charset="-122"/>
                <a:sym typeface="Symbol" charset="0"/>
              </a:rPr>
              <a:t>(</a:t>
            </a:r>
            <a:r>
              <a:rPr lang="en-US" sz="2400" i="1" dirty="0" err="1">
                <a:ea typeface="STKaiti" panose="02010600040101010101" pitchFamily="2" charset="-122"/>
                <a:sym typeface="Symbol" charset="0"/>
              </a:rPr>
              <a:t>S.Price</a:t>
            </a:r>
            <a:r>
              <a:rPr lang="en-US" sz="2400" dirty="0">
                <a:ea typeface="STKaiti" panose="02010600040101010101" pitchFamily="2" charset="-122"/>
                <a:sym typeface="Symbol" charset="0"/>
              </a:rPr>
              <a:t>) ≤ </a:t>
            </a:r>
            <a:r>
              <a:rPr lang="en-US" sz="2400" i="1" dirty="0">
                <a:ea typeface="STKaiti" panose="02010600040101010101" pitchFamily="2" charset="-122"/>
                <a:sym typeface="Symbol" charset="0"/>
              </a:rPr>
              <a:t>v </a:t>
            </a:r>
            <a:r>
              <a:rPr lang="en-US" sz="2400" dirty="0">
                <a:ea typeface="STKaiti" panose="02010600040101010101" pitchFamily="2" charset="-122"/>
                <a:sym typeface="Symbol" charset="0"/>
              </a:rPr>
              <a:t>是简洁的</a:t>
            </a:r>
          </a:p>
          <a:p>
            <a:pPr lvl="1">
              <a:lnSpc>
                <a:spcPct val="110000"/>
              </a:lnSpc>
              <a:buFont typeface="Wingdings" charset="0"/>
              <a:buChar char="n"/>
              <a:defRPr/>
            </a:pPr>
            <a:r>
              <a:rPr lang="en-US" sz="2400" dirty="0">
                <a:ea typeface="STKaiti" panose="02010600040101010101" pitchFamily="2" charset="-122"/>
                <a:sym typeface="Symbol" charset="0"/>
              </a:rPr>
              <a:t>从仅包含价格 ≤ v 的商品</a:t>
            </a:r>
            <a:r>
              <a:rPr lang="en-US" sz="2400" dirty="0">
                <a:ea typeface="STKaiti" panose="02010600040101010101" pitchFamily="2" charset="-122"/>
              </a:rPr>
              <a:t>开始，并移除包含高价商品的交易（模式 + 数据空间剪枝）</a:t>
            </a:r>
            <a:endParaRPr lang="en-US" sz="2400" dirty="0">
              <a:ea typeface="STKaiti" panose="02010600040101010101" pitchFamily="2" charset="-122"/>
              <a:sym typeface="Symbol" charset="0"/>
            </a:endParaRPr>
          </a:p>
          <a:p>
            <a:pPr>
              <a:lnSpc>
                <a:spcPct val="110000"/>
              </a:lnSpc>
              <a:buFont typeface="Wingdings" charset="0"/>
              <a:buChar char="n"/>
              <a:defRPr/>
            </a:pPr>
            <a:r>
              <a:rPr lang="en-US" sz="2400" dirty="0">
                <a:ea typeface="STKaiti" panose="02010600040101010101" pitchFamily="2" charset="-122"/>
                <a:sym typeface="Symbol" charset="0"/>
              </a:rPr>
              <a:t>示例 4：c</a:t>
            </a:r>
            <a:r>
              <a:rPr lang="en-US" sz="2400" baseline="-25000" dirty="0">
                <a:ea typeface="STKaiti" panose="02010600040101010101" pitchFamily="2" charset="-122"/>
                <a:sym typeface="Symbol" charset="0"/>
              </a:rPr>
              <a:t>4</a:t>
            </a:r>
            <a:r>
              <a:rPr lang="en-US" sz="2400" dirty="0">
                <a:ea typeface="STKaiti" panose="02010600040101010101" pitchFamily="2" charset="-122"/>
                <a:sym typeface="Symbol" charset="0"/>
              </a:rPr>
              <a:t> ：</a:t>
            </a:r>
            <a:r>
              <a:rPr lang="en-US" sz="2400" i="1" dirty="0">
                <a:ea typeface="STKaiti" panose="02010600040101010101" pitchFamily="2" charset="-122"/>
                <a:sym typeface="Symbol" charset="0"/>
              </a:rPr>
              <a:t>sum</a:t>
            </a:r>
            <a:r>
              <a:rPr lang="en-US" sz="2400" dirty="0">
                <a:ea typeface="STKaiti" panose="02010600040101010101" pitchFamily="2" charset="-122"/>
                <a:sym typeface="Symbol" charset="0"/>
              </a:rPr>
              <a:t>(</a:t>
            </a:r>
            <a:r>
              <a:rPr lang="en-US" sz="2400" i="1" dirty="0" err="1">
                <a:ea typeface="STKaiti" panose="02010600040101010101" pitchFamily="2" charset="-122"/>
                <a:sym typeface="Symbol" charset="0"/>
              </a:rPr>
              <a:t>S.Price</a:t>
            </a:r>
            <a:r>
              <a:rPr lang="en-US" sz="2400" dirty="0">
                <a:ea typeface="STKaiti" panose="02010600040101010101" pitchFamily="2" charset="-122"/>
                <a:sym typeface="Symbol" charset="0"/>
              </a:rPr>
              <a:t>)  </a:t>
            </a:r>
            <a:r>
              <a:rPr lang="en-US" sz="2400" i="1" dirty="0">
                <a:ea typeface="STKaiti" panose="02010600040101010101" pitchFamily="2" charset="-122"/>
                <a:sym typeface="Symbol" charset="0"/>
              </a:rPr>
              <a:t>v</a:t>
            </a:r>
            <a:r>
              <a:rPr lang="en-US" sz="2400" dirty="0">
                <a:ea typeface="STKaiti" panose="02010600040101010101" pitchFamily="2" charset="-122"/>
                <a:sym typeface="Symbol" charset="0"/>
              </a:rPr>
              <a:t> 不是紧凑的</a:t>
            </a:r>
          </a:p>
          <a:p>
            <a:pPr lvl="1" eaLnBrk="1" hangingPunct="1">
              <a:lnSpc>
                <a:spcPct val="110000"/>
              </a:lnSpc>
              <a:buFont typeface="Wingdings" charset="0"/>
              <a:buChar char="n"/>
              <a:defRPr/>
            </a:pPr>
            <a:r>
              <a:rPr lang="en-US" sz="2400" dirty="0">
                <a:ea typeface="STKaiti" panose="02010600040101010101" pitchFamily="2" charset="-122"/>
                <a:sym typeface="Symbol" charset="0"/>
              </a:rPr>
              <a:t>无法提前确定，</a:t>
            </a:r>
            <a:r>
              <a:rPr lang="en-US" sz="2400" dirty="0" err="1">
                <a:ea typeface="STKaiti" panose="02010600040101010101" pitchFamily="2" charset="-122"/>
                <a:sym typeface="Symbol" charset="0"/>
              </a:rPr>
              <a:t>因为商品集 </a:t>
            </a:r>
            <a:r>
              <a:rPr lang="en-US" sz="2400" dirty="0">
                <a:ea typeface="STKaiti" panose="02010600040101010101" pitchFamily="2" charset="-122"/>
                <a:sym typeface="Symbol" charset="0"/>
              </a:rPr>
              <a:t>S 的价格总和会持续增加</a:t>
            </a:r>
          </a:p>
        </p:txBody>
      </p:sp>
    </p:spTree>
    <p:extLst>
      <p:ext uri="{BB962C8B-B14F-4D97-AF65-F5344CB8AC3E}">
        <p14:creationId xmlns:p14="http://schemas.microsoft.com/office/powerpoint/2010/main" val="2259796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508000" y="302445"/>
            <a:ext cx="11074400" cy="748861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>
                <a:ea typeface="STKaiti" panose="02010600040101010101" pitchFamily="2" charset="-122"/>
              </a:rPr>
              <a:t>不同类型的约束导致不同的剪枝策略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idx="1"/>
          </p:nvPr>
        </p:nvSpPr>
        <p:spPr>
          <a:xfrm>
            <a:off x="508000" y="1246434"/>
            <a:ext cx="10863756" cy="5217427"/>
          </a:xfrm>
        </p:spPr>
        <p:txBody>
          <a:bodyPr/>
          <a:lstStyle/>
          <a:p>
            <a:pPr>
              <a:buFont typeface="Wingdings" charset="0"/>
              <a:buChar char="n"/>
              <a:defRPr/>
            </a:pPr>
            <a:r>
              <a:rPr lang="en-US" sz="2400" dirty="0">
                <a:ea typeface="STKaiti" panose="02010600040101010101" pitchFamily="2" charset="-122"/>
              </a:rPr>
              <a:t>简而言之，约束可分为</a:t>
            </a:r>
            <a:r>
              <a:rPr lang="en-US" altLang="zh-CN" sz="2400" dirty="0">
                <a:solidFill>
                  <a:srgbClr val="FF0000"/>
                </a:solidFill>
                <a:ea typeface="STKaiti" panose="02010600040101010101" pitchFamily="2" charset="-122"/>
              </a:rPr>
              <a:t>模式空间剪枝</a:t>
            </a:r>
            <a:r>
              <a:rPr lang="en-US" altLang="zh-CN" sz="2400" dirty="0">
                <a:solidFill>
                  <a:srgbClr val="000000"/>
                </a:solidFill>
                <a:ea typeface="STKaiti" panose="02010600040101010101" pitchFamily="2" charset="-122"/>
              </a:rPr>
              <a:t>约束与</a:t>
            </a:r>
            <a:r>
              <a:rPr lang="en-US" altLang="zh-CN" sz="2400" dirty="0">
                <a:solidFill>
                  <a:srgbClr val="FF0000"/>
                </a:solidFill>
                <a:ea typeface="STKaiti" panose="02010600040101010101" pitchFamily="2" charset="-122"/>
              </a:rPr>
              <a:t>数据空间剪枝</a:t>
            </a:r>
            <a:r>
              <a:rPr lang="en-US" altLang="zh-CN" sz="2400" dirty="0">
                <a:solidFill>
                  <a:srgbClr val="000000"/>
                </a:solidFill>
                <a:ea typeface="STKaiti" panose="02010600040101010101" pitchFamily="2" charset="-122"/>
              </a:rPr>
              <a:t>约束 </a:t>
            </a:r>
            <a:endParaRPr lang="en-US" altLang="zh-CN" sz="2400" dirty="0">
              <a:solidFill>
                <a:srgbClr val="FF0000"/>
              </a:solidFill>
              <a:ea typeface="STKaiti" panose="02010600040101010101" pitchFamily="2" charset="-122"/>
            </a:endParaRPr>
          </a:p>
          <a:p>
            <a:pPr>
              <a:buFont typeface="Wingdings" charset="0"/>
              <a:buChar char="n"/>
              <a:defRPr/>
            </a:pPr>
            <a:endParaRPr lang="en-US" sz="2400" dirty="0">
              <a:ea typeface="STKaiti" panose="02010600040101010101" pitchFamily="2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958559"/>
              </p:ext>
            </p:extLst>
          </p:nvPr>
        </p:nvGraphicFramePr>
        <p:xfrm>
          <a:off x="461625" y="1807033"/>
          <a:ext cx="11469396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63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3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757"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bg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模式空间剪枝约束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bg1"/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数据空间剪枝</a:t>
                      </a:r>
                      <a:r>
                        <a:rPr lang="en-US" altLang="zh-CN" sz="20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约束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2455">
                <a:tc>
                  <a:txBody>
                    <a:bodyPr/>
                    <a:lstStyle/>
                    <a:p>
                      <a:pPr marL="738170" marR="0" lvl="1" indent="-538149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BD582C"/>
                        </a:buClr>
                        <a:buSzPct val="80000"/>
                        <a:buFont typeface="Wingdings" charset="0"/>
                        <a:buChar char="n"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STKaiti" panose="02010600040101010101" pitchFamily="2" charset="-122"/>
                          <a:ea typeface="STKaiti" panose="02010600040101010101" pitchFamily="2" charset="-122"/>
                          <a:cs typeface="+mn-cs"/>
                        </a:rPr>
                        <a:t>反单调：</a:t>
                      </a:r>
                      <a:r>
                        <a:rPr kumimoji="0" lang="en-US" altLang="zh-CN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TKaiti" panose="02010600040101010101" pitchFamily="2" charset="-122"/>
                          <a:ea typeface="STKaiti" panose="02010600040101010101" pitchFamily="2" charset="-122"/>
                          <a:cs typeface="+mn-cs"/>
                        </a:rPr>
                        <a:t>若约束 </a:t>
                      </a:r>
                      <a:r>
                        <a:rPr kumimoji="0" lang="en-US" altLang="zh-CN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TKaiti" panose="02010600040101010101" pitchFamily="2" charset="-122"/>
                          <a:ea typeface="STKaiti" panose="02010600040101010101" pitchFamily="2" charset="-122"/>
                          <a:cs typeface="+mn-cs"/>
                        </a:rPr>
                        <a:t>c</a:t>
                      </a:r>
                      <a:r>
                        <a:rPr kumimoji="0" lang="en-US" altLang="zh-CN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TKaiti" panose="02010600040101010101" pitchFamily="2" charset="-122"/>
                          <a:ea typeface="STKaiti" panose="02010600040101010101" pitchFamily="2" charset="-122"/>
                          <a:cs typeface="+mn-cs"/>
                        </a:rPr>
                        <a:t> 被违反，则可终止其进一步挖掘</a:t>
                      </a:r>
                    </a:p>
                    <a:p>
                      <a:pPr marL="738170" marR="0" lvl="1" indent="-538149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BD582C"/>
                        </a:buClr>
                        <a:buSzPct val="80000"/>
                        <a:buFont typeface="Wingdings" charset="0"/>
                        <a:buChar char="n"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STKaiti" panose="02010600040101010101" pitchFamily="2" charset="-122"/>
                          <a:ea typeface="STKaiti" panose="02010600040101010101" pitchFamily="2" charset="-122"/>
                          <a:cs typeface="+mn-cs"/>
                        </a:rPr>
                        <a:t>单调性：</a:t>
                      </a:r>
                      <a:r>
                        <a:rPr kumimoji="0" lang="en-US" altLang="zh-CN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TKaiti" panose="02010600040101010101" pitchFamily="2" charset="-122"/>
                          <a:ea typeface="STKaiti" panose="02010600040101010101" pitchFamily="2" charset="-122"/>
                          <a:cs typeface="+mn-cs"/>
                        </a:rPr>
                        <a:t>若约束 </a:t>
                      </a:r>
                      <a:r>
                        <a:rPr kumimoji="0" lang="en-US" altLang="zh-CN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TKaiti" panose="02010600040101010101" pitchFamily="2" charset="-122"/>
                          <a:ea typeface="STKaiti" panose="02010600040101010101" pitchFamily="2" charset="-122"/>
                          <a:cs typeface="+mn-cs"/>
                        </a:rPr>
                        <a:t>c </a:t>
                      </a:r>
                      <a:r>
                        <a:rPr kumimoji="0" lang="en-US" altLang="zh-CN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TKaiti" panose="02010600040101010101" pitchFamily="2" charset="-122"/>
                          <a:ea typeface="STKaiti" panose="02010600040101010101" pitchFamily="2" charset="-122"/>
                          <a:cs typeface="+mn-cs"/>
                        </a:rPr>
                        <a:t>成立，则无需再次检查 </a:t>
                      </a:r>
                      <a:r>
                        <a:rPr kumimoji="0" lang="en-US" altLang="zh-CN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TKaiti" panose="02010600040101010101" pitchFamily="2" charset="-122"/>
                          <a:ea typeface="STKaiti" panose="02010600040101010101" pitchFamily="2" charset="-122"/>
                          <a:cs typeface="+mn-cs"/>
                        </a:rPr>
                        <a:t>c</a:t>
                      </a:r>
                    </a:p>
                    <a:p>
                      <a:pPr marL="738170" marR="0" lvl="1" indent="-538149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BD582C"/>
                        </a:buClr>
                        <a:buSzPct val="80000"/>
                        <a:buFont typeface="Wingdings" charset="0"/>
                        <a:buChar char="n"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STKaiti" panose="02010600040101010101" pitchFamily="2" charset="-122"/>
                          <a:ea typeface="STKaiti" panose="02010600040101010101" pitchFamily="2" charset="-122"/>
                          <a:cs typeface="+mn-cs"/>
                        </a:rPr>
                        <a:t>可转换性：</a:t>
                      </a:r>
                      <a:r>
                        <a:rPr kumimoji="0" lang="en-US" altLang="zh-CN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TKaiti" panose="02010600040101010101" pitchFamily="2" charset="-122"/>
                          <a:ea typeface="STKaiti" panose="02010600040101010101" pitchFamily="2" charset="-122"/>
                          <a:cs typeface="+mn-cs"/>
                        </a:rPr>
                        <a:t>若在处理过程中可对项进行合理排序，则约束 </a:t>
                      </a:r>
                      <a:r>
                        <a:rPr kumimoji="0" lang="en-US" altLang="zh-CN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TKaiti" panose="02010600040101010101" pitchFamily="2" charset="-122"/>
                          <a:ea typeface="STKaiti" panose="02010600040101010101" pitchFamily="2" charset="-122"/>
                          <a:cs typeface="+mn-cs"/>
                        </a:rPr>
                        <a:t>c</a:t>
                      </a:r>
                      <a:r>
                        <a:rPr kumimoji="0" lang="en-US" altLang="zh-CN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TKaiti" panose="02010600040101010101" pitchFamily="2" charset="-122"/>
                          <a:ea typeface="STKaiti" panose="02010600040101010101" pitchFamily="2" charset="-122"/>
                          <a:cs typeface="+mn-cs"/>
                        </a:rPr>
                        <a:t> 可转换为单调或反单调</a:t>
                      </a:r>
                    </a:p>
                    <a:p>
                      <a:pPr marL="738170" marR="0" lvl="1" indent="-538149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BD582C"/>
                        </a:buClr>
                        <a:buSzPct val="80000"/>
                        <a:buFont typeface="Wingdings" charset="0"/>
                        <a:buChar char="n"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STKaiti" panose="02010600040101010101" pitchFamily="2" charset="-122"/>
                          <a:ea typeface="STKaiti" panose="02010600040101010101" pitchFamily="2" charset="-122"/>
                          <a:cs typeface="+mn-cs"/>
                        </a:rPr>
                        <a:t>简洁性：</a:t>
                      </a:r>
                      <a:r>
                        <a:rPr kumimoji="0" lang="en-US" altLang="zh-CN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TKaiti" panose="02010600040101010101" pitchFamily="2" charset="-122"/>
                          <a:ea typeface="STKaiti" panose="02010600040101010101" pitchFamily="2" charset="-122"/>
                          <a:cs typeface="+mn-cs"/>
                        </a:rPr>
                        <a:t>若约束 </a:t>
                      </a:r>
                      <a:r>
                        <a:rPr kumimoji="0" lang="en-US" altLang="zh-CN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TKaiti" panose="02010600040101010101" pitchFamily="2" charset="-122"/>
                          <a:ea typeface="STKaiti" panose="02010600040101010101" pitchFamily="2" charset="-122"/>
                          <a:cs typeface="+mn-cs"/>
                        </a:rPr>
                        <a:t>c</a:t>
                      </a:r>
                      <a:r>
                        <a:rPr kumimoji="0" lang="en-US" altLang="zh-CN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TKaiti" panose="02010600040101010101" pitchFamily="2" charset="-122"/>
                          <a:ea typeface="STKaiti" panose="02010600040101010101" pitchFamily="2" charset="-122"/>
                          <a:cs typeface="+mn-cs"/>
                        </a:rPr>
                        <a:t> </a:t>
                      </a:r>
                      <a:r>
                        <a:rPr kumimoji="0" lang="en-US" altLang="zh-CN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TKaiti" panose="02010600040101010101" pitchFamily="2" charset="-122"/>
                          <a:ea typeface="STKaiti" panose="02010600040101010101" pitchFamily="2" charset="-122"/>
                          <a:cs typeface="+mn-cs"/>
                        </a:rPr>
                        <a:t>可通过直接操作数据来强制执行</a:t>
                      </a:r>
                      <a:endPara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TKaiti" panose="02010600040101010101" pitchFamily="2" charset="-122"/>
                        <a:ea typeface="STKaiti" panose="0201060004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38170" marR="0" lvl="1" indent="-538149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BD582C"/>
                        </a:buClr>
                        <a:buSzPct val="80000"/>
                        <a:buFont typeface="Wingdings" charset="0"/>
                        <a:buChar char="n"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STKaiti" panose="02010600040101010101" pitchFamily="2" charset="-122"/>
                          <a:ea typeface="STKaiti" panose="02010600040101010101" pitchFamily="2" charset="-122"/>
                          <a:cs typeface="+mn-cs"/>
                        </a:rPr>
                        <a:t>数据简洁性：</a:t>
                      </a:r>
                      <a:r>
                        <a:rPr kumimoji="0" lang="en-US" altLang="zh-CN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TKaiti" panose="02010600040101010101" pitchFamily="2" charset="-122"/>
                          <a:ea typeface="STKaiti" panose="02010600040101010101" pitchFamily="2" charset="-122"/>
                          <a:cs typeface="+mn-cs"/>
                        </a:rPr>
                        <a:t>数据空间可在初始模式挖掘过程中进行剪枝</a:t>
                      </a:r>
                    </a:p>
                    <a:p>
                      <a:pPr marL="738170" marR="0" lvl="1" indent="-538149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BD582C"/>
                        </a:buClr>
                        <a:buSzPct val="80000"/>
                        <a:buFont typeface="Wingdings" charset="0"/>
                        <a:buChar char="n"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STKaiti" panose="02010600040101010101" pitchFamily="2" charset="-122"/>
                          <a:ea typeface="STKaiti" panose="02010600040101010101" pitchFamily="2" charset="-122"/>
                          <a:cs typeface="+mn-cs"/>
                        </a:rPr>
                        <a:t>数据反单调性：</a:t>
                      </a:r>
                      <a:r>
                        <a:rPr kumimoji="0" lang="en-US" altLang="zh-CN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TKaiti" panose="02010600040101010101" pitchFamily="2" charset="-122"/>
                          <a:ea typeface="STKaiti" panose="02010600040101010101" pitchFamily="2" charset="-122"/>
                          <a:cs typeface="+mn-cs"/>
                        </a:rPr>
                        <a:t>若事务 </a:t>
                      </a:r>
                      <a:r>
                        <a:rPr kumimoji="0" lang="en-US" altLang="zh-CN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TKaiti" panose="02010600040101010101" pitchFamily="2" charset="-122"/>
                          <a:ea typeface="STKaiti" panose="02010600040101010101" pitchFamily="2" charset="-122"/>
                          <a:cs typeface="+mn-cs"/>
                        </a:rPr>
                        <a:t>t </a:t>
                      </a:r>
                      <a:r>
                        <a:rPr kumimoji="0" lang="en-US" altLang="zh-CN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TKaiti" panose="02010600040101010101" pitchFamily="2" charset="-122"/>
                          <a:ea typeface="STKaiti" panose="02010600040101010101" pitchFamily="2" charset="-122"/>
                          <a:cs typeface="+mn-cs"/>
                        </a:rPr>
                        <a:t>不满足</a:t>
                      </a:r>
                      <a:r>
                        <a:rPr kumimoji="0" lang="en-US" altLang="zh-CN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TKaiti" panose="02010600040101010101" pitchFamily="2" charset="-122"/>
                          <a:ea typeface="STKaiti" panose="02010600040101010101" pitchFamily="2" charset="-122"/>
                          <a:cs typeface="+mn-cs"/>
                        </a:rPr>
                        <a:t>约束 c</a:t>
                      </a:r>
                      <a:r>
                        <a:rPr kumimoji="0" lang="en-US" altLang="zh-CN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TKaiti" panose="02010600040101010101" pitchFamily="2" charset="-122"/>
                          <a:ea typeface="STKaiti" panose="02010600040101010101" pitchFamily="2" charset="-122"/>
                          <a:cs typeface="+mn-cs"/>
                        </a:rPr>
                        <a:t>，则可将其剪枝以减少数据处理开销</a:t>
                      </a:r>
                      <a:endParaRPr kumimoji="0" lang="en-US" altLang="zh-CN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TKaiti" panose="02010600040101010101" pitchFamily="2" charset="-122"/>
                        <a:ea typeface="STKaiti" panose="02010600040101010101" pitchFamily="2" charset="-122"/>
                        <a:cs typeface="+mn-cs"/>
                      </a:endParaRPr>
                    </a:p>
                    <a:p>
                      <a:endParaRPr lang="zh-CN" altLang="en-US" sz="2000" dirty="0"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BC7F7DB-A6D8-A652-5E9D-1737D350A8D9}"/>
              </a:ext>
            </a:extLst>
          </p:cNvPr>
          <p:cNvSpPr txBox="1"/>
          <p:nvPr/>
        </p:nvSpPr>
        <p:spPr>
          <a:xfrm>
            <a:off x="554377" y="4699641"/>
            <a:ext cx="113766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ko-KR" sz="1800" kern="1200" dirty="0">
                <a:solidFill>
                  <a:schemeClr val="dk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假设</a:t>
            </a:r>
            <a:r>
              <a:rPr lang="en-US" altLang="ko-KR" sz="1800" kern="1200" dirty="0">
                <a:solidFill>
                  <a:schemeClr val="dk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 </a:t>
            </a:r>
            <a:r>
              <a:rPr lang="en-US" altLang="ko-KR" sz="1800" kern="1200" dirty="0" err="1">
                <a:solidFill>
                  <a:schemeClr val="dk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min_sup</a:t>
            </a:r>
            <a:r>
              <a:rPr lang="en-US" altLang="ko-KR" sz="1800" kern="1200" dirty="0">
                <a:solidFill>
                  <a:schemeClr val="dk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=2</a:t>
            </a:r>
            <a:r>
              <a:rPr lang="zh-CN" altLang="ko-KR" sz="1800" kern="1200" dirty="0">
                <a:solidFill>
                  <a:schemeClr val="dk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，约束条件：</a:t>
            </a:r>
            <a:r>
              <a:rPr lang="en-US" altLang="ko-KR" sz="1800" kern="1200" dirty="0">
                <a:solidFill>
                  <a:schemeClr val="dk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sum(profit) ≥ 25</a:t>
            </a:r>
            <a:r>
              <a:rPr lang="zh-CN" altLang="ko-KR" sz="1800" kern="1200" dirty="0">
                <a:solidFill>
                  <a:schemeClr val="dk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。</a:t>
            </a:r>
            <a:endParaRPr lang="ko-KR" altLang="ko-KR" sz="1800" kern="1200" dirty="0">
              <a:solidFill>
                <a:schemeClr val="dk1"/>
              </a:solidFill>
              <a:effectLst/>
              <a:latin typeface="KaiTi" panose="02010609060101010101" pitchFamily="49" charset="-122"/>
              <a:ea typeface="+mn-ea"/>
              <a:cs typeface="+mn-cs"/>
            </a:endParaRPr>
          </a:p>
          <a:p>
            <a:pPr lvl="1"/>
            <a:r>
              <a:rPr lang="zh-CN" altLang="ko-KR" sz="1800" b="1" kern="1200" dirty="0">
                <a:solidFill>
                  <a:schemeClr val="dk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模式空间</a:t>
            </a:r>
            <a:r>
              <a:rPr lang="zh-CN" altLang="ko-KR" sz="1800" kern="1200" dirty="0">
                <a:solidFill>
                  <a:schemeClr val="dk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：先生成候选项集</a:t>
            </a:r>
            <a:r>
              <a:rPr lang="en-US" altLang="ko-KR" sz="1800" kern="1200" dirty="0">
                <a:solidFill>
                  <a:schemeClr val="dk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 {a, b}</a:t>
            </a:r>
            <a:r>
              <a:rPr lang="zh-CN" altLang="ko-KR" sz="1800" kern="1200" dirty="0">
                <a:solidFill>
                  <a:schemeClr val="dk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，算出利润</a:t>
            </a:r>
            <a:r>
              <a:rPr lang="en-US" altLang="ko-KR" sz="1800" kern="1200" dirty="0">
                <a:solidFill>
                  <a:schemeClr val="dk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=20 &lt; 25 → </a:t>
            </a:r>
            <a:r>
              <a:rPr lang="zh-CN" altLang="ko-KR" sz="1800" kern="1200" dirty="0">
                <a:solidFill>
                  <a:schemeClr val="dk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剪枝。</a:t>
            </a:r>
            <a:endParaRPr lang="ko-KR" altLang="ko-KR" sz="1800" kern="1200" dirty="0">
              <a:solidFill>
                <a:schemeClr val="dk1"/>
              </a:solidFill>
              <a:effectLst/>
              <a:latin typeface="KaiTi" panose="02010609060101010101" pitchFamily="49" charset="-122"/>
              <a:ea typeface="+mn-ea"/>
              <a:cs typeface="+mn-cs"/>
            </a:endParaRPr>
          </a:p>
          <a:p>
            <a:pPr lvl="1"/>
            <a:r>
              <a:rPr lang="zh-CN" altLang="ko-KR" sz="1800" b="1" kern="1200" dirty="0">
                <a:solidFill>
                  <a:schemeClr val="dk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数据空间</a:t>
            </a:r>
            <a:r>
              <a:rPr lang="zh-CN" altLang="ko-KR" sz="1800" kern="1200" dirty="0">
                <a:solidFill>
                  <a:schemeClr val="dk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：在事务表中，如果某条交易所有项的利润和都</a:t>
            </a:r>
            <a:r>
              <a:rPr lang="en-US" altLang="ko-KR" sz="1800" kern="1200" dirty="0">
                <a:solidFill>
                  <a:schemeClr val="dk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&lt; 25</a:t>
            </a:r>
            <a:r>
              <a:rPr lang="zh-CN" altLang="ko-KR" sz="1800" kern="1200" dirty="0">
                <a:solidFill>
                  <a:schemeClr val="dk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，那么这条事务就不可能参与生成任何频繁模式</a:t>
            </a:r>
            <a:r>
              <a:rPr lang="en-US" altLang="ko-KR" sz="1800" kern="1200" dirty="0">
                <a:solidFill>
                  <a:schemeClr val="dk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 → </a:t>
            </a:r>
            <a:r>
              <a:rPr lang="zh-CN" altLang="ko-KR" sz="1800" kern="1200" dirty="0">
                <a:solidFill>
                  <a:schemeClr val="dk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提前丢弃。</a:t>
            </a:r>
            <a:endParaRPr lang="ko-KR" altLang="ko-KR" sz="1800" kern="1200" dirty="0">
              <a:solidFill>
                <a:schemeClr val="dk1"/>
              </a:solidFill>
              <a:effectLst/>
              <a:latin typeface="KaiTi" panose="02010609060101010101" pitchFamily="49" charset="-122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2B7E47-1377-2C9A-B29E-70BDC45373A7}"/>
              </a:ext>
            </a:extLst>
          </p:cNvPr>
          <p:cNvSpPr txBox="1"/>
          <p:nvPr/>
        </p:nvSpPr>
        <p:spPr>
          <a:xfrm>
            <a:off x="3632366" y="5755975"/>
            <a:ext cx="61143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ko-KR" sz="2000" b="1" kern="1200" dirty="0">
                <a:solidFill>
                  <a:schemeClr val="dk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模式空间约束</a:t>
            </a:r>
            <a:r>
              <a:rPr lang="zh-CN" altLang="ko-KR" sz="2000" kern="1200" dirty="0">
                <a:solidFill>
                  <a:schemeClr val="dk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 </a:t>
            </a:r>
            <a:r>
              <a:rPr lang="en-US" altLang="ko-KR" sz="2000" kern="1200" dirty="0">
                <a:solidFill>
                  <a:schemeClr val="dk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= </a:t>
            </a:r>
            <a:r>
              <a:rPr lang="zh-CN" altLang="ko-KR" sz="2000" kern="1200" dirty="0">
                <a:solidFill>
                  <a:schemeClr val="dk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在「候选模式」上做剪枝。</a:t>
            </a:r>
            <a:endParaRPr lang="ko-KR" altLang="ko-KR" sz="2000" kern="1200" dirty="0">
              <a:solidFill>
                <a:schemeClr val="dk1"/>
              </a:solidFill>
              <a:effectLst/>
              <a:latin typeface="KaiTi" panose="02010609060101010101" pitchFamily="49" charset="-122"/>
              <a:ea typeface="+mn-ea"/>
              <a:cs typeface="+mn-cs"/>
            </a:endParaRPr>
          </a:p>
          <a:p>
            <a:pPr lvl="1"/>
            <a:r>
              <a:rPr lang="zh-CN" altLang="ko-KR" sz="2000" b="1" kern="1200" dirty="0">
                <a:solidFill>
                  <a:schemeClr val="dk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数据空间约束</a:t>
            </a:r>
            <a:r>
              <a:rPr lang="en-US" altLang="ko-KR" sz="2000" kern="1200" dirty="0">
                <a:solidFill>
                  <a:schemeClr val="dk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 = </a:t>
            </a:r>
            <a:r>
              <a:rPr lang="zh-CN" altLang="ko-KR" sz="2000" kern="1200" dirty="0">
                <a:solidFill>
                  <a:schemeClr val="dk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在「事务数据」上做剪枝。</a:t>
            </a:r>
            <a:endParaRPr lang="ko-KR" altLang="ko-KR" sz="2000" kern="1200" dirty="0">
              <a:solidFill>
                <a:schemeClr val="dk1"/>
              </a:solidFill>
              <a:effectLst/>
              <a:latin typeface="KaiTi" panose="02010609060101010101" pitchFamily="49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01685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615953" y="381000"/>
            <a:ext cx="10958426" cy="6096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000" dirty="0">
                <a:ea typeface="STKaiti" panose="02010600040101010101" pitchFamily="2" charset="-122"/>
              </a:rPr>
              <a:t>如何处理多个约束条件？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idx="1"/>
          </p:nvPr>
        </p:nvSpPr>
        <p:spPr>
          <a:xfrm>
            <a:off x="507999" y="1209101"/>
            <a:ext cx="11258015" cy="5413375"/>
          </a:xfrm>
        </p:spPr>
        <p:txBody>
          <a:bodyPr/>
          <a:lstStyle/>
          <a:p>
            <a:pPr eaLnBrk="1" hangingPunct="1">
              <a:spcAft>
                <a:spcPts val="200"/>
              </a:spcAft>
              <a:buFont typeface="Wingdings" charset="0"/>
              <a:buChar char="n"/>
              <a:defRPr/>
            </a:pPr>
            <a:r>
              <a:rPr lang="en-US" sz="2400" dirty="0">
                <a:ea typeface="STKaiti" panose="02010600040101010101" pitchFamily="2" charset="-122"/>
              </a:rPr>
              <a:t>在模式挖掘中使用多个约束是有益的 </a:t>
            </a:r>
          </a:p>
          <a:p>
            <a:pPr eaLnBrk="1" hangingPunct="1">
              <a:spcAft>
                <a:spcPts val="200"/>
              </a:spcAft>
              <a:buFont typeface="Wingdings" charset="0"/>
              <a:buChar char="n"/>
              <a:defRPr/>
            </a:pPr>
            <a:r>
              <a:rPr lang="en-US" sz="2400" dirty="0">
                <a:ea typeface="STKaiti" panose="02010600040101010101" pitchFamily="2" charset="-122"/>
              </a:rPr>
              <a:t>但不同约束可能导致潜在冲突的项目排序</a:t>
            </a:r>
          </a:p>
          <a:p>
            <a:pPr lvl="1">
              <a:spcAft>
                <a:spcPts val="200"/>
              </a:spcAft>
              <a:buFont typeface="Wingdings" charset="0"/>
              <a:buChar char="n"/>
              <a:defRPr/>
            </a:pPr>
            <a:r>
              <a:rPr lang="en-US" sz="2400" dirty="0">
                <a:ea typeface="STKaiti" panose="02010600040101010101" pitchFamily="2" charset="-122"/>
              </a:rPr>
              <a:t>如果存在c</a:t>
            </a:r>
            <a:r>
              <a:rPr lang="en-US" sz="2400" i="1" baseline="-25000" dirty="0">
                <a:ea typeface="STKaiti" panose="02010600040101010101" pitchFamily="2" charset="-122"/>
              </a:rPr>
              <a:t>1</a:t>
            </a:r>
            <a:r>
              <a:rPr lang="en-US" sz="2400" dirty="0">
                <a:ea typeface="STKaiti" panose="02010600040101010101" pitchFamily="2" charset="-122"/>
              </a:rPr>
              <a:t> 与</a:t>
            </a:r>
            <a:r>
              <a:rPr lang="en-US" sz="2400" i="1" dirty="0">
                <a:ea typeface="STKaiti" panose="02010600040101010101" pitchFamily="2" charset="-122"/>
              </a:rPr>
              <a:t>c</a:t>
            </a:r>
            <a:r>
              <a:rPr lang="en-US" sz="2400" i="1" baseline="-25000" dirty="0">
                <a:ea typeface="STKaiti" panose="02010600040101010101" pitchFamily="2" charset="-122"/>
              </a:rPr>
              <a:t>2</a:t>
            </a:r>
            <a:r>
              <a:rPr lang="en-US" sz="2400" dirty="0">
                <a:ea typeface="STKaiti" panose="02010600040101010101" pitchFamily="2" charset="-122"/>
              </a:rPr>
              <a:t> 之间的冲突排序 </a:t>
            </a:r>
          </a:p>
          <a:p>
            <a:pPr lvl="2">
              <a:spcAft>
                <a:spcPts val="200"/>
              </a:spcAft>
              <a:buFont typeface="Wingdings" charset="0"/>
              <a:buChar char="n"/>
              <a:defRPr/>
            </a:pPr>
            <a:r>
              <a:rPr lang="en-US" sz="2400" dirty="0" err="1">
                <a:ea typeface="STKaiti" panose="02010600040101010101" pitchFamily="2" charset="-122"/>
              </a:rPr>
              <a:t>尝试对数据进行排序并首先强制执行</a:t>
            </a:r>
            <a:r>
              <a:rPr lang="en-US" sz="2400" i="1" dirty="0" err="1">
                <a:ea typeface="STKaiti" panose="02010600040101010101" pitchFamily="2" charset="-122"/>
              </a:rPr>
              <a:t>一个约束</a:t>
            </a:r>
            <a:r>
              <a:rPr lang="en-US" sz="2400" dirty="0">
                <a:ea typeface="STKaiti" panose="02010600040101010101" pitchFamily="2" charset="-122"/>
              </a:rPr>
              <a:t> </a:t>
            </a:r>
          </a:p>
          <a:p>
            <a:pPr lvl="2">
              <a:spcAft>
                <a:spcPts val="200"/>
              </a:spcAft>
              <a:buFont typeface="Wingdings" charset="0"/>
              <a:buChar char="n"/>
              <a:defRPr/>
            </a:pPr>
            <a:r>
              <a:rPr lang="en-US" sz="2400" dirty="0" err="1">
                <a:ea typeface="STKaiti" panose="02010600040101010101" pitchFamily="2" charset="-122"/>
              </a:rPr>
              <a:t>然后在挖掘投影数据库时强制执行另一个约束</a:t>
            </a:r>
            <a:endParaRPr lang="en-US" sz="2400" dirty="0">
              <a:ea typeface="STKaiti" panose="02010600040101010101" pitchFamily="2" charset="-122"/>
            </a:endParaRPr>
          </a:p>
          <a:p>
            <a:pPr eaLnBrk="1" hangingPunct="1">
              <a:spcAft>
                <a:spcPts val="200"/>
              </a:spcAft>
              <a:buFont typeface="Wingdings" charset="0"/>
              <a:buChar char="n"/>
              <a:defRPr/>
            </a:pPr>
            <a:r>
              <a:rPr lang="en-US" sz="2400" dirty="0" err="1">
                <a:ea typeface="STKaiti" panose="02010600040101010101" pitchFamily="2" charset="-122"/>
              </a:rPr>
              <a:t>例如，约束</a:t>
            </a:r>
            <a:r>
              <a:rPr lang="en-US" sz="2400" dirty="0">
                <a:ea typeface="STKaiti" panose="02010600040101010101" pitchFamily="2" charset="-122"/>
              </a:rPr>
              <a:t> c</a:t>
            </a:r>
            <a:r>
              <a:rPr lang="en-US" sz="2400" baseline="-25000" dirty="0">
                <a:ea typeface="STKaiti" panose="02010600040101010101" pitchFamily="2" charset="-122"/>
              </a:rPr>
              <a:t>1</a:t>
            </a:r>
            <a:r>
              <a:rPr lang="en-US" sz="2400" dirty="0">
                <a:ea typeface="STKaiti" panose="02010600040101010101" pitchFamily="2" charset="-122"/>
              </a:rPr>
              <a:t> ：avg(</a:t>
            </a:r>
            <a:r>
              <a:rPr lang="en-US" sz="2400" i="1" dirty="0" err="1">
                <a:ea typeface="STKaiti" panose="02010600040101010101" pitchFamily="2" charset="-122"/>
              </a:rPr>
              <a:t>S</a:t>
            </a:r>
            <a:r>
              <a:rPr lang="en-US" sz="2400" dirty="0" err="1">
                <a:ea typeface="STKaiti" panose="02010600040101010101" pitchFamily="2" charset="-122"/>
              </a:rPr>
              <a:t>.profit</a:t>
            </a:r>
            <a:r>
              <a:rPr lang="en-US" sz="2400" dirty="0">
                <a:ea typeface="STKaiti" panose="02010600040101010101" pitchFamily="2" charset="-122"/>
              </a:rPr>
              <a:t>) </a:t>
            </a:r>
            <a:r>
              <a:rPr lang="en-US" sz="2400" b="1" dirty="0">
                <a:ea typeface="STKaiti" panose="02010600040101010101" pitchFamily="2" charset="-122"/>
                <a:sym typeface="Symbol" charset="0"/>
              </a:rPr>
              <a:t>&gt;</a:t>
            </a:r>
            <a:r>
              <a:rPr lang="en-US" sz="2400" dirty="0">
                <a:ea typeface="STKaiti" panose="02010600040101010101" pitchFamily="2" charset="-122"/>
              </a:rPr>
              <a:t> 20，以及约束 c</a:t>
            </a:r>
            <a:r>
              <a:rPr lang="en-US" sz="2400" baseline="-25000" dirty="0">
                <a:ea typeface="STKaiti" panose="02010600040101010101" pitchFamily="2" charset="-122"/>
              </a:rPr>
              <a:t>2</a:t>
            </a:r>
            <a:r>
              <a:rPr lang="en-US" sz="2400" dirty="0">
                <a:ea typeface="STKaiti" panose="02010600040101010101" pitchFamily="2" charset="-122"/>
              </a:rPr>
              <a:t> ：avg(</a:t>
            </a:r>
            <a:r>
              <a:rPr lang="en-US" sz="2400" dirty="0" err="1">
                <a:ea typeface="STKaiti" panose="02010600040101010101" pitchFamily="2" charset="-122"/>
              </a:rPr>
              <a:t>S.price</a:t>
            </a:r>
            <a:r>
              <a:rPr lang="en-US" sz="2400" dirty="0">
                <a:ea typeface="STKaiti" panose="02010600040101010101" pitchFamily="2" charset="-122"/>
              </a:rPr>
              <a:t>) &lt; 50</a:t>
            </a:r>
          </a:p>
          <a:p>
            <a:pPr lvl="1" eaLnBrk="1" hangingPunct="1">
              <a:spcAft>
                <a:spcPts val="200"/>
              </a:spcAft>
              <a:buFont typeface="Wingdings" charset="0"/>
              <a:buChar char="n"/>
              <a:defRPr/>
            </a:pPr>
            <a:r>
              <a:rPr lang="en-US" sz="2400" dirty="0" err="1">
                <a:ea typeface="STKaiti" panose="02010600040101010101" pitchFamily="2" charset="-122"/>
              </a:rPr>
              <a:t>假设</a:t>
            </a:r>
            <a:r>
              <a:rPr lang="en-US" sz="2400" dirty="0">
                <a:ea typeface="STKaiti" panose="02010600040101010101" pitchFamily="2" charset="-122"/>
              </a:rPr>
              <a:t>条件 c</a:t>
            </a:r>
            <a:r>
              <a:rPr lang="en-US" sz="2400" baseline="-25000" dirty="0">
                <a:ea typeface="STKaiti" panose="02010600040101010101" pitchFamily="2" charset="-122"/>
              </a:rPr>
              <a:t>1</a:t>
            </a:r>
            <a:r>
              <a:rPr lang="en-US" sz="2400" dirty="0">
                <a:ea typeface="STKaiti" panose="02010600040101010101" pitchFamily="2" charset="-122"/>
              </a:rPr>
              <a:t> 具有更强的筛选能力</a:t>
            </a:r>
          </a:p>
          <a:p>
            <a:pPr lvl="2">
              <a:spcAft>
                <a:spcPts val="200"/>
              </a:spcAft>
              <a:buFont typeface="Wingdings" charset="0"/>
              <a:buChar char="n"/>
              <a:defRPr/>
            </a:pPr>
            <a:r>
              <a:rPr lang="en-US" sz="2400" dirty="0">
                <a:ea typeface="STKaiti" panose="02010600040101010101" pitchFamily="2" charset="-122"/>
              </a:rPr>
              <a:t>按利润降序排序，并优先使用约束条件 c</a:t>
            </a:r>
            <a:r>
              <a:rPr lang="en-US" sz="2400" baseline="-25000" dirty="0">
                <a:ea typeface="STKaiti" panose="02010600040101010101" pitchFamily="2" charset="-122"/>
              </a:rPr>
              <a:t>1</a:t>
            </a:r>
            <a:r>
              <a:rPr lang="en-US" sz="2400" dirty="0">
                <a:ea typeface="STKaiti" panose="02010600040101010101" pitchFamily="2" charset="-122"/>
              </a:rPr>
              <a:t> </a:t>
            </a:r>
          </a:p>
          <a:p>
            <a:pPr lvl="1" eaLnBrk="1" hangingPunct="1">
              <a:spcAft>
                <a:spcPts val="200"/>
              </a:spcAft>
              <a:buFont typeface="Wingdings" charset="0"/>
              <a:buChar char="n"/>
              <a:defRPr/>
            </a:pPr>
            <a:r>
              <a:rPr lang="en-US" sz="2400" dirty="0">
                <a:ea typeface="STKaiti" panose="02010600040101010101" pitchFamily="2" charset="-122"/>
              </a:rPr>
              <a:t>对于每个项目数据库，按价格升序排序交易，并在挖掘时使用 c</a:t>
            </a:r>
            <a:r>
              <a:rPr lang="en-US" sz="2400" baseline="-25000" dirty="0">
                <a:ea typeface="STKaiti" panose="02010600040101010101" pitchFamily="2" charset="-122"/>
              </a:rPr>
              <a:t>2</a:t>
            </a:r>
            <a:r>
              <a:rPr lang="en-US" sz="2400" dirty="0">
                <a:ea typeface="STKaiti" panose="02010600040101010101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50571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"/>
            <a:ext cx="12192000" cy="1050634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marL="457200" indent="-457200">
              <a:lnSpc>
                <a:spcPct val="200000"/>
              </a:lnSpc>
              <a:buSzTx/>
            </a:pPr>
            <a:r>
              <a:rPr lang="en-US" altLang="en-US" dirty="0"/>
              <a:t>模式挖掘：高级方法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29979" y="1131454"/>
            <a:ext cx="10532282" cy="5574146"/>
          </a:xfrm>
          <a:noFill/>
        </p:spPr>
        <p:txBody>
          <a:bodyPr vert="horz" lIns="92075" tIns="46038" rIns="92075" bIns="46038" rtlCol="0" anchor="t">
            <a:noAutofit/>
          </a:bodyPr>
          <a:lstStyle/>
          <a:p>
            <a:pPr marL="457200" indent="-457200">
              <a:lnSpc>
                <a:spcPct val="200000"/>
              </a:lnSpc>
              <a:buSzTx/>
            </a:pPr>
            <a:r>
              <a:rPr lang="en-US" b="1" i="0" u="none" strike="noStrike" baseline="0" dirty="0"/>
              <a:t>挖掘各种类型的模式 </a:t>
            </a:r>
          </a:p>
          <a:p>
            <a:pPr marL="457200" indent="-457200">
              <a:lnSpc>
                <a:spcPct val="200000"/>
              </a:lnSpc>
              <a:buSzTx/>
            </a:pPr>
            <a:r>
              <a:rPr lang="en-US" b="1" i="0" u="none" strike="noStrike" baseline="0" dirty="0"/>
              <a:t>挖掘压缩或近似模式  </a:t>
            </a:r>
          </a:p>
          <a:p>
            <a:pPr marL="457200" indent="-457200">
              <a:lnSpc>
                <a:spcPct val="200000"/>
              </a:lnSpc>
              <a:buSzTx/>
            </a:pPr>
            <a:r>
              <a:rPr lang="en-US" b="1" i="0" u="none" strike="noStrike" baseline="0" dirty="0"/>
              <a:t>约束基于模式挖掘</a:t>
            </a:r>
          </a:p>
          <a:p>
            <a:pPr marL="457200" indent="-457200">
              <a:lnSpc>
                <a:spcPct val="200000"/>
              </a:lnSpc>
              <a:buSzTx/>
            </a:pPr>
            <a:r>
              <a:rPr lang="en-US" b="1" i="0" u="none" strike="noStrike" baseline="0" dirty="0"/>
              <a:t>序列模式挖掘</a:t>
            </a:r>
            <a:endParaRPr lang="en-US" b="1" dirty="0"/>
          </a:p>
          <a:p>
            <a:pPr marL="457200" indent="-457200">
              <a:lnSpc>
                <a:spcPct val="200000"/>
              </a:lnSpc>
              <a:buSzTx/>
            </a:pPr>
            <a:r>
              <a:rPr lang="en-US" b="1" i="0" u="none" strike="noStrike" baseline="0" dirty="0"/>
              <a:t>子图模式挖掘</a:t>
            </a:r>
          </a:p>
          <a:p>
            <a:pPr marL="457200" indent="-457200">
              <a:lnSpc>
                <a:spcPct val="200000"/>
              </a:lnSpc>
              <a:buSzTx/>
            </a:pPr>
            <a:r>
              <a:rPr lang="en-US" b="1" i="0" u="none" strike="noStrike" baseline="0" dirty="0"/>
              <a:t>模式挖掘：应用示例</a:t>
            </a:r>
          </a:p>
          <a:p>
            <a:pPr marL="457200" indent="-457200">
              <a:lnSpc>
                <a:spcPct val="200000"/>
              </a:lnSpc>
              <a:buSzTx/>
            </a:pPr>
            <a:r>
              <a:rPr lang="en-US" altLang="en-US" b="1" dirty="0"/>
              <a:t>总结</a:t>
            </a:r>
            <a:endParaRPr lang="en-US" altLang="en-US" sz="2800" b="1" dirty="0"/>
          </a:p>
        </p:txBody>
      </p:sp>
      <p:sp>
        <p:nvSpPr>
          <p:cNvPr id="2" name="Striped Right Arrow 1"/>
          <p:cNvSpPr/>
          <p:nvPr/>
        </p:nvSpPr>
        <p:spPr>
          <a:xfrm rot="9075611">
            <a:off x="4953780" y="3600410"/>
            <a:ext cx="502920" cy="457200"/>
          </a:xfrm>
          <a:prstGeom prst="stripedRightArrow">
            <a:avLst/>
          </a:prstGeom>
          <a:solidFill>
            <a:srgbClr val="00808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684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en-US" kern="0" dirty="0"/>
              <a:t>序列模式挖掘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709" y="900853"/>
            <a:ext cx="11048028" cy="5398355"/>
          </a:xfrm>
        </p:spPr>
        <p:txBody>
          <a:bodyPr/>
          <a:lstStyle/>
          <a:p>
            <a:pPr>
              <a:lnSpc>
                <a:spcPct val="200000"/>
              </a:lnSpc>
              <a:spcBef>
                <a:spcPts val="400"/>
              </a:spcBef>
              <a:spcAft>
                <a:spcPts val="400"/>
              </a:spcAft>
              <a:buClr>
                <a:srgbClr val="0000FF"/>
              </a:buClr>
              <a:tabLst>
                <a:tab pos="7658100" algn="l"/>
              </a:tabLst>
              <a:defRPr/>
            </a:pPr>
            <a:r>
              <a:rPr lang="en-US" altLang="en-US" dirty="0"/>
              <a:t>序列模式与序列模式挖掘 </a:t>
            </a:r>
          </a:p>
          <a:p>
            <a:pPr>
              <a:lnSpc>
                <a:spcPct val="200000"/>
              </a:lnSpc>
              <a:defRPr/>
            </a:pPr>
            <a:r>
              <a:rPr lang="en-US" altLang="en-US" dirty="0"/>
              <a:t>GSP：基于Apriori的序列模式挖掘</a:t>
            </a:r>
          </a:p>
          <a:p>
            <a:pPr>
              <a:lnSpc>
                <a:spcPct val="200000"/>
              </a:lnSpc>
              <a:defRPr/>
            </a:pPr>
            <a:r>
              <a:rPr lang="en-US" altLang="en-US" dirty="0"/>
              <a:t>SPADE：垂直数据格式下的序列模式挖掘</a:t>
            </a:r>
          </a:p>
          <a:p>
            <a:pPr>
              <a:lnSpc>
                <a:spcPct val="200000"/>
              </a:lnSpc>
              <a:defRPr/>
            </a:pPr>
            <a:r>
              <a:rPr lang="en-US" altLang="en-US" dirty="0" err="1"/>
              <a:t>PrefixSpan</a:t>
            </a:r>
            <a:r>
              <a:rPr lang="en-US" altLang="en-US" dirty="0"/>
              <a:t>：基于模式增长的序列模式挖掘</a:t>
            </a:r>
          </a:p>
          <a:p>
            <a:pPr>
              <a:lnSpc>
                <a:spcPct val="200000"/>
              </a:lnSpc>
              <a:defRPr/>
            </a:pPr>
            <a:r>
              <a:rPr lang="en-US" altLang="en-US" dirty="0" err="1"/>
              <a:t>CloSpan</a:t>
            </a:r>
            <a:r>
              <a:rPr lang="en-US" altLang="en-US" dirty="0"/>
              <a:t>：闭合序列模式挖掘</a:t>
            </a:r>
          </a:p>
          <a:p>
            <a:pPr>
              <a:lnSpc>
                <a:spcPct val="200000"/>
              </a:lnSpc>
              <a:defRPr/>
            </a:pPr>
            <a:r>
              <a:rPr lang="en-US" altLang="en-US" dirty="0">
                <a:solidFill>
                  <a:srgbClr val="000000"/>
                </a:solidFill>
              </a:rPr>
              <a:t>基于约束的序列模式挖掘</a:t>
            </a:r>
          </a:p>
          <a:p>
            <a:pPr>
              <a:lnSpc>
                <a:spcPct val="200000"/>
              </a:lnSpc>
              <a:defRPr/>
            </a:pPr>
            <a:endParaRPr lang="en-US" altLang="en-US" kern="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04633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799"/>
            <a:ext cx="12192000" cy="638175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dirty="0"/>
              <a:t>序列模式挖掘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572655" y="1203037"/>
            <a:ext cx="10326254" cy="5181600"/>
          </a:xfrm>
        </p:spPr>
        <p:txBody>
          <a:bodyPr/>
          <a:lstStyle/>
          <a:p>
            <a:pPr eaLnBrk="1" hangingPunct="1">
              <a:spcAft>
                <a:spcPts val="100"/>
              </a:spcAft>
            </a:pPr>
            <a:r>
              <a:rPr lang="en-US" altLang="en-US" sz="2400" dirty="0"/>
              <a:t>什么是序列模式？</a:t>
            </a:r>
          </a:p>
          <a:p>
            <a:pPr eaLnBrk="1" hangingPunct="1">
              <a:spcAft>
                <a:spcPts val="100"/>
              </a:spcAft>
            </a:pPr>
            <a:r>
              <a:rPr lang="en-US" altLang="en-US" sz="2400" dirty="0"/>
              <a:t>序列：顺序至关重要</a:t>
            </a:r>
          </a:p>
          <a:p>
            <a:pPr lvl="1">
              <a:spcAft>
                <a:spcPts val="100"/>
              </a:spcAft>
            </a:pPr>
            <a:r>
              <a:rPr lang="en-US" altLang="en-US" sz="2400" dirty="0"/>
              <a:t>你不能交换序列中的两个元素并得到相同的序列</a:t>
            </a:r>
          </a:p>
          <a:p>
            <a:pPr>
              <a:spcAft>
                <a:spcPts val="100"/>
              </a:spcAft>
            </a:pPr>
            <a:r>
              <a:rPr lang="en-US" altLang="en-US" sz="2400" dirty="0"/>
              <a:t>示例：英语是一种序列语言：主语 → 谓语 → 宾语</a:t>
            </a:r>
          </a:p>
          <a:p>
            <a:pPr eaLnBrk="1" hangingPunct="1">
              <a:spcAft>
                <a:spcPts val="100"/>
              </a:spcAft>
            </a:pPr>
            <a:endParaRPr lang="en-US" altLang="en-US" sz="2400" dirty="0"/>
          </a:p>
          <a:p>
            <a:pPr eaLnBrk="1" hangingPunct="1">
              <a:spcAft>
                <a:spcPts val="100"/>
              </a:spcAft>
            </a:pPr>
            <a:r>
              <a:rPr lang="en-US" altLang="en-US" sz="2400" dirty="0"/>
              <a:t>其他要点：</a:t>
            </a:r>
          </a:p>
          <a:p>
            <a:pPr lvl="1">
              <a:spcAft>
                <a:spcPts val="100"/>
              </a:spcAft>
            </a:pPr>
            <a:r>
              <a:rPr lang="en-US" altLang="en-US" sz="2400" dirty="0"/>
              <a:t>在序列模式挖掘中，项目发生的时间</a:t>
            </a:r>
            <a:r>
              <a:rPr lang="en-US" altLang="en-US" sz="2400" b="1" dirty="0"/>
              <a:t>不被</a:t>
            </a:r>
            <a:r>
              <a:rPr lang="en-US" altLang="en-US" sz="2400" dirty="0"/>
              <a:t>考虑</a:t>
            </a:r>
          </a:p>
          <a:p>
            <a:pPr lvl="1">
              <a:spcAft>
                <a:spcPts val="100"/>
              </a:spcAft>
            </a:pPr>
            <a:r>
              <a:rPr lang="en-US" altLang="en-US" sz="2400" dirty="0"/>
              <a:t>时间序列分析会考虑项目发生的时间</a:t>
            </a:r>
          </a:p>
        </p:txBody>
      </p:sp>
    </p:spTree>
    <p:extLst>
      <p:ext uri="{BB962C8B-B14F-4D97-AF65-F5344CB8AC3E}">
        <p14:creationId xmlns:p14="http://schemas.microsoft.com/office/powerpoint/2010/main" val="1641060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799"/>
            <a:ext cx="12192000" cy="638175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dirty="0"/>
              <a:t>序列模式示例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508000" y="1203037"/>
            <a:ext cx="11081745" cy="5181600"/>
          </a:xfrm>
        </p:spPr>
        <p:txBody>
          <a:bodyPr/>
          <a:lstStyle/>
          <a:p>
            <a:pPr eaLnBrk="1" hangingPunct="1">
              <a:spcAft>
                <a:spcPts val="100"/>
              </a:spcAft>
            </a:pPr>
            <a:r>
              <a:rPr lang="en-US" altLang="en-US" sz="2400" dirty="0"/>
              <a:t>序列模式挖掘的应用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b="1" dirty="0"/>
              <a:t>客户购物：</a:t>
            </a:r>
            <a:r>
              <a:rPr lang="en-US" altLang="en-US" sz="2400" dirty="0"/>
              <a:t>先购买笔记本电脑，然后购买数码相机，最后购买智能手机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b="1" dirty="0"/>
              <a:t>医疗治疗：</a:t>
            </a:r>
            <a:r>
              <a:rPr lang="en-US" altLang="en-US" sz="2400" dirty="0">
                <a:sym typeface="Wingdings" pitchFamily="2" charset="2"/>
              </a:rPr>
              <a:t>去看医生，拿药，医生监测进展，医生根据情况调整治疗方案 → 增加/减少药物</a:t>
            </a:r>
            <a:endParaRPr lang="en-US" altLang="en-US" sz="2400" dirty="0"/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b="1" dirty="0"/>
              <a:t>自然灾害：</a:t>
            </a:r>
            <a:r>
              <a:rPr lang="en-US" altLang="en-US" sz="2400" dirty="0"/>
              <a:t>灾害前、灾害中、灾害后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b="1" dirty="0"/>
              <a:t>科学实验：</a:t>
            </a:r>
            <a:r>
              <a:rPr lang="en-US" altLang="en-US" sz="2400" dirty="0"/>
              <a:t>步骤1、步骤2、步骤3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b="1" dirty="0"/>
              <a:t>股票市场：</a:t>
            </a:r>
            <a:r>
              <a:rPr lang="en-US" altLang="en-US" sz="2400" dirty="0">
                <a:sym typeface="Wingdings" pitchFamily="2" charset="2"/>
              </a:rPr>
              <a:t>一组股票同步涨跌</a:t>
            </a:r>
            <a:endParaRPr lang="en-US" altLang="en-US" sz="2400" dirty="0"/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b="1" dirty="0"/>
              <a:t>生物序列、DNA/蛋白质：</a:t>
            </a:r>
            <a:r>
              <a:rPr lang="en-US" altLang="en-US" sz="2400" dirty="0">
                <a:sym typeface="Wingdings" pitchFamily="2" charset="2"/>
              </a:rPr>
              <a:t>如果改变蛋白质的序列，很可能导致不同的基因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7943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20EB19AA-73D2-4092-A549-88C744762F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序列示例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B0BB79EF-C247-4E25-BFA1-680F245E11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1012" y="1143000"/>
            <a:ext cx="10058400" cy="5181600"/>
          </a:xfrm>
        </p:spPr>
        <p:txBody>
          <a:bodyPr/>
          <a:lstStyle/>
          <a:p>
            <a:r>
              <a:rPr lang="en-US" altLang="en-US" sz="2000" dirty="0" err="1">
                <a:ea typeface="STKaiti" panose="02010600040101010101" pitchFamily="2" charset="-122"/>
              </a:rPr>
              <a:t>客户在网上商店进行的不同交易的序列</a:t>
            </a:r>
            <a:r>
              <a:rPr lang="en-US" altLang="en-US" sz="2000" dirty="0">
                <a:ea typeface="STKaiti" panose="02010600040101010101" pitchFamily="2" charset="-122"/>
              </a:rPr>
              <a:t>：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sz="2000" dirty="0">
                <a:ea typeface="STKaiti" panose="02010600040101010101" pitchFamily="2" charset="-122"/>
              </a:rPr>
              <a:t> &lt; {Digital </a:t>
            </a:r>
            <a:r>
              <a:rPr lang="en-US" altLang="en-US" sz="2000" dirty="0" err="1">
                <a:ea typeface="STKaiti" panose="02010600040101010101" pitchFamily="2" charset="-122"/>
              </a:rPr>
              <a:t>Camera,iPad</a:t>
            </a:r>
            <a:r>
              <a:rPr lang="en-US" altLang="en-US" sz="2000" dirty="0">
                <a:ea typeface="STKaiti" panose="02010600040101010101" pitchFamily="2" charset="-122"/>
              </a:rPr>
              <a:t>} {memory card}  {</a:t>
            </a:r>
            <a:r>
              <a:rPr lang="en-US" altLang="en-US" sz="2000" dirty="0" err="1">
                <a:ea typeface="STKaiti" panose="02010600040101010101" pitchFamily="2" charset="-122"/>
              </a:rPr>
              <a:t>headphone,iPad</a:t>
            </a:r>
            <a:r>
              <a:rPr lang="en-US" altLang="en-US" sz="2000" dirty="0">
                <a:ea typeface="STKaiti" panose="02010600040101010101" pitchFamily="2" charset="-122"/>
              </a:rPr>
              <a:t> cover} &gt;</a:t>
            </a:r>
          </a:p>
          <a:p>
            <a:pPr lvl="1">
              <a:buFont typeface="Arial" panose="020B0604020202020204" pitchFamily="34" charset="0"/>
              <a:buNone/>
            </a:pPr>
            <a:endParaRPr lang="en-US" altLang="en-US" sz="2000" dirty="0">
              <a:ea typeface="STKaiti" panose="02010600040101010101" pitchFamily="2" charset="-122"/>
            </a:endParaRPr>
          </a:p>
          <a:p>
            <a:r>
              <a:rPr lang="en-US" altLang="en-US" sz="2000" dirty="0" err="1">
                <a:ea typeface="STKaiti" panose="02010600040101010101" pitchFamily="2" charset="-122"/>
              </a:rPr>
              <a:t>导致三里岛核事故的引发事件序列</a:t>
            </a:r>
            <a:r>
              <a:rPr lang="en-US" altLang="en-US" sz="2000" dirty="0">
                <a:ea typeface="STKaiti" panose="02010600040101010101" pitchFamily="2" charset="-122"/>
              </a:rPr>
              <a:t>：</a:t>
            </a:r>
            <a:br>
              <a:rPr lang="en-US" altLang="en-US" sz="2000" dirty="0">
                <a:ea typeface="STKaiti" panose="02010600040101010101" pitchFamily="2" charset="-122"/>
              </a:rPr>
            </a:br>
            <a:r>
              <a:rPr lang="en-US" altLang="en-US" sz="2000" dirty="0">
                <a:ea typeface="STKaiti" panose="02010600040101010101" pitchFamily="2" charset="-122"/>
              </a:rPr>
              <a:t>(http://stellar-one.com/nuclear/staff_reports/summary_SOE_the_initiating_event.htm)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sz="2000" dirty="0">
                <a:ea typeface="STKaiti" panose="02010600040101010101" pitchFamily="2" charset="-122"/>
              </a:rPr>
              <a:t>&lt;{</a:t>
            </a:r>
            <a:r>
              <a:rPr lang="en-US" altLang="en-US" sz="2000" dirty="0" err="1">
                <a:ea typeface="STKaiti" panose="02010600040101010101" pitchFamily="2" charset="-122"/>
              </a:rPr>
              <a:t>树脂堵塞</a:t>
            </a:r>
            <a:r>
              <a:rPr lang="en-US" altLang="en-US" sz="2000" dirty="0">
                <a:ea typeface="STKaiti" panose="02010600040101010101" pitchFamily="2" charset="-122"/>
              </a:rPr>
              <a:t>} {</a:t>
            </a:r>
            <a:r>
              <a:rPr lang="en-US" altLang="en-US" sz="2000" dirty="0" err="1">
                <a:ea typeface="STKaiti" panose="02010600040101010101" pitchFamily="2" charset="-122"/>
              </a:rPr>
              <a:t>出口阀关闭</a:t>
            </a:r>
            <a:r>
              <a:rPr lang="en-US" altLang="en-US" sz="2000" dirty="0">
                <a:ea typeface="STKaiti" panose="02010600040101010101" pitchFamily="2" charset="-122"/>
              </a:rPr>
              <a:t>} {</a:t>
            </a:r>
            <a:r>
              <a:rPr lang="en-US" altLang="en-US" sz="2000" dirty="0" err="1">
                <a:ea typeface="STKaiti" panose="02010600040101010101" pitchFamily="2" charset="-122"/>
              </a:rPr>
              <a:t>进水损失</a:t>
            </a:r>
            <a:r>
              <a:rPr lang="en-US" altLang="en-US" sz="2000" dirty="0">
                <a:ea typeface="STKaiti" panose="02010600040101010101" pitchFamily="2" charset="-122"/>
              </a:rPr>
              <a:t>} </a:t>
            </a:r>
            <a:br>
              <a:rPr lang="en-US" altLang="en-US" sz="2000" dirty="0">
                <a:ea typeface="STKaiti" panose="02010600040101010101" pitchFamily="2" charset="-122"/>
              </a:rPr>
            </a:br>
            <a:r>
              <a:rPr lang="en-US" altLang="en-US" sz="2000" dirty="0">
                <a:ea typeface="STKaiti" panose="02010600040101010101" pitchFamily="2" charset="-122"/>
              </a:rPr>
              <a:t>{</a:t>
            </a:r>
            <a:r>
              <a:rPr lang="en-US" altLang="en-US" sz="2000" dirty="0" err="1">
                <a:ea typeface="STKaiti" panose="02010600040101010101" pitchFamily="2" charset="-122"/>
              </a:rPr>
              <a:t>冷凝器抛光器出口阀关闭</a:t>
            </a:r>
            <a:r>
              <a:rPr lang="en-US" altLang="en-US" sz="2000" dirty="0">
                <a:ea typeface="STKaiti" panose="02010600040101010101" pitchFamily="2" charset="-122"/>
              </a:rPr>
              <a:t>} {</a:t>
            </a:r>
            <a:r>
              <a:rPr lang="en-US" altLang="en-US" sz="2000" dirty="0" err="1">
                <a:ea typeface="STKaiti" panose="02010600040101010101" pitchFamily="2" charset="-122"/>
              </a:rPr>
              <a:t>增压泵跳闸</a:t>
            </a:r>
            <a:r>
              <a:rPr lang="en-US" altLang="en-US" sz="2000" dirty="0">
                <a:ea typeface="STKaiti" panose="02010600040101010101" pitchFamily="2" charset="-122"/>
              </a:rPr>
              <a:t>} </a:t>
            </a:r>
            <a:br>
              <a:rPr lang="en-US" altLang="en-US" sz="2000" dirty="0">
                <a:ea typeface="STKaiti" panose="02010600040101010101" pitchFamily="2" charset="-122"/>
              </a:rPr>
            </a:br>
            <a:r>
              <a:rPr lang="en-US" altLang="en-US" sz="2000" dirty="0">
                <a:ea typeface="STKaiti" panose="02010600040101010101" pitchFamily="2" charset="-122"/>
              </a:rPr>
              <a:t>{</a:t>
            </a:r>
            <a:r>
              <a:rPr lang="en-US" altLang="en-US" sz="2000" dirty="0" err="1">
                <a:ea typeface="STKaiti" panose="02010600040101010101" pitchFamily="2" charset="-122"/>
              </a:rPr>
              <a:t>主水泵跳闸</a:t>
            </a:r>
            <a:r>
              <a:rPr lang="en-US" altLang="en-US" sz="2000" dirty="0">
                <a:ea typeface="STKaiti" panose="02010600040101010101" pitchFamily="2" charset="-122"/>
              </a:rPr>
              <a:t>} {</a:t>
            </a:r>
            <a:r>
              <a:rPr lang="en-US" altLang="en-US" sz="2000" dirty="0" err="1">
                <a:ea typeface="STKaiti" panose="02010600040101010101" pitchFamily="2" charset="-122"/>
              </a:rPr>
              <a:t>主涡轮机跳闸</a:t>
            </a:r>
            <a:r>
              <a:rPr lang="en-US" altLang="en-US" sz="2000" dirty="0">
                <a:ea typeface="STKaiti" panose="02010600040101010101" pitchFamily="2" charset="-122"/>
              </a:rPr>
              <a:t>} {</a:t>
            </a:r>
            <a:r>
              <a:rPr lang="en-US" altLang="en-US" sz="2000" dirty="0" err="1">
                <a:ea typeface="STKaiti" panose="02010600040101010101" pitchFamily="2" charset="-122"/>
              </a:rPr>
              <a:t>反应堆压力升高</a:t>
            </a:r>
            <a:r>
              <a:rPr lang="en-US" altLang="en-US" sz="2000" dirty="0">
                <a:ea typeface="STKaiti" panose="02010600040101010101" pitchFamily="2" charset="-122"/>
              </a:rPr>
              <a:t>}&gt;;</a:t>
            </a:r>
            <a:br>
              <a:rPr lang="en-US" altLang="en-US" sz="2000" dirty="0">
                <a:ea typeface="STKaiti" panose="02010600040101010101" pitchFamily="2" charset="-122"/>
              </a:rPr>
            </a:br>
            <a:endParaRPr lang="en-US" altLang="en-US" sz="2000" dirty="0">
              <a:ea typeface="STKaiti" panose="02010600040101010101" pitchFamily="2" charset="-122"/>
            </a:endParaRPr>
          </a:p>
          <a:p>
            <a:r>
              <a:rPr lang="en-US" altLang="en-US" sz="2000" dirty="0" err="1">
                <a:ea typeface="STKaiti" panose="02010600040101010101" pitchFamily="2" charset="-122"/>
              </a:rPr>
              <a:t>图书馆借阅书籍的顺序</a:t>
            </a:r>
            <a:r>
              <a:rPr lang="en-US" altLang="en-US" sz="2000" dirty="0">
                <a:ea typeface="STKaiti" panose="02010600040101010101" pitchFamily="2" charset="-122"/>
              </a:rPr>
              <a:t>：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sz="2000" dirty="0">
                <a:ea typeface="STKaiti" panose="02010600040101010101" pitchFamily="2" charset="-122"/>
              </a:rPr>
              <a:t>&lt;{</a:t>
            </a:r>
            <a:r>
              <a:rPr lang="en-US" altLang="en-US" sz="2000" dirty="0" err="1">
                <a:ea typeface="STKaiti" panose="02010600040101010101" pitchFamily="2" charset="-122"/>
              </a:rPr>
              <a:t>魔戒同盟</a:t>
            </a:r>
            <a:r>
              <a:rPr lang="en-US" altLang="en-US" sz="2000" dirty="0">
                <a:ea typeface="STKaiti" panose="02010600040101010101" pitchFamily="2" charset="-122"/>
              </a:rPr>
              <a:t>} {</a:t>
            </a:r>
            <a:r>
              <a:rPr lang="en-US" altLang="en-US" sz="2000" dirty="0" err="1">
                <a:ea typeface="STKaiti" panose="02010600040101010101" pitchFamily="2" charset="-122"/>
              </a:rPr>
              <a:t>双塔奇兵</a:t>
            </a:r>
            <a:r>
              <a:rPr lang="en-US" altLang="en-US" sz="2000" dirty="0">
                <a:ea typeface="STKaiti" panose="02010600040101010101" pitchFamily="2" charset="-122"/>
              </a:rPr>
              <a:t>}  {</a:t>
            </a:r>
            <a:r>
              <a:rPr lang="en-US" altLang="en-US" sz="2000" dirty="0" err="1">
                <a:ea typeface="STKaiti" panose="02010600040101010101" pitchFamily="2" charset="-122"/>
              </a:rPr>
              <a:t>王者归来</a:t>
            </a:r>
            <a:r>
              <a:rPr lang="en-US" altLang="en-US" sz="2000" dirty="0">
                <a:ea typeface="STKaiti" panose="02010600040101010101" pitchFamily="2" charset="-122"/>
              </a:rPr>
              <a:t>}&gt;</a:t>
            </a:r>
          </a:p>
          <a:p>
            <a:pPr lvl="1">
              <a:buFont typeface="Arial" panose="020B0604020202020204" pitchFamily="34" charset="0"/>
              <a:buNone/>
            </a:pPr>
            <a:endParaRPr lang="en-US" altLang="en-US" sz="2000" dirty="0">
              <a:ea typeface="STKaiti" panose="02010600040101010101" pitchFamily="2" charset="-122"/>
            </a:endParaRPr>
          </a:p>
          <a:p>
            <a:pPr lvl="1">
              <a:buFont typeface="Arial" panose="020B0604020202020204" pitchFamily="34" charset="0"/>
              <a:buNone/>
            </a:pPr>
            <a:endParaRPr lang="en-US" altLang="en-US" sz="2000" dirty="0">
              <a:ea typeface="STKaiti" panose="02010600040101010101" pitchFamily="2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40625B52-1926-42DF-8FC8-0603C680A4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80212" y="361720"/>
            <a:ext cx="8534400" cy="5334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序列模式发现：示例</a:t>
            </a:r>
          </a:p>
        </p:txBody>
      </p:sp>
      <p:sp>
        <p:nvSpPr>
          <p:cNvPr id="762883" name="Rectangle 3">
            <a:extLst>
              <a:ext uri="{FF2B5EF4-FFF2-40B4-BE49-F238E27FC236}">
                <a16:creationId xmlns:a16="http://schemas.microsoft.com/office/drawing/2014/main" id="{6BD5B475-D5E7-4907-92A2-106E2DB923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8978" y="1143000"/>
            <a:ext cx="11016868" cy="4286250"/>
          </a:xfrm>
        </p:spPr>
        <p:txBody>
          <a:bodyPr/>
          <a:lstStyle/>
          <a:p>
            <a:pPr>
              <a:defRPr/>
            </a:pPr>
            <a:r>
              <a:rPr lang="en-US" sz="2000" dirty="0"/>
              <a:t>在电信报警日志中</a:t>
            </a:r>
            <a:r>
              <a:rPr lang="en-US" sz="1800" dirty="0"/>
              <a:t>， 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2000" dirty="0" err="1"/>
              <a:t>逆变器问题</a:t>
            </a:r>
            <a:r>
              <a:rPr lang="en-US" sz="2000" dirty="0"/>
              <a:t>： </a:t>
            </a:r>
          </a:p>
          <a:p>
            <a:pPr marL="457200" lvl="1" indent="0">
              <a:buNone/>
              <a:defRPr/>
            </a:pPr>
            <a:r>
              <a:rPr lang="en-US" sz="2000" dirty="0"/>
              <a:t>(</a:t>
            </a:r>
            <a:r>
              <a:rPr lang="en-US" sz="2000" dirty="0" err="1"/>
              <a:t>线路电流过大</a:t>
            </a:r>
            <a:r>
              <a:rPr lang="en-US" sz="2000" dirty="0"/>
              <a:t>) (</a:t>
            </a:r>
            <a:r>
              <a:rPr lang="en-US" sz="2000" dirty="0" err="1"/>
              <a:t>整流器报警</a:t>
            </a:r>
            <a:r>
              <a:rPr lang="en-US" sz="2000" dirty="0"/>
              <a:t>) </a:t>
            </a:r>
            <a:r>
              <a:rPr lang="en-US" sz="2000" dirty="0">
                <a:sym typeface="Wingdings" pitchFamily="2" charset="2"/>
              </a:rPr>
              <a:t>-&gt; </a:t>
            </a:r>
            <a:r>
              <a:rPr lang="en-US" sz="2000" dirty="0"/>
              <a:t>(</a:t>
            </a:r>
            <a:r>
              <a:rPr lang="en-US" sz="2000" dirty="0" err="1"/>
              <a:t>火灾报警</a:t>
            </a:r>
            <a:r>
              <a:rPr lang="en-US" sz="2000" dirty="0"/>
              <a:t>)</a:t>
            </a:r>
          </a:p>
          <a:p>
            <a:pPr marL="457200" lvl="1" indent="0">
              <a:buNone/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在销售点交易序列中，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2000" dirty="0"/>
              <a:t>计算机书店：  </a:t>
            </a:r>
          </a:p>
          <a:p>
            <a:pPr lvl="1">
              <a:buFont typeface="Arial" charset="0"/>
              <a:buNone/>
              <a:defRPr/>
            </a:pPr>
            <a:r>
              <a:rPr lang="en-US" sz="2000" dirty="0"/>
              <a:t>	  (</a:t>
            </a:r>
            <a:r>
              <a:rPr lang="en-US" sz="2000" dirty="0" err="1"/>
              <a:t>视觉C入门) </a:t>
            </a:r>
            <a:r>
              <a:rPr lang="en-US" sz="2000" dirty="0"/>
              <a:t>(C++入门) -&gt; (</a:t>
            </a:r>
            <a:r>
              <a:rPr lang="en-US" sz="2000" dirty="0" err="1"/>
              <a:t>Perl入门,Tcl Tk)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2000" dirty="0"/>
              <a:t>运动服装店: </a:t>
            </a:r>
          </a:p>
          <a:p>
            <a:pPr lvl="1">
              <a:buFont typeface="Arial" charset="0"/>
              <a:buNone/>
              <a:defRPr/>
            </a:pPr>
            <a:r>
              <a:rPr lang="en-US" sz="2000" dirty="0"/>
              <a:t>	  (鞋子) (球拍,</a:t>
            </a:r>
            <a:r>
              <a:rPr lang="en-US" sz="2000" dirty="0" err="1"/>
              <a:t> 壁球拍) -&gt; </a:t>
            </a:r>
            <a:r>
              <a:rPr lang="en-US" sz="2000" dirty="0"/>
              <a:t>(</a:t>
            </a:r>
            <a:r>
              <a:rPr lang="en-US" sz="2000" dirty="0" err="1"/>
              <a:t>运动夹克)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2FDF8A47-315E-43B1-8380-056BACA720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7633" y="342899"/>
            <a:ext cx="11040533" cy="533400"/>
          </a:xfrm>
        </p:spPr>
        <p:txBody>
          <a:bodyPr>
            <a:normAutofit fontScale="90000"/>
          </a:bodyPr>
          <a:lstStyle/>
          <a:p>
            <a:r>
              <a:rPr lang="en-US" altLang="en-US">
                <a:latin typeface="STKaiti" panose="02010600040101010101" pitchFamily="2" charset="-122"/>
                <a:ea typeface="STKaiti" panose="02010600040101010101" pitchFamily="2" charset="-122"/>
              </a:rPr>
              <a:t>序列数据</a:t>
            </a:r>
          </a:p>
        </p:txBody>
      </p:sp>
      <p:graphicFrame>
        <p:nvGraphicFramePr>
          <p:cNvPr id="1466371" name="Group 3">
            <a:extLst>
              <a:ext uri="{FF2B5EF4-FFF2-40B4-BE49-F238E27FC236}">
                <a16:creationId xmlns:a16="http://schemas.microsoft.com/office/drawing/2014/main" id="{6D0D3F61-67D5-46D3-B3E0-FD19C81D4B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2093610"/>
              </p:ext>
            </p:extLst>
          </p:nvPr>
        </p:nvGraphicFramePr>
        <p:xfrm>
          <a:off x="775313" y="1239844"/>
          <a:ext cx="10439858" cy="3589329"/>
        </p:xfrm>
        <a:graphic>
          <a:graphicData uri="http://schemas.openxmlformats.org/drawingml/2006/table">
            <a:tbl>
              <a:tblPr/>
              <a:tblGrid>
                <a:gridCol w="1689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2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52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25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27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序列数据库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序列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元素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(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交易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事件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(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项目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77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客户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指定客户的购买历史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客户在时间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 t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购买的一组商品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书籍、日记产品、CD等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664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网页数据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特定网页访问者的浏览活动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网络访客在单次鼠标点击后查看的文件集合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主页、索引页、联系方等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82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事件数据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由指定传感器在时间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 t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触发的事件历史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传感器在时间 t 触发的事件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传感器生成的报警类型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138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基因组序列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特定物种的DNA序列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DNA序列中的一个元素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碱基A、T、G、C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995" name="Line 35">
            <a:extLst>
              <a:ext uri="{FF2B5EF4-FFF2-40B4-BE49-F238E27FC236}">
                <a16:creationId xmlns:a16="http://schemas.microsoft.com/office/drawing/2014/main" id="{3D323EEE-C092-4686-8A8B-3A88DA852D21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6353173"/>
            <a:ext cx="632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40996" name="Text Box 36">
            <a:extLst>
              <a:ext uri="{FF2B5EF4-FFF2-40B4-BE49-F238E27FC236}">
                <a16:creationId xmlns:a16="http://schemas.microsoft.com/office/drawing/2014/main" id="{D07CD8D0-003A-4182-8331-1817542611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972174"/>
            <a:ext cx="152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序列</a:t>
            </a:r>
          </a:p>
        </p:txBody>
      </p:sp>
      <p:sp>
        <p:nvSpPr>
          <p:cNvPr id="40997" name="Line 37">
            <a:extLst>
              <a:ext uri="{FF2B5EF4-FFF2-40B4-BE49-F238E27FC236}">
                <a16:creationId xmlns:a16="http://schemas.microsoft.com/office/drawing/2014/main" id="{E9CD6CBB-8114-4020-99BB-4E40CD9D70F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6276973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40998" name="Line 38">
            <a:extLst>
              <a:ext uri="{FF2B5EF4-FFF2-40B4-BE49-F238E27FC236}">
                <a16:creationId xmlns:a16="http://schemas.microsoft.com/office/drawing/2014/main" id="{C3F8211D-29F8-46CE-9420-AE49283267E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6276973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40999" name="Line 39">
            <a:extLst>
              <a:ext uri="{FF2B5EF4-FFF2-40B4-BE49-F238E27FC236}">
                <a16:creationId xmlns:a16="http://schemas.microsoft.com/office/drawing/2014/main" id="{10D0D304-AE2F-4F1C-A603-5DBF83DC502F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6276973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41000" name="Line 40">
            <a:extLst>
              <a:ext uri="{FF2B5EF4-FFF2-40B4-BE49-F238E27FC236}">
                <a16:creationId xmlns:a16="http://schemas.microsoft.com/office/drawing/2014/main" id="{6FE3F97C-E24B-420E-9DC4-11F3095795F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6276973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41001" name="Line 41">
            <a:extLst>
              <a:ext uri="{FF2B5EF4-FFF2-40B4-BE49-F238E27FC236}">
                <a16:creationId xmlns:a16="http://schemas.microsoft.com/office/drawing/2014/main" id="{E37F0365-9E8E-4967-A103-E4B37FE1CFC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6276973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41002" name="Line 42">
            <a:extLst>
              <a:ext uri="{FF2B5EF4-FFF2-40B4-BE49-F238E27FC236}">
                <a16:creationId xmlns:a16="http://schemas.microsoft.com/office/drawing/2014/main" id="{C4253705-9D59-4D3A-AC03-5033284E8051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6276973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41003" name="Line 43">
            <a:extLst>
              <a:ext uri="{FF2B5EF4-FFF2-40B4-BE49-F238E27FC236}">
                <a16:creationId xmlns:a16="http://schemas.microsoft.com/office/drawing/2014/main" id="{0A3954EC-155C-470E-BF09-1AD1E959EAE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0" y="6276973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41004" name="Line 44">
            <a:extLst>
              <a:ext uri="{FF2B5EF4-FFF2-40B4-BE49-F238E27FC236}">
                <a16:creationId xmlns:a16="http://schemas.microsoft.com/office/drawing/2014/main" id="{76A3270C-3A6F-422D-B1AD-8B2B1F315FFA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0" y="6276973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41005" name="Oval 45">
            <a:extLst>
              <a:ext uri="{FF2B5EF4-FFF2-40B4-BE49-F238E27FC236}">
                <a16:creationId xmlns:a16="http://schemas.microsoft.com/office/drawing/2014/main" id="{8BF4D7FE-A3A0-4EEA-B095-1561CD1DC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5362573"/>
            <a:ext cx="533400" cy="838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E1</a:t>
            </a:r>
            <a:br>
              <a:rPr lang="en-US" altLang="en-US" sz="20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</a:br>
            <a:r>
              <a:rPr lang="en-US" altLang="en-US" sz="20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E2</a:t>
            </a:r>
          </a:p>
        </p:txBody>
      </p:sp>
      <p:sp>
        <p:nvSpPr>
          <p:cNvPr id="41006" name="Oval 46">
            <a:extLst>
              <a:ext uri="{FF2B5EF4-FFF2-40B4-BE49-F238E27FC236}">
                <a16:creationId xmlns:a16="http://schemas.microsoft.com/office/drawing/2014/main" id="{A9C13F99-9AB2-4968-A179-C32005B19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5362573"/>
            <a:ext cx="533400" cy="838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E1</a:t>
            </a:r>
            <a:br>
              <a:rPr lang="en-US" altLang="en-US" sz="20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</a:br>
            <a:r>
              <a:rPr lang="en-US" altLang="en-US" sz="20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E3</a:t>
            </a:r>
          </a:p>
        </p:txBody>
      </p:sp>
      <p:sp>
        <p:nvSpPr>
          <p:cNvPr id="41007" name="Oval 47">
            <a:extLst>
              <a:ext uri="{FF2B5EF4-FFF2-40B4-BE49-F238E27FC236}">
                <a16:creationId xmlns:a16="http://schemas.microsoft.com/office/drawing/2014/main" id="{B4F2598D-236C-4A92-96FC-8D38CDE3E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5362573"/>
            <a:ext cx="533400" cy="838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E2</a:t>
            </a:r>
          </a:p>
        </p:txBody>
      </p:sp>
      <p:sp>
        <p:nvSpPr>
          <p:cNvPr id="41008" name="Oval 48">
            <a:extLst>
              <a:ext uri="{FF2B5EF4-FFF2-40B4-BE49-F238E27FC236}">
                <a16:creationId xmlns:a16="http://schemas.microsoft.com/office/drawing/2014/main" id="{3AA26E27-98A5-41F6-9EF4-549546E50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5362573"/>
            <a:ext cx="533400" cy="838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E3</a:t>
            </a:r>
            <a:br>
              <a:rPr lang="en-US" altLang="en-US" sz="20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</a:br>
            <a:r>
              <a:rPr lang="en-US" altLang="en-US" sz="20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E4</a:t>
            </a:r>
          </a:p>
        </p:txBody>
      </p:sp>
      <p:sp>
        <p:nvSpPr>
          <p:cNvPr id="41009" name="Oval 49">
            <a:extLst>
              <a:ext uri="{FF2B5EF4-FFF2-40B4-BE49-F238E27FC236}">
                <a16:creationId xmlns:a16="http://schemas.microsoft.com/office/drawing/2014/main" id="{D58EA9D4-54D3-4DE3-BD44-76B2D6513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5378448"/>
            <a:ext cx="533400" cy="838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E2</a:t>
            </a:r>
          </a:p>
        </p:txBody>
      </p:sp>
      <p:sp>
        <p:nvSpPr>
          <p:cNvPr id="41010" name="Line 50">
            <a:extLst>
              <a:ext uri="{FF2B5EF4-FFF2-40B4-BE49-F238E27FC236}">
                <a16:creationId xmlns:a16="http://schemas.microsoft.com/office/drawing/2014/main" id="{7948F00A-B4BD-49B0-92DA-28F1AC85045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5226048"/>
            <a:ext cx="7620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41011" name="Text Box 51">
            <a:extLst>
              <a:ext uri="{FF2B5EF4-FFF2-40B4-BE49-F238E27FC236}">
                <a16:creationId xmlns:a16="http://schemas.microsoft.com/office/drawing/2014/main" id="{A4220435-06B6-4A7E-9F42-3F08FB9B8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4981573"/>
            <a:ext cx="1828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元素（交易）</a:t>
            </a:r>
          </a:p>
        </p:txBody>
      </p:sp>
      <p:sp>
        <p:nvSpPr>
          <p:cNvPr id="41012" name="Line 52">
            <a:extLst>
              <a:ext uri="{FF2B5EF4-FFF2-40B4-BE49-F238E27FC236}">
                <a16:creationId xmlns:a16="http://schemas.microsoft.com/office/drawing/2014/main" id="{9F534C1E-D37B-48B1-BD82-AF5EDEABE8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58200" y="5378448"/>
            <a:ext cx="5334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41013" name="Text Box 53">
            <a:extLst>
              <a:ext uri="{FF2B5EF4-FFF2-40B4-BE49-F238E27FC236}">
                <a16:creationId xmlns:a16="http://schemas.microsoft.com/office/drawing/2014/main" id="{66A00E1D-9EE8-4F8D-BE3F-C6CF86A77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1600" y="5133974"/>
            <a:ext cx="990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事件 </a:t>
            </a:r>
            <a:br>
              <a:rPr lang="en-US" altLang="en-US" sz="20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</a:br>
            <a:r>
              <a:rPr lang="en-US" altLang="en-US" sz="20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(项目)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D916BAEA-C5A9-45FA-B565-EEEABED65D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>
                <a:latin typeface="STKaiti" panose="02010600040101010101" pitchFamily="2" charset="-122"/>
                <a:ea typeface="STKaiti" panose="02010600040101010101" pitchFamily="2" charset="-122"/>
              </a:rPr>
              <a:t>序列数据</a:t>
            </a:r>
          </a:p>
        </p:txBody>
      </p:sp>
      <p:sp>
        <p:nvSpPr>
          <p:cNvPr id="41987" name="Line 3">
            <a:extLst>
              <a:ext uri="{FF2B5EF4-FFF2-40B4-BE49-F238E27FC236}">
                <a16:creationId xmlns:a16="http://schemas.microsoft.com/office/drawing/2014/main" id="{B0D6B1FA-CCC8-4DB6-93B3-5D31A7E3B40D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358140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grpSp>
        <p:nvGrpSpPr>
          <p:cNvPr id="41989" name="Group 5">
            <a:extLst>
              <a:ext uri="{FF2B5EF4-FFF2-40B4-BE49-F238E27FC236}">
                <a16:creationId xmlns:a16="http://schemas.microsoft.com/office/drawing/2014/main" id="{B446CFC4-C335-43D0-97E4-5FF1416E49E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752600" y="2590800"/>
            <a:ext cx="3327400" cy="2160588"/>
            <a:chOff x="192" y="1872"/>
            <a:chExt cx="2096" cy="1361"/>
          </a:xfrm>
        </p:grpSpPr>
        <p:sp>
          <p:nvSpPr>
            <p:cNvPr id="41994" name="AutoShape 6">
              <a:extLst>
                <a:ext uri="{FF2B5EF4-FFF2-40B4-BE49-F238E27FC236}">
                  <a16:creationId xmlns:a16="http://schemas.microsoft.com/office/drawing/2014/main" id="{7229EA93-2557-420C-92E4-7E43A1FE505D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92" y="1872"/>
              <a:ext cx="1968" cy="1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5" name="Rectangle 7">
              <a:extLst>
                <a:ext uri="{FF2B5EF4-FFF2-40B4-BE49-F238E27FC236}">
                  <a16:creationId xmlns:a16="http://schemas.microsoft.com/office/drawing/2014/main" id="{5F3B498C-BF1C-4215-AEBD-D8627338EB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" y="1878"/>
              <a:ext cx="1956" cy="151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1996" name="Rectangle 8">
              <a:extLst>
                <a:ext uri="{FF2B5EF4-FFF2-40B4-BE49-F238E27FC236}">
                  <a16:creationId xmlns:a16="http://schemas.microsoft.com/office/drawing/2014/main" id="{72E6B021-D444-485A-B0A1-FAAF19359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" y="1879"/>
              <a:ext cx="44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10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序列标识符</a:t>
              </a:r>
            </a:p>
          </p:txBody>
        </p:sp>
        <p:sp>
          <p:nvSpPr>
            <p:cNvPr id="41997" name="Rectangle 9">
              <a:extLst>
                <a:ext uri="{FF2B5EF4-FFF2-40B4-BE49-F238E27FC236}">
                  <a16:creationId xmlns:a16="http://schemas.microsoft.com/office/drawing/2014/main" id="{179AB286-2B17-4CA1-BF76-CE3F67AC75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3" y="1879"/>
              <a:ext cx="267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10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时间戳</a:t>
              </a:r>
            </a:p>
          </p:txBody>
        </p:sp>
        <p:sp>
          <p:nvSpPr>
            <p:cNvPr id="41998" name="Rectangle 10">
              <a:extLst>
                <a:ext uri="{FF2B5EF4-FFF2-40B4-BE49-F238E27FC236}">
                  <a16:creationId xmlns:a16="http://schemas.microsoft.com/office/drawing/2014/main" id="{3B7F7B72-0CB6-4FCE-90A0-FBF8FBF6FA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4" y="1879"/>
              <a:ext cx="178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10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事件</a:t>
              </a:r>
            </a:p>
          </p:txBody>
        </p:sp>
        <p:sp>
          <p:nvSpPr>
            <p:cNvPr id="41999" name="Rectangle 11">
              <a:extLst>
                <a:ext uri="{FF2B5EF4-FFF2-40B4-BE49-F238E27FC236}">
                  <a16:creationId xmlns:a16="http://schemas.microsoft.com/office/drawing/2014/main" id="{203912EC-6E53-4C89-90D3-5EF515FE7C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" y="2033"/>
              <a:ext cx="85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A</a:t>
              </a:r>
              <a:endParaRPr lang="en-US" altLang="en-US" sz="14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00" name="Rectangle 12">
              <a:extLst>
                <a:ext uri="{FF2B5EF4-FFF2-40B4-BE49-F238E27FC236}">
                  <a16:creationId xmlns:a16="http://schemas.microsoft.com/office/drawing/2014/main" id="{22860357-6E59-4CA3-83DE-A7C8559B07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" y="2033"/>
              <a:ext cx="11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10</a:t>
              </a:r>
              <a:endParaRPr lang="en-US" altLang="en-US" sz="14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01" name="Rectangle 13">
              <a:extLst>
                <a:ext uri="{FF2B5EF4-FFF2-40B4-BE49-F238E27FC236}">
                  <a16:creationId xmlns:a16="http://schemas.microsoft.com/office/drawing/2014/main" id="{88DD9814-57D3-4E97-B24A-860A86953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5" y="2033"/>
              <a:ext cx="28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2, 3, 5</a:t>
              </a:r>
              <a:endParaRPr lang="en-US" altLang="en-US" sz="14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02" name="Rectangle 14">
              <a:extLst>
                <a:ext uri="{FF2B5EF4-FFF2-40B4-BE49-F238E27FC236}">
                  <a16:creationId xmlns:a16="http://schemas.microsoft.com/office/drawing/2014/main" id="{C00B339B-F751-40C6-B355-48A37755B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" y="2183"/>
              <a:ext cx="85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A</a:t>
              </a:r>
              <a:endParaRPr lang="en-US" altLang="en-US" sz="14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03" name="Rectangle 15">
              <a:extLst>
                <a:ext uri="{FF2B5EF4-FFF2-40B4-BE49-F238E27FC236}">
                  <a16:creationId xmlns:a16="http://schemas.microsoft.com/office/drawing/2014/main" id="{360D45D1-60AE-49DF-8ED7-70A3A6E5B8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" y="2183"/>
              <a:ext cx="11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20</a:t>
              </a:r>
              <a:endParaRPr lang="en-US" altLang="en-US" sz="14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04" name="Rectangle 16">
              <a:extLst>
                <a:ext uri="{FF2B5EF4-FFF2-40B4-BE49-F238E27FC236}">
                  <a16:creationId xmlns:a16="http://schemas.microsoft.com/office/drawing/2014/main" id="{6AA29C7B-CA63-48AF-BEA2-2DA853CDDA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5" y="2183"/>
              <a:ext cx="170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6, 1</a:t>
              </a:r>
              <a:endParaRPr lang="en-US" altLang="en-US" sz="14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05" name="Rectangle 17">
              <a:extLst>
                <a:ext uri="{FF2B5EF4-FFF2-40B4-BE49-F238E27FC236}">
                  <a16:creationId xmlns:a16="http://schemas.microsoft.com/office/drawing/2014/main" id="{70489C6C-7120-46B3-9147-E672E1752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" y="2333"/>
              <a:ext cx="85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A</a:t>
              </a:r>
              <a:endParaRPr lang="en-US" altLang="en-US" sz="14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06" name="Rectangle 18">
              <a:extLst>
                <a:ext uri="{FF2B5EF4-FFF2-40B4-BE49-F238E27FC236}">
                  <a16:creationId xmlns:a16="http://schemas.microsoft.com/office/drawing/2014/main" id="{859D98F0-C127-4671-BC7B-8BE1B68DD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" y="2333"/>
              <a:ext cx="11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23</a:t>
              </a:r>
              <a:endParaRPr lang="en-US" altLang="en-US" sz="14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07" name="Rectangle 19">
              <a:extLst>
                <a:ext uri="{FF2B5EF4-FFF2-40B4-BE49-F238E27FC236}">
                  <a16:creationId xmlns:a16="http://schemas.microsoft.com/office/drawing/2014/main" id="{1D47BA97-E386-495B-8E4D-DBAC57DBBF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5" y="2333"/>
              <a:ext cx="57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1</a:t>
              </a:r>
              <a:endParaRPr lang="en-US" altLang="en-US" sz="14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08" name="Rectangle 20">
              <a:extLst>
                <a:ext uri="{FF2B5EF4-FFF2-40B4-BE49-F238E27FC236}">
                  <a16:creationId xmlns:a16="http://schemas.microsoft.com/office/drawing/2014/main" id="{0F1BAE76-3B88-4B3E-9F6A-6A93DDAA86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" y="2483"/>
              <a:ext cx="8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B</a:t>
              </a:r>
              <a:endParaRPr lang="en-US" altLang="en-US" sz="14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09" name="Rectangle 21">
              <a:extLst>
                <a:ext uri="{FF2B5EF4-FFF2-40B4-BE49-F238E27FC236}">
                  <a16:creationId xmlns:a16="http://schemas.microsoft.com/office/drawing/2014/main" id="{555BE6ED-CBA1-42B5-9DEF-0BCD7E656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" y="2483"/>
              <a:ext cx="11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11</a:t>
              </a:r>
              <a:endParaRPr lang="en-US" altLang="en-US" sz="14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10" name="Rectangle 22">
              <a:extLst>
                <a:ext uri="{FF2B5EF4-FFF2-40B4-BE49-F238E27FC236}">
                  <a16:creationId xmlns:a16="http://schemas.microsoft.com/office/drawing/2014/main" id="{C832048D-2EAB-4564-A602-CC96D46D9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5" y="2483"/>
              <a:ext cx="28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4, 5, 6</a:t>
              </a:r>
              <a:endParaRPr lang="en-US" altLang="en-US" sz="14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11" name="Rectangle 23">
              <a:extLst>
                <a:ext uri="{FF2B5EF4-FFF2-40B4-BE49-F238E27FC236}">
                  <a16:creationId xmlns:a16="http://schemas.microsoft.com/office/drawing/2014/main" id="{54790C73-FBEE-474A-B359-90B7CBF82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" y="2632"/>
              <a:ext cx="8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B</a:t>
              </a:r>
              <a:endParaRPr lang="en-US" altLang="en-US" sz="14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12" name="Rectangle 24">
              <a:extLst>
                <a:ext uri="{FF2B5EF4-FFF2-40B4-BE49-F238E27FC236}">
                  <a16:creationId xmlns:a16="http://schemas.microsoft.com/office/drawing/2014/main" id="{FF2EE7AB-1382-4757-AAFA-70408B04A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" y="2632"/>
              <a:ext cx="11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17</a:t>
              </a:r>
              <a:endParaRPr lang="en-US" altLang="en-US" sz="14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13" name="Rectangle 25">
              <a:extLst>
                <a:ext uri="{FF2B5EF4-FFF2-40B4-BE49-F238E27FC236}">
                  <a16:creationId xmlns:a16="http://schemas.microsoft.com/office/drawing/2014/main" id="{D2954324-7D3B-43FC-B94D-88174533D9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5" y="2632"/>
              <a:ext cx="57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2</a:t>
              </a:r>
              <a:endParaRPr lang="en-US" altLang="en-US" sz="14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14" name="Rectangle 26">
              <a:extLst>
                <a:ext uri="{FF2B5EF4-FFF2-40B4-BE49-F238E27FC236}">
                  <a16:creationId xmlns:a16="http://schemas.microsoft.com/office/drawing/2014/main" id="{9A9DA53A-75D5-4E3F-BAD8-E666D1FA9F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" y="2782"/>
              <a:ext cx="8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B</a:t>
              </a:r>
              <a:endParaRPr lang="en-US" altLang="en-US" sz="14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15" name="Rectangle 27">
              <a:extLst>
                <a:ext uri="{FF2B5EF4-FFF2-40B4-BE49-F238E27FC236}">
                  <a16:creationId xmlns:a16="http://schemas.microsoft.com/office/drawing/2014/main" id="{14A0FCA6-723D-47E2-900A-F805F51FFF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" y="2782"/>
              <a:ext cx="11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21</a:t>
              </a:r>
              <a:endParaRPr lang="en-US" altLang="en-US" sz="14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16" name="Rectangle 28">
              <a:extLst>
                <a:ext uri="{FF2B5EF4-FFF2-40B4-BE49-F238E27FC236}">
                  <a16:creationId xmlns:a16="http://schemas.microsoft.com/office/drawing/2014/main" id="{C71E73D9-2467-4977-B322-BA7A47BDCC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5" y="2782"/>
              <a:ext cx="396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7, 8, 1, 2</a:t>
              </a:r>
              <a:endParaRPr lang="en-US" altLang="en-US" sz="14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17" name="Rectangle 29">
              <a:extLst>
                <a:ext uri="{FF2B5EF4-FFF2-40B4-BE49-F238E27FC236}">
                  <a16:creationId xmlns:a16="http://schemas.microsoft.com/office/drawing/2014/main" id="{C32951B3-63A4-40E9-AD02-16DC7DEB84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" y="2932"/>
              <a:ext cx="8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B</a:t>
              </a:r>
              <a:endParaRPr lang="en-US" altLang="en-US" sz="14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18" name="Rectangle 30">
              <a:extLst>
                <a:ext uri="{FF2B5EF4-FFF2-40B4-BE49-F238E27FC236}">
                  <a16:creationId xmlns:a16="http://schemas.microsoft.com/office/drawing/2014/main" id="{B958971F-3C8D-42E1-B9E5-EB837A7F1C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" y="2932"/>
              <a:ext cx="11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28</a:t>
              </a:r>
              <a:endParaRPr lang="en-US" altLang="en-US" sz="14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19" name="Rectangle 31">
              <a:extLst>
                <a:ext uri="{FF2B5EF4-FFF2-40B4-BE49-F238E27FC236}">
                  <a16:creationId xmlns:a16="http://schemas.microsoft.com/office/drawing/2014/main" id="{EEB8A119-A2F6-4726-9C2B-3837ED1E1F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5" y="2932"/>
              <a:ext cx="170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1, 6</a:t>
              </a:r>
              <a:endParaRPr lang="en-US" altLang="en-US" sz="14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20" name="Rectangle 32">
              <a:extLst>
                <a:ext uri="{FF2B5EF4-FFF2-40B4-BE49-F238E27FC236}">
                  <a16:creationId xmlns:a16="http://schemas.microsoft.com/office/drawing/2014/main" id="{74D46EEB-5D88-4E87-B644-FE83838596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" y="3082"/>
              <a:ext cx="7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C</a:t>
              </a:r>
              <a:endParaRPr lang="en-US" altLang="en-US" sz="14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21" name="Rectangle 33">
              <a:extLst>
                <a:ext uri="{FF2B5EF4-FFF2-40B4-BE49-F238E27FC236}">
                  <a16:creationId xmlns:a16="http://schemas.microsoft.com/office/drawing/2014/main" id="{6F3D3F17-B0D8-44EE-93C6-D148AE257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" y="3082"/>
              <a:ext cx="11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14</a:t>
              </a:r>
              <a:endParaRPr lang="en-US" altLang="en-US" sz="14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22" name="Rectangle 34">
              <a:extLst>
                <a:ext uri="{FF2B5EF4-FFF2-40B4-BE49-F238E27FC236}">
                  <a16:creationId xmlns:a16="http://schemas.microsoft.com/office/drawing/2014/main" id="{CC8E48CC-F6EE-44EA-8213-101A9EC38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5" y="3082"/>
              <a:ext cx="28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500">
                  <a:solidFill>
                    <a:srgbClr val="000000"/>
                  </a:solidFill>
                  <a:latin typeface="STKaiti" panose="02010600040101010101" pitchFamily="2" charset="-122"/>
                  <a:ea typeface="STKaiti" panose="02010600040101010101" pitchFamily="2" charset="-122"/>
                </a:rPr>
                <a:t>1, 8, 7</a:t>
              </a:r>
              <a:endParaRPr lang="en-US" altLang="en-US" sz="14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23" name="Line 35">
              <a:extLst>
                <a:ext uri="{FF2B5EF4-FFF2-40B4-BE49-F238E27FC236}">
                  <a16:creationId xmlns:a16="http://schemas.microsoft.com/office/drawing/2014/main" id="{6F8FD01C-B55D-4161-BCE0-89DD0FCEF8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1872"/>
              <a:ext cx="1" cy="136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24" name="Rectangle 36">
              <a:extLst>
                <a:ext uri="{FF2B5EF4-FFF2-40B4-BE49-F238E27FC236}">
                  <a16:creationId xmlns:a16="http://schemas.microsoft.com/office/drawing/2014/main" id="{96A0B05A-CA8E-4324-86AE-2D499A5D58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1872"/>
              <a:ext cx="12" cy="136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25" name="Line 37">
              <a:extLst>
                <a:ext uri="{FF2B5EF4-FFF2-40B4-BE49-F238E27FC236}">
                  <a16:creationId xmlns:a16="http://schemas.microsoft.com/office/drawing/2014/main" id="{61F7D246-CC44-460F-A80B-90EB2FE844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7" y="1884"/>
              <a:ext cx="1" cy="134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26" name="Rectangle 38">
              <a:extLst>
                <a:ext uri="{FF2B5EF4-FFF2-40B4-BE49-F238E27FC236}">
                  <a16:creationId xmlns:a16="http://schemas.microsoft.com/office/drawing/2014/main" id="{A2CC89AD-8561-45B5-A16C-E266736462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7" y="1884"/>
              <a:ext cx="12" cy="134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27" name="Line 39">
              <a:extLst>
                <a:ext uri="{FF2B5EF4-FFF2-40B4-BE49-F238E27FC236}">
                  <a16:creationId xmlns:a16="http://schemas.microsoft.com/office/drawing/2014/main" id="{51EBBB7B-D9ED-4266-AC3F-4820F24AA3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6" y="1884"/>
              <a:ext cx="1" cy="134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28" name="Rectangle 40">
              <a:extLst>
                <a:ext uri="{FF2B5EF4-FFF2-40B4-BE49-F238E27FC236}">
                  <a16:creationId xmlns:a16="http://schemas.microsoft.com/office/drawing/2014/main" id="{1774E481-B35F-4075-BC98-0419E1035F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6" y="1884"/>
              <a:ext cx="11" cy="134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29" name="Line 41">
              <a:extLst>
                <a:ext uri="{FF2B5EF4-FFF2-40B4-BE49-F238E27FC236}">
                  <a16:creationId xmlns:a16="http://schemas.microsoft.com/office/drawing/2014/main" id="{FC120000-EE5A-4492-BAA3-8090A22093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7" y="1884"/>
              <a:ext cx="1" cy="134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30" name="Rectangle 42">
              <a:extLst>
                <a:ext uri="{FF2B5EF4-FFF2-40B4-BE49-F238E27FC236}">
                  <a16:creationId xmlns:a16="http://schemas.microsoft.com/office/drawing/2014/main" id="{1672EBA0-9889-4764-95B6-C521CF886F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7" y="1884"/>
              <a:ext cx="12" cy="134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31" name="Line 43">
              <a:extLst>
                <a:ext uri="{FF2B5EF4-FFF2-40B4-BE49-F238E27FC236}">
                  <a16:creationId xmlns:a16="http://schemas.microsoft.com/office/drawing/2014/main" id="{9784AD26-08A7-45F4-B903-D6A99D5847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" y="1872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32" name="Rectangle 44">
              <a:extLst>
                <a:ext uri="{FF2B5EF4-FFF2-40B4-BE49-F238E27FC236}">
                  <a16:creationId xmlns:a16="http://schemas.microsoft.com/office/drawing/2014/main" id="{D1F383F7-1B6F-49A9-BD3E-DD2AA35FE1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" y="1872"/>
              <a:ext cx="1955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33" name="Line 45">
              <a:extLst>
                <a:ext uri="{FF2B5EF4-FFF2-40B4-BE49-F238E27FC236}">
                  <a16:creationId xmlns:a16="http://schemas.microsoft.com/office/drawing/2014/main" id="{23F4311D-DC56-46DC-B436-E213B8A0F0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" y="2022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34" name="Rectangle 46">
              <a:extLst>
                <a:ext uri="{FF2B5EF4-FFF2-40B4-BE49-F238E27FC236}">
                  <a16:creationId xmlns:a16="http://schemas.microsoft.com/office/drawing/2014/main" id="{A2F36B66-ACF0-44B2-A618-CCE5163481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" y="2022"/>
              <a:ext cx="1955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35" name="Line 47">
              <a:extLst>
                <a:ext uri="{FF2B5EF4-FFF2-40B4-BE49-F238E27FC236}">
                  <a16:creationId xmlns:a16="http://schemas.microsoft.com/office/drawing/2014/main" id="{8E6279E3-909E-4312-B37C-2A4D0FC233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" y="2172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36" name="Rectangle 48">
              <a:extLst>
                <a:ext uri="{FF2B5EF4-FFF2-40B4-BE49-F238E27FC236}">
                  <a16:creationId xmlns:a16="http://schemas.microsoft.com/office/drawing/2014/main" id="{5EFE2309-6891-45AB-905B-141DB0573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" y="2172"/>
              <a:ext cx="1955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37" name="Line 49">
              <a:extLst>
                <a:ext uri="{FF2B5EF4-FFF2-40B4-BE49-F238E27FC236}">
                  <a16:creationId xmlns:a16="http://schemas.microsoft.com/office/drawing/2014/main" id="{FEADA2E4-EB87-447E-967A-45D9429E9D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" y="2321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38" name="Rectangle 50">
              <a:extLst>
                <a:ext uri="{FF2B5EF4-FFF2-40B4-BE49-F238E27FC236}">
                  <a16:creationId xmlns:a16="http://schemas.microsoft.com/office/drawing/2014/main" id="{F4315D81-A193-42CD-905F-2118C753A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" y="2321"/>
              <a:ext cx="1955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39" name="Line 51">
              <a:extLst>
                <a:ext uri="{FF2B5EF4-FFF2-40B4-BE49-F238E27FC236}">
                  <a16:creationId xmlns:a16="http://schemas.microsoft.com/office/drawing/2014/main" id="{E1AEB32F-A157-427E-BEC4-F818DBA8B4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" y="2471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40" name="Rectangle 52">
              <a:extLst>
                <a:ext uri="{FF2B5EF4-FFF2-40B4-BE49-F238E27FC236}">
                  <a16:creationId xmlns:a16="http://schemas.microsoft.com/office/drawing/2014/main" id="{9B9AA3A0-3164-41E9-9D65-2859FADB00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" y="2471"/>
              <a:ext cx="1955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41" name="Line 53">
              <a:extLst>
                <a:ext uri="{FF2B5EF4-FFF2-40B4-BE49-F238E27FC236}">
                  <a16:creationId xmlns:a16="http://schemas.microsoft.com/office/drawing/2014/main" id="{57AE8843-E298-41CB-BC24-D606BF028D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" y="2621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42" name="Rectangle 54">
              <a:extLst>
                <a:ext uri="{FF2B5EF4-FFF2-40B4-BE49-F238E27FC236}">
                  <a16:creationId xmlns:a16="http://schemas.microsoft.com/office/drawing/2014/main" id="{2F6390EC-436A-4459-A63D-85E9E4BC5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" y="2621"/>
              <a:ext cx="1955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43" name="Line 55">
              <a:extLst>
                <a:ext uri="{FF2B5EF4-FFF2-40B4-BE49-F238E27FC236}">
                  <a16:creationId xmlns:a16="http://schemas.microsoft.com/office/drawing/2014/main" id="{791BF532-C33F-406A-B24B-9555B44390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" y="2771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44" name="Rectangle 56">
              <a:extLst>
                <a:ext uri="{FF2B5EF4-FFF2-40B4-BE49-F238E27FC236}">
                  <a16:creationId xmlns:a16="http://schemas.microsoft.com/office/drawing/2014/main" id="{10AD90A3-5A4F-40CB-831D-98092BBD8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" y="2771"/>
              <a:ext cx="1955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45" name="Line 57">
              <a:extLst>
                <a:ext uri="{FF2B5EF4-FFF2-40B4-BE49-F238E27FC236}">
                  <a16:creationId xmlns:a16="http://schemas.microsoft.com/office/drawing/2014/main" id="{E93A69B2-1A74-4AD0-80E6-1E2FC5A65C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" y="2920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46" name="Rectangle 58">
              <a:extLst>
                <a:ext uri="{FF2B5EF4-FFF2-40B4-BE49-F238E27FC236}">
                  <a16:creationId xmlns:a16="http://schemas.microsoft.com/office/drawing/2014/main" id="{20C1757F-0B1C-48BD-8288-E8910B6984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" y="2920"/>
              <a:ext cx="1955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47" name="Line 59">
              <a:extLst>
                <a:ext uri="{FF2B5EF4-FFF2-40B4-BE49-F238E27FC236}">
                  <a16:creationId xmlns:a16="http://schemas.microsoft.com/office/drawing/2014/main" id="{6A2D1686-1E7D-4AC7-BB58-4B71520F24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" y="3070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48" name="Rectangle 60">
              <a:extLst>
                <a:ext uri="{FF2B5EF4-FFF2-40B4-BE49-F238E27FC236}">
                  <a16:creationId xmlns:a16="http://schemas.microsoft.com/office/drawing/2014/main" id="{E0D98A46-EFD8-41FA-997B-BA7BC0729C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" y="3070"/>
              <a:ext cx="1955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49" name="Line 61">
              <a:extLst>
                <a:ext uri="{FF2B5EF4-FFF2-40B4-BE49-F238E27FC236}">
                  <a16:creationId xmlns:a16="http://schemas.microsoft.com/office/drawing/2014/main" id="{F12807B2-4858-449B-B092-3E75EF6241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" y="3220"/>
              <a:ext cx="19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  <p:sp>
          <p:nvSpPr>
            <p:cNvPr id="42050" name="Rectangle 62">
              <a:extLst>
                <a:ext uri="{FF2B5EF4-FFF2-40B4-BE49-F238E27FC236}">
                  <a16:creationId xmlns:a16="http://schemas.microsoft.com/office/drawing/2014/main" id="{2157A938-50B1-4B17-9DEF-55F35C448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" y="3220"/>
              <a:ext cx="1955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endParaRPr>
            </a:p>
          </p:txBody>
        </p:sp>
      </p:grpSp>
      <p:sp>
        <p:nvSpPr>
          <p:cNvPr id="41990" name="Text Box 63">
            <a:extLst>
              <a:ext uri="{FF2B5EF4-FFF2-40B4-BE49-F238E27FC236}">
                <a16:creationId xmlns:a16="http://schemas.microsoft.com/office/drawing/2014/main" id="{D4EAA4DD-9207-4B4C-927A-2A554FFE9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2057401"/>
            <a:ext cx="2514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序列数据库：</a:t>
            </a:r>
          </a:p>
        </p:txBody>
      </p:sp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74407A17-85A8-0147-425E-C26D4ED4BC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1738312"/>
          <a:ext cx="4495800" cy="434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378700" imgH="7137400" progId="Visio.Drawing.6">
                  <p:embed/>
                </p:oleObj>
              </mc:Choice>
              <mc:Fallback>
                <p:oleObj name="Visio" r:id="rId2" imgW="7378700" imgH="7137400" progId="Visio.Drawing.6">
                  <p:embed/>
                  <p:pic>
                    <p:nvPicPr>
                      <p:cNvPr id="2" name="Object 4">
                        <a:extLst>
                          <a:ext uri="{FF2B5EF4-FFF2-40B4-BE49-F238E27FC236}">
                            <a16:creationId xmlns:a16="http://schemas.microsoft.com/office/drawing/2014/main" id="{74407A17-85A8-0147-425E-C26D4ED4BC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1738312"/>
                        <a:ext cx="4495800" cy="434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9C2B930B-2B41-4AF9-A51B-D92DC88FA2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序列的正式定义</a:t>
            </a:r>
            <a:endParaRPr lang="en-US" altLang="en-US" dirty="0"/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21FBD05D-E841-4137-A042-D525D26492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6777" y="1109949"/>
            <a:ext cx="10708394" cy="5181600"/>
          </a:xfrm>
        </p:spPr>
        <p:txBody>
          <a:bodyPr/>
          <a:lstStyle/>
          <a:p>
            <a:pPr marL="342900" indent="-342900">
              <a:defRPr/>
            </a:pPr>
            <a:r>
              <a:rPr lang="en-US" altLang="en-US" sz="2400" dirty="0"/>
              <a:t>序列是有序的元素列表</a:t>
            </a:r>
          </a:p>
          <a:p>
            <a:pPr marL="742950" lvl="1" indent="-285750">
              <a:buFont typeface="Arial" panose="020B0604020202020204" pitchFamily="34" charset="0"/>
              <a:buNone/>
              <a:defRPr/>
            </a:pPr>
            <a:r>
              <a:rPr lang="en-US" altLang="en-US" sz="2000" dirty="0"/>
              <a:t>			s = &lt; </a:t>
            </a:r>
            <a:r>
              <a:rPr lang="en-US" altLang="en-US" sz="2400" dirty="0"/>
              <a:t>e</a:t>
            </a:r>
            <a:r>
              <a:rPr lang="en-US" altLang="en-US" sz="2400" baseline="-25000" dirty="0"/>
              <a:t>1 </a:t>
            </a:r>
            <a:r>
              <a:rPr lang="en-US" altLang="en-US" sz="2400" dirty="0"/>
              <a:t>e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 e</a:t>
            </a:r>
            <a:r>
              <a:rPr lang="en-US" altLang="en-US" sz="2400" baseline="-25000" dirty="0"/>
              <a:t>3</a:t>
            </a:r>
            <a:r>
              <a:rPr lang="en-US" altLang="en-US" sz="2400" dirty="0"/>
              <a:t> … &gt;</a:t>
            </a:r>
            <a:endParaRPr lang="en-US" altLang="en-US" sz="2000" dirty="0"/>
          </a:p>
          <a:p>
            <a:pPr lvl="4">
              <a:defRPr/>
            </a:pPr>
            <a:endParaRPr lang="en-US" altLang="en-US" sz="2400" dirty="0"/>
          </a:p>
          <a:p>
            <a:pPr marL="742950" lvl="1" indent="-285750">
              <a:defRPr/>
            </a:pPr>
            <a:r>
              <a:rPr lang="en-US" altLang="en-US" sz="2400" dirty="0"/>
              <a:t>每个元素包含一组事件（项）</a:t>
            </a:r>
          </a:p>
          <a:p>
            <a:pPr marL="742950" lvl="1" indent="-285750">
              <a:buFont typeface="Arial" panose="020B0604020202020204" pitchFamily="34" charset="0"/>
              <a:buNone/>
              <a:defRPr/>
            </a:pPr>
            <a:r>
              <a:rPr lang="en-US" altLang="en-US" sz="2000" dirty="0"/>
              <a:t>			</a:t>
            </a:r>
            <a:r>
              <a:rPr lang="en-US" altLang="en-US" sz="2000" dirty="0" err="1"/>
              <a:t>e</a:t>
            </a:r>
            <a:r>
              <a:rPr lang="en-US" altLang="en-US" sz="2000" baseline="-25000" dirty="0" err="1"/>
              <a:t>i</a:t>
            </a:r>
            <a:r>
              <a:rPr lang="en-US" altLang="en-US" sz="2000" dirty="0"/>
              <a:t> = 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i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, …, </a:t>
            </a:r>
            <a:r>
              <a:rPr lang="en-US" altLang="en-US" sz="2000" dirty="0" err="1"/>
              <a:t>i</a:t>
            </a:r>
            <a:r>
              <a:rPr lang="en-US" altLang="en-US" sz="2000" baseline="-25000" dirty="0" err="1"/>
              <a:t>k</a:t>
            </a:r>
            <a:r>
              <a:rPr lang="en-US" altLang="en-US" sz="2000" dirty="0"/>
              <a:t>}</a:t>
            </a:r>
          </a:p>
          <a:p>
            <a:pPr marL="742950" lvl="1" indent="-285750">
              <a:buFont typeface="Arial" panose="020B0604020202020204" pitchFamily="34" charset="0"/>
              <a:buNone/>
              <a:defRPr/>
            </a:pPr>
            <a:endParaRPr lang="en-US" altLang="en-US" sz="2400" dirty="0"/>
          </a:p>
          <a:p>
            <a:pPr marL="342900" indent="-342900">
              <a:defRPr/>
            </a:pPr>
            <a:r>
              <a:rPr lang="en-US" altLang="en-US" sz="2400" dirty="0"/>
              <a:t>序列的长度 |s| 由序列中的元素个数决定</a:t>
            </a:r>
          </a:p>
          <a:p>
            <a:pPr lvl="4">
              <a:defRPr/>
            </a:pPr>
            <a:endParaRPr lang="en-US" altLang="en-US" sz="2400" dirty="0"/>
          </a:p>
          <a:p>
            <a:pPr marL="342900" indent="-342900">
              <a:defRPr/>
            </a:pPr>
            <a:r>
              <a:rPr lang="en-US" altLang="en-US" sz="2400" dirty="0"/>
              <a:t>一个k-序列是一个包含k个事件（项）的序列</a:t>
            </a:r>
          </a:p>
          <a:p>
            <a:pPr marL="850900" lvl="1">
              <a:defRPr/>
            </a:pPr>
            <a:r>
              <a:rPr lang="en-US" altLang="en-US" sz="2400" dirty="0"/>
              <a:t>&lt;{</a:t>
            </a:r>
            <a:r>
              <a:rPr lang="en-US" altLang="en-US" sz="2400" dirty="0" err="1"/>
              <a:t>a,b</a:t>
            </a:r>
            <a:r>
              <a:rPr lang="en-US" altLang="en-US" sz="2400" dirty="0"/>
              <a:t>} {a}&gt;的长度为 2，且是一个 3-序列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CD6D9A-2CFD-D29C-4422-559D1C06F614}"/>
              </a:ext>
            </a:extLst>
          </p:cNvPr>
          <p:cNvSpPr txBox="1"/>
          <p:nvPr/>
        </p:nvSpPr>
        <p:spPr>
          <a:xfrm>
            <a:off x="8080871" y="2546288"/>
            <a:ext cx="3475823" cy="1815882"/>
          </a:xfrm>
          <a:prstGeom prst="rect">
            <a:avLst/>
          </a:prstGeom>
          <a:solidFill>
            <a:srgbClr val="FFC000"/>
          </a:solidFill>
          <a:ln>
            <a:solidFill>
              <a:srgbClr val="FFFFCC"/>
            </a:solidFill>
          </a:ln>
        </p:spPr>
        <p:txBody>
          <a:bodyPr wrap="square">
            <a:spAutoFit/>
          </a:bodyPr>
          <a:lstStyle/>
          <a:p>
            <a:r>
              <a:rPr lang="zh-CN" altLang="ko-KR" sz="1600" dirty="0">
                <a:latin typeface="KaiTi" panose="02010609060101010101" pitchFamily="49" charset="-122"/>
                <a:ea typeface="KaiTi" panose="02010609060101010101" pitchFamily="49" charset="-122"/>
              </a:rPr>
              <a:t>给定序列：</a:t>
            </a:r>
            <a:endParaRPr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S1: </a:t>
            </a:r>
            <a:r>
              <a:rPr lang="en-US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&lt; {a} {b} {c} &gt;</a:t>
            </a:r>
          </a:p>
          <a:p>
            <a:r>
              <a:rPr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S2: </a:t>
            </a:r>
            <a:r>
              <a:rPr lang="en-US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&lt; {a, b} {c} &gt;</a:t>
            </a:r>
          </a:p>
          <a:p>
            <a:r>
              <a:rPr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S2: </a:t>
            </a:r>
            <a:r>
              <a:rPr lang="en-US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&lt; {a, b, c} &gt;</a:t>
            </a:r>
          </a:p>
          <a:p>
            <a:endParaRPr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Q: </a:t>
            </a:r>
            <a:r>
              <a:rPr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每个序列的长度是多少？</a:t>
            </a:r>
            <a:endParaRPr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Q: </a:t>
            </a:r>
            <a:r>
              <a:rPr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它是几</a:t>
            </a:r>
            <a:r>
              <a:rPr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-</a:t>
            </a:r>
            <a:r>
              <a:rPr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序列？</a:t>
            </a:r>
            <a:endParaRPr lang="en-US" alt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12" name="그래픽 11" descr="물음표 단색으로 채워진">
            <a:extLst>
              <a:ext uri="{FF2B5EF4-FFF2-40B4-BE49-F238E27FC236}">
                <a16:creationId xmlns:a16="http://schemas.microsoft.com/office/drawing/2014/main" id="{523AED7A-F319-CE84-CB0E-E9719E60D9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32124" y="2786349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CCE96531-6C62-437C-9D18-B79C92EE60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STKaiti" panose="02010600040101010101" pitchFamily="2" charset="-122"/>
              </a:rPr>
              <a:t>子序列的正式定义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94EE723-1521-4960-9C80-1857E279A6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2877" y="1143000"/>
            <a:ext cx="11049917" cy="5334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 err="1">
                <a:ea typeface="STKaiti" panose="02010600040101010101" pitchFamily="2" charset="-122"/>
              </a:rPr>
              <a:t>序列</a:t>
            </a:r>
            <a:r>
              <a:rPr lang="en-US" altLang="en-US" sz="2000" dirty="0">
                <a:ea typeface="STKaiti" panose="02010600040101010101" pitchFamily="2" charset="-122"/>
              </a:rPr>
              <a:t> &lt;a</a:t>
            </a:r>
            <a:r>
              <a:rPr lang="en-US" altLang="en-US" sz="2000" baseline="-25000" dirty="0">
                <a:ea typeface="STKaiti" panose="02010600040101010101" pitchFamily="2" charset="-122"/>
              </a:rPr>
              <a:t>1 </a:t>
            </a:r>
            <a:r>
              <a:rPr lang="en-US" altLang="en-US" sz="2000" dirty="0">
                <a:ea typeface="STKaiti" panose="02010600040101010101" pitchFamily="2" charset="-122"/>
              </a:rPr>
              <a:t> a</a:t>
            </a:r>
            <a:r>
              <a:rPr lang="en-US" altLang="en-US" sz="2000" baseline="-25000" dirty="0">
                <a:ea typeface="STKaiti" panose="02010600040101010101" pitchFamily="2" charset="-122"/>
              </a:rPr>
              <a:t>2 </a:t>
            </a:r>
            <a:r>
              <a:rPr lang="en-US" altLang="en-US" sz="2000" dirty="0">
                <a:ea typeface="STKaiti" panose="02010600040101010101" pitchFamily="2" charset="-122"/>
              </a:rPr>
              <a:t> … a</a:t>
            </a:r>
            <a:r>
              <a:rPr lang="en-US" altLang="en-US" sz="2000" baseline="-25000" dirty="0">
                <a:ea typeface="STKaiti" panose="02010600040101010101" pitchFamily="2" charset="-122"/>
              </a:rPr>
              <a:t>n</a:t>
            </a:r>
            <a:r>
              <a:rPr lang="en-US" altLang="en-US" sz="2000" dirty="0">
                <a:ea typeface="STKaiti" panose="02010600040101010101" pitchFamily="2" charset="-122"/>
              </a:rPr>
              <a:t> &gt;</a:t>
            </a:r>
            <a:r>
              <a:rPr lang="en-US" altLang="en-US" sz="2000" dirty="0" err="1">
                <a:ea typeface="STKaiti" panose="02010600040101010101" pitchFamily="2" charset="-122"/>
              </a:rPr>
              <a:t>包含于另一个序列</a:t>
            </a:r>
            <a:r>
              <a:rPr lang="en-US" altLang="en-US" sz="2000" dirty="0">
                <a:ea typeface="STKaiti" panose="02010600040101010101" pitchFamily="2" charset="-122"/>
              </a:rPr>
              <a:t> &lt;b</a:t>
            </a:r>
            <a:r>
              <a:rPr lang="en-US" altLang="en-US" sz="2000" baseline="-25000" dirty="0">
                <a:ea typeface="STKaiti" panose="02010600040101010101" pitchFamily="2" charset="-122"/>
              </a:rPr>
              <a:t>1 </a:t>
            </a:r>
            <a:r>
              <a:rPr lang="en-US" altLang="en-US" sz="2000" dirty="0">
                <a:ea typeface="STKaiti" panose="02010600040101010101" pitchFamily="2" charset="-122"/>
              </a:rPr>
              <a:t> b</a:t>
            </a:r>
            <a:r>
              <a:rPr lang="en-US" altLang="en-US" sz="2000" baseline="-25000" dirty="0">
                <a:ea typeface="STKaiti" panose="02010600040101010101" pitchFamily="2" charset="-122"/>
              </a:rPr>
              <a:t>2 </a:t>
            </a:r>
            <a:r>
              <a:rPr lang="en-US" altLang="en-US" sz="2000" dirty="0">
                <a:ea typeface="STKaiti" panose="02010600040101010101" pitchFamily="2" charset="-122"/>
              </a:rPr>
              <a:t> … b</a:t>
            </a:r>
            <a:r>
              <a:rPr lang="en-US" altLang="en-US" sz="2000" baseline="-25000" dirty="0">
                <a:ea typeface="STKaiti" panose="02010600040101010101" pitchFamily="2" charset="-122"/>
              </a:rPr>
              <a:t>m</a:t>
            </a:r>
            <a:r>
              <a:rPr lang="en-US" altLang="en-US" sz="2000" dirty="0">
                <a:ea typeface="STKaiti" panose="02010600040101010101" pitchFamily="2" charset="-122"/>
              </a:rPr>
              <a:t> &gt;; (m </a:t>
            </a:r>
            <a:r>
              <a:rPr lang="en-US" altLang="en-US" sz="2000" dirty="0">
                <a:ea typeface="STKaiti" panose="02010600040101010101" pitchFamily="2" charset="-122"/>
                <a:cs typeface="Arial" panose="020B0604020202020204" pitchFamily="34" charset="0"/>
              </a:rPr>
              <a:t>≥ </a:t>
            </a:r>
            <a:r>
              <a:rPr lang="en-US" altLang="en-US" sz="2000" dirty="0">
                <a:ea typeface="STKaiti" panose="02010600040101010101" pitchFamily="2" charset="-122"/>
              </a:rPr>
              <a:t>n) </a:t>
            </a:r>
            <a:r>
              <a:rPr lang="en-US" altLang="en-US" sz="2000" dirty="0" err="1">
                <a:ea typeface="STKaiti" panose="02010600040101010101" pitchFamily="2" charset="-122"/>
              </a:rPr>
              <a:t>当且仅当存在整数</a:t>
            </a:r>
            <a:r>
              <a:rPr lang="en-US" altLang="en-US" sz="2000" dirty="0">
                <a:ea typeface="STKaiti" panose="02010600040101010101" pitchFamily="2" charset="-122"/>
              </a:rPr>
              <a:t> </a:t>
            </a:r>
            <a:br>
              <a:rPr lang="en-US" altLang="en-US" sz="2000" dirty="0">
                <a:ea typeface="STKaiti" panose="02010600040101010101" pitchFamily="2" charset="-122"/>
              </a:rPr>
            </a:br>
            <a:r>
              <a:rPr lang="en-US" altLang="en-US" sz="2000" dirty="0">
                <a:ea typeface="STKaiti" panose="02010600040101010101" pitchFamily="2" charset="-122"/>
              </a:rPr>
              <a:t>i</a:t>
            </a:r>
            <a:r>
              <a:rPr lang="en-US" altLang="en-US" sz="2000" baseline="-25000" dirty="0">
                <a:ea typeface="STKaiti" panose="02010600040101010101" pitchFamily="2" charset="-122"/>
              </a:rPr>
              <a:t>1 </a:t>
            </a:r>
            <a:r>
              <a:rPr lang="en-US" altLang="en-US" sz="2000" dirty="0">
                <a:ea typeface="STKaiti" panose="02010600040101010101" pitchFamily="2" charset="-122"/>
              </a:rPr>
              <a:t>&lt; i</a:t>
            </a:r>
            <a:r>
              <a:rPr lang="en-US" altLang="en-US" sz="2000" baseline="-25000" dirty="0">
                <a:ea typeface="STKaiti" panose="02010600040101010101" pitchFamily="2" charset="-122"/>
              </a:rPr>
              <a:t>2 </a:t>
            </a:r>
            <a:r>
              <a:rPr lang="en-US" altLang="en-US" sz="2000" dirty="0">
                <a:ea typeface="STKaiti" panose="02010600040101010101" pitchFamily="2" charset="-122"/>
              </a:rPr>
              <a:t>&lt; … &lt; i</a:t>
            </a:r>
            <a:r>
              <a:rPr lang="en-US" altLang="en-US" sz="2000" baseline="-25000" dirty="0">
                <a:ea typeface="STKaiti" panose="02010600040101010101" pitchFamily="2" charset="-122"/>
              </a:rPr>
              <a:t>n</a:t>
            </a:r>
            <a:r>
              <a:rPr lang="en-US" altLang="en-US" sz="2000" dirty="0">
                <a:ea typeface="STKaiti" panose="02010600040101010101" pitchFamily="2" charset="-122"/>
              </a:rPr>
              <a:t> such that a</a:t>
            </a:r>
            <a:r>
              <a:rPr lang="en-US" altLang="en-US" sz="2000" baseline="-25000" dirty="0">
                <a:ea typeface="STKaiti" panose="02010600040101010101" pitchFamily="2" charset="-122"/>
              </a:rPr>
              <a:t>1 </a:t>
            </a:r>
            <a:r>
              <a:rPr lang="en-US" altLang="zh-CN" sz="2000" dirty="0">
                <a:ea typeface="STKaiti" panose="0201060004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000" dirty="0">
                <a:ea typeface="STKaiti" panose="02010600040101010101" pitchFamily="2" charset="-122"/>
              </a:rPr>
              <a:t> </a:t>
            </a:r>
            <a:r>
              <a:rPr lang="en-US" altLang="en-US" sz="2000" dirty="0">
                <a:ea typeface="STKaiti" panose="02010600040101010101" pitchFamily="2" charset="-122"/>
              </a:rPr>
              <a:t>b</a:t>
            </a:r>
            <a:r>
              <a:rPr lang="en-US" altLang="en-US" sz="2000" baseline="-25000" dirty="0">
                <a:ea typeface="STKaiti" panose="02010600040101010101" pitchFamily="2" charset="-122"/>
              </a:rPr>
              <a:t>i1 </a:t>
            </a:r>
            <a:r>
              <a:rPr lang="en-US" altLang="zh-CN" sz="2000" dirty="0">
                <a:ea typeface="STKaiti" panose="02010600040101010101" pitchFamily="2" charset="-122"/>
              </a:rPr>
              <a:t>, </a:t>
            </a:r>
            <a:r>
              <a:rPr lang="en-US" altLang="en-US" sz="2000" dirty="0">
                <a:ea typeface="STKaiti" panose="02010600040101010101" pitchFamily="2" charset="-122"/>
              </a:rPr>
              <a:t>a</a:t>
            </a:r>
            <a:r>
              <a:rPr lang="en-US" altLang="en-US" sz="2000" baseline="-25000" dirty="0">
                <a:ea typeface="STKaiti" panose="02010600040101010101" pitchFamily="2" charset="-122"/>
              </a:rPr>
              <a:t>2</a:t>
            </a:r>
            <a:r>
              <a:rPr lang="en-US" altLang="zh-CN" sz="2000" dirty="0">
                <a:ea typeface="STKaiti" panose="02010600040101010101" pitchFamily="2" charset="-122"/>
              </a:rPr>
              <a:t> </a:t>
            </a:r>
            <a:r>
              <a:rPr lang="en-US" altLang="zh-CN" sz="2000" dirty="0">
                <a:ea typeface="STKaiti" panose="0201060004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000" dirty="0">
                <a:ea typeface="STKaiti" panose="02010600040101010101" pitchFamily="2" charset="-122"/>
              </a:rPr>
              <a:t> </a:t>
            </a:r>
            <a:r>
              <a:rPr lang="en-US" altLang="en-US" sz="2000" dirty="0">
                <a:ea typeface="STKaiti" panose="02010600040101010101" pitchFamily="2" charset="-122"/>
              </a:rPr>
              <a:t>b</a:t>
            </a:r>
            <a:r>
              <a:rPr lang="en-US" altLang="en-US" sz="2000" baseline="-25000" dirty="0">
                <a:ea typeface="STKaiti" panose="02010600040101010101" pitchFamily="2" charset="-122"/>
              </a:rPr>
              <a:t>i2</a:t>
            </a:r>
            <a:r>
              <a:rPr lang="en-US" altLang="zh-CN" sz="2000" dirty="0">
                <a:ea typeface="STKaiti" panose="02010600040101010101" pitchFamily="2" charset="-122"/>
              </a:rPr>
              <a:t>, …, </a:t>
            </a:r>
            <a:r>
              <a:rPr lang="en-US" altLang="en-US" sz="2000" dirty="0">
                <a:ea typeface="STKaiti" panose="02010600040101010101" pitchFamily="2" charset="-122"/>
              </a:rPr>
              <a:t>a</a:t>
            </a:r>
            <a:r>
              <a:rPr lang="en-US" altLang="en-US" sz="2000" baseline="-25000" dirty="0">
                <a:ea typeface="STKaiti" panose="02010600040101010101" pitchFamily="2" charset="-122"/>
              </a:rPr>
              <a:t>n</a:t>
            </a:r>
            <a:r>
              <a:rPr lang="en-US" altLang="zh-CN" sz="2000" dirty="0">
                <a:ea typeface="STKaiti" panose="02010600040101010101" pitchFamily="2" charset="-122"/>
              </a:rPr>
              <a:t> </a:t>
            </a:r>
            <a:r>
              <a:rPr lang="en-US" altLang="zh-CN" sz="2000" dirty="0">
                <a:ea typeface="STKaiti" panose="0201060004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000" dirty="0">
                <a:ea typeface="STKaiti" panose="02010600040101010101" pitchFamily="2" charset="-122"/>
              </a:rPr>
              <a:t> </a:t>
            </a:r>
            <a:r>
              <a:rPr lang="en-US" altLang="en-US" sz="2000" dirty="0">
                <a:ea typeface="STKaiti" panose="02010600040101010101" pitchFamily="2" charset="-122"/>
              </a:rPr>
              <a:t>b</a:t>
            </a:r>
            <a:r>
              <a:rPr lang="en-US" altLang="en-US" sz="2000" baseline="-25000" dirty="0">
                <a:ea typeface="STKaiti" panose="02010600040101010101" pitchFamily="2" charset="-122"/>
              </a:rPr>
              <a:t>in</a:t>
            </a:r>
            <a:r>
              <a:rPr lang="en-US" altLang="zh-CN" sz="2000" dirty="0">
                <a:ea typeface="STKaiti" panose="02010600040101010101" pitchFamily="2" charset="-122"/>
              </a:rPr>
              <a:t> </a:t>
            </a:r>
          </a:p>
          <a:p>
            <a:pPr>
              <a:lnSpc>
                <a:spcPct val="90000"/>
              </a:lnSpc>
            </a:pPr>
            <a:endParaRPr lang="en-US" altLang="en-US" sz="2000" baseline="-25000" dirty="0">
              <a:ea typeface="STKaiti" panose="0201060004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 err="1">
                <a:ea typeface="STKaiti" panose="02010600040101010101" pitchFamily="2" charset="-122"/>
              </a:rPr>
              <a:t>示例</a:t>
            </a:r>
            <a:r>
              <a:rPr lang="en-US" altLang="en-US" sz="2000" dirty="0">
                <a:ea typeface="STKaiti" panose="02010600040101010101" pitchFamily="2" charset="-122"/>
              </a:rPr>
              <a:t>：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000" dirty="0">
                <a:ea typeface="STKaiti" panose="02010600040101010101" pitchFamily="2" charset="-122"/>
              </a:rPr>
              <a:t>    s:         b</a:t>
            </a:r>
            <a:r>
              <a:rPr lang="en-US" altLang="en-US" sz="2000" baseline="-25000" dirty="0">
                <a:ea typeface="STKaiti" panose="02010600040101010101" pitchFamily="2" charset="-122"/>
              </a:rPr>
              <a:t>1</a:t>
            </a:r>
            <a:r>
              <a:rPr lang="en-US" altLang="en-US" sz="2000" dirty="0">
                <a:ea typeface="STKaiti" panose="02010600040101010101" pitchFamily="2" charset="-122"/>
              </a:rPr>
              <a:t>      b</a:t>
            </a:r>
            <a:r>
              <a:rPr lang="en-US" altLang="en-US" sz="2000" baseline="-25000" dirty="0">
                <a:ea typeface="STKaiti" panose="02010600040101010101" pitchFamily="2" charset="-122"/>
              </a:rPr>
              <a:t>2</a:t>
            </a:r>
            <a:r>
              <a:rPr lang="en-US" altLang="en-US" sz="2000" dirty="0">
                <a:ea typeface="STKaiti" panose="02010600040101010101" pitchFamily="2" charset="-122"/>
              </a:rPr>
              <a:t>      b</a:t>
            </a:r>
            <a:r>
              <a:rPr lang="en-US" altLang="en-US" sz="2000" baseline="-25000" dirty="0">
                <a:ea typeface="STKaiti" panose="02010600040101010101" pitchFamily="2" charset="-122"/>
              </a:rPr>
              <a:t>3</a:t>
            </a:r>
            <a:r>
              <a:rPr lang="en-US" altLang="en-US" sz="2000" dirty="0">
                <a:ea typeface="STKaiti" panose="02010600040101010101" pitchFamily="2" charset="-122"/>
              </a:rPr>
              <a:t>      b</a:t>
            </a:r>
            <a:r>
              <a:rPr lang="en-US" altLang="en-US" sz="2000" baseline="-25000" dirty="0">
                <a:ea typeface="STKaiti" panose="02010600040101010101" pitchFamily="2" charset="-122"/>
              </a:rPr>
              <a:t>4</a:t>
            </a:r>
            <a:r>
              <a:rPr lang="en-US" altLang="en-US" sz="2000" dirty="0">
                <a:ea typeface="STKaiti" panose="02010600040101010101" pitchFamily="2" charset="-122"/>
              </a:rPr>
              <a:t>      b</a:t>
            </a:r>
            <a:r>
              <a:rPr lang="en-US" altLang="en-US" sz="2000" baseline="-25000" dirty="0">
                <a:ea typeface="STKaiti" panose="02010600040101010101" pitchFamily="2" charset="-122"/>
              </a:rPr>
              <a:t>5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000" baseline="-25000" dirty="0">
                <a:ea typeface="STKaiti" panose="02010600040101010101" pitchFamily="2" charset="-122"/>
              </a:rPr>
              <a:t> </a:t>
            </a:r>
            <a:r>
              <a:rPr lang="en-US" altLang="en-US" sz="2000" dirty="0">
                <a:ea typeface="STKaiti" panose="02010600040101010101" pitchFamily="2" charset="-122"/>
              </a:rPr>
              <a:t>    t:               a</a:t>
            </a:r>
            <a:r>
              <a:rPr lang="en-US" altLang="en-US" sz="2000" baseline="-25000" dirty="0">
                <a:ea typeface="STKaiti" panose="02010600040101010101" pitchFamily="2" charset="-122"/>
              </a:rPr>
              <a:t>1 	 </a:t>
            </a:r>
            <a:r>
              <a:rPr lang="en-US" altLang="en-US" sz="2000" dirty="0">
                <a:ea typeface="STKaiti" panose="02010600040101010101" pitchFamily="2" charset="-122"/>
              </a:rPr>
              <a:t> a</a:t>
            </a:r>
            <a:r>
              <a:rPr lang="en-US" altLang="en-US" sz="2000" baseline="-25000" dirty="0">
                <a:ea typeface="STKaiti" panose="02010600040101010101" pitchFamily="2" charset="-122"/>
              </a:rPr>
              <a:t>2</a:t>
            </a:r>
            <a:r>
              <a:rPr lang="en-US" altLang="en-US" sz="2000" dirty="0">
                <a:ea typeface="STKaiti" panose="02010600040101010101" pitchFamily="2" charset="-122"/>
              </a:rPr>
              <a:t>           a</a:t>
            </a:r>
            <a:r>
              <a:rPr lang="en-US" altLang="en-US" sz="2000" baseline="-25000" dirty="0">
                <a:ea typeface="STKaiti" panose="02010600040101010101" pitchFamily="2" charset="-122"/>
              </a:rPr>
              <a:t>3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000" baseline="-25000" dirty="0">
                <a:ea typeface="STKaiti" panose="02010600040101010101" pitchFamily="2" charset="-122"/>
              </a:rPr>
              <a:t> </a:t>
            </a:r>
            <a:r>
              <a:rPr lang="en-US" altLang="en-US" sz="2000" dirty="0">
                <a:ea typeface="STKaiti" panose="02010600040101010101" pitchFamily="2" charset="-122"/>
              </a:rPr>
              <a:t>t </a:t>
            </a:r>
            <a:r>
              <a:rPr lang="en-US" altLang="en-US" sz="2000" b="1" dirty="0">
                <a:ea typeface="STKaiti" panose="02010600040101010101" pitchFamily="2" charset="-122"/>
              </a:rPr>
              <a:t>是 </a:t>
            </a:r>
            <a:r>
              <a:rPr lang="en-US" altLang="en-US" sz="2000" dirty="0">
                <a:ea typeface="STKaiti" panose="02010600040101010101" pitchFamily="2" charset="-122"/>
              </a:rPr>
              <a:t>s 的子序列</a:t>
            </a:r>
            <a:r>
              <a:rPr lang="en-US" altLang="zh-CN" sz="2000" dirty="0">
                <a:ea typeface="STKaiti" panose="02010600040101010101" pitchFamily="2" charset="-122"/>
                <a:sym typeface="Symbol" panose="05050102010706020507" pitchFamily="18" charset="2"/>
              </a:rPr>
              <a:t>，当且仅当a</a:t>
            </a:r>
            <a:r>
              <a:rPr lang="en-US" altLang="en-US" sz="2000" baseline="-25000" dirty="0">
                <a:ea typeface="STKaiti" panose="02010600040101010101" pitchFamily="2" charset="-122"/>
              </a:rPr>
              <a:t>1</a:t>
            </a:r>
            <a:r>
              <a:rPr lang="en-US" altLang="zh-CN" sz="2000" dirty="0">
                <a:ea typeface="STKaiti" panose="02010600040101010101" pitchFamily="2" charset="-122"/>
                <a:sym typeface="Symbol" panose="05050102010706020507" pitchFamily="18" charset="2"/>
              </a:rPr>
              <a:t> </a:t>
            </a:r>
            <a:r>
              <a:rPr lang="en-US" altLang="zh-CN" sz="2000" baseline="30000" dirty="0">
                <a:ea typeface="STKaiti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ea typeface="STKaiti" panose="02010600040101010101" pitchFamily="2" charset="-122"/>
              </a:rPr>
              <a:t> b</a:t>
            </a:r>
            <a:r>
              <a:rPr lang="en-US" altLang="en-US" sz="2000" baseline="-25000" dirty="0">
                <a:ea typeface="STKaiti" panose="02010600040101010101" pitchFamily="2" charset="-122"/>
              </a:rPr>
              <a:t>2, </a:t>
            </a:r>
            <a:r>
              <a:rPr lang="en-US" altLang="en-US" sz="2000" dirty="0">
                <a:ea typeface="STKaiti" panose="02010600040101010101" pitchFamily="2" charset="-122"/>
              </a:rPr>
              <a:t> a</a:t>
            </a:r>
            <a:r>
              <a:rPr lang="en-US" altLang="en-US" sz="2000" baseline="-25000" dirty="0">
                <a:ea typeface="STKaiti" panose="02010600040101010101" pitchFamily="2" charset="-122"/>
              </a:rPr>
              <a:t>2</a:t>
            </a:r>
            <a:r>
              <a:rPr lang="en-US" altLang="zh-CN" sz="2000" dirty="0">
                <a:ea typeface="STKaiti" panose="02010600040101010101" pitchFamily="2" charset="-122"/>
                <a:sym typeface="Symbol" panose="05050102010706020507" pitchFamily="18" charset="2"/>
              </a:rPr>
              <a:t> </a:t>
            </a:r>
            <a:r>
              <a:rPr lang="en-US" altLang="zh-CN" sz="2000" baseline="30000" dirty="0">
                <a:ea typeface="STKaiti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ea typeface="STKaiti" panose="02010600040101010101" pitchFamily="2" charset="-122"/>
              </a:rPr>
              <a:t> b</a:t>
            </a:r>
            <a:r>
              <a:rPr lang="en-US" altLang="en-US" sz="2000" baseline="-25000" dirty="0">
                <a:ea typeface="STKaiti" panose="02010600040101010101" pitchFamily="2" charset="-122"/>
              </a:rPr>
              <a:t>3, </a:t>
            </a:r>
            <a:r>
              <a:rPr lang="en-US" altLang="en-US" sz="2000" dirty="0">
                <a:ea typeface="STKaiti" panose="02010600040101010101" pitchFamily="2" charset="-122"/>
              </a:rPr>
              <a:t> a</a:t>
            </a:r>
            <a:r>
              <a:rPr lang="en-US" altLang="en-US" sz="2000" baseline="-25000" dirty="0">
                <a:ea typeface="STKaiti" panose="02010600040101010101" pitchFamily="2" charset="-122"/>
              </a:rPr>
              <a:t>3</a:t>
            </a:r>
            <a:r>
              <a:rPr lang="en-US" altLang="zh-CN" sz="2000" dirty="0">
                <a:ea typeface="STKaiti" panose="02010600040101010101" pitchFamily="2" charset="-122"/>
                <a:sym typeface="Symbol" panose="05050102010706020507" pitchFamily="18" charset="2"/>
              </a:rPr>
              <a:t> </a:t>
            </a:r>
            <a:r>
              <a:rPr lang="en-US" altLang="zh-CN" sz="2000" baseline="30000" dirty="0">
                <a:ea typeface="STKaiti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ea typeface="STKaiti" panose="02010600040101010101" pitchFamily="2" charset="-122"/>
              </a:rPr>
              <a:t> b</a:t>
            </a:r>
            <a:r>
              <a:rPr lang="en-US" altLang="en-US" sz="2000" baseline="-25000" dirty="0">
                <a:ea typeface="STKaiti" panose="02010600040101010101" pitchFamily="2" charset="-122"/>
              </a:rPr>
              <a:t>5.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en-US" sz="2000" dirty="0">
              <a:ea typeface="STKaiti" panose="0201060004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en-US" sz="2000" dirty="0">
              <a:ea typeface="STKaiti" panose="0201060004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en-US" sz="2000" dirty="0">
              <a:ea typeface="STKaiti" panose="0201060004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en-US" sz="2000" dirty="0">
              <a:ea typeface="STKaiti" panose="0201060004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en-US" sz="2000" dirty="0">
              <a:ea typeface="STKaiti" panose="0201060004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en-US" sz="2000" dirty="0">
              <a:ea typeface="STKaiti" panose="0201060004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en-US" sz="2000" dirty="0">
              <a:ea typeface="STKaiti" panose="0201060004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en-US" sz="2000" dirty="0">
              <a:ea typeface="STKaiti" panose="02010600040101010101" pitchFamily="2" charset="-122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9085E8C-BDEE-0834-23BE-E16E84ED831B}"/>
              </a:ext>
            </a:extLst>
          </p:cNvPr>
          <p:cNvGrpSpPr/>
          <p:nvPr/>
        </p:nvGrpSpPr>
        <p:grpSpPr>
          <a:xfrm>
            <a:off x="1053947" y="3710714"/>
            <a:ext cx="8534400" cy="2560637"/>
            <a:chOff x="1053947" y="3710714"/>
            <a:chExt cx="8534400" cy="2560637"/>
          </a:xfrm>
        </p:grpSpPr>
        <p:graphicFrame>
          <p:nvGraphicFramePr>
            <p:cNvPr id="3" name="Group 4">
              <a:extLst>
                <a:ext uri="{FF2B5EF4-FFF2-40B4-BE49-F238E27FC236}">
                  <a16:creationId xmlns:a16="http://schemas.microsoft.com/office/drawing/2014/main" id="{A19D2C94-B574-6857-6303-FA1A8EF3CC3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053947" y="3710714"/>
            <a:ext cx="8534400" cy="2560635"/>
          </p:xfrm>
          <a:graphic>
            <a:graphicData uri="http://schemas.openxmlformats.org/drawingml/2006/table">
              <a:tbl>
                <a:tblPr/>
                <a:tblGrid>
                  <a:gridCol w="324802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324802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203835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365805">
                  <a:tc>
                    <a:txBody>
                      <a:bodyPr/>
                      <a:lstStyle>
                        <a:lvl1pPr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defRPr sz="2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100000"/>
                          <a:buFont typeface="Arial" charset="0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0000"/>
                          <a:buFont typeface="Wingdings" charset="2"/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marL="0" marR="0" lvl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buNone/>
                          <a:tabLst/>
                        </a:pPr>
                        <a:r>
                          <a:rPr kumimoji="0" lang="en-US" altLang="en-US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STKaiti" panose="02010600040101010101" pitchFamily="2" charset="-122"/>
                            <a:ea typeface="STKaiti" panose="02010600040101010101" pitchFamily="2" charset="-122"/>
                          </a:rPr>
                          <a:t>Data sequence</a:t>
                        </a:r>
                      </a:p>
                    </a:txBody>
                    <a:tcPr marT="45730" marB="45730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defRPr sz="2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100000"/>
                          <a:buFont typeface="Arial" charset="0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0000"/>
                          <a:buFont typeface="Wingdings" charset="2"/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marL="0" marR="0" lvl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buNone/>
                          <a:tabLst/>
                        </a:pPr>
                        <a:r>
                          <a:rPr kumimoji="0" lang="en-US" altLang="en-US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STKaiti" panose="02010600040101010101" pitchFamily="2" charset="-122"/>
                            <a:ea typeface="STKaiti" panose="02010600040101010101" pitchFamily="2" charset="-122"/>
                          </a:rPr>
                          <a:t>Subsequence</a:t>
                        </a:r>
                      </a:p>
                    </a:txBody>
                    <a:tcPr marT="45730" marB="45730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defRPr sz="2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100000"/>
                          <a:buFont typeface="Arial" charset="0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0000"/>
                          <a:buFont typeface="Wingdings" charset="2"/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marL="0" marR="0" lvl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buNone/>
                          <a:tabLst/>
                        </a:pPr>
                        <a:r>
                          <a:rPr kumimoji="0" lang="en-US" altLang="en-US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STKaiti" panose="02010600040101010101" pitchFamily="2" charset="-122"/>
                            <a:ea typeface="STKaiti" panose="02010600040101010101" pitchFamily="2" charset="-122"/>
                          </a:rPr>
                          <a:t>Contain?</a:t>
                        </a:r>
                      </a:p>
                    </a:txBody>
                    <a:tcPr marT="45730" marB="45730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65805">
                  <a:tc>
                    <a:txBody>
                      <a:bodyPr/>
                      <a:lstStyle>
                        <a:lvl1pPr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defRPr sz="2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100000"/>
                          <a:buFont typeface="Arial" charset="0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0000"/>
                          <a:buFont typeface="Wingdings" charset="2"/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marL="0" marR="0" lvl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buNone/>
                          <a:tabLst/>
                        </a:pPr>
                        <a:r>
                          <a:rPr kumimoji="0" lang="en-US" altLang="en-US" sz="1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STKaiti" panose="02010600040101010101" pitchFamily="2" charset="-122"/>
                            <a:ea typeface="STKaiti" panose="02010600040101010101" pitchFamily="2" charset="-122"/>
                          </a:rPr>
                          <a:t>&lt; {2,4} {3,5,6} {8} &gt;</a:t>
                        </a:r>
                      </a:p>
                    </a:txBody>
                    <a:tcPr marT="45730" marB="45730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defRPr sz="2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100000"/>
                          <a:buFont typeface="Arial" charset="0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0000"/>
                          <a:buFont typeface="Wingdings" charset="2"/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marL="0" marR="0" lvl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buNone/>
                          <a:tabLst/>
                        </a:pPr>
                        <a:r>
                          <a:rPr kumimoji="0" lang="en-US" altLang="en-US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STKaiti" panose="02010600040101010101" pitchFamily="2" charset="-122"/>
                            <a:ea typeface="STKaiti" panose="02010600040101010101" pitchFamily="2" charset="-122"/>
                          </a:rPr>
                          <a:t>&lt; {2} {8} &gt;</a:t>
                        </a:r>
                      </a:p>
                    </a:txBody>
                    <a:tcPr marT="45730" marB="45730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defRPr sz="2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100000"/>
                          <a:buFont typeface="Arial" charset="0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0000"/>
                          <a:buFont typeface="Wingdings" charset="2"/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marL="0" marR="0" lvl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buNone/>
                          <a:tabLst/>
                        </a:pPr>
                        <a:endPara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endParaRPr>
                      </a:p>
                    </a:txBody>
                    <a:tcPr marT="45730" marB="45730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365805">
                  <a:tc>
                    <a:txBody>
                      <a:bodyPr/>
                      <a:lstStyle>
                        <a:lvl1pPr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defRPr sz="2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100000"/>
                          <a:buFont typeface="Arial" charset="0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0000"/>
                          <a:buFont typeface="Wingdings" charset="2"/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marL="0" marR="0" lvl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buNone/>
                          <a:tabLst/>
                        </a:pPr>
                        <a:r>
                          <a:rPr kumimoji="0" lang="en-US" altLang="en-US" sz="1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STKaiti" panose="02010600040101010101" pitchFamily="2" charset="-122"/>
                            <a:ea typeface="STKaiti" panose="02010600040101010101" pitchFamily="2" charset="-122"/>
                          </a:rPr>
                          <a:t>&lt; {1,2} {3,4} &gt; </a:t>
                        </a:r>
                      </a:p>
                    </a:txBody>
                    <a:tcPr marT="45730" marB="45730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defRPr sz="2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100000"/>
                          <a:buFont typeface="Arial" charset="0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0000"/>
                          <a:buFont typeface="Wingdings" charset="2"/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marL="0" marR="0" lvl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buNone/>
                          <a:tabLst/>
                        </a:pPr>
                        <a:r>
                          <a:rPr kumimoji="0" lang="en-US" altLang="en-US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STKaiti" panose="02010600040101010101" pitchFamily="2" charset="-122"/>
                            <a:ea typeface="STKaiti" panose="02010600040101010101" pitchFamily="2" charset="-122"/>
                          </a:rPr>
                          <a:t>&lt; {1} {2} &gt;</a:t>
                        </a:r>
                      </a:p>
                    </a:txBody>
                    <a:tcPr marT="45730" marB="45730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defRPr sz="2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100000"/>
                          <a:buFont typeface="Arial" charset="0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0000"/>
                          <a:buFont typeface="Wingdings" charset="2"/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marL="0" marR="0" lvl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buNone/>
                          <a:tabLst/>
                        </a:pPr>
                        <a:endPara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sym typeface="Marlett" charset="2"/>
                        </a:endParaRPr>
                      </a:p>
                    </a:txBody>
                    <a:tcPr marT="45730" marB="45730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365805">
                  <a:tc>
                    <a:txBody>
                      <a:bodyPr/>
                      <a:lstStyle>
                        <a:lvl1pPr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defRPr sz="2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100000"/>
                          <a:buFont typeface="Arial" charset="0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0000"/>
                          <a:buFont typeface="Wingdings" charset="2"/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marL="0" marR="0" lvl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buNone/>
                          <a:tabLst/>
                        </a:pPr>
                        <a:r>
                          <a:rPr kumimoji="0" lang="en-US" altLang="en-US" sz="1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STKaiti" panose="02010600040101010101" pitchFamily="2" charset="-122"/>
                            <a:ea typeface="STKaiti" panose="02010600040101010101" pitchFamily="2" charset="-122"/>
                          </a:rPr>
                          <a:t>&lt; {2,4} {2,4} {2,5} &gt;</a:t>
                        </a:r>
                      </a:p>
                    </a:txBody>
                    <a:tcPr marT="45730" marB="45730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defRPr sz="2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100000"/>
                          <a:buFont typeface="Arial" charset="0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0000"/>
                          <a:buFont typeface="Wingdings" charset="2"/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marL="0" marR="0" lvl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buNone/>
                          <a:tabLst/>
                        </a:pPr>
                        <a:r>
                          <a:rPr kumimoji="0" lang="en-US" altLang="en-US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STKaiti" panose="02010600040101010101" pitchFamily="2" charset="-122"/>
                            <a:ea typeface="STKaiti" panose="02010600040101010101" pitchFamily="2" charset="-122"/>
                          </a:rPr>
                          <a:t>&lt; {2} {4} &gt;</a:t>
                        </a:r>
                      </a:p>
                    </a:txBody>
                    <a:tcPr marT="45730" marB="45730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defRPr sz="2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100000"/>
                          <a:buFont typeface="Arial" charset="0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0000"/>
                          <a:buFont typeface="Wingdings" charset="2"/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marL="0" marR="0" lvl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buNone/>
                          <a:tabLst/>
                        </a:pPr>
                        <a:endPara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sym typeface="Marlett" charset="2"/>
                        </a:endParaRPr>
                      </a:p>
                    </a:txBody>
                    <a:tcPr marT="45730" marB="45730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365805">
                  <a:tc>
                    <a:txBody>
                      <a:bodyPr/>
                      <a:lstStyle>
                        <a:lvl1pPr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defRPr sz="2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100000"/>
                          <a:buFont typeface="Arial" charset="0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0000"/>
                          <a:buFont typeface="Wingdings" charset="2"/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marL="0" marR="0" lvl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buNone/>
                          <a:tabLst/>
                        </a:pPr>
                        <a:r>
                          <a:rPr kumimoji="0" lang="en-US" altLang="en-US" sz="1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STKaiti" panose="02010600040101010101" pitchFamily="2" charset="-122"/>
                            <a:ea typeface="STKaiti" panose="02010600040101010101" pitchFamily="2" charset="-122"/>
                          </a:rPr>
                          <a:t>&lt;{2,4} {2,5} {4,5}&gt;</a:t>
                        </a:r>
                      </a:p>
                    </a:txBody>
                    <a:tcPr marT="45730" marB="45730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defRPr sz="2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100000"/>
                          <a:buFont typeface="Arial" charset="0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0000"/>
                          <a:buFont typeface="Wingdings" charset="2"/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marL="0" marR="0" lvl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buNone/>
                          <a:tabLst/>
                        </a:pPr>
                        <a:r>
                          <a:rPr kumimoji="0" lang="en-US" altLang="en-US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STKaiti" panose="02010600040101010101" pitchFamily="2" charset="-122"/>
                            <a:ea typeface="STKaiti" panose="02010600040101010101" pitchFamily="2" charset="-122"/>
                          </a:rPr>
                          <a:t>&lt; {2} {4} {5} &gt;</a:t>
                        </a:r>
                      </a:p>
                    </a:txBody>
                    <a:tcPr marT="45730" marB="45730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defRPr sz="2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100000"/>
                          <a:buFont typeface="Arial" charset="0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0000"/>
                          <a:buFont typeface="Wingdings" charset="2"/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marL="0" marR="0" lvl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buNone/>
                          <a:tabLst/>
                        </a:pPr>
                        <a:endPara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sym typeface="Marlett" charset="2"/>
                        </a:endParaRPr>
                      </a:p>
                    </a:txBody>
                    <a:tcPr marT="45730" marB="45730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365805">
                  <a:tc>
                    <a:txBody>
                      <a:bodyPr/>
                      <a:lstStyle>
                        <a:lvl1pPr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defRPr sz="2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100000"/>
                          <a:buFont typeface="Arial" charset="0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0000"/>
                          <a:buFont typeface="Wingdings" charset="2"/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marL="0" marR="0" lvl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buNone/>
                          <a:tabLst/>
                        </a:pPr>
                        <a:r>
                          <a:rPr kumimoji="0" lang="en-US" altLang="en-US" sz="1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STKaiti" panose="02010600040101010101" pitchFamily="2" charset="-122"/>
                            <a:ea typeface="STKaiti" panose="02010600040101010101" pitchFamily="2" charset="-122"/>
                          </a:rPr>
                          <a:t>&lt;{2,4} {2,5} {4,5}&gt;</a:t>
                        </a:r>
                      </a:p>
                    </a:txBody>
                    <a:tcPr marT="45730" marB="45730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defRPr sz="2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100000"/>
                          <a:buFont typeface="Arial" charset="0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0000"/>
                          <a:buFont typeface="Wingdings" charset="2"/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marL="0" marR="0" lvl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buNone/>
                          <a:tabLst/>
                        </a:pPr>
                        <a:r>
                          <a:rPr kumimoji="0" lang="en-US" altLang="en-US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STKaiti" panose="02010600040101010101" pitchFamily="2" charset="-122"/>
                            <a:ea typeface="STKaiti" panose="02010600040101010101" pitchFamily="2" charset="-122"/>
                          </a:rPr>
                          <a:t>&lt; {2} {5} {5} &gt;</a:t>
                        </a:r>
                      </a:p>
                    </a:txBody>
                    <a:tcPr marT="45730" marB="45730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defRPr sz="2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100000"/>
                          <a:buFont typeface="Arial" charset="0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0000"/>
                          <a:buFont typeface="Wingdings" charset="2"/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marL="0" marR="0" lvl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buNone/>
                          <a:tabLst/>
                        </a:pPr>
                        <a:endPara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sym typeface="Marlett" charset="2"/>
                        </a:endParaRPr>
                      </a:p>
                    </a:txBody>
                    <a:tcPr marT="45730" marB="45730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365805">
                  <a:tc>
                    <a:txBody>
                      <a:bodyPr/>
                      <a:lstStyle>
                        <a:lvl1pPr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defRPr sz="2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100000"/>
                          <a:buFont typeface="Arial" charset="0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0000"/>
                          <a:buFont typeface="Wingdings" charset="2"/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marL="0" marR="0" lvl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buNone/>
                          <a:tabLst/>
                        </a:pPr>
                        <a:r>
                          <a:rPr kumimoji="0" lang="en-US" altLang="en-US" sz="1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STKaiti" panose="02010600040101010101" pitchFamily="2" charset="-122"/>
                            <a:ea typeface="STKaiti" panose="02010600040101010101" pitchFamily="2" charset="-122"/>
                          </a:rPr>
                          <a:t>&lt;{2,4} {2,5} {4,5}&gt;</a:t>
                        </a:r>
                      </a:p>
                    </a:txBody>
                    <a:tcPr marT="45730" marB="45730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defRPr sz="2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100000"/>
                          <a:buFont typeface="Arial" charset="0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0000"/>
                          <a:buFont typeface="Wingdings" charset="2"/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marL="0" marR="0" lvl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buNone/>
                          <a:tabLst/>
                        </a:pPr>
                        <a:r>
                          <a:rPr kumimoji="0" lang="en-US" altLang="en-US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STKaiti" panose="02010600040101010101" pitchFamily="2" charset="-122"/>
                            <a:ea typeface="STKaiti" panose="02010600040101010101" pitchFamily="2" charset="-122"/>
                          </a:rPr>
                          <a:t>&lt; {2, 4, 5} &gt;</a:t>
                        </a:r>
                      </a:p>
                    </a:txBody>
                    <a:tcPr marT="45730" marB="45730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defRPr sz="2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100000"/>
                          <a:buFont typeface="Arial" charset="0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0000"/>
                          <a:buFont typeface="Wingdings" charset="2"/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marL="0" marR="0" lvl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buNone/>
                          <a:tabLst/>
                        </a:pPr>
                        <a:endPara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sym typeface="Marlett" charset="2"/>
                        </a:endParaRPr>
                      </a:p>
                    </a:txBody>
                    <a:tcPr marT="45730" marB="45730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</a:tbl>
            </a:graphicData>
          </a:graphic>
        </p:graphicFrame>
        <p:sp>
          <p:nvSpPr>
            <p:cNvPr id="4" name="Text Box 26">
              <a:extLst>
                <a:ext uri="{FF2B5EF4-FFF2-40B4-BE49-F238E27FC236}">
                  <a16:creationId xmlns:a16="http://schemas.microsoft.com/office/drawing/2014/main" id="{E53612D1-7A86-09AB-96BC-717CD848BD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0547" y="4467951"/>
              <a:ext cx="5334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/>
                <a:t>No</a:t>
              </a:r>
            </a:p>
          </p:txBody>
        </p:sp>
        <p:sp>
          <p:nvSpPr>
            <p:cNvPr id="5" name="Text Box 27">
              <a:extLst>
                <a:ext uri="{FF2B5EF4-FFF2-40B4-BE49-F238E27FC236}">
                  <a16:creationId xmlns:a16="http://schemas.microsoft.com/office/drawing/2014/main" id="{0AC1D316-8D45-B88C-7B2C-A488490717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0547" y="4828314"/>
              <a:ext cx="6858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/>
                <a:t>Yes</a:t>
              </a:r>
            </a:p>
          </p:txBody>
        </p:sp>
        <p:sp>
          <p:nvSpPr>
            <p:cNvPr id="6" name="Text Box 28">
              <a:extLst>
                <a:ext uri="{FF2B5EF4-FFF2-40B4-BE49-F238E27FC236}">
                  <a16:creationId xmlns:a16="http://schemas.microsoft.com/office/drawing/2014/main" id="{33AC8A9A-1A9F-F072-7412-0D689AFD8F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0547" y="4090126"/>
              <a:ext cx="6858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/>
                <a:t>Yes</a:t>
              </a:r>
            </a:p>
          </p:txBody>
        </p:sp>
        <p:sp>
          <p:nvSpPr>
            <p:cNvPr id="7" name="Text Box 27">
              <a:extLst>
                <a:ext uri="{FF2B5EF4-FFF2-40B4-BE49-F238E27FC236}">
                  <a16:creationId xmlns:a16="http://schemas.microsoft.com/office/drawing/2014/main" id="{D6F9DB6F-EBE1-1AA8-33C8-A7AB166BB8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35785" y="5590314"/>
              <a:ext cx="6858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/>
                <a:t>Yes</a:t>
              </a:r>
            </a:p>
          </p:txBody>
        </p:sp>
        <p:sp>
          <p:nvSpPr>
            <p:cNvPr id="11" name="Text Box 26">
              <a:extLst>
                <a:ext uri="{FF2B5EF4-FFF2-40B4-BE49-F238E27FC236}">
                  <a16:creationId xmlns:a16="http://schemas.microsoft.com/office/drawing/2014/main" id="{240DAB34-35E6-8726-EAF1-DB54B68498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0547" y="5223601"/>
              <a:ext cx="5334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/>
                <a:t>No</a:t>
              </a:r>
            </a:p>
          </p:txBody>
        </p:sp>
        <p:sp>
          <p:nvSpPr>
            <p:cNvPr id="12" name="Text Box 26">
              <a:extLst>
                <a:ext uri="{FF2B5EF4-FFF2-40B4-BE49-F238E27FC236}">
                  <a16:creationId xmlns:a16="http://schemas.microsoft.com/office/drawing/2014/main" id="{95000A7D-72B4-B7C8-DB67-5C1F1C868A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0547" y="5904639"/>
              <a:ext cx="5334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/>
                <a:t>No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5D1C7D-F82A-A964-16A7-C2090987C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序列模式挖掘：定义</a:t>
            </a:r>
            <a:endParaRPr lang="ko-KR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98ADF9-8622-82BC-9FF9-B6911224B8E6}"/>
              </a:ext>
            </a:extLst>
          </p:cNvPr>
          <p:cNvSpPr txBox="1">
            <a:spLocks noChangeArrowheads="1"/>
          </p:cNvSpPr>
          <p:nvPr/>
        </p:nvSpPr>
        <p:spPr>
          <a:xfrm>
            <a:off x="508000" y="1295400"/>
            <a:ext cx="11277600" cy="809625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STKaiti" panose="02010600040101010101" pitchFamily="2" charset="-122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STKaiti" panose="02010600040101010101" pitchFamily="2" charset="-122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STKaiti" panose="02010600040101010101" pitchFamily="2" charset="-122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STKaiti" panose="02010600040101010101" pitchFamily="2" charset="-122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STKaiti" panose="02010600040101010101" pitchFamily="2" charset="-122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400" b="1" dirty="0" err="1">
                <a:ea typeface="STKaiti" panose="02010600040101010101" pitchFamily="2" charset="-122"/>
              </a:rPr>
              <a:t>序列模式挖掘</a:t>
            </a:r>
            <a:r>
              <a:rPr lang="en-US" altLang="en-US" sz="2400" dirty="0" err="1">
                <a:ea typeface="STKaiti" panose="02010600040101010101" pitchFamily="2" charset="-122"/>
              </a:rPr>
              <a:t>：给定一组序列，找出所有满足最小超序列阈值（即满足min_sup阈值）</a:t>
            </a:r>
            <a:r>
              <a:rPr lang="en-US" altLang="en-US" sz="2400" i="1" dirty="0" err="1">
                <a:solidFill>
                  <a:srgbClr val="FF0000"/>
                </a:solidFill>
                <a:ea typeface="STKaiti" panose="02010600040101010101" pitchFamily="2" charset="-122"/>
              </a:rPr>
              <a:t>的频繁</a:t>
            </a:r>
            <a:r>
              <a:rPr lang="en-US" altLang="en-US" sz="2400" dirty="0" err="1">
                <a:solidFill>
                  <a:srgbClr val="FF0000"/>
                </a:solidFill>
                <a:ea typeface="STKaiti" panose="02010600040101010101" pitchFamily="2" charset="-122"/>
              </a:rPr>
              <a:t>子序列的完整集合</a:t>
            </a:r>
            <a:endParaRPr lang="en-US" altLang="en-US" sz="2400" dirty="0">
              <a:solidFill>
                <a:srgbClr val="FF0000"/>
              </a:solidFill>
              <a:ea typeface="STKaiti" panose="0201060004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en-US" sz="2400" dirty="0">
              <a:solidFill>
                <a:srgbClr val="FF0000"/>
              </a:solidFill>
              <a:ea typeface="STKaiti" panose="0201060004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en-US" sz="2400" dirty="0">
              <a:solidFill>
                <a:srgbClr val="FF0000"/>
              </a:solidFill>
              <a:ea typeface="STKaiti" panose="0201060004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en-US" sz="2400" dirty="0">
              <a:solidFill>
                <a:srgbClr val="FF0000"/>
              </a:solidFill>
              <a:ea typeface="STKaiti" panose="02010600040101010101" pitchFamily="2" charset="-122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en-US" sz="2400" dirty="0">
              <a:solidFill>
                <a:srgbClr val="FF0000"/>
              </a:solidFill>
              <a:ea typeface="STKaiti" panose="02010600040101010101" pitchFamily="2" charset="-122"/>
            </a:endParaRPr>
          </a:p>
          <a:p>
            <a:r>
              <a:rPr lang="en-US" altLang="en-US" sz="2400" dirty="0" err="1">
                <a:latin typeface="KaiTi" panose="02010609060101010101" pitchFamily="49" charset="-122"/>
                <a:ea typeface="KaiTi" panose="02010609060101010101" pitchFamily="49" charset="-122"/>
              </a:rPr>
              <a:t>已知</a:t>
            </a:r>
            <a:r>
              <a:rPr lang="en-US" altLang="en-US" sz="2400" dirty="0">
                <a:latin typeface="KaiTi" panose="02010609060101010101" pitchFamily="49" charset="-122"/>
                <a:ea typeface="KaiTi" panose="02010609060101010101" pitchFamily="49" charset="-122"/>
              </a:rPr>
              <a:t>： </a:t>
            </a:r>
          </a:p>
          <a:p>
            <a:pPr lvl="1"/>
            <a:r>
              <a:rPr lang="en-US" altLang="en-US" sz="2400" dirty="0" err="1">
                <a:latin typeface="KaiTi" panose="02010609060101010101" pitchFamily="49" charset="-122"/>
                <a:ea typeface="KaiTi" panose="02010609060101010101" pitchFamily="49" charset="-122"/>
              </a:rPr>
              <a:t>一个序列数据库</a:t>
            </a:r>
            <a:r>
              <a:rPr lang="en-US" altLang="en-US" sz="2400" dirty="0"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</a:p>
          <a:p>
            <a:pPr lvl="1"/>
            <a:r>
              <a:rPr lang="en-US" altLang="en-US" sz="2400" dirty="0" err="1">
                <a:latin typeface="KaiTi" panose="02010609060101010101" pitchFamily="49" charset="-122"/>
                <a:ea typeface="KaiTi" panose="02010609060101010101" pitchFamily="49" charset="-122"/>
              </a:rPr>
              <a:t>用户指定的最小支持阈值，minsup</a:t>
            </a:r>
            <a:endParaRPr lang="en-US" altLang="en-US" sz="2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en-US" sz="2400" dirty="0" err="1">
                <a:latin typeface="KaiTi" panose="02010609060101010101" pitchFamily="49" charset="-122"/>
                <a:ea typeface="KaiTi" panose="02010609060101010101" pitchFamily="49" charset="-122"/>
              </a:rPr>
              <a:t>任务</a:t>
            </a:r>
            <a:r>
              <a:rPr lang="en-US" altLang="en-US" sz="2400" dirty="0"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</a:p>
          <a:p>
            <a:pPr lvl="1"/>
            <a:r>
              <a:rPr lang="en-US" altLang="en-US" sz="2400" dirty="0" err="1">
                <a:latin typeface="KaiTi" panose="02010609060101010101" pitchFamily="49" charset="-122"/>
                <a:ea typeface="KaiTi" panose="02010609060101010101" pitchFamily="49" charset="-122"/>
              </a:rPr>
              <a:t>查找所有支持度</a:t>
            </a:r>
            <a:r>
              <a:rPr lang="en-US" altLang="en-US" sz="2400" dirty="0"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lang="en-US" altLang="en-US" sz="2400" dirty="0"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≥ </a:t>
            </a:r>
            <a:r>
              <a:rPr lang="en-US" altLang="en-US" sz="2400" dirty="0" err="1">
                <a:latin typeface="KaiTi" panose="02010609060101010101" pitchFamily="49" charset="-122"/>
                <a:ea typeface="KaiTi" panose="02010609060101010101" pitchFamily="49" charset="-122"/>
              </a:rPr>
              <a:t>minsup</a:t>
            </a:r>
            <a:r>
              <a:rPr lang="en-US" altLang="en-US" sz="2400" dirty="0"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lang="en-US" altLang="en-US" sz="2400" dirty="0" err="1">
                <a:latin typeface="KaiTi" panose="02010609060101010101" pitchFamily="49" charset="-122"/>
                <a:ea typeface="KaiTi" panose="02010609060101010101" pitchFamily="49" charset="-122"/>
              </a:rPr>
              <a:t>的子序列</a:t>
            </a:r>
            <a:endParaRPr lang="en-US" altLang="en-US" sz="2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90000"/>
              </a:lnSpc>
            </a:pPr>
            <a:endParaRPr lang="en-US" altLang="en-US" sz="2400" dirty="0">
              <a:solidFill>
                <a:srgbClr val="FF0000"/>
              </a:solidFill>
              <a:ea typeface="STKaiti" panose="02010600040101010101" pitchFamily="2" charset="-122"/>
            </a:endParaRP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356E94E0-8A3F-93A4-1556-DF7351A0B0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7850" y="2699287"/>
            <a:ext cx="5172911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R="0" lvl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0981"/>
              </a:buClr>
              <a:buSzPct val="80000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一个</a:t>
            </a:r>
            <a:r>
              <a:rPr kumimoji="0" lang="en-US" sz="1800" b="0" i="1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元素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可能包含一组</a:t>
            </a:r>
            <a:r>
              <a:rPr kumimoji="0" lang="en-US" sz="1800" b="0" i="1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项目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（也称为</a:t>
            </a:r>
            <a:r>
              <a:rPr kumimoji="0" lang="en-US" sz="1800" b="0" i="1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事件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）</a:t>
            </a:r>
          </a:p>
          <a:p>
            <a:pPr marR="0" lvl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0981"/>
              </a:buClr>
              <a:buSzPct val="80000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* 元素内的项是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无序的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，我们</a:t>
            </a:r>
            <a:r>
              <a:rPr kumimoji="0" lang="en-US" sz="1800" b="0" i="1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按字母顺序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列出它们 </a:t>
            </a:r>
          </a:p>
        </p:txBody>
      </p:sp>
      <p:grpSp>
        <p:nvGrpSpPr>
          <p:cNvPr id="7" name="Group 3">
            <a:extLst>
              <a:ext uri="{FF2B5EF4-FFF2-40B4-BE49-F238E27FC236}">
                <a16:creationId xmlns:a16="http://schemas.microsoft.com/office/drawing/2014/main" id="{26F411A0-1164-1E46-6F2E-8078B7B488A2}"/>
              </a:ext>
            </a:extLst>
          </p:cNvPr>
          <p:cNvGrpSpPr/>
          <p:nvPr/>
        </p:nvGrpSpPr>
        <p:grpSpPr>
          <a:xfrm>
            <a:off x="794338" y="2767506"/>
            <a:ext cx="5316701" cy="523220"/>
            <a:chOff x="1494646" y="2358258"/>
            <a:chExt cx="5316701" cy="523220"/>
          </a:xfrm>
        </p:grpSpPr>
        <p:sp>
          <p:nvSpPr>
            <p:cNvPr id="8" name="Text Box 5">
              <a:extLst>
                <a:ext uri="{FF2B5EF4-FFF2-40B4-BE49-F238E27FC236}">
                  <a16:creationId xmlns:a16="http://schemas.microsoft.com/office/drawing/2014/main" id="{54DF6FD5-3466-9CBE-ACDB-F99053E870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4646" y="2358258"/>
              <a:ext cx="5316701" cy="52322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A </a:t>
              </a:r>
              <a:r>
                <a:rPr kumimoji="0" lang="en-US" altLang="en-US" sz="2800" b="1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sequence</a:t>
              </a:r>
              <a:r>
                <a:rPr kumimoji="0" lang="en-US" altLang="en-US" sz="2800" b="0" i="0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: </a:t>
              </a: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 &lt; (</a:t>
              </a:r>
              <a:r>
                <a:rPr kumimoji="0" lang="en-US" altLang="en-US" sz="2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ef</a:t>
              </a: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) (ab)  (</a:t>
              </a:r>
              <a:r>
                <a:rPr kumimoji="0" lang="en-US" altLang="en-US" sz="2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df</a:t>
              </a: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)  c   b &gt;</a:t>
              </a: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B24723DB-1DD2-A745-DCF9-922246C7F5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5508" y="2434459"/>
              <a:ext cx="545731" cy="384175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endParaRPr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B8BE58F7-B05C-9ED2-B800-0F65F7F82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1565" y="2434458"/>
              <a:ext cx="638173" cy="3810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endParaRPr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2709BCCD-57ED-DD6C-03CC-728A56542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4582" y="2443737"/>
              <a:ext cx="556311" cy="3810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endParaRPr>
            </a:p>
          </p:txBody>
        </p:sp>
        <p:sp>
          <p:nvSpPr>
            <p:cNvPr id="12" name="Rectangle 10">
              <a:extLst>
                <a:ext uri="{FF2B5EF4-FFF2-40B4-BE49-F238E27FC236}">
                  <a16:creationId xmlns:a16="http://schemas.microsoft.com/office/drawing/2014/main" id="{8F5056FA-A0F4-B4A3-3AA1-EA702CC0A1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0534" y="2443737"/>
              <a:ext cx="304800" cy="3810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endParaRPr>
            </a:p>
          </p:txBody>
        </p:sp>
        <p:sp>
          <p:nvSpPr>
            <p:cNvPr id="13" name="Rectangle 37">
              <a:extLst>
                <a:ext uri="{FF2B5EF4-FFF2-40B4-BE49-F238E27FC236}">
                  <a16:creationId xmlns:a16="http://schemas.microsoft.com/office/drawing/2014/main" id="{02B16A88-07A2-9A10-27ED-6CD0191DBD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177" y="2443737"/>
              <a:ext cx="304800" cy="3810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endParaRPr>
            </a:p>
          </p:txBody>
        </p:sp>
      </p:grpSp>
      <p:sp>
        <p:nvSpPr>
          <p:cNvPr id="14" name="Line 27">
            <a:extLst>
              <a:ext uri="{FF2B5EF4-FFF2-40B4-BE49-F238E27FC236}">
                <a16:creationId xmlns:a16="http://schemas.microsoft.com/office/drawing/2014/main" id="{CF12BF52-3019-EAFC-0CBC-D3C7C6A3A1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67289" y="2530068"/>
            <a:ext cx="564703" cy="313637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8D802FFB-4214-38EE-7618-DD050784D968}"/>
              </a:ext>
            </a:extLst>
          </p:cNvPr>
          <p:cNvSpPr/>
          <p:nvPr/>
        </p:nvSpPr>
        <p:spPr>
          <a:xfrm>
            <a:off x="3452688" y="2157101"/>
            <a:ext cx="40289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>
                <a:latin typeface="Calibri" panose="020F0502020204030204" pitchFamily="34" charset="0"/>
              </a:rPr>
              <a:t>element </a:t>
            </a:r>
            <a:r>
              <a:rPr lang="en-US" sz="2000" dirty="0">
                <a:latin typeface="Calibri" panose="020F0502020204030204" pitchFamily="34" charset="0"/>
              </a:rPr>
              <a:t>       (unordered within “(..)”)</a:t>
            </a:r>
            <a:endParaRPr lang="en-US" dirty="0"/>
          </a:p>
        </p:txBody>
      </p:sp>
      <p:sp>
        <p:nvSpPr>
          <p:cNvPr id="16" name="Line 27">
            <a:extLst>
              <a:ext uri="{FF2B5EF4-FFF2-40B4-BE49-F238E27FC236}">
                <a16:creationId xmlns:a16="http://schemas.microsoft.com/office/drawing/2014/main" id="{E142854C-485B-F12D-0EB3-5CAAC64160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4159" y="2530069"/>
            <a:ext cx="111475" cy="330601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Line 27">
            <a:extLst>
              <a:ext uri="{FF2B5EF4-FFF2-40B4-BE49-F238E27FC236}">
                <a16:creationId xmlns:a16="http://schemas.microsoft.com/office/drawing/2014/main" id="{029F1110-63DC-0214-F8A8-A60195CA62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9430" y="2530068"/>
            <a:ext cx="392902" cy="330602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Line 27">
            <a:extLst>
              <a:ext uri="{FF2B5EF4-FFF2-40B4-BE49-F238E27FC236}">
                <a16:creationId xmlns:a16="http://schemas.microsoft.com/office/drawing/2014/main" id="{1F1BE812-40E6-C323-5ABD-029BA91884F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3072" y="2481972"/>
            <a:ext cx="655855" cy="379659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Line 27">
            <a:extLst>
              <a:ext uri="{FF2B5EF4-FFF2-40B4-BE49-F238E27FC236}">
                <a16:creationId xmlns:a16="http://schemas.microsoft.com/office/drawing/2014/main" id="{D8F372F6-03C3-4E6E-F15A-AC6E4E721A1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3196" y="2407305"/>
            <a:ext cx="912140" cy="436401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 Box 4">
            <a:extLst>
              <a:ext uri="{FF2B5EF4-FFF2-40B4-BE49-F238E27FC236}">
                <a16:creationId xmlns:a16="http://schemas.microsoft.com/office/drawing/2014/main" id="{9609B928-7A1E-97C8-DE7D-A49163D959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7634" y="3882540"/>
            <a:ext cx="15311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序列</a:t>
            </a:r>
            <a:r>
              <a:rPr kumimoji="0" lang="en-US" sz="2000" b="1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数据库 </a:t>
            </a:r>
          </a:p>
        </p:txBody>
      </p:sp>
      <p:graphicFrame>
        <p:nvGraphicFramePr>
          <p:cNvPr id="22" name="Table 22">
            <a:extLst>
              <a:ext uri="{FF2B5EF4-FFF2-40B4-BE49-F238E27FC236}">
                <a16:creationId xmlns:a16="http://schemas.microsoft.com/office/drawing/2014/main" id="{63EC9731-B580-C87F-63E8-E4017A360940}"/>
              </a:ext>
            </a:extLst>
          </p:cNvPr>
          <p:cNvGraphicFramePr>
            <a:graphicFrameLocks noGrp="1"/>
          </p:cNvGraphicFramePr>
          <p:nvPr/>
        </p:nvGraphicFramePr>
        <p:xfrm>
          <a:off x="7385612" y="4367386"/>
          <a:ext cx="3989916" cy="1981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40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9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SID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Sequence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10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&lt;a(</a:t>
                      </a:r>
                      <a:r>
                        <a:rPr kumimoji="0" lang="en-US" sz="20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ab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c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)(a</a:t>
                      </a: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c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)d(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cf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)&gt;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20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&lt;(ad)c(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bc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)(ae)&gt;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30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&lt;(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ef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)(</a:t>
                      </a:r>
                      <a:r>
                        <a:rPr kumimoji="0" 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ab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)(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df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)</a:t>
                      </a:r>
                      <a:r>
                        <a:rPr kumimoji="0" lang="en-US" sz="20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c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b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&gt;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40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&lt;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eg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(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af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)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cbc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&gt;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6434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 animBg="1"/>
      <p:bldP spid="16" grpId="0" animBg="1"/>
      <p:bldP spid="17" grpId="0" animBg="1"/>
      <p:bldP spid="18" grpId="0" animBg="1"/>
      <p:bldP spid="19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A96892E7-C906-4407-B8E4-43F433C58C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提取序列模式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E98D3B3E-0A4F-4B9F-86F6-520C38AAAB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/>
            <a:r>
              <a:rPr lang="en-US" altLang="en-US" sz="2000" dirty="0" err="1"/>
              <a:t>给定</a:t>
            </a:r>
            <a:r>
              <a:rPr lang="en-US" altLang="en-US" sz="2000" dirty="0"/>
              <a:t> n </a:t>
            </a:r>
            <a:r>
              <a:rPr lang="en-US" altLang="en-US" sz="2000" dirty="0" err="1"/>
              <a:t>个事件</a:t>
            </a:r>
            <a:r>
              <a:rPr lang="en-US" altLang="en-US" sz="2000" dirty="0"/>
              <a:t>：   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 , i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, i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 , …, i</a:t>
            </a:r>
            <a:r>
              <a:rPr lang="en-US" altLang="en-US" sz="2000" baseline="-25000" dirty="0"/>
              <a:t>n</a:t>
            </a:r>
            <a:endParaRPr lang="en-US" altLang="en-US" sz="2000" dirty="0"/>
          </a:p>
          <a:p>
            <a:pPr lvl="4"/>
            <a:endParaRPr lang="en-US" altLang="en-US" sz="2000" dirty="0"/>
          </a:p>
          <a:p>
            <a:pPr marL="342900" indent="-342900"/>
            <a:r>
              <a:rPr lang="en-US" altLang="en-US" sz="2000" dirty="0"/>
              <a:t>候选1-子序列： </a:t>
            </a:r>
          </a:p>
          <a:p>
            <a:pPr marL="1143000" lvl="2" indent="-228600">
              <a:buFont typeface="Wingdings" panose="05000000000000000000" pitchFamily="2" charset="2"/>
              <a:buNone/>
            </a:pPr>
            <a:r>
              <a:rPr lang="en-US" altLang="en-US" sz="2000" dirty="0"/>
              <a:t>&lt;{i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}&gt;, &lt;{i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}&gt;, &lt;{i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}&gt;, …, &lt;{i</a:t>
            </a:r>
            <a:r>
              <a:rPr lang="en-US" altLang="en-US" sz="2000" baseline="-25000" dirty="0"/>
              <a:t>n</a:t>
            </a:r>
            <a:r>
              <a:rPr lang="en-US" altLang="en-US" sz="2000" dirty="0"/>
              <a:t>}&gt;</a:t>
            </a:r>
          </a:p>
          <a:p>
            <a:pPr lvl="4"/>
            <a:endParaRPr lang="en-US" altLang="en-US" sz="2000" dirty="0"/>
          </a:p>
          <a:p>
            <a:pPr marL="342900" indent="-342900"/>
            <a:r>
              <a:rPr lang="en-US" altLang="en-US" sz="2000" dirty="0" err="1"/>
              <a:t>候选</a:t>
            </a:r>
            <a:r>
              <a:rPr lang="en-US" altLang="en-US" sz="2000" dirty="0"/>
              <a:t> 2-子序列：</a:t>
            </a:r>
          </a:p>
          <a:p>
            <a:pPr marL="1143000" lvl="2" indent="-228600">
              <a:buFont typeface="Wingdings" panose="05000000000000000000" pitchFamily="2" charset="2"/>
              <a:buNone/>
            </a:pPr>
            <a:r>
              <a:rPr lang="en-US" altLang="en-US" sz="2000" dirty="0"/>
              <a:t>&lt;{i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i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}&gt;, &lt;{i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i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}&gt;, …, </a:t>
            </a:r>
          </a:p>
          <a:p>
            <a:pPr marL="1143000" lvl="2" indent="-228600">
              <a:buFont typeface="Wingdings" panose="05000000000000000000" pitchFamily="2" charset="2"/>
              <a:buNone/>
            </a:pPr>
            <a:r>
              <a:rPr lang="en-US" altLang="en-US" sz="2000" dirty="0"/>
              <a:t>&lt;{i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} 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}&gt;, &lt;{i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} {i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}&gt;, …, &lt;{i</a:t>
            </a:r>
            <a:r>
              <a:rPr lang="en-US" altLang="en-US" sz="2000" baseline="-25000" dirty="0"/>
              <a:t>n</a:t>
            </a:r>
            <a:r>
              <a:rPr lang="en-US" altLang="en-US" sz="2000" dirty="0"/>
              <a:t>} {i</a:t>
            </a:r>
            <a:r>
              <a:rPr lang="en-US" altLang="en-US" sz="2000" baseline="-25000" dirty="0"/>
              <a:t>n</a:t>
            </a:r>
            <a:r>
              <a:rPr lang="en-US" altLang="en-US" sz="2000" dirty="0"/>
              <a:t>}&gt;</a:t>
            </a:r>
          </a:p>
          <a:p>
            <a:pPr lvl="4"/>
            <a:endParaRPr lang="en-US" altLang="en-US" sz="2000" dirty="0"/>
          </a:p>
          <a:p>
            <a:pPr marL="342900" indent="-342900"/>
            <a:r>
              <a:rPr lang="en-US" altLang="en-US" sz="2000" dirty="0"/>
              <a:t>候选3子序列：</a:t>
            </a:r>
          </a:p>
          <a:p>
            <a:pPr marL="1143000" lvl="2" indent="-228600">
              <a:buFont typeface="Wingdings" panose="05000000000000000000" pitchFamily="2" charset="2"/>
              <a:buNone/>
            </a:pPr>
            <a:r>
              <a:rPr lang="en-US" altLang="en-US" sz="2000" dirty="0"/>
              <a:t>&lt;{i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i</a:t>
            </a:r>
            <a:r>
              <a:rPr lang="en-US" altLang="en-US" sz="2000" baseline="-25000" dirty="0"/>
              <a:t>2 </a:t>
            </a:r>
            <a:r>
              <a:rPr lang="en-US" altLang="en-US" sz="2000" dirty="0"/>
              <a:t>, i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}&gt;, &lt;{i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i</a:t>
            </a:r>
            <a:r>
              <a:rPr lang="en-US" altLang="en-US" sz="2000" baseline="-25000" dirty="0"/>
              <a:t>2 </a:t>
            </a:r>
            <a:r>
              <a:rPr lang="en-US" altLang="en-US" sz="2000" dirty="0"/>
              <a:t>, i</a:t>
            </a:r>
            <a:r>
              <a:rPr lang="en-US" altLang="en-US" sz="2000" baseline="-25000" dirty="0"/>
              <a:t>4</a:t>
            </a:r>
            <a:r>
              <a:rPr lang="en-US" altLang="en-US" sz="2000" dirty="0"/>
              <a:t>}&gt;, …, </a:t>
            </a:r>
          </a:p>
          <a:p>
            <a:pPr marL="1143000" lvl="2" indent="-228600">
              <a:buFont typeface="Wingdings" panose="05000000000000000000" pitchFamily="2" charset="2"/>
              <a:buNone/>
            </a:pPr>
            <a:r>
              <a:rPr lang="en-US" altLang="en-US" sz="2000" dirty="0"/>
              <a:t>&lt;{i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i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} 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}&gt;, &lt;{i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i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} {i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}&gt;, …,</a:t>
            </a:r>
          </a:p>
          <a:p>
            <a:pPr marL="1143000" lvl="2" indent="-228600">
              <a:buFont typeface="Wingdings" panose="05000000000000000000" pitchFamily="2" charset="2"/>
              <a:buNone/>
            </a:pPr>
            <a:r>
              <a:rPr lang="en-US" altLang="en-US" sz="2000" dirty="0"/>
              <a:t>&lt;{i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} {i</a:t>
            </a:r>
            <a:r>
              <a:rPr lang="en-US" altLang="en-US" sz="2000" baseline="-25000" dirty="0"/>
              <a:t>1 </a:t>
            </a:r>
            <a:r>
              <a:rPr lang="en-US" altLang="en-US" sz="2000" dirty="0"/>
              <a:t>, i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}&gt;, &lt;{i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} {i</a:t>
            </a:r>
            <a:r>
              <a:rPr lang="en-US" altLang="en-US" sz="2000" baseline="-25000" dirty="0"/>
              <a:t>1 </a:t>
            </a:r>
            <a:r>
              <a:rPr lang="en-US" altLang="en-US" sz="2000" dirty="0"/>
              <a:t>, i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}&gt;, …, </a:t>
            </a:r>
          </a:p>
          <a:p>
            <a:pPr marL="1143000" lvl="2" indent="-228600">
              <a:buFont typeface="Wingdings" panose="05000000000000000000" pitchFamily="2" charset="2"/>
              <a:buNone/>
            </a:pPr>
            <a:r>
              <a:rPr lang="en-US" altLang="en-US" sz="2000" dirty="0"/>
              <a:t>&lt;{i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} 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} 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}&gt;, &lt;{i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} {i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} {i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}&gt;, …</a:t>
            </a:r>
          </a:p>
          <a:p>
            <a:pPr marL="1143000" lvl="2" indent="-228600">
              <a:buNone/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3">
            <a:extLst>
              <a:ext uri="{FF2B5EF4-FFF2-40B4-BE49-F238E27FC236}">
                <a16:creationId xmlns:a16="http://schemas.microsoft.com/office/drawing/2014/main" id="{578F4297-3D38-4CE1-9098-F1D6EF13B5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6776" y="1219200"/>
            <a:ext cx="8865825" cy="5181600"/>
          </a:xfrm>
        </p:spPr>
        <p:txBody>
          <a:bodyPr/>
          <a:lstStyle/>
          <a:p>
            <a:pPr marL="342900" indent="-342900"/>
            <a:r>
              <a:rPr lang="en-US" altLang="en-US" sz="2000" dirty="0"/>
              <a:t>给定2个事件：a, b</a:t>
            </a:r>
          </a:p>
          <a:p>
            <a:pPr lvl="4"/>
            <a:endParaRPr lang="en-US" altLang="en-US" sz="2000" dirty="0"/>
          </a:p>
          <a:p>
            <a:pPr marL="342900" indent="-342900"/>
            <a:r>
              <a:rPr lang="en-US" altLang="en-US" sz="2000" dirty="0"/>
              <a:t>候选1-子序列： </a:t>
            </a:r>
          </a:p>
          <a:p>
            <a:pPr marL="1143000" lvl="2" indent="-228600">
              <a:buFont typeface="Wingdings" panose="05000000000000000000" pitchFamily="2" charset="2"/>
              <a:buNone/>
            </a:pPr>
            <a:r>
              <a:rPr lang="en-US" altLang="en-US" sz="2000" dirty="0"/>
              <a:t>&lt;{a}&gt;, &lt;{b}&gt;.</a:t>
            </a:r>
          </a:p>
          <a:p>
            <a:pPr lvl="4"/>
            <a:endParaRPr lang="en-US" altLang="en-US" sz="2000" dirty="0"/>
          </a:p>
          <a:p>
            <a:pPr marL="342900" indent="-342900"/>
            <a:r>
              <a:rPr lang="en-US" altLang="en-US" sz="2000" dirty="0"/>
              <a:t>候选2-子序列：</a:t>
            </a:r>
          </a:p>
          <a:p>
            <a:pPr marL="1143000" lvl="2" indent="-228600">
              <a:buFont typeface="Wingdings" panose="05000000000000000000" pitchFamily="2" charset="2"/>
              <a:buNone/>
            </a:pPr>
            <a:r>
              <a:rPr lang="en-US" altLang="en-US" sz="2000" dirty="0"/>
              <a:t>&lt;{a} {a}&gt;, &lt;{a} {b}&gt;, &lt;{b} {a}&gt;, &lt;{b} {b}&gt;, &lt;{a, b}&gt;.</a:t>
            </a:r>
          </a:p>
          <a:p>
            <a:pPr lvl="4"/>
            <a:endParaRPr lang="en-US" altLang="en-US" sz="2000" dirty="0"/>
          </a:p>
          <a:p>
            <a:pPr marL="342900" indent="-342900"/>
            <a:r>
              <a:rPr lang="en-US" altLang="en-US" sz="2000" dirty="0" err="1"/>
              <a:t>候选</a:t>
            </a:r>
            <a:r>
              <a:rPr lang="en-US" altLang="en-US" sz="2000" dirty="0"/>
              <a:t> 3-子序列：</a:t>
            </a:r>
          </a:p>
          <a:p>
            <a:pPr marL="1143000" lvl="2" indent="-228600">
              <a:buFont typeface="Wingdings" panose="05000000000000000000" pitchFamily="2" charset="2"/>
              <a:buNone/>
            </a:pPr>
            <a:r>
              <a:rPr lang="en-US" altLang="en-US" sz="2000" dirty="0"/>
              <a:t>&lt;{a} {a} {a}&gt;, &lt;{a} {a} {b}&gt;, &lt;{a} {b} {a}&gt;, &lt;{a} {b} {b}&gt;, </a:t>
            </a:r>
          </a:p>
          <a:p>
            <a:pPr marL="1143000" lvl="2" indent="-228600">
              <a:buFont typeface="Wingdings" panose="05000000000000000000" pitchFamily="2" charset="2"/>
              <a:buNone/>
            </a:pPr>
            <a:r>
              <a:rPr lang="en-US" altLang="en-US" sz="2000" dirty="0"/>
              <a:t>&lt;{b} {b} {b}&gt;, &lt;{b} {b} {a}&gt;, &lt;{b} {a} {b}&gt;, &lt;{b} {a} {a}&gt;</a:t>
            </a:r>
          </a:p>
          <a:p>
            <a:pPr marL="1143000" lvl="2" indent="-228600">
              <a:buFont typeface="Wingdings" panose="05000000000000000000" pitchFamily="2" charset="2"/>
              <a:buNone/>
            </a:pPr>
            <a:r>
              <a:rPr lang="en-US" altLang="en-US" sz="2000" dirty="0"/>
              <a:t>&lt;{a, b} {a}&gt;, &lt;{a, b} {b}&gt;, &lt;{a} {a, b}&gt;, &lt;{b} {a, b}&gt;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988E4D5-8B62-4B60-A65F-BD0B44E683C1}"/>
              </a:ext>
            </a:extLst>
          </p:cNvPr>
          <p:cNvGrpSpPr>
            <a:grpSpLocks/>
          </p:cNvGrpSpPr>
          <p:nvPr/>
        </p:nvGrpSpPr>
        <p:grpSpPr bwMode="auto">
          <a:xfrm>
            <a:off x="8305800" y="1143000"/>
            <a:ext cx="2413612" cy="1809520"/>
            <a:chOff x="7010400" y="1143000"/>
            <a:chExt cx="1295400" cy="1371600"/>
          </a:xfrm>
        </p:grpSpPr>
        <p:sp>
          <p:nvSpPr>
            <p:cNvPr id="51206" name="TextBox 2">
              <a:extLst>
                <a:ext uri="{FF2B5EF4-FFF2-40B4-BE49-F238E27FC236}">
                  <a16:creationId xmlns:a16="http://schemas.microsoft.com/office/drawing/2014/main" id="{0124C04C-E1DB-47BD-A632-B582D19A2A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7600" y="1143000"/>
              <a:ext cx="45720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FF0000"/>
                  </a:solidFill>
                </a:rPr>
                <a:t>()</a:t>
              </a:r>
            </a:p>
          </p:txBody>
        </p:sp>
        <p:sp>
          <p:nvSpPr>
            <p:cNvPr id="51207" name="TextBox 5">
              <a:extLst>
                <a:ext uri="{FF2B5EF4-FFF2-40B4-BE49-F238E27FC236}">
                  <a16:creationId xmlns:a16="http://schemas.microsoft.com/office/drawing/2014/main" id="{6EA1A892-C9A3-46A2-BA01-83A4D937FC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10400" y="1673423"/>
              <a:ext cx="45720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FF0000"/>
                  </a:solidFill>
                </a:rPr>
                <a:t>(a)</a:t>
              </a:r>
            </a:p>
          </p:txBody>
        </p:sp>
        <p:sp>
          <p:nvSpPr>
            <p:cNvPr id="51208" name="TextBox 6">
              <a:extLst>
                <a:ext uri="{FF2B5EF4-FFF2-40B4-BE49-F238E27FC236}">
                  <a16:creationId xmlns:a16="http://schemas.microsoft.com/office/drawing/2014/main" id="{E1EF5848-87EC-4165-B30A-681998060F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8600" y="1676400"/>
              <a:ext cx="45720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FF0000"/>
                  </a:solidFill>
                </a:rPr>
                <a:t>(b)</a:t>
              </a:r>
            </a:p>
          </p:txBody>
        </p:sp>
        <p:sp>
          <p:nvSpPr>
            <p:cNvPr id="51209" name="TextBox 7">
              <a:extLst>
                <a:ext uri="{FF2B5EF4-FFF2-40B4-BE49-F238E27FC236}">
                  <a16:creationId xmlns:a16="http://schemas.microsoft.com/office/drawing/2014/main" id="{350FFAC1-1234-4080-AE67-58A0FE7B9F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7600" y="2206823"/>
              <a:ext cx="60960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FF0000"/>
                  </a:solidFill>
                </a:rPr>
                <a:t>(a,b)</a:t>
              </a:r>
            </a:p>
          </p:txBody>
        </p:sp>
        <p:cxnSp>
          <p:nvCxnSpPr>
            <p:cNvPr id="51210" name="Straight Arrow Connector 4">
              <a:extLst>
                <a:ext uri="{FF2B5EF4-FFF2-40B4-BE49-F238E27FC236}">
                  <a16:creationId xmlns:a16="http://schemas.microsoft.com/office/drawing/2014/main" id="{38D933EB-F431-45CB-ADC2-F772217B208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315200" y="1450777"/>
              <a:ext cx="228599" cy="222646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211" name="Straight Arrow Connector 10">
              <a:extLst>
                <a:ext uri="{FF2B5EF4-FFF2-40B4-BE49-F238E27FC236}">
                  <a16:creationId xmlns:a16="http://schemas.microsoft.com/office/drawing/2014/main" id="{4F87CB25-E1C1-4624-B5F8-A7163BF78211}"/>
                </a:ext>
              </a:extLst>
            </p:cNvPr>
            <p:cNvCxnSpPr>
              <a:cxnSpLocks noChangeShapeType="1"/>
              <a:endCxn id="51208" idx="0"/>
            </p:cNvCxnSpPr>
            <p:nvPr/>
          </p:nvCxnSpPr>
          <p:spPr bwMode="auto">
            <a:xfrm>
              <a:off x="7772400" y="1485156"/>
              <a:ext cx="304800" cy="191244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212" name="Straight Arrow Connector 14">
              <a:extLst>
                <a:ext uri="{FF2B5EF4-FFF2-40B4-BE49-F238E27FC236}">
                  <a16:creationId xmlns:a16="http://schemas.microsoft.com/office/drawing/2014/main" id="{FEF57168-F77D-4DC8-B2B6-2E547C0823D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772400" y="1984177"/>
              <a:ext cx="228600" cy="222646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213" name="Straight Arrow Connector 15">
              <a:extLst>
                <a:ext uri="{FF2B5EF4-FFF2-40B4-BE49-F238E27FC236}">
                  <a16:creationId xmlns:a16="http://schemas.microsoft.com/office/drawing/2014/main" id="{163A4E94-D970-487D-B704-2140B05182D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315200" y="1981200"/>
              <a:ext cx="304800" cy="191244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F550BA0-F242-4E0C-904A-274230B195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5727" y="2907165"/>
            <a:ext cx="90281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latin typeface="STKaiti" panose="02010600040101010101" pitchFamily="2" charset="-122"/>
                <a:ea typeface="STKaiti" panose="02010600040101010101" pitchFamily="2" charset="-122"/>
              </a:rPr>
              <a:t>项集模式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4ABE8CC-4F22-90C2-C705-BEC2DB280738}"/>
              </a:ext>
            </a:extLst>
          </p:cNvPr>
          <p:cNvSpPr txBox="1">
            <a:spLocks noChangeArrowheads="1"/>
          </p:cNvSpPr>
          <p:nvPr/>
        </p:nvSpPr>
        <p:spPr>
          <a:xfrm>
            <a:off x="506776" y="231091"/>
            <a:ext cx="11369963" cy="73890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>
            <a:lvl1pPr marL="0" algn="ctr" defTabSz="914354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b="1" kern="1200" spc="-51" baseline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TKaiti" panose="02010600040101010101" pitchFamily="2" charset="-122"/>
                <a:ea typeface="+mj-ea"/>
                <a:cs typeface="+mj-cs"/>
              </a:defRPr>
            </a:lvl1pPr>
          </a:lstStyle>
          <a:p>
            <a:r>
              <a:rPr lang="en-US" altLang="en-US"/>
              <a:t>提取序列模式-示例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656BF-F9C0-52D6-DE91-47F7F12A1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230F2AF3-F4AD-52E5-F7AB-AA41D9255860}"/>
              </a:ext>
            </a:extLst>
          </p:cNvPr>
          <p:cNvSpPr txBox="1">
            <a:spLocks noChangeArrowheads="1"/>
          </p:cNvSpPr>
          <p:nvPr/>
        </p:nvSpPr>
        <p:spPr>
          <a:xfrm>
            <a:off x="506776" y="231091"/>
            <a:ext cx="11369963" cy="73890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>
            <a:lvl1pPr marL="0" algn="ctr" defTabSz="914354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b="1" kern="1200" spc="-51" baseline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TKaiti" panose="02010600040101010101" pitchFamily="2" charset="-122"/>
                <a:ea typeface="+mj-ea"/>
                <a:cs typeface="+mj-cs"/>
              </a:defRPr>
            </a:lvl1pPr>
          </a:lstStyle>
          <a:p>
            <a:r>
              <a:rPr lang="en-US" altLang="en-US"/>
              <a:t>提取序列模式-示例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38635B-6878-928B-12F8-1618402F0451}"/>
              </a:ext>
            </a:extLst>
          </p:cNvPr>
          <p:cNvSpPr txBox="1"/>
          <p:nvPr/>
        </p:nvSpPr>
        <p:spPr>
          <a:xfrm>
            <a:off x="754655" y="1508866"/>
            <a:ext cx="316734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ts val="1000"/>
              <a:tabLst>
                <a:tab pos="457200" algn="l"/>
              </a:tabLst>
            </a:pPr>
            <a:r>
              <a:rPr lang="en-US" altLang="ko-KR" sz="2000" dirty="0">
                <a:effectLst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U1: </a:t>
            </a:r>
            <a:r>
              <a:rPr lang="en-US" altLang="ko-KR" sz="2000" dirty="0">
                <a:effectLst/>
                <a:latin typeface="Cambria Math" panose="02040503050406030204" pitchFamily="18" charset="0"/>
                <a:ea typeface="굴림" panose="020B0600000101010101" pitchFamily="50" charset="-127"/>
                <a:cs typeface="Cambria Math" panose="02040503050406030204" pitchFamily="18" charset="0"/>
              </a:rPr>
              <a:t>⟨</a:t>
            </a:r>
            <a:r>
              <a:rPr lang="en-US" altLang="ko-KR" sz="2000" dirty="0">
                <a:effectLst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{a}, {b}, {c} </a:t>
            </a:r>
            <a:r>
              <a:rPr lang="en-US" altLang="ko-KR" sz="2000" dirty="0">
                <a:effectLst/>
                <a:latin typeface="Cambria Math" panose="02040503050406030204" pitchFamily="18" charset="0"/>
                <a:ea typeface="굴림" panose="020B0600000101010101" pitchFamily="50" charset="-127"/>
                <a:cs typeface="Cambria Math" panose="02040503050406030204" pitchFamily="18" charset="0"/>
              </a:rPr>
              <a:t>⟩</a:t>
            </a:r>
            <a:endParaRPr lang="ko-KR" altLang="ko-KR" sz="2000" dirty="0">
              <a:effectLst/>
              <a:latin typeface="굴림" panose="020B0600000101010101" pitchFamily="50" charset="-127"/>
              <a:ea typeface="굴림" panose="020B0600000101010101" pitchFamily="50" charset="-127"/>
              <a:cs typeface="굴림" panose="020B0600000101010101" pitchFamily="50" charset="-127"/>
            </a:endParaRPr>
          </a:p>
          <a:p>
            <a:pPr lvl="0">
              <a:buSzPts val="1000"/>
              <a:tabLst>
                <a:tab pos="457200" algn="l"/>
              </a:tabLst>
            </a:pPr>
            <a:r>
              <a:rPr lang="en-US" altLang="ko-KR" sz="2000" dirty="0">
                <a:effectLst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U2: </a:t>
            </a:r>
            <a:r>
              <a:rPr lang="en-US" altLang="ko-KR" sz="2000" dirty="0">
                <a:effectLst/>
                <a:latin typeface="Cambria Math" panose="02040503050406030204" pitchFamily="18" charset="0"/>
                <a:ea typeface="굴림" panose="020B0600000101010101" pitchFamily="50" charset="-127"/>
                <a:cs typeface="Cambria Math" panose="02040503050406030204" pitchFamily="18" charset="0"/>
              </a:rPr>
              <a:t>⟨</a:t>
            </a:r>
            <a:r>
              <a:rPr lang="en-US" altLang="ko-KR" sz="2000" dirty="0">
                <a:effectLst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{a}, {c} </a:t>
            </a:r>
            <a:r>
              <a:rPr lang="en-US" altLang="ko-KR" sz="2000" dirty="0">
                <a:effectLst/>
                <a:latin typeface="Cambria Math" panose="02040503050406030204" pitchFamily="18" charset="0"/>
                <a:ea typeface="굴림" panose="020B0600000101010101" pitchFamily="50" charset="-127"/>
                <a:cs typeface="Cambria Math" panose="02040503050406030204" pitchFamily="18" charset="0"/>
              </a:rPr>
              <a:t>⟩</a:t>
            </a:r>
            <a:endParaRPr lang="ko-KR" altLang="ko-KR" sz="2000" dirty="0">
              <a:effectLst/>
              <a:latin typeface="굴림" panose="020B0600000101010101" pitchFamily="50" charset="-127"/>
              <a:ea typeface="굴림" panose="020B0600000101010101" pitchFamily="50" charset="-127"/>
              <a:cs typeface="굴림" panose="020B0600000101010101" pitchFamily="50" charset="-127"/>
            </a:endParaRPr>
          </a:p>
          <a:p>
            <a:pPr lvl="0">
              <a:buSzPts val="1000"/>
              <a:tabLst>
                <a:tab pos="457200" algn="l"/>
              </a:tabLst>
            </a:pPr>
            <a:r>
              <a:rPr lang="en-US" altLang="ko-KR" sz="2000" dirty="0">
                <a:effectLst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U3: </a:t>
            </a:r>
            <a:r>
              <a:rPr lang="en-US" altLang="ko-KR" sz="2000" dirty="0">
                <a:effectLst/>
                <a:latin typeface="Cambria Math" panose="02040503050406030204" pitchFamily="18" charset="0"/>
                <a:ea typeface="굴림" panose="020B0600000101010101" pitchFamily="50" charset="-127"/>
                <a:cs typeface="Cambria Math" panose="02040503050406030204" pitchFamily="18" charset="0"/>
              </a:rPr>
              <a:t>⟨</a:t>
            </a:r>
            <a:r>
              <a:rPr lang="en-US" altLang="ko-KR" sz="2000" dirty="0">
                <a:effectLst/>
                <a:latin typeface="굴림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{a}, {b}, {d} </a:t>
            </a:r>
            <a:r>
              <a:rPr lang="en-US" altLang="ko-KR" sz="2000" dirty="0">
                <a:effectLst/>
                <a:latin typeface="Cambria Math" panose="02040503050406030204" pitchFamily="18" charset="0"/>
                <a:ea typeface="굴림" panose="020B0600000101010101" pitchFamily="50" charset="-127"/>
                <a:cs typeface="Cambria Math" panose="02040503050406030204" pitchFamily="18" charset="0"/>
              </a:rPr>
              <a:t>⟩</a:t>
            </a:r>
            <a:endParaRPr lang="ko-KR" altLang="ko-KR" sz="2000" dirty="0">
              <a:effectLst/>
              <a:latin typeface="굴림" panose="020B0600000101010101" pitchFamily="50" charset="-127"/>
              <a:ea typeface="굴림" panose="020B0600000101010101" pitchFamily="50" charset="-127"/>
              <a:cs typeface="굴림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D6B6AC-EBC2-8643-AECD-70B949A9FD8F}"/>
              </a:ext>
            </a:extLst>
          </p:cNvPr>
          <p:cNvSpPr txBox="1"/>
          <p:nvPr/>
        </p:nvSpPr>
        <p:spPr>
          <a:xfrm>
            <a:off x="754655" y="3151664"/>
            <a:ext cx="6114360" cy="1783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000" dirty="0" err="1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minsup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 = 2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endParaRPr lang="ko-KR" altLang="ko-KR" sz="20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子序列 </a:t>
            </a:r>
            <a:r>
              <a:rPr lang="en-US" altLang="ko-KR" sz="2000" dirty="0">
                <a:effectLst/>
                <a:latin typeface="Cambria Math" panose="02040503050406030204" pitchFamily="18" charset="0"/>
                <a:ea typeface="KaiTi" panose="02010609060101010101" pitchFamily="49" charset="-122"/>
                <a:cs typeface="Cambria Math" panose="02040503050406030204" pitchFamily="18" charset="0"/>
              </a:rPr>
              <a:t>⟨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{a}{b}</a:t>
            </a:r>
            <a:r>
              <a:rPr lang="en-US" altLang="ko-KR" sz="2000" dirty="0">
                <a:effectLst/>
                <a:latin typeface="Cambria Math" panose="02040503050406030204" pitchFamily="18" charset="0"/>
                <a:ea typeface="KaiTi" panose="02010609060101010101" pitchFamily="49" charset="-122"/>
                <a:cs typeface="Cambria Math" panose="02040503050406030204" pitchFamily="18" charset="0"/>
              </a:rPr>
              <a:t>⟩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出现在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 U1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U3 → 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支持度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=2 </a:t>
            </a:r>
            <a:endParaRPr lang="ko-KR" altLang="ko-KR" sz="20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子序列 </a:t>
            </a:r>
            <a:r>
              <a:rPr lang="en-US" altLang="ko-KR" sz="2000" dirty="0">
                <a:effectLst/>
                <a:latin typeface="Cambria Math" panose="02040503050406030204" pitchFamily="18" charset="0"/>
                <a:ea typeface="KaiTi" panose="02010609060101010101" pitchFamily="49" charset="-122"/>
                <a:cs typeface="Cambria Math" panose="02040503050406030204" pitchFamily="18" charset="0"/>
              </a:rPr>
              <a:t>⟨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{a}{c}</a:t>
            </a:r>
            <a:r>
              <a:rPr lang="en-US" altLang="ko-KR" sz="2000" dirty="0">
                <a:effectLst/>
                <a:latin typeface="Cambria Math" panose="02040503050406030204" pitchFamily="18" charset="0"/>
                <a:ea typeface="KaiTi" panose="02010609060101010101" pitchFamily="49" charset="-122"/>
                <a:cs typeface="Cambria Math" panose="02040503050406030204" pitchFamily="18" charset="0"/>
              </a:rPr>
              <a:t>⟩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出现在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 U1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U2 → 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支持度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=2 </a:t>
            </a:r>
            <a:endParaRPr lang="ko-KR" altLang="ko-KR" sz="20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子序列 </a:t>
            </a:r>
            <a:r>
              <a:rPr lang="en-US" altLang="ko-KR" sz="2000" dirty="0">
                <a:effectLst/>
                <a:latin typeface="Cambria Math" panose="02040503050406030204" pitchFamily="18" charset="0"/>
                <a:ea typeface="KaiTi" panose="02010609060101010101" pitchFamily="49" charset="-122"/>
                <a:cs typeface="Cambria Math" panose="02040503050406030204" pitchFamily="18" charset="0"/>
              </a:rPr>
              <a:t>⟨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{b}{c}</a:t>
            </a:r>
            <a:r>
              <a:rPr lang="en-US" altLang="ko-KR" sz="2000" dirty="0">
                <a:effectLst/>
                <a:latin typeface="Cambria Math" panose="02040503050406030204" pitchFamily="18" charset="0"/>
                <a:ea typeface="KaiTi" panose="02010609060101010101" pitchFamily="49" charset="-122"/>
                <a:cs typeface="Cambria Math" panose="02040503050406030204" pitchFamily="18" charset="0"/>
              </a:rPr>
              <a:t>⟩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出现在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 U1 → 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支持度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=1 </a:t>
            </a:r>
            <a:endParaRPr lang="ko-KR" altLang="ko-KR" sz="20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37ED7C-CCD0-2E2C-F644-CDECF1E84D45}"/>
              </a:ext>
            </a:extLst>
          </p:cNvPr>
          <p:cNvSpPr txBox="1"/>
          <p:nvPr/>
        </p:nvSpPr>
        <p:spPr>
          <a:xfrm>
            <a:off x="3922004" y="5561851"/>
            <a:ext cx="7757711" cy="707886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zh-CN" altLang="ko-KR" sz="2000" dirty="0">
                <a:effectLst/>
                <a:ea typeface="KaiTi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zh-CN" altLang="ko-KR" sz="2000" dirty="0">
                <a:effectLst/>
                <a:ea typeface="KaiTi" panose="02010609060101010101" pitchFamily="49" charset="-122"/>
                <a:cs typeface="Microsoft YaHei" panose="020B0503020204020204" pitchFamily="34" charset="-122"/>
              </a:rPr>
              <a:t>频</a:t>
            </a:r>
            <a:r>
              <a:rPr lang="zh-CN" altLang="ko-KR" sz="2000" dirty="0">
                <a:effectLst/>
                <a:ea typeface="KaiTi" panose="02010609060101010101" pitchFamily="49" charset="-122"/>
                <a:cs typeface="맑은 고딕" panose="020B0503020000020004" pitchFamily="50" charset="-127"/>
              </a:rPr>
              <a:t>繁</a:t>
            </a:r>
            <a:r>
              <a:rPr lang="zh-CN" altLang="ko-KR" sz="2000" dirty="0">
                <a:effectLst/>
                <a:ea typeface="KaiTi" panose="02010609060101010101" pitchFamily="49" charset="-122"/>
                <a:cs typeface="Microsoft YaHei" panose="020B0503020204020204" pitchFamily="34" charset="-122"/>
              </a:rPr>
              <a:t>项</a:t>
            </a:r>
            <a:r>
              <a:rPr lang="zh-CN" altLang="ko-KR" sz="2000" dirty="0">
                <a:effectLst/>
                <a:ea typeface="KaiTi" panose="02010609060101010101" pitchFamily="49" charset="-122"/>
                <a:cs typeface="맑은 고딕" panose="020B0503020000020004" pitchFamily="50" charset="-127"/>
              </a:rPr>
              <a:t>集里，支持度是</a:t>
            </a:r>
            <a:r>
              <a:rPr lang="en-US" altLang="ko-KR" sz="2000" dirty="0">
                <a:effectLst/>
                <a:latin typeface="KaiTi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ko-KR" sz="2000" dirty="0">
                <a:effectLst/>
                <a:ea typeface="KaiTi" panose="02010609060101010101" pitchFamily="49" charset="-122"/>
                <a:cs typeface="Microsoft YaHei" panose="020B0503020204020204" pitchFamily="34" charset="-122"/>
              </a:rPr>
              <a:t>项</a:t>
            </a:r>
            <a:r>
              <a:rPr lang="zh-CN" altLang="ko-KR" sz="2000" dirty="0">
                <a:effectLst/>
                <a:ea typeface="KaiTi" panose="02010609060101010101" pitchFamily="49" charset="-122"/>
                <a:cs typeface="맑은 고딕" panose="020B0503020000020004" pitchFamily="50" charset="-127"/>
              </a:rPr>
              <a:t>集出</a:t>
            </a:r>
            <a:r>
              <a:rPr lang="zh-CN" altLang="ko-KR" sz="2000" dirty="0">
                <a:effectLst/>
                <a:ea typeface="KaiTi" panose="02010609060101010101" pitchFamily="49" charset="-122"/>
                <a:cs typeface="Microsoft YaHei" panose="020B0503020204020204" pitchFamily="34" charset="-122"/>
              </a:rPr>
              <a:t>现</a:t>
            </a:r>
            <a:r>
              <a:rPr lang="zh-CN" altLang="ko-KR" sz="2000" dirty="0">
                <a:effectLst/>
                <a:ea typeface="KaiTi" panose="02010609060101010101" pitchFamily="49" charset="-122"/>
                <a:cs typeface="맑은 고딕" panose="020B0503020000020004" pitchFamily="50" charset="-127"/>
              </a:rPr>
              <a:t>在多少事</a:t>
            </a:r>
            <a:r>
              <a:rPr lang="zh-CN" altLang="ko-KR" sz="2000" dirty="0">
                <a:effectLst/>
                <a:ea typeface="KaiTi" panose="02010609060101010101" pitchFamily="49" charset="-122"/>
                <a:cs typeface="Microsoft YaHei" panose="020B0503020204020204" pitchFamily="34" charset="-122"/>
              </a:rPr>
              <a:t>务</a:t>
            </a:r>
            <a:r>
              <a:rPr lang="zh-CN" altLang="ko-KR" sz="2000" dirty="0">
                <a:effectLst/>
                <a:ea typeface="KaiTi" panose="02010609060101010101" pitchFamily="49" charset="-122"/>
                <a:cs typeface="맑은 고딕" panose="020B0503020000020004" pitchFamily="50" charset="-127"/>
              </a:rPr>
              <a:t>中</a:t>
            </a:r>
            <a:r>
              <a:rPr lang="en-US" altLang="ko-KR" sz="2000" dirty="0">
                <a:effectLst/>
                <a:latin typeface="KaiTi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ko-KR" sz="2000" dirty="0">
                <a:effectLst/>
                <a:ea typeface="KaiTi" panose="02010609060101010101" pitchFamily="49" charset="-122"/>
                <a:cs typeface="Times New Roman" panose="02020603050405020304" pitchFamily="18" charset="0"/>
              </a:rPr>
              <a:t>；</a:t>
            </a:r>
            <a:br>
              <a:rPr lang="en-US" altLang="ko-KR" sz="2000" dirty="0">
                <a:effectLst/>
                <a:latin typeface="KaiTi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ko-KR" sz="2000" dirty="0">
                <a:effectLst/>
                <a:ea typeface="KaiTi" panose="02010609060101010101" pitchFamily="49" charset="-122"/>
                <a:cs typeface="Times New Roman" panose="02020603050405020304" pitchFamily="18" charset="0"/>
              </a:rPr>
              <a:t>在序列模式里，支持度是</a:t>
            </a:r>
            <a:r>
              <a:rPr lang="en-US" altLang="ko-KR" sz="2000" dirty="0">
                <a:effectLst/>
                <a:latin typeface="KaiTi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ko-KR" sz="2000" dirty="0">
                <a:effectLst/>
                <a:ea typeface="KaiTi" panose="02010609060101010101" pitchFamily="49" charset="-122"/>
                <a:cs typeface="Times New Roman" panose="02020603050405020304" pitchFamily="18" charset="0"/>
              </a:rPr>
              <a:t>子序列出</a:t>
            </a:r>
            <a:r>
              <a:rPr lang="zh-CN" altLang="ko-KR" sz="2000" dirty="0">
                <a:effectLst/>
                <a:ea typeface="KaiTi" panose="02010609060101010101" pitchFamily="49" charset="-122"/>
                <a:cs typeface="Microsoft YaHei" panose="020B0503020204020204" pitchFamily="34" charset="-122"/>
              </a:rPr>
              <a:t>现</a:t>
            </a:r>
            <a:r>
              <a:rPr lang="zh-CN" altLang="ko-KR" sz="2000" dirty="0">
                <a:effectLst/>
                <a:ea typeface="KaiTi" panose="02010609060101010101" pitchFamily="49" charset="-122"/>
                <a:cs typeface="맑은 고딕" panose="020B0503020000020004" pitchFamily="50" charset="-127"/>
              </a:rPr>
              <a:t>在多少</a:t>
            </a:r>
            <a:r>
              <a:rPr lang="zh-CN" altLang="ko-KR" sz="2000" dirty="0">
                <a:effectLst/>
                <a:ea typeface="KaiTi" panose="02010609060101010101" pitchFamily="49" charset="-122"/>
                <a:cs typeface="Microsoft YaHei" panose="020B0503020204020204" pitchFamily="34" charset="-122"/>
              </a:rPr>
              <a:t>个</a:t>
            </a:r>
            <a:r>
              <a:rPr lang="zh-CN" altLang="ko-KR" sz="2000" dirty="0">
                <a:effectLst/>
                <a:ea typeface="KaiTi" panose="02010609060101010101" pitchFamily="49" charset="-122"/>
                <a:cs typeface="맑은 고딕" panose="020B0503020000020004" pitchFamily="50" charset="-127"/>
              </a:rPr>
              <a:t>序列中</a:t>
            </a:r>
            <a:r>
              <a:rPr lang="en-US" altLang="ko-KR" sz="2000" dirty="0">
                <a:effectLst/>
                <a:latin typeface="KaiTi" panose="02010609060101010101" pitchFamily="49" charset="-122"/>
                <a:cs typeface="Times New Roman" panose="02020603050405020304" pitchFamily="18" charset="0"/>
              </a:rPr>
              <a:t>”</a:t>
            </a:r>
            <a:endParaRPr lang="ko-KR" altLang="en-US" dirty="0"/>
          </a:p>
        </p:txBody>
      </p:sp>
      <p:pic>
        <p:nvPicPr>
          <p:cNvPr id="15" name="그래픽 14" descr="느낌표 단색으로 채워진">
            <a:extLst>
              <a:ext uri="{FF2B5EF4-FFF2-40B4-BE49-F238E27FC236}">
                <a16:creationId xmlns:a16="http://schemas.microsoft.com/office/drawing/2014/main" id="{092EF441-0023-51CF-D6E0-7A856370AF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76332" y="5561851"/>
            <a:ext cx="714261" cy="71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52039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9A2ED355-9E57-4115-99B4-CA38C538CD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通用序列模式（GSP</a:t>
            </a:r>
            <a:r>
              <a:rPr lang="en-US" altLang="en-US" dirty="0"/>
              <a:t>）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3D86F7F5-2A25-4244-BBF4-FE3E75D727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lnSpc>
                <a:spcPct val="80000"/>
              </a:lnSpc>
            </a:pPr>
            <a:r>
              <a:rPr lang="en-US" altLang="en-US" sz="2000" b="1" dirty="0"/>
              <a:t>步骤1</a:t>
            </a:r>
            <a:r>
              <a:rPr lang="en-US" altLang="en-US" sz="2000" dirty="0"/>
              <a:t>： </a:t>
            </a:r>
          </a:p>
          <a:p>
            <a:pPr marL="742950" lvl="1" indent="-285750">
              <a:lnSpc>
                <a:spcPct val="80000"/>
              </a:lnSpc>
            </a:pPr>
            <a:r>
              <a:rPr lang="en-US" altLang="en-US" sz="1800" dirty="0"/>
              <a:t>对序列数据库D进行第一次扫描，以获取所有1元频繁序列</a:t>
            </a:r>
          </a:p>
          <a:p>
            <a:pPr lvl="4">
              <a:lnSpc>
                <a:spcPct val="80000"/>
              </a:lnSpc>
            </a:pPr>
            <a:endParaRPr lang="en-US" altLang="en-US" sz="800" dirty="0"/>
          </a:p>
          <a:p>
            <a:pPr marL="342900" indent="-342900">
              <a:lnSpc>
                <a:spcPct val="80000"/>
              </a:lnSpc>
            </a:pPr>
            <a:r>
              <a:rPr lang="en-US" altLang="en-US" sz="2000" b="1" dirty="0"/>
              <a:t>步骤2</a:t>
            </a:r>
            <a:r>
              <a:rPr lang="en-US" altLang="en-US" sz="2000" dirty="0"/>
              <a:t>： </a:t>
            </a:r>
          </a:p>
          <a:p>
            <a:pPr lvl="4">
              <a:lnSpc>
                <a:spcPct val="80000"/>
              </a:lnSpc>
            </a:pPr>
            <a:endParaRPr lang="en-US" altLang="en-US" sz="800" dirty="0"/>
          </a:p>
          <a:p>
            <a:pPr marL="342900" indent="-342900">
              <a:lnSpc>
                <a:spcPct val="80000"/>
              </a:lnSpc>
              <a:buNone/>
            </a:pPr>
            <a:r>
              <a:rPr lang="en-US" altLang="en-US" sz="2000" dirty="0"/>
              <a:t>	</a:t>
            </a:r>
            <a:r>
              <a:rPr lang="en-US" altLang="en-US" sz="2000" dirty="0" err="1"/>
              <a:t>重复上述步骤，直至不再发现新的频繁序列</a:t>
            </a:r>
            <a:endParaRPr lang="en-US" altLang="en-US" sz="2000" dirty="0"/>
          </a:p>
          <a:p>
            <a:pPr marL="742950" lvl="1" indent="-285750">
              <a:lnSpc>
                <a:spcPct val="80000"/>
              </a:lnSpc>
            </a:pPr>
            <a:r>
              <a:rPr lang="en-US" altLang="en-US" sz="1800" b="1" dirty="0" err="1"/>
              <a:t>候选序列生成</a:t>
            </a:r>
            <a:r>
              <a:rPr lang="en-US" altLang="en-US" sz="1800" dirty="0"/>
              <a:t>： </a:t>
            </a:r>
          </a:p>
          <a:p>
            <a:pPr marL="1143000" lvl="2" indent="-228600">
              <a:lnSpc>
                <a:spcPct val="80000"/>
              </a:lnSpc>
            </a:pPr>
            <a:r>
              <a:rPr lang="en-US" altLang="en-US" sz="1600" i="1" dirty="0" err="1"/>
              <a:t>将第</a:t>
            </a:r>
            <a:r>
              <a:rPr lang="en-US" altLang="en-US" sz="1600" dirty="0"/>
              <a:t> (k-1) </a:t>
            </a:r>
            <a:r>
              <a:rPr lang="en-US" altLang="en-US" sz="1600" dirty="0" err="1"/>
              <a:t>次遍历中找到的频繁子序列成对合并，生成包含</a:t>
            </a:r>
            <a:r>
              <a:rPr lang="en-US" altLang="en-US" sz="1600" dirty="0"/>
              <a:t> k </a:t>
            </a:r>
            <a:r>
              <a:rPr lang="en-US" altLang="en-US" sz="1600" dirty="0" err="1"/>
              <a:t>个元素的候选序列</a:t>
            </a:r>
            <a:r>
              <a:rPr lang="en-US" altLang="en-US" sz="1600" dirty="0"/>
              <a:t> </a:t>
            </a:r>
          </a:p>
          <a:p>
            <a:pPr lvl="4">
              <a:lnSpc>
                <a:spcPct val="80000"/>
              </a:lnSpc>
            </a:pPr>
            <a:endParaRPr lang="en-US" altLang="en-US" sz="700" dirty="0"/>
          </a:p>
          <a:p>
            <a:pPr marL="742950" lvl="1" indent="-285750">
              <a:lnSpc>
                <a:spcPct val="80000"/>
              </a:lnSpc>
            </a:pPr>
            <a:r>
              <a:rPr lang="en-US" altLang="en-US" sz="1800" b="1" dirty="0" err="1"/>
              <a:t>候选序列剪枝</a:t>
            </a:r>
            <a:r>
              <a:rPr lang="en-US" altLang="en-US" sz="1800" dirty="0"/>
              <a:t>：</a:t>
            </a:r>
          </a:p>
          <a:p>
            <a:pPr marL="1143000" lvl="2" indent="-228600">
              <a:lnSpc>
                <a:spcPct val="80000"/>
              </a:lnSpc>
            </a:pPr>
            <a:r>
              <a:rPr lang="en-US" altLang="en-US" sz="1600" dirty="0" err="1"/>
              <a:t>剪枝包含低频</a:t>
            </a:r>
            <a:r>
              <a:rPr lang="en-US" altLang="en-US" sz="1600" dirty="0"/>
              <a:t> (</a:t>
            </a:r>
            <a:r>
              <a:rPr lang="en-US" altLang="en-US" sz="1600" i="1" dirty="0"/>
              <a:t>k-1)</a:t>
            </a:r>
            <a:r>
              <a:rPr lang="en-US" altLang="en-US" sz="1600" dirty="0"/>
              <a:t> </a:t>
            </a:r>
            <a:r>
              <a:rPr lang="en-US" altLang="en-US" sz="1600" dirty="0" err="1"/>
              <a:t>子序列的候选</a:t>
            </a:r>
            <a:r>
              <a:rPr lang="en-US" altLang="en-US" sz="1600" dirty="0"/>
              <a:t> k-</a:t>
            </a:r>
            <a:r>
              <a:rPr lang="en-US" altLang="en-US" sz="1600" dirty="0" err="1"/>
              <a:t>序列</a:t>
            </a:r>
            <a:endParaRPr lang="en-US" altLang="en-US" sz="1600" dirty="0"/>
          </a:p>
          <a:p>
            <a:pPr lvl="4">
              <a:lnSpc>
                <a:spcPct val="80000"/>
              </a:lnSpc>
            </a:pPr>
            <a:endParaRPr lang="en-US" altLang="en-US" sz="700" dirty="0"/>
          </a:p>
          <a:p>
            <a:pPr marL="742950" lvl="1" indent="-285750">
              <a:lnSpc>
                <a:spcPct val="80000"/>
              </a:lnSpc>
            </a:pPr>
            <a:r>
              <a:rPr lang="en-US" altLang="en-US" sz="1800" b="1" dirty="0" err="1"/>
              <a:t>支持计数</a:t>
            </a:r>
            <a:r>
              <a:rPr lang="en-US" altLang="en-US" sz="1800" dirty="0"/>
              <a:t>：</a:t>
            </a:r>
          </a:p>
          <a:p>
            <a:pPr marL="1143000" lvl="2" indent="-228600">
              <a:lnSpc>
                <a:spcPct val="80000"/>
              </a:lnSpc>
            </a:pPr>
            <a:r>
              <a:rPr lang="en-US" altLang="en-US" sz="1600" dirty="0" err="1"/>
              <a:t>对序列数据库D进行新一轮扫描，统计这些候选序列的支持度</a:t>
            </a:r>
            <a:endParaRPr lang="en-US" altLang="en-US" sz="1600" dirty="0"/>
          </a:p>
          <a:p>
            <a:pPr lvl="4">
              <a:lnSpc>
                <a:spcPct val="80000"/>
              </a:lnSpc>
            </a:pPr>
            <a:endParaRPr lang="en-US" altLang="en-US" sz="700" dirty="0"/>
          </a:p>
          <a:p>
            <a:pPr marL="742950" lvl="1" indent="-285750">
              <a:lnSpc>
                <a:spcPct val="80000"/>
              </a:lnSpc>
            </a:pPr>
            <a:r>
              <a:rPr lang="en-US" altLang="en-US" sz="1800" b="1" dirty="0" err="1"/>
              <a:t>候选序列消除</a:t>
            </a:r>
            <a:r>
              <a:rPr lang="en-US" altLang="en-US" sz="1800" dirty="0"/>
              <a:t>：</a:t>
            </a:r>
          </a:p>
          <a:p>
            <a:pPr marL="1143000" lvl="2" indent="-228600">
              <a:lnSpc>
                <a:spcPct val="80000"/>
              </a:lnSpc>
            </a:pPr>
            <a:r>
              <a:rPr lang="en-US" altLang="en-US" sz="1600" dirty="0" err="1"/>
              <a:t>消除实际支持度小于最小支持度（</a:t>
            </a:r>
            <a:r>
              <a:rPr lang="en-US" altLang="en-US" sz="1600" i="1" dirty="0" err="1"/>
              <a:t>minsup）</a:t>
            </a:r>
            <a:r>
              <a:rPr lang="en-US" altLang="en-US" sz="1600" dirty="0" err="1"/>
              <a:t>的候选k-序列</a:t>
            </a:r>
            <a:endParaRPr lang="en-US" altLang="en-US" sz="16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CD297-6082-6021-8C7B-DA5A2BFBB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5F067C55-F55F-DA18-99AC-9956193BE1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Candidate Generation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9FBC99F8-6A11-85E2-1F37-E6C8F1F11E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031" y="1088834"/>
            <a:ext cx="10939749" cy="1621316"/>
          </a:xfrm>
        </p:spPr>
        <p:txBody>
          <a:bodyPr/>
          <a:lstStyle/>
          <a:p>
            <a:r>
              <a:rPr lang="en-US" altLang="en-US" sz="2000" dirty="0" err="1">
                <a:latin typeface="KaiTi" panose="02010609060101010101" pitchFamily="49" charset="-122"/>
                <a:ea typeface="KaiTi" panose="02010609060101010101" pitchFamily="49" charset="-122"/>
              </a:rPr>
              <a:t>基础案例（k</a:t>
            </a: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=2）： </a:t>
            </a:r>
          </a:p>
          <a:p>
            <a:pPr lvl="1"/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合并两个频繁</a:t>
            </a:r>
            <a:r>
              <a:rPr lang="en-US" altLang="zh-CN" sz="20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序列 &lt;{i</a:t>
            </a:r>
            <a:r>
              <a:rPr lang="en-US" altLang="en-US" sz="2000" baseline="-250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}&gt;  和</a:t>
            </a:r>
            <a:r>
              <a:rPr lang="zh-CN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 &lt;{i</a:t>
            </a:r>
            <a:r>
              <a:rPr lang="en-US" altLang="en-US" sz="2000" baseline="-250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}&gt;</a:t>
            </a:r>
            <a:r>
              <a:rPr lang="zh-CN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 将产生以下候选</a:t>
            </a:r>
            <a:r>
              <a:rPr lang="en-US" altLang="zh-CN" sz="2000" dirty="0">
                <a:latin typeface="KaiTi" panose="02010609060101010101" pitchFamily="49" charset="-122"/>
                <a:ea typeface="KaiTi" panose="02010609060101010101" pitchFamily="49" charset="-122"/>
              </a:rPr>
              <a:t>2-</a:t>
            </a:r>
            <a:r>
              <a:rPr lang="zh-CN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序列</a:t>
            </a: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: </a:t>
            </a:r>
          </a:p>
          <a:p>
            <a:pPr lvl="2"/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&lt;{i</a:t>
            </a:r>
            <a:r>
              <a:rPr lang="en-US" altLang="en-US" sz="2000" baseline="-250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} {i</a:t>
            </a:r>
            <a:r>
              <a:rPr lang="en-US" altLang="en-US" sz="2000" baseline="-250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}&gt;, &lt;{i</a:t>
            </a:r>
            <a:r>
              <a:rPr lang="en-US" altLang="en-US" sz="2000" baseline="-250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} {i</a:t>
            </a:r>
            <a:r>
              <a:rPr lang="en-US" altLang="en-US" sz="2000" baseline="-250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}&gt;, (</a:t>
            </a:r>
            <a:r>
              <a:rPr lang="en-US" altLang="en-US" sz="2000" b="1" dirty="0">
                <a:latin typeface="KaiTi" panose="02010609060101010101" pitchFamily="49" charset="-122"/>
                <a:ea typeface="KaiTi" panose="02010609060101010101" pitchFamily="49" charset="-122"/>
              </a:rPr>
              <a:t>Note</a:t>
            </a: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: &lt;{i</a:t>
            </a:r>
            <a:r>
              <a:rPr lang="en-US" altLang="en-US" sz="2000" baseline="-250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}&gt;</a:t>
            </a:r>
            <a:r>
              <a:rPr lang="zh-CN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可与自身合并生成</a:t>
            </a: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: &lt;{i</a:t>
            </a:r>
            <a:r>
              <a:rPr lang="en-US" altLang="en-US" sz="2000" baseline="-250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} {i</a:t>
            </a:r>
            <a:r>
              <a:rPr lang="en-US" altLang="en-US" sz="2000" baseline="-250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}&gt;)</a:t>
            </a:r>
          </a:p>
          <a:p>
            <a:pPr lvl="2"/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&lt;{i</a:t>
            </a:r>
            <a:r>
              <a:rPr lang="en-US" altLang="en-US" sz="2000" baseline="-250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} {i</a:t>
            </a:r>
            <a:r>
              <a:rPr lang="en-US" altLang="en-US" sz="2000" baseline="-250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}&gt;, &lt;{i</a:t>
            </a:r>
            <a:r>
              <a:rPr lang="en-US" altLang="en-US" sz="2000" baseline="-250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} {i</a:t>
            </a:r>
            <a:r>
              <a:rPr lang="en-US" altLang="en-US" sz="2000" baseline="-250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}&gt; 和 &lt;{i</a:t>
            </a:r>
            <a:r>
              <a:rPr lang="en-US" altLang="en-US" sz="2000" baseline="-25000" dirty="0">
                <a:latin typeface="KaiTi" panose="02010609060101010101" pitchFamily="49" charset="-122"/>
                <a:ea typeface="KaiTi" panose="02010609060101010101" pitchFamily="49" charset="-122"/>
              </a:rPr>
              <a:t>1 </a:t>
            </a: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i</a:t>
            </a:r>
            <a:r>
              <a:rPr lang="en-US" altLang="en-US" sz="2000" baseline="-250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}&gt;. </a:t>
            </a:r>
          </a:p>
          <a:p>
            <a:pPr lvl="4"/>
            <a:endParaRPr lang="en-US" altLang="en-US" sz="20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695DC-8FB6-9D81-2B73-9CFB52A9D8DB}"/>
              </a:ext>
            </a:extLst>
          </p:cNvPr>
          <p:cNvSpPr txBox="1"/>
          <p:nvPr/>
        </p:nvSpPr>
        <p:spPr>
          <a:xfrm>
            <a:off x="566031" y="2816365"/>
            <a:ext cx="11059937" cy="3601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54">
              <a:spcBef>
                <a:spcPts val="600"/>
              </a:spcBef>
              <a:buSzPct val="80000"/>
            </a:pPr>
            <a:r>
              <a:rPr lang="zh-CN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一般情况（</a:t>
            </a:r>
            <a:r>
              <a:rPr lang="en-US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k &gt; 2</a:t>
            </a:r>
            <a:r>
              <a:rPr lang="zh-CN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）</a:t>
            </a:r>
            <a:endParaRPr lang="ko-KR" altLang="ko-KR" sz="2000" dirty="0">
              <a:latin typeface="KaiTi" panose="02010609060101010101" pitchFamily="49" charset="-122"/>
            </a:endParaRPr>
          </a:p>
          <a:p>
            <a:pPr marL="342900" lvl="0" indent="-342900" defTabSz="914354">
              <a:spcBef>
                <a:spcPts val="600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q"/>
            </a:pPr>
            <a:r>
              <a:rPr lang="zh-CN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给定两个频繁</a:t>
            </a:r>
            <a:r>
              <a:rPr lang="en-US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 (k-1)-</a:t>
            </a:r>
            <a:r>
              <a:rPr lang="zh-CN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序列</a:t>
            </a:r>
            <a:r>
              <a:rPr lang="en-US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 w1 </a:t>
            </a:r>
            <a:r>
              <a:rPr lang="zh-CN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和</a:t>
            </a:r>
            <a:r>
              <a:rPr lang="en-US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 w2</a:t>
            </a:r>
            <a:r>
              <a:rPr lang="zh-CN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，如果满足条件，就可以生成一个候选</a:t>
            </a:r>
            <a:r>
              <a:rPr lang="en-US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 k-</a:t>
            </a:r>
            <a:r>
              <a:rPr lang="zh-CN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序列。</a:t>
            </a:r>
            <a:endParaRPr lang="ko-KR" altLang="ko-KR" sz="2000" dirty="0">
              <a:latin typeface="KaiTi" panose="02010609060101010101" pitchFamily="49" charset="-122"/>
            </a:endParaRPr>
          </a:p>
          <a:p>
            <a:pPr marL="342900" lvl="0" indent="-342900" defTabSz="914354">
              <a:spcBef>
                <a:spcPts val="600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q"/>
            </a:pPr>
            <a:r>
              <a:rPr lang="zh-CN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条件是：</a:t>
            </a:r>
            <a:endParaRPr lang="ko-KR" altLang="ko-KR" sz="2000" dirty="0">
              <a:latin typeface="KaiTi" panose="02010609060101010101" pitchFamily="49" charset="-122"/>
            </a:endParaRPr>
          </a:p>
          <a:p>
            <a:pPr marL="800078" lvl="1" indent="-342900" defTabSz="914354">
              <a:spcBef>
                <a:spcPts val="600"/>
              </a:spcBef>
              <a:buClr>
                <a:srgbClr val="00B0F0"/>
              </a:buClr>
              <a:buSzPct val="80000"/>
              <a:buFont typeface="Wingdings" panose="05000000000000000000" pitchFamily="2" charset="2"/>
              <a:buChar char="q"/>
            </a:pPr>
            <a:r>
              <a:rPr lang="zh-CN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从</a:t>
            </a:r>
            <a:r>
              <a:rPr lang="en-US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 w1 </a:t>
            </a:r>
            <a:r>
              <a:rPr lang="zh-CN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的第一个元素删去一个事件后</a:t>
            </a:r>
            <a:r>
              <a:rPr lang="zh-CN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的序列</a:t>
            </a:r>
            <a:r>
              <a:rPr lang="zh-CN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结果必须和</a:t>
            </a:r>
            <a:r>
              <a:rPr lang="en-US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 w2</a:t>
            </a:r>
            <a:r>
              <a:rPr lang="zh-CN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 的最后一个元素删一个事件后的序列相同</a:t>
            </a:r>
            <a:r>
              <a:rPr lang="en-US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lang="zh-CN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（这样保证合并后的新序列依然合法、能保持顺序）。</a:t>
            </a:r>
            <a:endParaRPr lang="ko-KR" altLang="ko-KR" sz="2000" dirty="0">
              <a:latin typeface="KaiTi" panose="02010609060101010101" pitchFamily="49" charset="-122"/>
            </a:endParaRPr>
          </a:p>
          <a:p>
            <a:pPr marL="342900" lvl="0" indent="-342900" defTabSz="914354">
              <a:spcBef>
                <a:spcPts val="600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q"/>
            </a:pPr>
            <a:r>
              <a:rPr lang="zh-CN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合并后如何扩展：</a:t>
            </a:r>
            <a:endParaRPr lang="ko-KR" altLang="ko-KR" sz="2000" dirty="0">
              <a:latin typeface="KaiTi" panose="02010609060101010101" pitchFamily="49" charset="-122"/>
            </a:endParaRPr>
          </a:p>
          <a:p>
            <a:pPr marL="800078" lvl="1" indent="-342900" defTabSz="914354">
              <a:spcBef>
                <a:spcPts val="600"/>
              </a:spcBef>
              <a:buClr>
                <a:srgbClr val="00B0F0"/>
              </a:buClr>
              <a:buSzPct val="80000"/>
              <a:buFont typeface="Wingdings" panose="05000000000000000000" pitchFamily="2" charset="2"/>
              <a:buChar char="q"/>
            </a:pPr>
            <a:r>
              <a:rPr lang="zh-CN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如果</a:t>
            </a:r>
            <a:r>
              <a:rPr lang="en-US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 w2 </a:t>
            </a:r>
            <a:r>
              <a:rPr lang="zh-CN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的最后一个元素和</a:t>
            </a:r>
            <a:r>
              <a:rPr lang="en-US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 w1</a:t>
            </a:r>
            <a:r>
              <a:rPr lang="zh-CN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的最后一个元素在同一个元素中，那么直接把这个元素合并</a:t>
            </a:r>
            <a:r>
              <a:rPr lang="zh-CN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  <a:endParaRPr lang="ko-KR" altLang="ko-KR" sz="2000" dirty="0">
              <a:latin typeface="KaiTi" panose="02010609060101010101" pitchFamily="49" charset="-122"/>
            </a:endParaRPr>
          </a:p>
          <a:p>
            <a:pPr marL="800078" lvl="1" indent="-342900" defTabSz="914354">
              <a:spcBef>
                <a:spcPts val="600"/>
              </a:spcBef>
              <a:buClr>
                <a:srgbClr val="00B0F0"/>
              </a:buClr>
              <a:buSzPct val="80000"/>
              <a:buFont typeface="Wingdings" panose="05000000000000000000" pitchFamily="2" charset="2"/>
              <a:buChar char="q"/>
            </a:pPr>
            <a:r>
              <a:rPr lang="zh-CN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否则，就把</a:t>
            </a:r>
            <a:r>
              <a:rPr lang="en-US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 w2 </a:t>
            </a:r>
            <a:r>
              <a:rPr lang="zh-CN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的最后一个元素（事件）作为一个新元素，附加到</a:t>
            </a:r>
            <a:r>
              <a:rPr lang="en-US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 w1 </a:t>
            </a:r>
            <a:r>
              <a:rPr lang="zh-CN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后面。</a:t>
            </a:r>
            <a:endParaRPr lang="ko-KR" altLang="ko-KR" sz="2000" dirty="0">
              <a:latin typeface="KaiTi" panose="02010609060101010101" pitchFamily="49" charset="-122"/>
            </a:endParaRPr>
          </a:p>
          <a:p>
            <a:r>
              <a:rPr lang="en-US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 </a:t>
            </a:r>
            <a:endParaRPr lang="ko-KR" altLang="ko-KR" sz="2000" dirty="0">
              <a:latin typeface="KaiTi" panose="02010609060101010101" pitchFamily="49" charset="-122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ko-KR" altLang="ko-KR" sz="1800" dirty="0">
              <a:effectLst/>
              <a:latin typeface="KaiTi" panose="02010609060101010101" pitchFamily="49" charset="-122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C6BDB7-D639-9F32-FB7E-E424FBFC0340}"/>
              </a:ext>
            </a:extLst>
          </p:cNvPr>
          <p:cNvSpPr txBox="1"/>
          <p:nvPr/>
        </p:nvSpPr>
        <p:spPr>
          <a:xfrm>
            <a:off x="6813933" y="6139679"/>
            <a:ext cx="3641074" cy="3847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KaiTi" panose="02010609060101010101" pitchFamily="49" charset="-122"/>
                <a:ea typeface="KaiTi" panose="02010609060101010101" pitchFamily="49" charset="-122"/>
              </a:rPr>
              <a:t>事件 </a:t>
            </a:r>
            <a:r>
              <a:rPr lang="en-US" altLang="zh-CN" b="1" dirty="0">
                <a:latin typeface="KaiTi" panose="02010609060101010101" pitchFamily="49" charset="-122"/>
                <a:ea typeface="KaiTi" panose="02010609060101010101" pitchFamily="49" charset="-122"/>
              </a:rPr>
              <a:t>(item)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= 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元素中的一个项</a:t>
            </a:r>
            <a:endParaRPr lang="ko-KR" altLang="en-US" dirty="0">
              <a:latin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8670943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B768AF40-6F8B-4CDA-8FED-AD7A555918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候选生成示例</a:t>
            </a:r>
          </a:p>
        </p:txBody>
      </p:sp>
      <p:sp>
        <p:nvSpPr>
          <p:cNvPr id="1476611" name="Rectangle 3">
            <a:extLst>
              <a:ext uri="{FF2B5EF4-FFF2-40B4-BE49-F238E27FC236}">
                <a16:creationId xmlns:a16="http://schemas.microsoft.com/office/drawing/2014/main" id="{43BC2DAD-7BC0-4A0F-B007-0775A79F10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 dirty="0" err="1"/>
              <a:t>合并</a:t>
            </a:r>
            <a:r>
              <a:rPr lang="en-US" altLang="en-US" sz="2000" dirty="0"/>
              <a:t> w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 =&lt;{1 2 3} {4 6}&gt; 和 w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=&gt;{2 3} {4 6} {5}&gt; </a:t>
            </a:r>
            <a:br>
              <a:rPr lang="en-US" altLang="en-US" sz="2000" dirty="0"/>
            </a:br>
            <a:r>
              <a:rPr lang="en-US" altLang="en-US" sz="2000" dirty="0" err="1"/>
              <a:t>生成候选序列</a:t>
            </a:r>
            <a:r>
              <a:rPr lang="en-US" altLang="en-US" sz="2000" dirty="0"/>
              <a:t> &lt; {1 2 3} {4 6} {5}&gt;，</a:t>
            </a:r>
            <a:r>
              <a:rPr lang="en-US" altLang="en-US" sz="2000" dirty="0" err="1"/>
              <a:t>因为</a:t>
            </a:r>
            <a:r>
              <a:rPr lang="en-US" altLang="en-US" sz="2000" dirty="0"/>
              <a:t> w</a:t>
            </a:r>
            <a:r>
              <a:rPr lang="en-US" altLang="en-US" sz="2000" baseline="-25000" dirty="0"/>
              <a:t>2 </a:t>
            </a:r>
            <a:r>
              <a:rPr lang="en-US" altLang="en-US" sz="2000" dirty="0"/>
              <a:t> </a:t>
            </a:r>
            <a:r>
              <a:rPr lang="en-US" altLang="en-US" sz="2000" dirty="0" err="1"/>
              <a:t>的最后一个元素仅包含一个事件</a:t>
            </a:r>
            <a:endParaRPr lang="en-US" altLang="en-US" sz="2000" dirty="0"/>
          </a:p>
          <a:p>
            <a:pPr>
              <a:lnSpc>
                <a:spcPct val="150000"/>
              </a:lnSpc>
            </a:pPr>
            <a:r>
              <a:rPr lang="en-US" altLang="en-US" sz="2000" dirty="0" err="1"/>
              <a:t>合并</a:t>
            </a:r>
            <a:r>
              <a:rPr lang="en-US" altLang="en-US" sz="2000" dirty="0"/>
              <a:t> w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 =&lt;{1} {2 3} {4}&gt; 和 w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=&lt;{2 3} {4 5}&gt; </a:t>
            </a:r>
            <a:br>
              <a:rPr lang="en-US" altLang="en-US" sz="2000" dirty="0"/>
            </a:br>
            <a:r>
              <a:rPr lang="en-US" altLang="en-US" sz="2000" dirty="0" err="1"/>
              <a:t>产生候选序列</a:t>
            </a:r>
            <a:r>
              <a:rPr lang="en-US" altLang="en-US" sz="2000" dirty="0"/>
              <a:t> &lt; {1} {2 3} {4 5}&gt; </a:t>
            </a:r>
            <a:r>
              <a:rPr lang="en-US" altLang="en-US" sz="2000" dirty="0" err="1"/>
              <a:t>因为</a:t>
            </a:r>
            <a:r>
              <a:rPr lang="en-US" altLang="en-US" sz="2000" dirty="0"/>
              <a:t> w</a:t>
            </a:r>
            <a:r>
              <a:rPr lang="en-US" altLang="en-US" sz="2000" baseline="-25000" dirty="0"/>
              <a:t>2  </a:t>
            </a:r>
            <a:r>
              <a:rPr lang="en-US" altLang="en-US" sz="2000" dirty="0"/>
              <a:t> </a:t>
            </a:r>
            <a:r>
              <a:rPr lang="en-US" altLang="en-US" sz="2000" dirty="0" err="1"/>
              <a:t>的最后一个元素包含多个事件</a:t>
            </a:r>
            <a:endParaRPr lang="en-US" altLang="en-US" sz="2000" dirty="0"/>
          </a:p>
          <a:p>
            <a:pPr>
              <a:lnSpc>
                <a:spcPct val="150000"/>
              </a:lnSpc>
            </a:pPr>
            <a:r>
              <a:rPr lang="en-US" altLang="en-US" sz="2000" dirty="0" err="1"/>
              <a:t>合并</a:t>
            </a:r>
            <a:r>
              <a:rPr lang="en-US" altLang="en-US" sz="2000" dirty="0"/>
              <a:t> w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 =&lt;{1 2 3} &gt; 和 w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=&lt;{2 3 4} &gt; </a:t>
            </a:r>
            <a:br>
              <a:rPr lang="en-US" altLang="en-US" sz="2000" dirty="0"/>
            </a:br>
            <a:r>
              <a:rPr lang="en-US" altLang="en-US" sz="2000" dirty="0" err="1"/>
              <a:t>产生候选序列</a:t>
            </a:r>
            <a:r>
              <a:rPr lang="en-US" altLang="en-US" sz="2000" dirty="0"/>
              <a:t> &lt; {1 2 3 4}&gt; </a:t>
            </a:r>
            <a:r>
              <a:rPr lang="en-US" altLang="en-US" sz="2000" dirty="0" err="1"/>
              <a:t>因为</a:t>
            </a:r>
            <a:r>
              <a:rPr lang="en-US" altLang="en-US" sz="2000" dirty="0"/>
              <a:t> w</a:t>
            </a:r>
            <a:r>
              <a:rPr lang="en-US" altLang="en-US" sz="2000" baseline="-25000" dirty="0"/>
              <a:t>2  </a:t>
            </a:r>
            <a:r>
              <a:rPr lang="en-US" altLang="en-US" sz="2000" dirty="0"/>
              <a:t> </a:t>
            </a:r>
            <a:r>
              <a:rPr lang="en-US" altLang="en-US" sz="2000" dirty="0" err="1"/>
              <a:t>的最后一个元素包含多个事件</a:t>
            </a:r>
            <a:endParaRPr lang="en-US" altLang="en-US" sz="2000" dirty="0"/>
          </a:p>
          <a:p>
            <a:pPr>
              <a:lnSpc>
                <a:spcPct val="150000"/>
              </a:lnSpc>
            </a:pPr>
            <a:r>
              <a:rPr lang="en-US" altLang="en-US" sz="2000" dirty="0" err="1"/>
              <a:t>我们不需要合并这些序列</a:t>
            </a:r>
            <a:r>
              <a:rPr lang="en-US" altLang="en-US" sz="2000" dirty="0"/>
              <a:t> </a:t>
            </a:r>
            <a:br>
              <a:rPr lang="en-US" altLang="en-US" sz="2000" dirty="0"/>
            </a:br>
            <a:r>
              <a:rPr lang="en-US" altLang="en-US" sz="2000" dirty="0"/>
              <a:t>w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 =&lt;{1} {2 6} {4}&gt; 和 w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=&lt;{1} {2} {4 5}&gt; </a:t>
            </a:r>
            <a:br>
              <a:rPr lang="en-US" altLang="en-US" sz="2000" dirty="0"/>
            </a:br>
            <a:r>
              <a:rPr lang="en-US" altLang="en-US" sz="2000" dirty="0" err="1"/>
              <a:t>以生成候选序列</a:t>
            </a:r>
            <a:r>
              <a:rPr lang="en-US" altLang="en-US" sz="2000" dirty="0"/>
              <a:t> &lt; {1} {2 6} {4 5}&gt;，</a:t>
            </a:r>
            <a:r>
              <a:rPr lang="en-US" altLang="en-US" sz="2000" dirty="0" err="1"/>
              <a:t>因为如果后者是可行的候选序列，则可以通过合并</a:t>
            </a:r>
            <a:r>
              <a:rPr lang="en-US" altLang="en-US" sz="2000" dirty="0"/>
              <a:t> w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 与 </a:t>
            </a:r>
            <a:br>
              <a:rPr lang="en-US" altLang="en-US" sz="2000" dirty="0"/>
            </a:br>
            <a:r>
              <a:rPr lang="en-US" altLang="en-US" sz="2000" dirty="0"/>
              <a:t>&lt; {2 6} {4 5}&gt;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6611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C221E39D-AAC1-4324-9458-3397EAA1A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候选生成：示例（续</a:t>
            </a:r>
            <a:r>
              <a:rPr lang="en-US" altLang="en-US" dirty="0"/>
              <a:t>）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D031701-250F-192A-A6B8-DD1339B75107}"/>
              </a:ext>
            </a:extLst>
          </p:cNvPr>
          <p:cNvSpPr txBox="1">
            <a:spLocks/>
          </p:cNvSpPr>
          <p:nvPr/>
        </p:nvSpPr>
        <p:spPr>
          <a:xfrm>
            <a:off x="716418" y="1143000"/>
            <a:ext cx="6389462" cy="2867140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STKaiti" panose="02010600040101010101" pitchFamily="2" charset="-122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STKaiti" panose="02010600040101010101" pitchFamily="2" charset="-122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STKaiti" panose="02010600040101010101" pitchFamily="2" charset="-122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STKaiti" panose="02010600040101010101" pitchFamily="2" charset="-122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STKaiti" panose="02010600040101010101" pitchFamily="2" charset="-122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Can &lt;{a},{b},{c}&gt; merge with &lt;{b},{c},{f}&gt; 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Can &lt;{a},{b},{c}&gt; merge with &lt;{</a:t>
            </a:r>
            <a:r>
              <a:rPr lang="en-US" altLang="en-US" sz="2000" dirty="0" err="1">
                <a:latin typeface="KaiTi" panose="02010609060101010101" pitchFamily="49" charset="-122"/>
                <a:ea typeface="KaiTi" panose="02010609060101010101" pitchFamily="49" charset="-122"/>
              </a:rPr>
              <a:t>b,c</a:t>
            </a: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},{f}&gt;?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Can &lt;{a},{b},{c}&gt; merge with &lt;{b},{</a:t>
            </a:r>
            <a:r>
              <a:rPr lang="en-US" altLang="en-US" sz="2000" dirty="0" err="1">
                <a:latin typeface="KaiTi" panose="02010609060101010101" pitchFamily="49" charset="-122"/>
                <a:ea typeface="KaiTi" panose="02010609060101010101" pitchFamily="49" charset="-122"/>
              </a:rPr>
              <a:t>c,f</a:t>
            </a: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}&gt;?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Can &lt;{</a:t>
            </a:r>
            <a:r>
              <a:rPr lang="en-US" altLang="en-US" sz="2000" dirty="0" err="1">
                <a:latin typeface="KaiTi" panose="02010609060101010101" pitchFamily="49" charset="-122"/>
                <a:ea typeface="KaiTi" panose="02010609060101010101" pitchFamily="49" charset="-122"/>
              </a:rPr>
              <a:t>a,b</a:t>
            </a: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},{c}&gt;  merge with &lt;{b},{</a:t>
            </a:r>
            <a:r>
              <a:rPr lang="en-US" altLang="en-US" sz="2000" dirty="0" err="1">
                <a:latin typeface="KaiTi" panose="02010609060101010101" pitchFamily="49" charset="-122"/>
                <a:ea typeface="KaiTi" panose="02010609060101010101" pitchFamily="49" charset="-122"/>
              </a:rPr>
              <a:t>c,f</a:t>
            </a: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}&gt; 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Can &lt;{</a:t>
            </a:r>
            <a:r>
              <a:rPr lang="en-US" altLang="en-US" sz="2000" dirty="0" err="1">
                <a:latin typeface="KaiTi" panose="02010609060101010101" pitchFamily="49" charset="-122"/>
                <a:ea typeface="KaiTi" panose="02010609060101010101" pitchFamily="49" charset="-122"/>
              </a:rPr>
              <a:t>a,b,c</a:t>
            </a: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}&gt; merge with &lt;{</a:t>
            </a:r>
            <a:r>
              <a:rPr lang="en-US" altLang="en-US" sz="2000" dirty="0" err="1">
                <a:latin typeface="KaiTi" panose="02010609060101010101" pitchFamily="49" charset="-122"/>
                <a:ea typeface="KaiTi" panose="02010609060101010101" pitchFamily="49" charset="-122"/>
              </a:rPr>
              <a:t>b,c,f</a:t>
            </a: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}&gt;?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Can &lt;{a}&gt; merge with &lt;{a}&gt;?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BEAFDA-B61C-B5BE-AF33-0CF3B7AA25AD}"/>
              </a:ext>
            </a:extLst>
          </p:cNvPr>
          <p:cNvSpPr txBox="1"/>
          <p:nvPr/>
        </p:nvSpPr>
        <p:spPr>
          <a:xfrm>
            <a:off x="4721432" y="4192555"/>
            <a:ext cx="6845280" cy="2340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Can ⟨{</a:t>
            </a:r>
            <a:r>
              <a:rPr lang="en-US" altLang="ko-KR" sz="2000" dirty="0" err="1">
                <a:latin typeface="KaiTi" panose="02010609060101010101" pitchFamily="49" charset="-122"/>
                <a:ea typeface="KaiTi" panose="02010609060101010101" pitchFamily="49" charset="-122"/>
              </a:rPr>
              <a:t>a,b</a:t>
            </a:r>
            <a:r>
              <a:rPr lang="en-US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},{c},{d}⟩ merge with ⟨{</a:t>
            </a:r>
            <a:r>
              <a:rPr lang="en-US" altLang="ko-KR" sz="2000" dirty="0" err="1">
                <a:latin typeface="KaiTi" panose="02010609060101010101" pitchFamily="49" charset="-122"/>
                <a:ea typeface="KaiTi" panose="02010609060101010101" pitchFamily="49" charset="-122"/>
              </a:rPr>
              <a:t>b,c</a:t>
            </a:r>
            <a:r>
              <a:rPr lang="en-US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},{d},{e}⟩ ?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Can ⟨{a},{</a:t>
            </a:r>
            <a:r>
              <a:rPr lang="en-US" altLang="ko-KR" sz="2000" dirty="0" err="1">
                <a:latin typeface="KaiTi" panose="02010609060101010101" pitchFamily="49" charset="-122"/>
                <a:ea typeface="KaiTi" panose="02010609060101010101" pitchFamily="49" charset="-122"/>
              </a:rPr>
              <a:t>b,c</a:t>
            </a:r>
            <a:r>
              <a:rPr lang="en-US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},{d}⟩ merge with ⟨{</a:t>
            </a:r>
            <a:r>
              <a:rPr lang="en-US" altLang="ko-KR" sz="2000" dirty="0" err="1">
                <a:latin typeface="KaiTi" panose="02010609060101010101" pitchFamily="49" charset="-122"/>
                <a:ea typeface="KaiTi" panose="02010609060101010101" pitchFamily="49" charset="-122"/>
              </a:rPr>
              <a:t>b,c</a:t>
            </a:r>
            <a:r>
              <a:rPr lang="en-US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},{</a:t>
            </a:r>
            <a:r>
              <a:rPr lang="en-US" altLang="ko-KR" sz="2000" dirty="0" err="1">
                <a:latin typeface="KaiTi" panose="02010609060101010101" pitchFamily="49" charset="-122"/>
                <a:ea typeface="KaiTi" panose="02010609060101010101" pitchFamily="49" charset="-122"/>
              </a:rPr>
              <a:t>d,e</a:t>
            </a:r>
            <a:r>
              <a:rPr lang="en-US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}⟩ ?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Can ⟨{</a:t>
            </a:r>
            <a:r>
              <a:rPr lang="en-US" altLang="ko-KR" sz="2000" dirty="0" err="1">
                <a:latin typeface="KaiTi" panose="02010609060101010101" pitchFamily="49" charset="-122"/>
                <a:ea typeface="KaiTi" panose="02010609060101010101" pitchFamily="49" charset="-122"/>
              </a:rPr>
              <a:t>a,b,c</a:t>
            </a:r>
            <a:r>
              <a:rPr lang="en-US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},{d}⟩ merge with ⟨{</a:t>
            </a:r>
            <a:r>
              <a:rPr lang="en-US" altLang="ko-KR" sz="2000" dirty="0" err="1">
                <a:latin typeface="KaiTi" panose="02010609060101010101" pitchFamily="49" charset="-122"/>
                <a:ea typeface="KaiTi" panose="02010609060101010101" pitchFamily="49" charset="-122"/>
              </a:rPr>
              <a:t>b,c</a:t>
            </a:r>
            <a:r>
              <a:rPr lang="en-US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},{d},{f}⟩ ?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Can ⟨{a},{b},{</a:t>
            </a:r>
            <a:r>
              <a:rPr lang="en-US" altLang="ko-KR" sz="2000" dirty="0" err="1">
                <a:latin typeface="KaiTi" panose="02010609060101010101" pitchFamily="49" charset="-122"/>
                <a:ea typeface="KaiTi" panose="02010609060101010101" pitchFamily="49" charset="-122"/>
              </a:rPr>
              <a:t>c,d</a:t>
            </a:r>
            <a:r>
              <a:rPr lang="en-US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}⟩ merge with ⟨{b},{</a:t>
            </a:r>
            <a:r>
              <a:rPr lang="en-US" altLang="ko-KR" sz="2000" dirty="0" err="1">
                <a:latin typeface="KaiTi" panose="02010609060101010101" pitchFamily="49" charset="-122"/>
                <a:ea typeface="KaiTi" panose="02010609060101010101" pitchFamily="49" charset="-122"/>
              </a:rPr>
              <a:t>c,d,e</a:t>
            </a:r>
            <a:r>
              <a:rPr lang="en-US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}⟩ ?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Can ⟨{a},{</a:t>
            </a:r>
            <a:r>
              <a:rPr lang="en-US" altLang="ko-KR" sz="2000" dirty="0" err="1">
                <a:latin typeface="KaiTi" panose="02010609060101010101" pitchFamily="49" charset="-122"/>
                <a:ea typeface="KaiTi" panose="02010609060101010101" pitchFamily="49" charset="-122"/>
              </a:rPr>
              <a:t>b,c</a:t>
            </a:r>
            <a:r>
              <a:rPr lang="en-US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},{</a:t>
            </a:r>
            <a:r>
              <a:rPr lang="en-US" altLang="ko-KR" sz="2000" dirty="0" err="1">
                <a:latin typeface="KaiTi" panose="02010609060101010101" pitchFamily="49" charset="-122"/>
                <a:ea typeface="KaiTi" panose="02010609060101010101" pitchFamily="49" charset="-122"/>
              </a:rPr>
              <a:t>d,e</a:t>
            </a:r>
            <a:r>
              <a:rPr lang="en-US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}⟩ merge with ⟨{</a:t>
            </a:r>
            <a:r>
              <a:rPr lang="en-US" altLang="ko-KR" sz="2000" dirty="0" err="1">
                <a:latin typeface="KaiTi" panose="02010609060101010101" pitchFamily="49" charset="-122"/>
                <a:ea typeface="KaiTi" panose="02010609060101010101" pitchFamily="49" charset="-122"/>
              </a:rPr>
              <a:t>b,c</a:t>
            </a:r>
            <a:r>
              <a:rPr lang="en-US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},{</a:t>
            </a:r>
            <a:r>
              <a:rPr lang="en-US" altLang="ko-KR" sz="2000" dirty="0" err="1">
                <a:latin typeface="KaiTi" panose="02010609060101010101" pitchFamily="49" charset="-122"/>
                <a:ea typeface="KaiTi" panose="02010609060101010101" pitchFamily="49" charset="-122"/>
              </a:rPr>
              <a:t>d,e,f</a:t>
            </a:r>
            <a:r>
              <a:rPr lang="en-US" altLang="ko-KR" sz="2000" dirty="0">
                <a:latin typeface="KaiTi" panose="02010609060101010101" pitchFamily="49" charset="-122"/>
                <a:ea typeface="KaiTi" panose="02010609060101010101" pitchFamily="49" charset="-122"/>
              </a:rPr>
              <a:t>}⟩ ?</a:t>
            </a:r>
            <a:endParaRPr lang="en-US" altLang="en-US" sz="20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047675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A5B17-CADE-6F9D-4E98-22B038FB5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33CAB91D-9158-D344-F3AF-BFA0F0526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候选生成：示例（续</a:t>
            </a:r>
            <a:r>
              <a:rPr lang="en-US" altLang="en-US" dirty="0"/>
              <a:t>）</a:t>
            </a:r>
          </a:p>
        </p:txBody>
      </p:sp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6BAB9019-90E1-DB07-2E46-C40345ACF415}"/>
              </a:ext>
            </a:extLst>
          </p:cNvPr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15081152"/>
              </p:ext>
            </p:extLst>
          </p:nvPr>
        </p:nvGraphicFramePr>
        <p:xfrm>
          <a:off x="2090451" y="1451473"/>
          <a:ext cx="2147888" cy="323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413000" imgH="3708400" progId="Visio.Drawing.6">
                  <p:embed/>
                </p:oleObj>
              </mc:Choice>
              <mc:Fallback>
                <p:oleObj name="VISIO" r:id="rId2" imgW="2413000" imgH="3708400" progId="Visio.Drawing.6">
                  <p:embed/>
                  <p:pic>
                    <p:nvPicPr>
                      <p:cNvPr id="61443" name="Object 3">
                        <a:extLst>
                          <a:ext uri="{FF2B5EF4-FFF2-40B4-BE49-F238E27FC236}">
                            <a16:creationId xmlns:a16="http://schemas.microsoft.com/office/drawing/2014/main" id="{E77D728E-CAD0-412A-ABD9-DD1E6BA159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0451" y="1451473"/>
                        <a:ext cx="2147888" cy="323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3ED2EC5-1C01-E0FA-97DF-4D3621EDC1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3495234"/>
              </p:ext>
            </p:extLst>
          </p:nvPr>
        </p:nvGraphicFramePr>
        <p:xfrm>
          <a:off x="3995452" y="2289673"/>
          <a:ext cx="3154363" cy="304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3759200" imgH="3708400" progId="Visio.Drawing.6">
                  <p:embed/>
                </p:oleObj>
              </mc:Choice>
              <mc:Fallback>
                <p:oleObj name="VISIO" r:id="rId4" imgW="3759200" imgH="3708400" progId="Visio.Drawing.6">
                  <p:embed/>
                  <p:pic>
                    <p:nvPicPr>
                      <p:cNvPr id="61444" name="Object 4">
                        <a:extLst>
                          <a:ext uri="{FF2B5EF4-FFF2-40B4-BE49-F238E27FC236}">
                            <a16:creationId xmlns:a16="http://schemas.microsoft.com/office/drawing/2014/main" id="{21131550-88EF-4A1E-AD54-6E17B19F0C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452" y="2289673"/>
                        <a:ext cx="3154363" cy="304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DF3807C5-1109-3E9F-CA8A-E7D74FE409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1980947"/>
              </p:ext>
            </p:extLst>
          </p:nvPr>
        </p:nvGraphicFramePr>
        <p:xfrm>
          <a:off x="6891052" y="3051674"/>
          <a:ext cx="3135313" cy="324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3505200" imgH="3708400" progId="Visio.Drawing.6">
                  <p:embed/>
                </p:oleObj>
              </mc:Choice>
              <mc:Fallback>
                <p:oleObj name="VISIO" r:id="rId6" imgW="3505200" imgH="3708400" progId="Visio.Drawing.6">
                  <p:embed/>
                  <p:pic>
                    <p:nvPicPr>
                      <p:cNvPr id="1477637" name="Object 5">
                        <a:extLst>
                          <a:ext uri="{FF2B5EF4-FFF2-40B4-BE49-F238E27FC236}">
                            <a16:creationId xmlns:a16="http://schemas.microsoft.com/office/drawing/2014/main" id="{92AC12AD-73A0-448A-8031-7FCCBF8C73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1052" y="3051674"/>
                        <a:ext cx="3135313" cy="324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4425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12192000" cy="5334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dirty="0">
                <a:ea typeface="STKaiti" panose="02010600040101010101" pitchFamily="2" charset="-122"/>
              </a:rPr>
              <a:t>GSP: </a:t>
            </a:r>
            <a:r>
              <a:rPr lang="en-US" altLang="en-US" sz="4000" dirty="0" err="1">
                <a:ea typeface="STKaiti" panose="02010600040101010101" pitchFamily="2" charset="-122"/>
              </a:rPr>
              <a:t>Apriori</a:t>
            </a:r>
            <a:r>
              <a:rPr lang="en-US" altLang="en-US" sz="4000" dirty="0">
                <a:ea typeface="STKaiti" panose="02010600040101010101" pitchFamily="2" charset="-122"/>
              </a:rPr>
              <a:t>-Based Sequential Pattern Mining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163784"/>
            <a:ext cx="7511845" cy="1676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ea typeface="STKaiti" panose="02010600040101010101" pitchFamily="2" charset="-122"/>
              </a:rPr>
              <a:t>Initial candidates: All 8-singleton sequences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ea typeface="STKaiti" panose="02010600040101010101" pitchFamily="2" charset="-122"/>
              </a:rPr>
              <a:t>&lt;a&gt;, &lt;b&gt;, &lt;c&gt;, &lt;d&gt;, &lt;e&gt;, &lt;f&gt;, &lt;g&gt;, &lt;h&gt;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ea typeface="STKaiti" panose="02010600040101010101" pitchFamily="2" charset="-122"/>
              </a:rPr>
              <a:t>Scan DB once, count support for each candidate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01137" y="3133727"/>
          <a:ext cx="3048000" cy="212407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8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SID   </a:t>
                      </a:r>
                    </a:p>
                  </a:txBody>
                  <a:tcPr marL="121920" marR="121920" marT="45734" marB="4573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Sequence</a:t>
                      </a:r>
                    </a:p>
                  </a:txBody>
                  <a:tcPr marL="121920" marR="121920" marT="45734" marB="4573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706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121920" marR="121920" marT="45734" marB="45734"/>
                </a:tc>
                <a:tc>
                  <a:txBody>
                    <a:bodyPr/>
                    <a:lstStyle/>
                    <a:p>
                      <a:pPr algn="ctr" ea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buFont typeface="Wingdings" pitchFamily="2" charset="2"/>
                        <a:buNone/>
                      </a:pP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&lt;(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bd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)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cb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(ac)&gt;</a:t>
                      </a:r>
                    </a:p>
                  </a:txBody>
                  <a:tcPr marL="121920" marR="121920" marT="45734" marB="4573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706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121920" marR="121920" marT="45734" marB="45734"/>
                </a:tc>
                <a:tc>
                  <a:txBody>
                    <a:bodyPr/>
                    <a:lstStyle/>
                    <a:p>
                      <a:pPr algn="ctr" ea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buFont typeface="Wingdings" pitchFamily="2" charset="2"/>
                        <a:buNone/>
                      </a:pP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&lt;(bf)(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ce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)b(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fg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)&gt;</a:t>
                      </a:r>
                    </a:p>
                  </a:txBody>
                  <a:tcPr marL="121920" marR="121920" marT="45734" marB="4573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706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121920" marR="121920" marT="45734" marB="45734"/>
                </a:tc>
                <a:tc>
                  <a:txBody>
                    <a:bodyPr/>
                    <a:lstStyle/>
                    <a:p>
                      <a:pPr algn="ctr" ea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buFont typeface="Wingdings" pitchFamily="2" charset="2"/>
                        <a:buNone/>
                      </a:pP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&lt;(ah)(bf)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abf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 marT="45734" marB="4573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8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121920" marR="121920" marT="45734" marB="45734"/>
                </a:tc>
                <a:tc>
                  <a:txBody>
                    <a:bodyPr/>
                    <a:lstStyle/>
                    <a:p>
                      <a:pPr algn="ctr" ea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buFont typeface="Wingdings" pitchFamily="2" charset="2"/>
                        <a:buNone/>
                      </a:pP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&lt;(be)(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ce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)d&gt;</a:t>
                      </a:r>
                    </a:p>
                  </a:txBody>
                  <a:tcPr marL="121920" marR="121920" marT="45734" marB="4573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706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121920" marR="121920" marT="45734" marB="45734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&lt;a(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bd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)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bcb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ade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)&gt;</a:t>
                      </a:r>
                    </a:p>
                  </a:txBody>
                  <a:tcPr marL="121920" marR="121920" marT="45734" marB="4573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094775" y="2677743"/>
            <a:ext cx="1398871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min_sup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=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196128" y="3353384"/>
          <a:ext cx="1297518" cy="298767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883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6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Cand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121835" marR="121835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sup</a:t>
                      </a:r>
                    </a:p>
                  </a:txBody>
                  <a:tcPr marL="121835" marR="121835" marT="45730" marB="4573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&lt;a&gt;</a:t>
                      </a:r>
                    </a:p>
                  </a:txBody>
                  <a:tcPr marL="121835" marR="121835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121835" marR="121835" marT="45730" marB="4573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5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&lt;b&gt;</a:t>
                      </a:r>
                    </a:p>
                  </a:txBody>
                  <a:tcPr marL="121835" marR="121835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121835" marR="121835" marT="45730" marB="4573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&lt;c&gt;</a:t>
                      </a:r>
                    </a:p>
                  </a:txBody>
                  <a:tcPr marL="121835" marR="121835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121835" marR="121835" marT="45730" marB="4573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&lt;d&gt;</a:t>
                      </a:r>
                    </a:p>
                  </a:txBody>
                  <a:tcPr marL="121835" marR="121835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121835" marR="121835" marT="45730" marB="4573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&lt;e&gt;</a:t>
                      </a:r>
                    </a:p>
                  </a:txBody>
                  <a:tcPr marL="121835" marR="121835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121835" marR="121835" marT="45730" marB="4573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&lt;f&gt;</a:t>
                      </a:r>
                    </a:p>
                  </a:txBody>
                  <a:tcPr marL="121835" marR="121835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121835" marR="121835" marT="45730" marB="4573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&lt;g&gt;</a:t>
                      </a:r>
                    </a:p>
                  </a:txBody>
                  <a:tcPr marL="121835" marR="121835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121835" marR="121835" marT="45730" marB="4573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5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&lt;h&gt;</a:t>
                      </a:r>
                    </a:p>
                  </a:txBody>
                  <a:tcPr marL="121835" marR="121835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121835" marR="121835" marT="45730" marB="4573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7362" name="Straight Connector 5"/>
          <p:cNvCxnSpPr>
            <a:cxnSpLocks noChangeShapeType="1"/>
          </p:cNvCxnSpPr>
          <p:nvPr/>
        </p:nvCxnSpPr>
        <p:spPr bwMode="auto">
          <a:xfrm>
            <a:off x="5196128" y="5687008"/>
            <a:ext cx="711200" cy="304800"/>
          </a:xfrm>
          <a:prstGeom prst="line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63" name="Straight Connector 44"/>
          <p:cNvCxnSpPr>
            <a:cxnSpLocks noChangeShapeType="1"/>
          </p:cNvCxnSpPr>
          <p:nvPr/>
        </p:nvCxnSpPr>
        <p:spPr bwMode="auto">
          <a:xfrm flipV="1">
            <a:off x="5208829" y="5687008"/>
            <a:ext cx="698500" cy="304800"/>
          </a:xfrm>
          <a:prstGeom prst="line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64" name="Straight Connector 48"/>
          <p:cNvCxnSpPr>
            <a:cxnSpLocks noChangeShapeType="1"/>
          </p:cNvCxnSpPr>
          <p:nvPr/>
        </p:nvCxnSpPr>
        <p:spPr bwMode="auto">
          <a:xfrm>
            <a:off x="5196128" y="5991808"/>
            <a:ext cx="711200" cy="304800"/>
          </a:xfrm>
          <a:prstGeom prst="line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65" name="Straight Connector 49"/>
          <p:cNvCxnSpPr>
            <a:cxnSpLocks noChangeShapeType="1"/>
          </p:cNvCxnSpPr>
          <p:nvPr/>
        </p:nvCxnSpPr>
        <p:spPr bwMode="auto">
          <a:xfrm flipV="1">
            <a:off x="5208829" y="5991808"/>
            <a:ext cx="698500" cy="304800"/>
          </a:xfrm>
          <a:prstGeom prst="line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366" name="Curved Right Arrow 13"/>
          <p:cNvSpPr>
            <a:spLocks noChangeArrowheads="1"/>
          </p:cNvSpPr>
          <p:nvPr/>
        </p:nvSpPr>
        <p:spPr bwMode="auto">
          <a:xfrm flipH="1">
            <a:off x="6964101" y="2224348"/>
            <a:ext cx="382089" cy="1438564"/>
          </a:xfrm>
          <a:prstGeom prst="curvedRightArrow">
            <a:avLst>
              <a:gd name="adj1" fmla="val 25003"/>
              <a:gd name="adj2" fmla="val 50005"/>
              <a:gd name="adj3" fmla="val 25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x</a:t>
            </a:r>
          </a:p>
        </p:txBody>
      </p:sp>
      <p:sp>
        <p:nvSpPr>
          <p:cNvPr id="7367" name="Oval 14"/>
          <p:cNvSpPr>
            <a:spLocks noChangeArrowheads="1"/>
          </p:cNvSpPr>
          <p:nvPr/>
        </p:nvSpPr>
        <p:spPr bwMode="auto">
          <a:xfrm>
            <a:off x="6008928" y="5687008"/>
            <a:ext cx="406400" cy="304800"/>
          </a:xfrm>
          <a:prstGeom prst="ellipse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7368" name="Oval 52"/>
          <p:cNvSpPr>
            <a:spLocks noChangeArrowheads="1"/>
          </p:cNvSpPr>
          <p:nvPr/>
        </p:nvSpPr>
        <p:spPr bwMode="auto">
          <a:xfrm>
            <a:off x="6008928" y="5991808"/>
            <a:ext cx="406400" cy="304800"/>
          </a:xfrm>
          <a:prstGeom prst="ellipse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2916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366" grpId="0" animBg="1"/>
      <p:bldP spid="7367" grpId="0" animBg="1"/>
      <p:bldP spid="7368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12192000" cy="5334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dirty="0">
                <a:ea typeface="STKaiti" panose="02010600040101010101" pitchFamily="2" charset="-122"/>
              </a:rPr>
              <a:t>GSP: </a:t>
            </a:r>
            <a:r>
              <a:rPr lang="en-US" altLang="en-US" sz="4000" dirty="0" err="1">
                <a:ea typeface="STKaiti" panose="02010600040101010101" pitchFamily="2" charset="-122"/>
              </a:rPr>
              <a:t>Apriori</a:t>
            </a:r>
            <a:r>
              <a:rPr lang="en-US" altLang="en-US" sz="4000" dirty="0">
                <a:ea typeface="STKaiti" panose="02010600040101010101" pitchFamily="2" charset="-122"/>
              </a:rPr>
              <a:t>-Based Sequential Pattern Mining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163784"/>
            <a:ext cx="7511845" cy="1676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ea typeface="STKaiti" panose="02010600040101010101" pitchFamily="2" charset="-122"/>
              </a:rPr>
              <a:t>Example: Generate </a:t>
            </a:r>
            <a:r>
              <a:rPr lang="en-US" altLang="en-US" sz="2400" u="sng" dirty="0">
                <a:ea typeface="STKaiti" panose="02010600040101010101" pitchFamily="2" charset="-122"/>
              </a:rPr>
              <a:t>length-2 </a:t>
            </a:r>
            <a:r>
              <a:rPr lang="en-US" altLang="en-US" sz="2400" dirty="0">
                <a:ea typeface="STKaiti" panose="02010600040101010101" pitchFamily="2" charset="-122"/>
              </a:rPr>
              <a:t>candidate sequences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7385" y="2277400"/>
            <a:ext cx="1398871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min_sup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=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14684" y="2949058"/>
          <a:ext cx="1297518" cy="298767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883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6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Cand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121835" marR="121835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sup</a:t>
                      </a:r>
                    </a:p>
                  </a:txBody>
                  <a:tcPr marL="121835" marR="121835" marT="45730" marB="4573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&lt;a&gt;</a:t>
                      </a:r>
                    </a:p>
                  </a:txBody>
                  <a:tcPr marL="121835" marR="121835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121835" marR="121835" marT="45730" marB="4573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5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&lt;b&gt;</a:t>
                      </a:r>
                    </a:p>
                  </a:txBody>
                  <a:tcPr marL="121835" marR="121835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121835" marR="121835" marT="45730" marB="4573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&lt;c&gt;</a:t>
                      </a:r>
                    </a:p>
                  </a:txBody>
                  <a:tcPr marL="121835" marR="121835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121835" marR="121835" marT="45730" marB="4573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&lt;d&gt;</a:t>
                      </a:r>
                    </a:p>
                  </a:txBody>
                  <a:tcPr marL="121835" marR="121835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121835" marR="121835" marT="45730" marB="4573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&lt;e&gt;</a:t>
                      </a:r>
                    </a:p>
                  </a:txBody>
                  <a:tcPr marL="121835" marR="121835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121835" marR="121835" marT="45730" marB="4573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&lt;f&gt;</a:t>
                      </a:r>
                    </a:p>
                  </a:txBody>
                  <a:tcPr marL="121835" marR="121835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121835" marR="121835" marT="45730" marB="4573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5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&lt;g&gt;</a:t>
                      </a:r>
                    </a:p>
                  </a:txBody>
                  <a:tcPr marL="121835" marR="121835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121835" marR="121835" marT="45730" marB="4573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5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&lt;h&gt;</a:t>
                      </a:r>
                    </a:p>
                  </a:txBody>
                  <a:tcPr marL="121835" marR="121835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121835" marR="121835" marT="45730" marB="4573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35" name="Group 3"/>
          <p:cNvGraphicFramePr>
            <a:graphicFrameLocks noGrp="1"/>
          </p:cNvGraphicFramePr>
          <p:nvPr/>
        </p:nvGraphicFramePr>
        <p:xfrm>
          <a:off x="2521339" y="2001984"/>
          <a:ext cx="5892800" cy="2039688"/>
        </p:xfrm>
        <a:graphic>
          <a:graphicData uri="http://schemas.openxmlformats.org/drawingml/2006/table">
            <a:tbl>
              <a:tblPr/>
              <a:tblGrid>
                <a:gridCol w="7678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14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32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50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88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66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&lt;a&gt;</a:t>
                      </a: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&lt;b&gt;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&lt;c&gt;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&lt;d&gt;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&lt;e&gt;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&lt;f&gt;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6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&lt;a&gt;</a:t>
                      </a: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&lt;aa&gt;</a:t>
                      </a: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&lt;ab&gt;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&lt;ac&gt;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&lt;ad&gt;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&lt;ae&gt;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af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6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&lt;b&gt;</a:t>
                      </a: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ba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&lt;bb&gt;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bc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&lt;bd&gt;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&lt;be&gt;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&lt;bf&gt;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6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&lt;c&gt;</a:t>
                      </a: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&lt;ca&gt;</a:t>
                      </a: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cb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&lt;cc&gt;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&lt;cd&gt;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&lt;ce&gt;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&lt;cf&gt;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6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&lt;d&gt;</a:t>
                      </a: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&lt;da&gt;</a:t>
                      </a: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&lt;db&gt;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&lt;dc&gt;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dd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&lt;de&gt;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&lt;df&gt;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66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&lt;e&gt;</a:t>
                      </a: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&lt;ea&gt;</a:t>
                      </a: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&lt;eb&gt;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ec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ed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ee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&lt;ef&gt;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66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&lt;f&gt;</a:t>
                      </a: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&lt;fa&gt;</a:t>
                      </a: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&lt;fb&gt;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&lt;fc&gt;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fd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fe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ff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6" name="Group 69"/>
          <p:cNvGraphicFramePr>
            <a:graphicFrameLocks noGrp="1"/>
          </p:cNvGraphicFramePr>
          <p:nvPr/>
        </p:nvGraphicFramePr>
        <p:xfrm>
          <a:off x="2521339" y="4611180"/>
          <a:ext cx="5994400" cy="1952604"/>
        </p:xfrm>
        <a:graphic>
          <a:graphicData uri="http://schemas.openxmlformats.org/drawingml/2006/table">
            <a:tbl>
              <a:tblPr/>
              <a:tblGrid>
                <a:gridCol w="699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90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&lt;a&gt;</a:t>
                      </a: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&lt;b&gt;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&lt;c&gt;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&lt;d&gt;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&lt;e&gt;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&lt;f&gt;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&lt;a&gt;</a:t>
                      </a: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&lt;(ab)&gt;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&lt;(ac)&gt;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&lt;(ad)&gt;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&lt;(ae)&gt;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</a:t>
                      </a:r>
                      <a:r>
                        <a:rPr kumimoji="0" lang="en-US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af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&lt;b&gt;</a:t>
                      </a: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</a:t>
                      </a:r>
                      <a:r>
                        <a:rPr kumimoji="0" lang="en-US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bc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</a:t>
                      </a:r>
                      <a:r>
                        <a:rPr kumimoji="0" lang="en-US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bd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&lt;(be)&gt;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&lt;(bf)&gt;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&lt;c&gt;</a:t>
                      </a: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&lt;(cd)&gt;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</a:t>
                      </a:r>
                      <a:r>
                        <a:rPr kumimoji="0" lang="en-US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ce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</a:t>
                      </a:r>
                      <a:r>
                        <a:rPr kumimoji="0" lang="en-US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cf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&lt;d&gt;</a:t>
                      </a: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&lt;(de)&gt;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</a:t>
                      </a:r>
                      <a:r>
                        <a:rPr kumimoji="0" lang="en-US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df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&lt;e&gt;</a:t>
                      </a: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</a:t>
                      </a:r>
                      <a:r>
                        <a:rPr kumimoji="0" lang="en-US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ef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&lt;f&gt;</a:t>
                      </a: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7362" name="Straight Connector 5"/>
          <p:cNvCxnSpPr>
            <a:cxnSpLocks noChangeShapeType="1"/>
          </p:cNvCxnSpPr>
          <p:nvPr/>
        </p:nvCxnSpPr>
        <p:spPr bwMode="auto">
          <a:xfrm>
            <a:off x="214684" y="5282682"/>
            <a:ext cx="711200" cy="304800"/>
          </a:xfrm>
          <a:prstGeom prst="line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63" name="Straight Connector 44"/>
          <p:cNvCxnSpPr>
            <a:cxnSpLocks noChangeShapeType="1"/>
          </p:cNvCxnSpPr>
          <p:nvPr/>
        </p:nvCxnSpPr>
        <p:spPr bwMode="auto">
          <a:xfrm flipV="1">
            <a:off x="227385" y="5282682"/>
            <a:ext cx="698500" cy="304800"/>
          </a:xfrm>
          <a:prstGeom prst="line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64" name="Straight Connector 48"/>
          <p:cNvCxnSpPr>
            <a:cxnSpLocks noChangeShapeType="1"/>
          </p:cNvCxnSpPr>
          <p:nvPr/>
        </p:nvCxnSpPr>
        <p:spPr bwMode="auto">
          <a:xfrm>
            <a:off x="214684" y="5587482"/>
            <a:ext cx="711200" cy="304800"/>
          </a:xfrm>
          <a:prstGeom prst="line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65" name="Straight Connector 49"/>
          <p:cNvCxnSpPr>
            <a:cxnSpLocks noChangeShapeType="1"/>
          </p:cNvCxnSpPr>
          <p:nvPr/>
        </p:nvCxnSpPr>
        <p:spPr bwMode="auto">
          <a:xfrm flipV="1">
            <a:off x="227385" y="5587482"/>
            <a:ext cx="698500" cy="304800"/>
          </a:xfrm>
          <a:prstGeom prst="line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367" name="Oval 14"/>
          <p:cNvSpPr>
            <a:spLocks noChangeArrowheads="1"/>
          </p:cNvSpPr>
          <p:nvPr/>
        </p:nvSpPr>
        <p:spPr bwMode="auto">
          <a:xfrm>
            <a:off x="1027484" y="5282682"/>
            <a:ext cx="406400" cy="304800"/>
          </a:xfrm>
          <a:prstGeom prst="ellipse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7368" name="Oval 52"/>
          <p:cNvSpPr>
            <a:spLocks noChangeArrowheads="1"/>
          </p:cNvSpPr>
          <p:nvPr/>
        </p:nvSpPr>
        <p:spPr bwMode="auto">
          <a:xfrm>
            <a:off x="1027484" y="5587482"/>
            <a:ext cx="406400" cy="304800"/>
          </a:xfrm>
          <a:prstGeom prst="ellipse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>
          <a:xfrm>
            <a:off x="8845421" y="3155142"/>
            <a:ext cx="2985795" cy="2781589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461963" indent="-4619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88" indent="-5381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4746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88" indent="-522288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63" indent="-508000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7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6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6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5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1963" marR="0" lvl="0" indent="-461963" algn="l" defTabSz="914377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w/o pruning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(includes g and h):</a:t>
            </a:r>
          </a:p>
          <a:p>
            <a:pPr marL="200025" marR="0" lvl="1" indent="0" algn="l" defTabSz="914377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8*8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+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 8*7/2 = 92 </a:t>
            </a:r>
          </a:p>
          <a:p>
            <a:pPr marL="200025" marR="0" lvl="1" indent="0" algn="l" defTabSz="914377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length-2 candidates</a:t>
            </a:r>
          </a:p>
          <a:p>
            <a:pPr marL="461963" marR="0" lvl="0" indent="-461963" algn="l" defTabSz="914377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w/ pruning:</a:t>
            </a:r>
          </a:p>
          <a:p>
            <a:pPr marL="200025" lvl="1" indent="0">
              <a:lnSpc>
                <a:spcPct val="90000"/>
              </a:lnSpc>
              <a:buNone/>
              <a:defRPr/>
            </a:pPr>
            <a:r>
              <a:rPr lang="en-US" altLang="en-US" sz="24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6*6 </a:t>
            </a:r>
            <a:r>
              <a:rPr lang="en-US" altLang="en-US" sz="2400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+</a:t>
            </a:r>
            <a:r>
              <a:rPr lang="en-US" altLang="en-US" sz="24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 6*5/2 = 51</a:t>
            </a:r>
          </a:p>
          <a:p>
            <a:pPr marL="200025" lvl="1" indent="0">
              <a:lnSpc>
                <a:spcPct val="90000"/>
              </a:lnSpc>
              <a:buNone/>
              <a:defRPr/>
            </a:pPr>
            <a:r>
              <a:rPr lang="en-US" altLang="en-US" sz="2400" dirty="0">
                <a:solidFill>
                  <a:srgbClr val="00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length-2 candidates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754941F8-18F9-9343-8EB6-9156C98D09E0}"/>
              </a:ext>
            </a:extLst>
          </p:cNvPr>
          <p:cNvSpPr/>
          <p:nvPr/>
        </p:nvSpPr>
        <p:spPr>
          <a:xfrm>
            <a:off x="1738159" y="4042120"/>
            <a:ext cx="426543" cy="33704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989F05-4ABC-E941-AF59-FD03BF772E16}"/>
              </a:ext>
            </a:extLst>
          </p:cNvPr>
          <p:cNvSpPr txBox="1"/>
          <p:nvPr/>
        </p:nvSpPr>
        <p:spPr>
          <a:xfrm>
            <a:off x="3684762" y="1525094"/>
            <a:ext cx="400635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TKaiti" panose="02010600040101010101" pitchFamily="2" charset="-122"/>
                <a:ea typeface="STKaiti" panose="02010600040101010101" pitchFamily="2" charset="-122"/>
              </a:rPr>
              <a:t>singleton * singleton – </a:t>
            </a:r>
            <a:r>
              <a:rPr lang="en-US" i="1" dirty="0">
                <a:latin typeface="STKaiti" panose="02010600040101010101" pitchFamily="2" charset="-122"/>
                <a:ea typeface="STKaiti" panose="02010600040101010101" pitchFamily="2" charset="-122"/>
              </a:rPr>
              <a:t>Total: </a:t>
            </a:r>
            <a:r>
              <a:rPr lang="en-US" dirty="0">
                <a:latin typeface="STKaiti" panose="02010600040101010101" pitchFamily="2" charset="-122"/>
                <a:ea typeface="STKaiti" panose="02010600040101010101" pitchFamily="2" charset="-122"/>
              </a:rPr>
              <a:t>(6 * 6)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4AB7EA-5412-0A4E-A52D-E09E5AEA8AF7}"/>
              </a:ext>
            </a:extLst>
          </p:cNvPr>
          <p:cNvSpPr txBox="1"/>
          <p:nvPr/>
        </p:nvSpPr>
        <p:spPr>
          <a:xfrm>
            <a:off x="3735562" y="4186806"/>
            <a:ext cx="357963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TKaiti" panose="02010600040101010101" pitchFamily="2" charset="-122"/>
                <a:ea typeface="STKaiti" panose="02010600040101010101" pitchFamily="2" charset="-122"/>
              </a:rPr>
              <a:t>Sets (unordered) – </a:t>
            </a:r>
            <a:r>
              <a:rPr lang="en-US" i="1" dirty="0">
                <a:latin typeface="STKaiti" panose="02010600040101010101" pitchFamily="2" charset="-122"/>
                <a:ea typeface="STKaiti" panose="02010600040101010101" pitchFamily="2" charset="-122"/>
              </a:rPr>
              <a:t>Total</a:t>
            </a:r>
            <a:r>
              <a:rPr lang="en-US" dirty="0">
                <a:latin typeface="STKaiti" panose="02010600040101010101" pitchFamily="2" charset="-122"/>
                <a:ea typeface="STKaiti" panose="02010600040101010101" pitchFamily="2" charset="-122"/>
              </a:rPr>
              <a:t>: (6*5) /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EADBD6-6CC7-CE43-BFCC-C3765E8E654F}"/>
              </a:ext>
            </a:extLst>
          </p:cNvPr>
          <p:cNvSpPr txBox="1"/>
          <p:nvPr/>
        </p:nvSpPr>
        <p:spPr>
          <a:xfrm>
            <a:off x="9141272" y="2637331"/>
            <a:ext cx="1943496" cy="38472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STKaiti" panose="02010600040101010101" pitchFamily="2" charset="-122"/>
                <a:ea typeface="STKaiti" panose="02010600040101010101" pitchFamily="2" charset="-122"/>
              </a:rPr>
              <a:t>Apriori</a:t>
            </a:r>
            <a:r>
              <a:rPr lang="en-US" dirty="0">
                <a:latin typeface="STKaiti" panose="02010600040101010101" pitchFamily="2" charset="-122"/>
                <a:ea typeface="STKaiti" panose="02010600040101010101" pitchFamily="2" charset="-122"/>
              </a:rPr>
              <a:t> Pruning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0E4BA10-7F18-DA4E-BA61-07687949BDEE}"/>
              </a:ext>
            </a:extLst>
          </p:cNvPr>
          <p:cNvSpPr/>
          <p:nvPr/>
        </p:nvSpPr>
        <p:spPr>
          <a:xfrm>
            <a:off x="5151120" y="2606168"/>
            <a:ext cx="619760" cy="223523"/>
          </a:xfrm>
          <a:prstGeom prst="ellipse">
            <a:avLst/>
          </a:prstGeom>
          <a:solidFill>
            <a:srgbClr val="FF0000">
              <a:alpha val="3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1A5643B-8197-5644-B06D-5894F4D17D37}"/>
              </a:ext>
            </a:extLst>
          </p:cNvPr>
          <p:cNvSpPr/>
          <p:nvPr/>
        </p:nvSpPr>
        <p:spPr>
          <a:xfrm>
            <a:off x="4287520" y="2915656"/>
            <a:ext cx="619760" cy="223523"/>
          </a:xfrm>
          <a:prstGeom prst="ellipse">
            <a:avLst/>
          </a:prstGeom>
          <a:solidFill>
            <a:srgbClr val="FF0000">
              <a:alpha val="3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4577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367" grpId="0" animBg="1"/>
      <p:bldP spid="7368" grpId="0" animBg="1"/>
      <p:bldP spid="18" grpId="0"/>
      <p:bldP spid="5" grpId="0" animBg="1"/>
      <p:bldP spid="6" grpId="0"/>
      <p:bldP spid="20" grpId="0"/>
      <p:bldP spid="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1" y="381000"/>
            <a:ext cx="11681884" cy="5715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GSP Mining and Pruning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A1191FF-ACAF-6544-B716-753E0A944113}"/>
              </a:ext>
            </a:extLst>
          </p:cNvPr>
          <p:cNvGrpSpPr/>
          <p:nvPr/>
        </p:nvGrpSpPr>
        <p:grpSpPr>
          <a:xfrm>
            <a:off x="626081" y="1232131"/>
            <a:ext cx="10252097" cy="2847976"/>
            <a:chOff x="147109" y="1373626"/>
            <a:chExt cx="10252097" cy="2847976"/>
          </a:xfrm>
        </p:grpSpPr>
        <p:sp>
          <p:nvSpPr>
            <p:cNvPr id="8222" name="Text Box 4"/>
            <p:cNvSpPr txBox="1">
              <a:spLocks noChangeArrowheads="1"/>
            </p:cNvSpPr>
            <p:nvPr/>
          </p:nvSpPr>
          <p:spPr bwMode="auto">
            <a:xfrm>
              <a:off x="4778651" y="3821512"/>
              <a:ext cx="3848100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&lt;a&gt; &lt;b&gt; &lt;c&gt; &lt;d&gt; &lt;e&gt; &lt;f&gt; </a:t>
              </a:r>
              <a:r>
                <a:rPr kumimoji="0" lang="en-US" altLang="en-US" sz="1600" b="0" i="0" u="none" strike="sngStrike" kern="1200" cap="none" spc="0" normalizeH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&lt;g&gt; &lt;h&gt;</a:t>
              </a:r>
            </a:p>
          </p:txBody>
        </p:sp>
        <p:sp>
          <p:nvSpPr>
            <p:cNvPr id="8223" name="Text Box 5"/>
            <p:cNvSpPr txBox="1">
              <a:spLocks noChangeArrowheads="1"/>
            </p:cNvSpPr>
            <p:nvPr/>
          </p:nvSpPr>
          <p:spPr bwMode="auto">
            <a:xfrm>
              <a:off x="4777339" y="3275024"/>
              <a:ext cx="5621867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&lt;aa&gt; &lt;ab&gt; …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&lt;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af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&gt;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&lt;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ba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&gt; &lt;bb&gt; … &lt;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ff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&gt;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&lt;(ab)&gt;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…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&lt;(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ef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)&gt;</a:t>
              </a:r>
            </a:p>
          </p:txBody>
        </p:sp>
        <p:sp>
          <p:nvSpPr>
            <p:cNvPr id="8224" name="Text Box 6"/>
            <p:cNvSpPr txBox="1">
              <a:spLocks noChangeArrowheads="1"/>
            </p:cNvSpPr>
            <p:nvPr/>
          </p:nvSpPr>
          <p:spPr bwMode="auto">
            <a:xfrm>
              <a:off x="4777339" y="2625369"/>
              <a:ext cx="3820583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&lt;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abb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&gt; &lt;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aab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&gt; &lt;aba&gt;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&lt;baa&gt;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&lt;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bab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&gt;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8225" name="Text Box 7"/>
            <p:cNvSpPr txBox="1">
              <a:spLocks noChangeArrowheads="1"/>
            </p:cNvSpPr>
            <p:nvPr/>
          </p:nvSpPr>
          <p:spPr bwMode="auto">
            <a:xfrm>
              <a:off x="4777339" y="1944693"/>
              <a:ext cx="2112433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&lt;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abba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&gt;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&lt;(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bd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)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bc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&gt; …</a:t>
              </a:r>
            </a:p>
          </p:txBody>
        </p:sp>
        <p:sp>
          <p:nvSpPr>
            <p:cNvPr id="8226" name="Text Box 8"/>
            <p:cNvSpPr txBox="1">
              <a:spLocks noChangeArrowheads="1"/>
            </p:cNvSpPr>
            <p:nvPr/>
          </p:nvSpPr>
          <p:spPr bwMode="auto">
            <a:xfrm>
              <a:off x="4777339" y="1408552"/>
              <a:ext cx="1183217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&lt;(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bd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)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cba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&gt;</a:t>
              </a:r>
            </a:p>
          </p:txBody>
        </p:sp>
        <p:sp>
          <p:nvSpPr>
            <p:cNvPr id="8227" name="Text Box 9"/>
            <p:cNvSpPr txBox="1">
              <a:spLocks noChangeArrowheads="1"/>
            </p:cNvSpPr>
            <p:nvPr/>
          </p:nvSpPr>
          <p:spPr bwMode="auto">
            <a:xfrm>
              <a:off x="147109" y="3821552"/>
              <a:ext cx="438996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1</a:t>
              </a:r>
              <a:r>
                <a:rPr kumimoji="0" lang="en-US" altLang="en-US" sz="2000" b="0" i="0" u="none" strike="noStrike" kern="120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st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 scan: 8 </a:t>
              </a: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cand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. 6 length-1 seq. pat.</a:t>
              </a:r>
            </a:p>
          </p:txBody>
        </p:sp>
        <p:sp>
          <p:nvSpPr>
            <p:cNvPr id="8228" name="Text Box 10"/>
            <p:cNvSpPr txBox="1">
              <a:spLocks noChangeArrowheads="1"/>
            </p:cNvSpPr>
            <p:nvPr/>
          </p:nvSpPr>
          <p:spPr bwMode="auto">
            <a:xfrm>
              <a:off x="155576" y="3154802"/>
              <a:ext cx="4491567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2</a:t>
              </a:r>
              <a:r>
                <a:rPr kumimoji="0" lang="en-US" altLang="en-US" sz="2000" b="1" i="0" u="none" strike="noStrike" kern="120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nd</a:t>
              </a:r>
              <a:r>
                <a: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 scan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: </a:t>
              </a:r>
              <a:r>
                <a:rPr kumimoji="0" lang="en-US" altLang="en-US" sz="2000" b="1" i="0" u="sng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51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 </a:t>
              </a: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cand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Calibri" pitchFamily="34" charset="0"/>
                  <a:ea typeface="+mn-ea"/>
                  <a:cs typeface="+mn-cs"/>
                </a:rPr>
                <a:t>. 19 length-2 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seq. pat. 10 </a:t>
              </a: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cand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. not in DB at all</a:t>
              </a:r>
            </a:p>
          </p:txBody>
        </p:sp>
        <p:sp>
          <p:nvSpPr>
            <p:cNvPr id="8229" name="Text Box 11"/>
            <p:cNvSpPr txBox="1">
              <a:spLocks noChangeArrowheads="1"/>
            </p:cNvSpPr>
            <p:nvPr/>
          </p:nvSpPr>
          <p:spPr bwMode="auto">
            <a:xfrm>
              <a:off x="155576" y="2440426"/>
              <a:ext cx="4491567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3</a:t>
              </a:r>
              <a:r>
                <a:rPr kumimoji="0" lang="en-US" altLang="en-US" sz="2000" b="1" i="0" u="none" strike="noStrike" kern="120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rd</a:t>
              </a:r>
              <a:r>
                <a: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 scan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: 46 </a:t>
              </a: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cand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. 20 length-3 seq. pat. 20 </a:t>
              </a: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cand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. not in DB at all</a:t>
              </a:r>
            </a:p>
          </p:txBody>
        </p:sp>
        <p:sp>
          <p:nvSpPr>
            <p:cNvPr id="8230" name="Text Box 12"/>
            <p:cNvSpPr txBox="1">
              <a:spLocks noChangeArrowheads="1"/>
            </p:cNvSpPr>
            <p:nvPr/>
          </p:nvSpPr>
          <p:spPr bwMode="auto">
            <a:xfrm>
              <a:off x="155576" y="1916551"/>
              <a:ext cx="4246033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4</a:t>
              </a:r>
              <a:r>
                <a:rPr kumimoji="0" lang="en-US" altLang="en-US" sz="2000" b="1" i="0" u="none" strike="noStrike" kern="120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th</a:t>
              </a:r>
              <a:r>
                <a: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 scan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: 8 </a:t>
              </a: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cand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. 7 length-4 seq. pat. </a:t>
              </a:r>
            </a:p>
          </p:txBody>
        </p:sp>
        <p:sp>
          <p:nvSpPr>
            <p:cNvPr id="8231" name="Text Box 13"/>
            <p:cNvSpPr txBox="1">
              <a:spLocks noChangeArrowheads="1"/>
            </p:cNvSpPr>
            <p:nvPr/>
          </p:nvSpPr>
          <p:spPr bwMode="auto">
            <a:xfrm>
              <a:off x="155576" y="1373626"/>
              <a:ext cx="449156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5</a:t>
              </a:r>
              <a:r>
                <a:rPr kumimoji="0" lang="en-US" altLang="en-US" sz="2000" b="1" i="0" u="none" strike="noStrike" kern="120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th</a:t>
              </a:r>
              <a:r>
                <a: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 scan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: 1 </a:t>
              </a: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cand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. 1 length-5 seq. pat. </a:t>
              </a:r>
            </a:p>
          </p:txBody>
        </p:sp>
      </p:grpSp>
      <p:graphicFrame>
        <p:nvGraphicFramePr>
          <p:cNvPr id="65" name="Table 64"/>
          <p:cNvGraphicFramePr>
            <a:graphicFrameLocks noGrp="1"/>
          </p:cNvGraphicFramePr>
          <p:nvPr/>
        </p:nvGraphicFramePr>
        <p:xfrm>
          <a:off x="8742893" y="4489023"/>
          <a:ext cx="2603500" cy="212249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8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SID   </a:t>
                      </a:r>
                    </a:p>
                  </a:txBody>
                  <a:tcPr marL="121920" marR="121920" marT="45693" marB="4569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Sequence</a:t>
                      </a:r>
                    </a:p>
                  </a:txBody>
                  <a:tcPr marL="121920" marR="121920" marT="45693" marB="4569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39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121920" marR="121920" marT="45693" marB="45693"/>
                </a:tc>
                <a:tc>
                  <a:txBody>
                    <a:bodyPr/>
                    <a:lstStyle/>
                    <a:p>
                      <a:pPr algn="ctr" ea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buFont typeface="Wingdings" pitchFamily="2" charset="2"/>
                        <a:buNone/>
                      </a:pP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&lt;(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bd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)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cb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(ac)&gt;</a:t>
                      </a:r>
                    </a:p>
                  </a:txBody>
                  <a:tcPr marL="121920" marR="121920" marT="45693" marB="4569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39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121920" marR="121920" marT="45693" marB="45693"/>
                </a:tc>
                <a:tc>
                  <a:txBody>
                    <a:bodyPr/>
                    <a:lstStyle/>
                    <a:p>
                      <a:pPr algn="ctr" ea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buFont typeface="Wingdings" pitchFamily="2" charset="2"/>
                        <a:buNone/>
                      </a:pP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&lt;(bf)(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ce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)b(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fg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)&gt;</a:t>
                      </a:r>
                    </a:p>
                  </a:txBody>
                  <a:tcPr marL="121920" marR="121920" marT="45693" marB="4569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39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121920" marR="121920" marT="45693" marB="45693"/>
                </a:tc>
                <a:tc>
                  <a:txBody>
                    <a:bodyPr/>
                    <a:lstStyle/>
                    <a:p>
                      <a:pPr algn="ctr" ea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buFont typeface="Wingdings" pitchFamily="2" charset="2"/>
                        <a:buNone/>
                      </a:pP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&lt;(ah)(bf)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abf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 marT="45693" marB="4569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24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121920" marR="121920" marT="45693" marB="45693"/>
                </a:tc>
                <a:tc>
                  <a:txBody>
                    <a:bodyPr/>
                    <a:lstStyle/>
                    <a:p>
                      <a:pPr algn="ctr" ea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buFont typeface="Wingdings" pitchFamily="2" charset="2"/>
                        <a:buNone/>
                      </a:pP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&lt;(be)(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ce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)d&gt;</a:t>
                      </a:r>
                    </a:p>
                  </a:txBody>
                  <a:tcPr marL="121920" marR="121920" marT="45693" marB="4569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39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121920" marR="121920" marT="45693" marB="4569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&lt;a(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bd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)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bcb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ade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)&gt;</a:t>
                      </a:r>
                    </a:p>
                  </a:txBody>
                  <a:tcPr marL="121920" marR="121920" marT="45693" marB="4569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6" name="TextBox 65"/>
          <p:cNvSpPr txBox="1"/>
          <p:nvPr/>
        </p:nvSpPr>
        <p:spPr>
          <a:xfrm>
            <a:off x="9340947" y="4083062"/>
            <a:ext cx="1445491" cy="4000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min_sup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= 2</a:t>
            </a:r>
          </a:p>
        </p:txBody>
      </p:sp>
      <p:sp>
        <p:nvSpPr>
          <p:cNvPr id="45" name="Rectangle 3">
            <a:extLst>
              <a:ext uri="{FF2B5EF4-FFF2-40B4-BE49-F238E27FC236}">
                <a16:creationId xmlns:a16="http://schemas.microsoft.com/office/drawing/2014/main" id="{0FBFA8EE-E743-C54F-AB0A-4C82C127ECA2}"/>
              </a:ext>
            </a:extLst>
          </p:cNvPr>
          <p:cNvSpPr txBox="1">
            <a:spLocks noChangeArrowheads="1"/>
          </p:cNvSpPr>
          <p:nvPr/>
        </p:nvSpPr>
        <p:spPr>
          <a:xfrm>
            <a:off x="7181673" y="1184032"/>
            <a:ext cx="3322419" cy="571500"/>
          </a:xfrm>
          <a:prstGeom prst="rect">
            <a:avLst/>
          </a:prstGeom>
          <a:solidFill>
            <a:srgbClr val="CCFFCC"/>
          </a:solidFill>
        </p:spPr>
        <p:txBody>
          <a:bodyPr/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1800" dirty="0"/>
              <a:t>Remove </a:t>
            </a:r>
            <a:r>
              <a:rPr lang="en-US" altLang="en-US" sz="1800" dirty="0">
                <a:solidFill>
                  <a:srgbClr val="FF0000"/>
                </a:solidFill>
              </a:rPr>
              <a:t>Candidates not in DB or </a:t>
            </a:r>
            <a:r>
              <a:rPr lang="en-US" altLang="en-US" sz="1800" dirty="0">
                <a:solidFill>
                  <a:srgbClr val="0033CC"/>
                </a:solidFill>
              </a:rPr>
              <a:t>Candidates &lt; </a:t>
            </a:r>
            <a:r>
              <a:rPr lang="en-US" altLang="en-US" sz="1800" dirty="0" err="1">
                <a:solidFill>
                  <a:srgbClr val="0033CC"/>
                </a:solidFill>
              </a:rPr>
              <a:t>min_sup&gt;</a:t>
            </a:r>
            <a:endParaRPr lang="en-US" altLang="en-US" sz="1800" dirty="0">
              <a:solidFill>
                <a:srgbClr val="0033CC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3C011F3-5091-D346-8BB3-9DC8A40B7B88}"/>
              </a:ext>
            </a:extLst>
          </p:cNvPr>
          <p:cNvCxnSpPr/>
          <p:nvPr/>
        </p:nvCxnSpPr>
        <p:spPr>
          <a:xfrm flipV="1">
            <a:off x="348343" y="1432156"/>
            <a:ext cx="0" cy="2416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Line 27">
            <a:extLst>
              <a:ext uri="{FF2B5EF4-FFF2-40B4-BE49-F238E27FC236}">
                <a16:creationId xmlns:a16="http://schemas.microsoft.com/office/drawing/2014/main" id="{BDD294B5-B10F-3145-ABD6-2F529E40B7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98297" y="3471668"/>
            <a:ext cx="130344" cy="20994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Line 27">
            <a:extLst>
              <a:ext uri="{FF2B5EF4-FFF2-40B4-BE49-F238E27FC236}">
                <a16:creationId xmlns:a16="http://schemas.microsoft.com/office/drawing/2014/main" id="{83A49E0C-4C48-2848-A6DA-EB107EAB5D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11200" y="3471668"/>
            <a:ext cx="655920" cy="199944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Line 27">
            <a:extLst>
              <a:ext uri="{FF2B5EF4-FFF2-40B4-BE49-F238E27FC236}">
                <a16:creationId xmlns:a16="http://schemas.microsoft.com/office/drawing/2014/main" id="{7DD42F49-57D9-A544-A74F-9EC205E841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98296" y="3463263"/>
            <a:ext cx="1451144" cy="216753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Line 27">
            <a:extLst>
              <a:ext uri="{FF2B5EF4-FFF2-40B4-BE49-F238E27FC236}">
                <a16:creationId xmlns:a16="http://schemas.microsoft.com/office/drawing/2014/main" id="{E44BB54D-1C4A-2340-95BC-C0B48C9F16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00823" y="3463259"/>
            <a:ext cx="1487097" cy="258072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Line 27">
            <a:extLst>
              <a:ext uri="{FF2B5EF4-FFF2-40B4-BE49-F238E27FC236}">
                <a16:creationId xmlns:a16="http://schemas.microsoft.com/office/drawing/2014/main" id="{7E17236A-509C-1346-84C5-443EAC01AB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78936" y="3463259"/>
            <a:ext cx="1988104" cy="256792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Line 27">
            <a:extLst>
              <a:ext uri="{FF2B5EF4-FFF2-40B4-BE49-F238E27FC236}">
                <a16:creationId xmlns:a16="http://schemas.microsoft.com/office/drawing/2014/main" id="{9479ECE9-8551-F641-A9DD-E26CF76886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62064" y="3365500"/>
            <a:ext cx="137693" cy="827815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53A52F-5B42-AA42-97AE-4346EAC2F286}"/>
              </a:ext>
            </a:extLst>
          </p:cNvPr>
          <p:cNvSpPr/>
          <p:nvPr/>
        </p:nvSpPr>
        <p:spPr>
          <a:xfrm>
            <a:off x="579144" y="4134159"/>
            <a:ext cx="2484976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00025" lvl="1" indent="0">
              <a:lnSpc>
                <a:spcPct val="90000"/>
              </a:lnSpc>
              <a:buNone/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6*6 </a:t>
            </a:r>
            <a:r>
              <a:rPr lang="en-US" altLang="en-US" sz="2400" dirty="0">
                <a:solidFill>
                  <a:srgbClr val="FF0000"/>
                </a:solidFill>
              </a:rPr>
              <a:t>+</a:t>
            </a:r>
            <a:r>
              <a:rPr lang="en-US" altLang="en-US" sz="2400" dirty="0">
                <a:solidFill>
                  <a:srgbClr val="000000"/>
                </a:solidFill>
              </a:rPr>
              <a:t> 6*5/2 = 51</a:t>
            </a:r>
          </a:p>
        </p:txBody>
      </p:sp>
      <p:sp>
        <p:nvSpPr>
          <p:cNvPr id="25" name="Text Box 13">
            <a:extLst>
              <a:ext uri="{FF2B5EF4-FFF2-40B4-BE49-F238E27FC236}">
                <a16:creationId xmlns:a16="http://schemas.microsoft.com/office/drawing/2014/main" id="{D58908E5-038D-3640-B3C4-377398F9CA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41029" y="1031033"/>
            <a:ext cx="87471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2000" b="1" u="sng" dirty="0">
                <a:solidFill>
                  <a:srgbClr val="000000"/>
                </a:solidFill>
              </a:rPr>
              <a:t>length</a:t>
            </a:r>
            <a:endParaRPr kumimoji="0" lang="en-US" altLang="en-US" sz="2000" b="0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6" name="Text Box 13">
            <a:extLst>
              <a:ext uri="{FF2B5EF4-FFF2-40B4-BE49-F238E27FC236}">
                <a16:creationId xmlns:a16="http://schemas.microsoft.com/office/drawing/2014/main" id="{331FD139-5D1B-B34A-8E12-169BA76602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10375" y="1259677"/>
            <a:ext cx="336018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sz="2000" dirty="0">
              <a:solidFill>
                <a:srgbClr val="000000"/>
              </a:solidFill>
            </a:endParaRPr>
          </a:p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sz="2000" dirty="0">
              <a:solidFill>
                <a:srgbClr val="000000"/>
              </a:solidFill>
            </a:endParaRPr>
          </a:p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sz="2000" dirty="0">
              <a:solidFill>
                <a:srgbClr val="000000"/>
              </a:solidFill>
            </a:endParaRPr>
          </a:p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sz="2000" dirty="0">
              <a:solidFill>
                <a:srgbClr val="000000"/>
              </a:solidFill>
            </a:endParaRPr>
          </a:p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91F666B-DB3C-3941-81E5-79E1BCE43EE8}"/>
              </a:ext>
            </a:extLst>
          </p:cNvPr>
          <p:cNvSpPr/>
          <p:nvPr/>
        </p:nvSpPr>
        <p:spPr>
          <a:xfrm>
            <a:off x="1662065" y="3079075"/>
            <a:ext cx="319135" cy="242207"/>
          </a:xfrm>
          <a:prstGeom prst="ellipse">
            <a:avLst/>
          </a:prstGeom>
          <a:solidFill>
            <a:srgbClr val="FF0000">
              <a:alpha val="3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41D654-6B44-9DBF-45D7-670C8A703D5E}"/>
              </a:ext>
            </a:extLst>
          </p:cNvPr>
          <p:cNvSpPr txBox="1">
            <a:spLocks noChangeArrowheads="1"/>
          </p:cNvSpPr>
          <p:nvPr/>
        </p:nvSpPr>
        <p:spPr>
          <a:xfrm>
            <a:off x="626081" y="4716665"/>
            <a:ext cx="7840617" cy="2092762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461963" indent="-4619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88" indent="-5381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4746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88" indent="-522288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63" indent="-508000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7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6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6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5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ore-KR" altLang="ko-Kore-KR" sz="1800" dirty="0">
                <a:latin typeface="KaiTi" panose="02010609060101010101" pitchFamily="49" charset="-122"/>
              </a:rPr>
              <a:t>重复执行，从</a:t>
            </a:r>
            <a:r>
              <a:rPr lang="en-US" altLang="ko-Kore-KR" sz="1800" dirty="0">
                <a:latin typeface="KaiTi" panose="02010609060101010101" pitchFamily="49" charset="-122"/>
                <a:ea typeface="KaiTi" panose="02010609060101010101" pitchFamily="49" charset="-122"/>
              </a:rPr>
              <a:t> k = 1 </a:t>
            </a:r>
            <a:r>
              <a:rPr lang="ko-Kore-KR" altLang="ko-Kore-KR" sz="1800" dirty="0">
                <a:latin typeface="KaiTi" panose="02010609060101010101" pitchFamily="49" charset="-122"/>
              </a:rPr>
              <a:t>开始直至</a:t>
            </a:r>
            <a:r>
              <a:rPr lang="en-US" altLang="ko-Kore-KR" sz="1800" dirty="0">
                <a:latin typeface="KaiTi" panose="02010609060101010101" pitchFamily="49" charset="-122"/>
                <a:ea typeface="KaiTi" panose="02010609060101010101" pitchFamily="49" charset="-122"/>
              </a:rPr>
              <a:t> k &lt;= </a:t>
            </a:r>
            <a:r>
              <a:rPr lang="ko-Kore-KR" altLang="ko-Kore-KR" sz="1800" dirty="0">
                <a:latin typeface="KaiTi" panose="02010609060101010101" pitchFamily="49" charset="-122"/>
              </a:rPr>
              <a:t>长度</a:t>
            </a:r>
          </a:p>
          <a:p>
            <a:pPr lvl="1"/>
            <a:r>
              <a:rPr lang="ko-Kore-KR" altLang="ko-Kore-KR" sz="1800" dirty="0">
                <a:latin typeface="KaiTi" panose="02010609060101010101" pitchFamily="49" charset="-122"/>
              </a:rPr>
              <a:t>扫描数据库以查找</a:t>
            </a:r>
            <a:r>
              <a:rPr lang="en-US" altLang="ko-Kore-KR" sz="1800" dirty="0">
                <a:latin typeface="KaiTi" panose="02010609060101010101" pitchFamily="49" charset="-122"/>
                <a:ea typeface="KaiTi" panose="02010609060101010101" pitchFamily="49" charset="-122"/>
              </a:rPr>
              <a:t> “</a:t>
            </a:r>
            <a:r>
              <a:rPr lang="ko-Kore-KR" altLang="ko-Kore-KR" sz="1800" dirty="0">
                <a:latin typeface="KaiTi" panose="02010609060101010101" pitchFamily="49" charset="-122"/>
              </a:rPr>
              <a:t>长度</a:t>
            </a:r>
            <a:r>
              <a:rPr lang="en-US" altLang="ko-Kore-KR" sz="1800" dirty="0">
                <a:latin typeface="KaiTi" panose="02010609060101010101" pitchFamily="49" charset="-122"/>
                <a:ea typeface="KaiTi" panose="02010609060101010101" pitchFamily="49" charset="-122"/>
              </a:rPr>
              <a:t>-k” </a:t>
            </a:r>
            <a:r>
              <a:rPr lang="ko-Kore-KR" altLang="ko-Kore-KR" sz="1800" dirty="0">
                <a:latin typeface="KaiTi" panose="02010609060101010101" pitchFamily="49" charset="-122"/>
              </a:rPr>
              <a:t>的高频序列</a:t>
            </a:r>
          </a:p>
          <a:p>
            <a:pPr lvl="1"/>
            <a:r>
              <a:rPr lang="ko-Kore-KR" altLang="ko-Kore-KR" sz="1800" dirty="0">
                <a:latin typeface="KaiTi" panose="02010609060101010101" pitchFamily="49" charset="-122"/>
              </a:rPr>
              <a:t>使用 </a:t>
            </a:r>
            <a:r>
              <a:rPr lang="en-US" altLang="ko-Kore-KR" sz="1800" b="1" dirty="0" err="1">
                <a:latin typeface="KaiTi" panose="02010609060101010101" pitchFamily="49" charset="-122"/>
                <a:ea typeface="KaiTi" panose="02010609060101010101" pitchFamily="49" charset="-122"/>
              </a:rPr>
              <a:t>Apriori</a:t>
            </a:r>
            <a:r>
              <a:rPr lang="en-US" altLang="ko-Kore-KR" sz="1800" dirty="0"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lang="ko-Kore-KR" altLang="ko-Kore-KR" sz="1800" dirty="0">
                <a:latin typeface="KaiTi" panose="02010609060101010101" pitchFamily="49" charset="-122"/>
              </a:rPr>
              <a:t>算法从</a:t>
            </a:r>
            <a:r>
              <a:rPr lang="en-US" altLang="ko-Kore-KR" sz="1800" dirty="0">
                <a:latin typeface="KaiTi" panose="02010609060101010101" pitchFamily="49" charset="-122"/>
                <a:ea typeface="KaiTi" panose="02010609060101010101" pitchFamily="49" charset="-122"/>
              </a:rPr>
              <a:t> “</a:t>
            </a:r>
            <a:r>
              <a:rPr lang="ko-Kore-KR" altLang="ko-Kore-KR" sz="1800" dirty="0">
                <a:latin typeface="KaiTi" panose="02010609060101010101" pitchFamily="49" charset="-122"/>
              </a:rPr>
              <a:t>长度</a:t>
            </a:r>
            <a:r>
              <a:rPr lang="en-US" altLang="ko-Kore-KR" sz="1800" dirty="0">
                <a:latin typeface="KaiTi" panose="02010609060101010101" pitchFamily="49" charset="-122"/>
                <a:ea typeface="KaiTi" panose="02010609060101010101" pitchFamily="49" charset="-122"/>
              </a:rPr>
              <a:t>-k” </a:t>
            </a:r>
            <a:r>
              <a:rPr lang="ko-Kore-KR" altLang="ko-Kore-KR" sz="1800" dirty="0">
                <a:latin typeface="KaiTi" panose="02010609060101010101" pitchFamily="49" charset="-122"/>
              </a:rPr>
              <a:t>的高频序列中生成</a:t>
            </a:r>
            <a:r>
              <a:rPr lang="en-US" altLang="ko-Kore-KR" sz="1800" dirty="0">
                <a:latin typeface="KaiTi" panose="02010609060101010101" pitchFamily="49" charset="-122"/>
                <a:ea typeface="KaiTi" panose="02010609060101010101" pitchFamily="49" charset="-122"/>
              </a:rPr>
              <a:t> “</a:t>
            </a:r>
            <a:r>
              <a:rPr lang="ko-Kore-KR" altLang="ko-Kore-KR" sz="1800" dirty="0">
                <a:latin typeface="KaiTi" panose="02010609060101010101" pitchFamily="49" charset="-122"/>
              </a:rPr>
              <a:t>长度</a:t>
            </a:r>
            <a:r>
              <a:rPr lang="en-US" altLang="ko-Kore-KR" sz="1800" dirty="0">
                <a:latin typeface="KaiTi" panose="02010609060101010101" pitchFamily="49" charset="-122"/>
                <a:ea typeface="KaiTi" panose="02010609060101010101" pitchFamily="49" charset="-122"/>
              </a:rPr>
              <a:t>-(k+1)” </a:t>
            </a:r>
            <a:r>
              <a:rPr lang="ko-Kore-KR" altLang="ko-Kore-KR" sz="1800" dirty="0">
                <a:latin typeface="KaiTi" panose="02010609060101010101" pitchFamily="49" charset="-122"/>
              </a:rPr>
              <a:t>的候选序列</a:t>
            </a:r>
          </a:p>
          <a:p>
            <a:pPr lvl="1"/>
            <a:r>
              <a:rPr lang="ko-Kore-KR" altLang="ko-Kore-KR" sz="1800" dirty="0">
                <a:latin typeface="KaiTi" panose="02010609060101010101" pitchFamily="49" charset="-122"/>
              </a:rPr>
              <a:t>设置</a:t>
            </a:r>
            <a:r>
              <a:rPr lang="en-US" altLang="ko-Kore-KR" sz="1800" dirty="0">
                <a:latin typeface="KaiTi" panose="02010609060101010101" pitchFamily="49" charset="-122"/>
                <a:ea typeface="KaiTi" panose="02010609060101010101" pitchFamily="49" charset="-122"/>
              </a:rPr>
              <a:t> k = k+1</a:t>
            </a:r>
            <a:endParaRPr lang="ko-Kore-KR" altLang="ko-Kore-KR" sz="1800" dirty="0">
              <a:latin typeface="KaiTi" panose="02010609060101010101" pitchFamily="49" charset="-122"/>
            </a:endParaRPr>
          </a:p>
          <a:p>
            <a:r>
              <a:rPr lang="ko-Kore-KR" altLang="ko-Kore-KR" sz="1800" dirty="0">
                <a:latin typeface="KaiTi" panose="02010609060101010101" pitchFamily="49" charset="-122"/>
              </a:rPr>
              <a:t>直至无法找到高频序列或候选序列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2AA4E9-10E4-5E2C-5FD6-F9DF5C717ABB}"/>
              </a:ext>
            </a:extLst>
          </p:cNvPr>
          <p:cNvSpPr txBox="1"/>
          <p:nvPr/>
        </p:nvSpPr>
        <p:spPr>
          <a:xfrm>
            <a:off x="3471465" y="4274639"/>
            <a:ext cx="2157176" cy="384721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>
                <a:latin typeface="KaiTi" panose="02010609060101010101" pitchFamily="49" charset="-122"/>
                <a:ea typeface="KaiTi" panose="02010609060101010101" pitchFamily="49" charset="-122"/>
              </a:rPr>
              <a:t>GSP算法</a:t>
            </a:r>
            <a:endParaRPr 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8990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079EB-097F-6EC7-13D4-30336F905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BB2B119-5CE9-A948-A13A-11CB29506A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12192000" cy="5334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dirty="0">
                <a:ea typeface="STKaiti" panose="02010600040101010101" pitchFamily="2" charset="-122"/>
              </a:rPr>
              <a:t>GSP: </a:t>
            </a:r>
            <a:r>
              <a:rPr lang="en-US" altLang="en-US" sz="4000" dirty="0" err="1">
                <a:ea typeface="STKaiti" panose="02010600040101010101" pitchFamily="2" charset="-122"/>
              </a:rPr>
              <a:t>Apriori</a:t>
            </a:r>
            <a:r>
              <a:rPr lang="en-US" altLang="en-US" sz="4000" dirty="0">
                <a:ea typeface="STKaiti" panose="02010600040101010101" pitchFamily="2" charset="-122"/>
              </a:rPr>
              <a:t>-Based Sequential Pattern Mining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E655561C-9E89-598D-AA11-44B087CA3A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163784"/>
            <a:ext cx="7511845" cy="1676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ea typeface="STKaiti" panose="02010600040101010101" pitchFamily="2" charset="-122"/>
              </a:rPr>
              <a:t>Example: Generate </a:t>
            </a:r>
            <a:r>
              <a:rPr lang="en-US" altLang="en-US" sz="2400" u="sng" dirty="0">
                <a:ea typeface="STKaiti" panose="02010600040101010101" pitchFamily="2" charset="-122"/>
              </a:rPr>
              <a:t>length-2 </a:t>
            </a:r>
            <a:r>
              <a:rPr lang="en-US" altLang="en-US" sz="2400" dirty="0">
                <a:ea typeface="STKaiti" panose="02010600040101010101" pitchFamily="2" charset="-122"/>
              </a:rPr>
              <a:t>candidate sequences</a:t>
            </a:r>
          </a:p>
        </p:txBody>
      </p:sp>
      <p:graphicFrame>
        <p:nvGraphicFramePr>
          <p:cNvPr id="35" name="Group 3">
            <a:extLst>
              <a:ext uri="{FF2B5EF4-FFF2-40B4-BE49-F238E27FC236}">
                <a16:creationId xmlns:a16="http://schemas.microsoft.com/office/drawing/2014/main" id="{E983B285-F493-2E19-4AE7-E6D0B1138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978509"/>
              </p:ext>
            </p:extLst>
          </p:nvPr>
        </p:nvGraphicFramePr>
        <p:xfrm>
          <a:off x="304800" y="2118963"/>
          <a:ext cx="5892800" cy="2039688"/>
        </p:xfrm>
        <a:graphic>
          <a:graphicData uri="http://schemas.openxmlformats.org/drawingml/2006/table">
            <a:tbl>
              <a:tblPr/>
              <a:tblGrid>
                <a:gridCol w="7678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14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32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50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88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66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&lt;a&gt;</a:t>
                      </a: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&lt;b&gt;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&lt;c&gt;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&lt;d&gt;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&lt;e&gt;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&lt;f&gt;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6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&lt;a&gt;</a:t>
                      </a: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&lt;aa&gt;</a:t>
                      </a: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&lt;ab&gt;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&lt;ac&gt;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&lt;ad&gt;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&lt;ae&gt;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sng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af</a:t>
                      </a:r>
                      <a:r>
                        <a:rPr kumimoji="0" lang="en-US" sz="16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6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&lt;b&gt;</a:t>
                      </a: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ba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&lt;bb&gt;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bc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&lt;bd&gt;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&lt;be&gt;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&lt;bf&gt;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6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&lt;c&gt;</a:t>
                      </a: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&lt;ca&gt;</a:t>
                      </a: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cb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&lt;cc&gt;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&lt;cd&gt;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sng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ce</a:t>
                      </a:r>
                      <a:r>
                        <a:rPr kumimoji="0" lang="en-US" sz="16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sng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cf</a:t>
                      </a:r>
                      <a:r>
                        <a:rPr kumimoji="0" lang="en-US" sz="16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6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&lt;d&gt;</a:t>
                      </a: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&lt;da&gt;</a:t>
                      </a: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db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&lt;dc&gt;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sng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dd</a:t>
                      </a:r>
                      <a:r>
                        <a:rPr kumimoji="0" lang="en-US" sz="16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&lt;de&gt;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sng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df</a:t>
                      </a:r>
                      <a:r>
                        <a:rPr kumimoji="0" lang="en-US" sz="16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66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&lt;e&gt;</a:t>
                      </a: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sng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ea</a:t>
                      </a:r>
                      <a:r>
                        <a:rPr kumimoji="0" lang="en-US" sz="16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sng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eb</a:t>
                      </a:r>
                      <a:r>
                        <a:rPr kumimoji="0" lang="en-US" sz="16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sng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ec</a:t>
                      </a:r>
                      <a:r>
                        <a:rPr kumimoji="0" lang="en-US" sz="16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sng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ed</a:t>
                      </a:r>
                      <a:r>
                        <a:rPr kumimoji="0" lang="en-US" sz="16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sng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ee</a:t>
                      </a:r>
                      <a:r>
                        <a:rPr kumimoji="0" lang="en-US" sz="16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sng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ef</a:t>
                      </a:r>
                      <a:r>
                        <a:rPr kumimoji="0" lang="en-US" sz="16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66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&lt;f&gt;</a:t>
                      </a: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&lt;fa&gt;</a:t>
                      </a: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&lt;fb&gt;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&lt;fc&gt;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sng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fd</a:t>
                      </a:r>
                      <a:r>
                        <a:rPr kumimoji="0" lang="en-US" sz="16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sng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fe</a:t>
                      </a:r>
                      <a:r>
                        <a:rPr kumimoji="0" lang="en-US" sz="16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ff</a:t>
                      </a:r>
                      <a:r>
                        <a:rPr kumimoji="0" lang="en-US" sz="16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6" name="Group 69">
            <a:extLst>
              <a:ext uri="{FF2B5EF4-FFF2-40B4-BE49-F238E27FC236}">
                <a16:creationId xmlns:a16="http://schemas.microsoft.com/office/drawing/2014/main" id="{E2D75A02-D10B-F847-72BF-C4E0239EC4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706507"/>
              </p:ext>
            </p:extLst>
          </p:nvPr>
        </p:nvGraphicFramePr>
        <p:xfrm>
          <a:off x="304800" y="4728159"/>
          <a:ext cx="5994400" cy="1952604"/>
        </p:xfrm>
        <a:graphic>
          <a:graphicData uri="http://schemas.openxmlformats.org/drawingml/2006/table">
            <a:tbl>
              <a:tblPr/>
              <a:tblGrid>
                <a:gridCol w="699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90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&lt;a&gt;</a:t>
                      </a: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&lt;b&gt;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&lt;c&gt;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&lt;d&gt;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&lt;e&gt;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&lt;f&gt;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&lt;a&gt;</a:t>
                      </a: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&lt;(ab)&gt;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&lt;(ac)&gt;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&lt;(ad)&gt;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&lt;(ae)&gt;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</a:t>
                      </a:r>
                      <a:r>
                        <a:rPr kumimoji="0" lang="en-US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af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&lt;b&gt;</a:t>
                      </a: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</a:t>
                      </a:r>
                      <a:r>
                        <a:rPr kumimoji="0" lang="en-US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bc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</a:t>
                      </a:r>
                      <a:r>
                        <a:rPr kumimoji="0" lang="en-US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bd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&lt;(be)&gt;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&lt;(bf)&gt;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&lt;c&gt;</a:t>
                      </a: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&lt;(cd)&gt;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</a:t>
                      </a:r>
                      <a:r>
                        <a:rPr kumimoji="0" lang="en-US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ce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</a:t>
                      </a:r>
                      <a:r>
                        <a:rPr kumimoji="0" lang="en-US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cf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&lt;d&gt;</a:t>
                      </a: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&lt;(de)&gt;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</a:t>
                      </a:r>
                      <a:r>
                        <a:rPr kumimoji="0" lang="en-US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df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&lt;e&gt;</a:t>
                      </a: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</a:t>
                      </a:r>
                      <a:r>
                        <a:rPr kumimoji="0" lang="en-US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ef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)&gt;</a:t>
                      </a: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&lt;f&gt;</a:t>
                      </a: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9B8B846-85DB-2DFB-44E9-58C3A64A34A4}"/>
              </a:ext>
            </a:extLst>
          </p:cNvPr>
          <p:cNvSpPr txBox="1"/>
          <p:nvPr/>
        </p:nvSpPr>
        <p:spPr>
          <a:xfrm>
            <a:off x="1468223" y="1642073"/>
            <a:ext cx="400635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TKaiti" panose="02010600040101010101" pitchFamily="2" charset="-122"/>
                <a:ea typeface="STKaiti" panose="02010600040101010101" pitchFamily="2" charset="-122"/>
              </a:rPr>
              <a:t>singleton * singleton – </a:t>
            </a:r>
            <a:r>
              <a:rPr lang="en-US" i="1" dirty="0">
                <a:latin typeface="STKaiti" panose="02010600040101010101" pitchFamily="2" charset="-122"/>
                <a:ea typeface="STKaiti" panose="02010600040101010101" pitchFamily="2" charset="-122"/>
              </a:rPr>
              <a:t>Total: </a:t>
            </a:r>
            <a:r>
              <a:rPr lang="en-US" dirty="0">
                <a:latin typeface="STKaiti" panose="02010600040101010101" pitchFamily="2" charset="-122"/>
                <a:ea typeface="STKaiti" panose="02010600040101010101" pitchFamily="2" charset="-122"/>
              </a:rPr>
              <a:t>(6 * 6)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7EDE44-DAC0-7836-882F-318FB3913650}"/>
              </a:ext>
            </a:extLst>
          </p:cNvPr>
          <p:cNvSpPr txBox="1"/>
          <p:nvPr/>
        </p:nvSpPr>
        <p:spPr>
          <a:xfrm>
            <a:off x="1519023" y="4303785"/>
            <a:ext cx="357963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TKaiti" panose="02010600040101010101" pitchFamily="2" charset="-122"/>
                <a:ea typeface="STKaiti" panose="02010600040101010101" pitchFamily="2" charset="-122"/>
              </a:rPr>
              <a:t>Sets (unordered) – </a:t>
            </a:r>
            <a:r>
              <a:rPr lang="en-US" i="1" dirty="0">
                <a:latin typeface="STKaiti" panose="02010600040101010101" pitchFamily="2" charset="-122"/>
                <a:ea typeface="STKaiti" panose="02010600040101010101" pitchFamily="2" charset="-122"/>
              </a:rPr>
              <a:t>Total</a:t>
            </a:r>
            <a:r>
              <a:rPr lang="en-US" dirty="0">
                <a:latin typeface="STKaiti" panose="02010600040101010101" pitchFamily="2" charset="-122"/>
                <a:ea typeface="STKaiti" panose="02010600040101010101" pitchFamily="2" charset="-122"/>
              </a:rPr>
              <a:t>: (6*5) /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931115-5304-E7C5-4264-3AC245FFAF9A}"/>
              </a:ext>
            </a:extLst>
          </p:cNvPr>
          <p:cNvSpPr txBox="1"/>
          <p:nvPr/>
        </p:nvSpPr>
        <p:spPr>
          <a:xfrm>
            <a:off x="6441998" y="1899582"/>
            <a:ext cx="5643506" cy="2694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altLang="en-US" sz="2000" b="1" u="sng" dirty="0">
                <a:ea typeface="STKaiti" panose="02010600040101010101" pitchFamily="2" charset="-122"/>
              </a:rPr>
              <a:t>length-2 </a:t>
            </a:r>
            <a:r>
              <a:rPr lang="en-US" altLang="en-US" sz="2000" b="1" dirty="0">
                <a:ea typeface="STKaiti" panose="02010600040101010101" pitchFamily="2" charset="-122"/>
              </a:rPr>
              <a:t>candidate sequences</a:t>
            </a:r>
            <a:endParaRPr lang="en-US" altLang="ko-KR" sz="2000" b="1" dirty="0">
              <a:effectLst/>
              <a:latin typeface="KaiTi" panose="02010609060101010101" pitchFamily="49" charset="-122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&lt;(bd)&gt;: 2,&lt;(bf)&gt;: 2,&lt;(</a:t>
            </a:r>
            <a:r>
              <a:rPr lang="en-US" altLang="ko-KR" sz="2000" dirty="0" err="1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ce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)&gt;: 2</a:t>
            </a:r>
            <a:r>
              <a:rPr lang="en-US" altLang="ko-KR" sz="2000" dirty="0"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,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&lt;bb&gt;: 4,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&lt;</a:t>
            </a:r>
            <a:r>
              <a:rPr lang="en-US" altLang="ko-KR" sz="2000" dirty="0" err="1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bc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&gt;: 4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&lt;</a:t>
            </a:r>
            <a:r>
              <a:rPr lang="en-US" altLang="ko-KR" sz="2000" dirty="0" err="1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ba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&gt;: 3, &lt;be&gt;: 3,&lt;</a:t>
            </a:r>
            <a:r>
              <a:rPr lang="en-US" altLang="ko-KR" sz="2000" dirty="0" err="1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cb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&gt;: 3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&lt;aa&gt;: 2,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&lt;ab&gt;: 2, &lt;bd&gt;: 2,</a:t>
            </a:r>
            <a:r>
              <a:rPr lang="en-US" altLang="ko-KR" sz="2000" dirty="0"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&lt;bf&gt;: 2, &lt;ca&gt;: 2, 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&lt;cd&gt;: 2, &lt;da&gt;: 2,&lt;</a:t>
            </a:r>
            <a:r>
              <a:rPr lang="en-US" altLang="ko-KR" sz="2000" dirty="0" err="1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db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&gt;: 2, &lt;dc&gt;: 2, &lt;fb&gt;: 2,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&lt;ff&gt;: 2</a:t>
            </a:r>
            <a:endParaRPr lang="ko-KR" altLang="ko-KR" sz="20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735660F-950D-A7FD-7DB9-DF3139636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0782" y="4818312"/>
            <a:ext cx="2181218" cy="203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649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0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7ECF1-3A42-6D0C-22D9-EEBD77D03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837A8DC-E168-E0E0-EFC8-1B02669175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12192000" cy="5334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dirty="0">
                <a:ea typeface="STKaiti" panose="02010600040101010101" pitchFamily="2" charset="-122"/>
              </a:rPr>
              <a:t>GSP: </a:t>
            </a:r>
            <a:r>
              <a:rPr lang="en-US" altLang="en-US" sz="4000" dirty="0" err="1">
                <a:ea typeface="STKaiti" panose="02010600040101010101" pitchFamily="2" charset="-122"/>
              </a:rPr>
              <a:t>Apriori</a:t>
            </a:r>
            <a:r>
              <a:rPr lang="en-US" altLang="en-US" sz="4000" dirty="0">
                <a:ea typeface="STKaiti" panose="02010600040101010101" pitchFamily="2" charset="-122"/>
              </a:rPr>
              <a:t>-Based Sequential Pattern Mining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0EA7E148-6898-A8A4-E5D7-65C3FE644D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163784"/>
            <a:ext cx="7511845" cy="400611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ea typeface="STKaiti" panose="02010600040101010101" pitchFamily="2" charset="-122"/>
              </a:rPr>
              <a:t>Example: Generate </a:t>
            </a:r>
            <a:r>
              <a:rPr lang="en-US" altLang="en-US" sz="2400" u="sng" dirty="0">
                <a:ea typeface="STKaiti" panose="02010600040101010101" pitchFamily="2" charset="-122"/>
              </a:rPr>
              <a:t>length-3 </a:t>
            </a:r>
            <a:r>
              <a:rPr lang="en-US" altLang="en-US" sz="2400" dirty="0">
                <a:ea typeface="STKaiti" panose="02010600040101010101" pitchFamily="2" charset="-122"/>
              </a:rPr>
              <a:t>candidate sequences</a:t>
            </a:r>
          </a:p>
        </p:txBody>
      </p:sp>
      <p:graphicFrame>
        <p:nvGraphicFramePr>
          <p:cNvPr id="8" name="Table 64">
            <a:extLst>
              <a:ext uri="{FF2B5EF4-FFF2-40B4-BE49-F238E27FC236}">
                <a16:creationId xmlns:a16="http://schemas.microsoft.com/office/drawing/2014/main" id="{7FB1CE9C-56A1-BF34-B0D8-1B260A3A63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555412"/>
              </p:ext>
            </p:extLst>
          </p:nvPr>
        </p:nvGraphicFramePr>
        <p:xfrm>
          <a:off x="9298294" y="1356499"/>
          <a:ext cx="2603500" cy="212249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8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SID   </a:t>
                      </a:r>
                    </a:p>
                  </a:txBody>
                  <a:tcPr marL="121920" marR="121920" marT="45693" marB="4569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Sequence</a:t>
                      </a:r>
                    </a:p>
                  </a:txBody>
                  <a:tcPr marL="121920" marR="121920" marT="45693" marB="4569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39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121920" marR="121920" marT="45693" marB="45693"/>
                </a:tc>
                <a:tc>
                  <a:txBody>
                    <a:bodyPr/>
                    <a:lstStyle/>
                    <a:p>
                      <a:pPr algn="ctr" ea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buFont typeface="Wingdings" pitchFamily="2" charset="2"/>
                        <a:buNone/>
                      </a:pP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&lt;(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bd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)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cb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(ac)&gt;</a:t>
                      </a:r>
                    </a:p>
                  </a:txBody>
                  <a:tcPr marL="121920" marR="121920" marT="45693" marB="4569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39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121920" marR="121920" marT="45693" marB="45693"/>
                </a:tc>
                <a:tc>
                  <a:txBody>
                    <a:bodyPr/>
                    <a:lstStyle/>
                    <a:p>
                      <a:pPr algn="ctr" ea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buFont typeface="Wingdings" pitchFamily="2" charset="2"/>
                        <a:buNone/>
                      </a:pP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&lt;(bf)(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ce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)b(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fg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)&gt;</a:t>
                      </a:r>
                    </a:p>
                  </a:txBody>
                  <a:tcPr marL="121920" marR="121920" marT="45693" marB="4569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39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121920" marR="121920" marT="45693" marB="45693"/>
                </a:tc>
                <a:tc>
                  <a:txBody>
                    <a:bodyPr/>
                    <a:lstStyle/>
                    <a:p>
                      <a:pPr algn="ctr" ea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buFont typeface="Wingdings" pitchFamily="2" charset="2"/>
                        <a:buNone/>
                      </a:pP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&lt;(ah)(bf)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abf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 marT="45693" marB="4569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24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121920" marR="121920" marT="45693" marB="45693"/>
                </a:tc>
                <a:tc>
                  <a:txBody>
                    <a:bodyPr/>
                    <a:lstStyle/>
                    <a:p>
                      <a:pPr algn="ctr" ea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buFont typeface="Wingdings" pitchFamily="2" charset="2"/>
                        <a:buNone/>
                      </a:pP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&lt;(be)(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ce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)d&gt;</a:t>
                      </a:r>
                    </a:p>
                  </a:txBody>
                  <a:tcPr marL="121920" marR="121920" marT="45693" marB="4569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39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121920" marR="121920" marT="45693" marB="4569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&lt;a(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bd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)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bcb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ade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)&gt;</a:t>
                      </a:r>
                    </a:p>
                  </a:txBody>
                  <a:tcPr marL="121920" marR="121920" marT="45693" marB="4569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86520BB-F0BE-3425-B4CC-9D5848B8E5E6}"/>
              </a:ext>
            </a:extLst>
          </p:cNvPr>
          <p:cNvSpPr txBox="1"/>
          <p:nvPr/>
        </p:nvSpPr>
        <p:spPr>
          <a:xfrm>
            <a:off x="9896348" y="950538"/>
            <a:ext cx="1445491" cy="4000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min_sup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=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BB4ABD-E8E7-4260-814D-E7A72C0B2AEA}"/>
              </a:ext>
            </a:extLst>
          </p:cNvPr>
          <p:cNvSpPr txBox="1"/>
          <p:nvPr/>
        </p:nvSpPr>
        <p:spPr>
          <a:xfrm>
            <a:off x="455459" y="1813779"/>
            <a:ext cx="7361186" cy="122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altLang="ko-KR" sz="18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&lt;a, b&gt;</a:t>
            </a:r>
            <a:r>
              <a:rPr lang="en-US" altLang="ko-KR" sz="18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 + </a:t>
            </a:r>
            <a:r>
              <a:rPr lang="en-US" altLang="ko-KR" sz="18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&lt;b, c&gt;</a:t>
            </a:r>
            <a:r>
              <a:rPr lang="en-US" altLang="ko-KR" sz="1800" dirty="0"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 -&gt; </a:t>
            </a:r>
            <a:r>
              <a:rPr lang="en-US" altLang="ko-KR" sz="18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&lt;a, b, c&gt;</a:t>
            </a:r>
            <a:endParaRPr lang="ko-KR" altLang="ko-KR" sz="18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altLang="ko-KR" sz="18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&lt;(a b)&gt; + &lt;(b c)&gt; -&gt;</a:t>
            </a:r>
            <a:r>
              <a:rPr lang="zh-CN" altLang="ko-KR" sz="18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ko-KR" sz="18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&lt;(a b c)&gt; </a:t>
            </a:r>
            <a:r>
              <a:rPr lang="zh-CN" altLang="ko-KR" sz="18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（同一元素里的无序项合并）</a:t>
            </a:r>
            <a:endParaRPr lang="ko-KR" altLang="ko-KR" sz="18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altLang="ko-KR" sz="18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&lt;(a b), c</a:t>
            </a:r>
            <a:r>
              <a:rPr lang="en-US" altLang="ko-KR" sz="1800" dirty="0"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&gt; + </a:t>
            </a:r>
            <a:r>
              <a:rPr lang="en-US" altLang="ko-KR" sz="18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&lt;c, d&gt;</a:t>
            </a:r>
            <a:r>
              <a:rPr lang="en-US" altLang="ko-KR" sz="1800" dirty="0"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 -&gt; </a:t>
            </a:r>
            <a:r>
              <a:rPr lang="en-US" altLang="ko-KR" sz="18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&lt;(a b), c, d&gt;</a:t>
            </a:r>
            <a:endParaRPr lang="ko-KR" altLang="ko-KR" sz="18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01B5B0-8335-1562-6582-B5CCE2F02726}"/>
              </a:ext>
            </a:extLst>
          </p:cNvPr>
          <p:cNvSpPr txBox="1"/>
          <p:nvPr/>
        </p:nvSpPr>
        <p:spPr>
          <a:xfrm>
            <a:off x="455459" y="3280986"/>
            <a:ext cx="7818208" cy="800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ko-KR" sz="1800" b="1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剪枝规则（</a:t>
            </a:r>
            <a:r>
              <a:rPr lang="en-US" altLang="ko-KR" sz="1800" b="1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pruning step</a:t>
            </a:r>
            <a:r>
              <a:rPr lang="zh-CN" altLang="ko-KR" sz="1800" b="1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）</a:t>
            </a:r>
            <a:endParaRPr lang="ko-KR" altLang="ko-KR" sz="18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ko-KR" sz="18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生成的</a:t>
            </a:r>
            <a:r>
              <a:rPr lang="en-US" altLang="ko-KR" sz="18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 3-</a:t>
            </a:r>
            <a:r>
              <a:rPr lang="zh-CN" altLang="ko-KR" sz="18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项候选序列，每一个长度为</a:t>
            </a:r>
            <a:r>
              <a:rPr lang="en-US" altLang="ko-KR" sz="18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 2 </a:t>
            </a:r>
            <a:r>
              <a:rPr lang="zh-CN" altLang="ko-KR" sz="18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的子序列必须在</a:t>
            </a:r>
            <a:r>
              <a:rPr lang="en-US" altLang="ko-KR" sz="18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 L2 </a:t>
            </a:r>
            <a:r>
              <a:rPr lang="zh-CN" altLang="ko-KR" sz="18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中出现过。</a:t>
            </a:r>
            <a:endParaRPr lang="ko-KR" altLang="ko-KR" sz="18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CA228A-4FB7-371D-6C89-5C780C2F3CBD}"/>
              </a:ext>
            </a:extLst>
          </p:cNvPr>
          <p:cNvSpPr txBox="1"/>
          <p:nvPr/>
        </p:nvSpPr>
        <p:spPr>
          <a:xfrm>
            <a:off x="218570" y="4531435"/>
            <a:ext cx="11576822" cy="1314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en-US" sz="2000" b="1" u="sng" dirty="0">
                <a:ea typeface="STKaiti" panose="02010600040101010101" pitchFamily="2" charset="-122"/>
              </a:rPr>
              <a:t>length-3 </a:t>
            </a:r>
            <a:r>
              <a:rPr lang="en-US" altLang="en-US" sz="2000" b="1" dirty="0">
                <a:ea typeface="STKaiti" panose="02010600040101010101" pitchFamily="2" charset="-122"/>
              </a:rPr>
              <a:t>candidate sequences</a:t>
            </a:r>
            <a:endParaRPr lang="en-US" altLang="ko-KR" sz="2000" b="1" dirty="0">
              <a:effectLst/>
              <a:latin typeface="KaiTi" panose="02010609060101010101" pitchFamily="49" charset="-122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&lt;</a:t>
            </a:r>
            <a:r>
              <a:rPr lang="en-US" altLang="ko-KR" sz="2000" dirty="0" err="1"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bcb</a:t>
            </a:r>
            <a:r>
              <a:rPr lang="en-US" altLang="ko-KR" sz="2000" dirty="0"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&gt;:3 &lt;(bd)a&gt;:2 &lt;(bd)b&gt;:2 &lt;(bd)c&gt;:2 &lt;(bf)b&gt;:2 &lt;(bf)f&gt;:2 &lt;aba&gt;:2 &lt;abb&gt;:2 &lt;b(</a:t>
            </a:r>
            <a:r>
              <a:rPr lang="en-US" altLang="ko-KR" sz="2000" dirty="0" err="1"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ce</a:t>
            </a:r>
            <a:r>
              <a:rPr lang="en-US" altLang="ko-KR" sz="2000" dirty="0"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)&gt;:2</a:t>
            </a:r>
            <a:endParaRPr lang="ko-KR" altLang="ko-KR" sz="2000" dirty="0">
              <a:latin typeface="KaiTi" panose="02010609060101010101" pitchFamily="49" charset="-122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ko-KR" sz="2000" dirty="0"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&lt;</a:t>
            </a:r>
            <a:r>
              <a:rPr lang="en-US" altLang="ko-KR" sz="2000" dirty="0" err="1"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bba</a:t>
            </a:r>
            <a:r>
              <a:rPr lang="en-US" altLang="ko-KR" sz="2000" dirty="0"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&gt;:2 &lt;</a:t>
            </a:r>
            <a:r>
              <a:rPr lang="en-US" altLang="ko-KR" sz="2000" dirty="0" err="1"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bbc</a:t>
            </a:r>
            <a:r>
              <a:rPr lang="en-US" altLang="ko-KR" sz="2000" dirty="0"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&gt;:2 &lt;</a:t>
            </a:r>
            <a:r>
              <a:rPr lang="en-US" altLang="ko-KR" sz="2000" dirty="0" err="1"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bbf</a:t>
            </a:r>
            <a:r>
              <a:rPr lang="en-US" altLang="ko-KR" sz="2000" dirty="0"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&gt;:2 &lt;</a:t>
            </a:r>
            <a:r>
              <a:rPr lang="en-US" altLang="ko-KR" sz="2000" dirty="0" err="1"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bca</a:t>
            </a:r>
            <a:r>
              <a:rPr lang="en-US" altLang="ko-KR" sz="2000" dirty="0"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&gt;:2 &lt;</a:t>
            </a:r>
            <a:r>
              <a:rPr lang="en-US" altLang="ko-KR" sz="2000" dirty="0" err="1"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bcd</a:t>
            </a:r>
            <a:r>
              <a:rPr lang="en-US" altLang="ko-KR" sz="2000" dirty="0"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&gt;:2 &lt;cba&gt;:2 &lt;dba&gt;:2 &lt;</a:t>
            </a:r>
            <a:r>
              <a:rPr lang="en-US" altLang="ko-KR" sz="2000" dirty="0" err="1"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dbc</a:t>
            </a:r>
            <a:r>
              <a:rPr lang="en-US" altLang="ko-KR" sz="2000" dirty="0"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&gt;:2 &lt;</a:t>
            </a:r>
            <a:r>
              <a:rPr lang="en-US" altLang="ko-KR" sz="2000" dirty="0" err="1"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dca</a:t>
            </a:r>
            <a:r>
              <a:rPr lang="en-US" altLang="ko-KR" sz="2000" dirty="0"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&gt;:2 &lt;</a:t>
            </a:r>
            <a:r>
              <a:rPr lang="en-US" altLang="ko-KR" sz="2000" dirty="0" err="1"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dcb</a:t>
            </a:r>
            <a:r>
              <a:rPr lang="en-US" altLang="ko-KR" sz="2000" dirty="0"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&gt;:2 &lt;</a:t>
            </a:r>
            <a:r>
              <a:rPr lang="en-US" altLang="ko-KR" sz="2000" dirty="0" err="1"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fbf</a:t>
            </a:r>
            <a:r>
              <a:rPr lang="en-US" altLang="ko-KR" sz="2000" dirty="0"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&gt;:2</a:t>
            </a:r>
            <a:endParaRPr lang="ko-KR" altLang="ko-KR" sz="2000" dirty="0">
              <a:latin typeface="KaiTi" panose="02010609060101010101" pitchFamily="49" charset="-122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2964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E6AEF-9E12-4EC4-B9CE-03D1C2363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7823768-A083-B225-5420-F1CB2FD92B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12192000" cy="5334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dirty="0">
                <a:ea typeface="STKaiti" panose="02010600040101010101" pitchFamily="2" charset="-122"/>
              </a:rPr>
              <a:t>GSP: </a:t>
            </a:r>
            <a:r>
              <a:rPr lang="en-US" altLang="en-US" sz="4000" dirty="0" err="1">
                <a:ea typeface="STKaiti" panose="02010600040101010101" pitchFamily="2" charset="-122"/>
              </a:rPr>
              <a:t>Apriori</a:t>
            </a:r>
            <a:r>
              <a:rPr lang="en-US" altLang="en-US" sz="4000" dirty="0">
                <a:ea typeface="STKaiti" panose="02010600040101010101" pitchFamily="2" charset="-122"/>
              </a:rPr>
              <a:t>-Based Sequential Pattern Mining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131E40FC-8417-B053-E57E-1D95D7B48B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163784"/>
            <a:ext cx="7511845" cy="400611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ea typeface="STKaiti" panose="02010600040101010101" pitchFamily="2" charset="-122"/>
              </a:rPr>
              <a:t>Example: Generate </a:t>
            </a:r>
            <a:r>
              <a:rPr lang="en-US" altLang="en-US" sz="2400" u="sng" dirty="0">
                <a:ea typeface="STKaiti" panose="02010600040101010101" pitchFamily="2" charset="-122"/>
              </a:rPr>
              <a:t>length-4 </a:t>
            </a:r>
            <a:r>
              <a:rPr lang="en-US" altLang="en-US" sz="2400" dirty="0">
                <a:ea typeface="STKaiti" panose="02010600040101010101" pitchFamily="2" charset="-122"/>
              </a:rPr>
              <a:t>candidate sequences</a:t>
            </a:r>
          </a:p>
        </p:txBody>
      </p:sp>
      <p:graphicFrame>
        <p:nvGraphicFramePr>
          <p:cNvPr id="8" name="Table 64">
            <a:extLst>
              <a:ext uri="{FF2B5EF4-FFF2-40B4-BE49-F238E27FC236}">
                <a16:creationId xmlns:a16="http://schemas.microsoft.com/office/drawing/2014/main" id="{DCA2BFEB-D946-4144-A16D-BBBE72D370EB}"/>
              </a:ext>
            </a:extLst>
          </p:cNvPr>
          <p:cNvGraphicFramePr>
            <a:graphicFrameLocks noGrp="1"/>
          </p:cNvGraphicFramePr>
          <p:nvPr/>
        </p:nvGraphicFramePr>
        <p:xfrm>
          <a:off x="9298294" y="1356499"/>
          <a:ext cx="2603500" cy="212249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8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SID   </a:t>
                      </a:r>
                    </a:p>
                  </a:txBody>
                  <a:tcPr marL="121920" marR="121920" marT="45693" marB="4569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Sequence</a:t>
                      </a:r>
                    </a:p>
                  </a:txBody>
                  <a:tcPr marL="121920" marR="121920" marT="45693" marB="4569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39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121920" marR="121920" marT="45693" marB="45693"/>
                </a:tc>
                <a:tc>
                  <a:txBody>
                    <a:bodyPr/>
                    <a:lstStyle/>
                    <a:p>
                      <a:pPr algn="ctr" ea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buFont typeface="Wingdings" pitchFamily="2" charset="2"/>
                        <a:buNone/>
                      </a:pP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&lt;(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bd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)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cb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(ac)&gt;</a:t>
                      </a:r>
                    </a:p>
                  </a:txBody>
                  <a:tcPr marL="121920" marR="121920" marT="45693" marB="4569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39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121920" marR="121920" marT="45693" marB="45693"/>
                </a:tc>
                <a:tc>
                  <a:txBody>
                    <a:bodyPr/>
                    <a:lstStyle/>
                    <a:p>
                      <a:pPr algn="ctr" ea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buFont typeface="Wingdings" pitchFamily="2" charset="2"/>
                        <a:buNone/>
                      </a:pP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&lt;(bf)(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ce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)b(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fg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)&gt;</a:t>
                      </a:r>
                    </a:p>
                  </a:txBody>
                  <a:tcPr marL="121920" marR="121920" marT="45693" marB="4569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39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121920" marR="121920" marT="45693" marB="45693"/>
                </a:tc>
                <a:tc>
                  <a:txBody>
                    <a:bodyPr/>
                    <a:lstStyle/>
                    <a:p>
                      <a:pPr algn="ctr" ea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buFont typeface="Wingdings" pitchFamily="2" charset="2"/>
                        <a:buNone/>
                      </a:pP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&lt;(ah)(bf)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abf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 marT="45693" marB="4569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24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121920" marR="121920" marT="45693" marB="45693"/>
                </a:tc>
                <a:tc>
                  <a:txBody>
                    <a:bodyPr/>
                    <a:lstStyle/>
                    <a:p>
                      <a:pPr algn="ctr" ea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buFont typeface="Wingdings" pitchFamily="2" charset="2"/>
                        <a:buNone/>
                      </a:pP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&lt;(be)(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ce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)d&gt;</a:t>
                      </a:r>
                    </a:p>
                  </a:txBody>
                  <a:tcPr marL="121920" marR="121920" marT="45693" marB="4569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39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121920" marR="121920" marT="45693" marB="4569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&lt;a(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bd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)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bcb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ade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)&gt;</a:t>
                      </a:r>
                    </a:p>
                  </a:txBody>
                  <a:tcPr marL="121920" marR="121920" marT="45693" marB="4569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539F235-948A-5936-B50E-7B5D00558A5E}"/>
              </a:ext>
            </a:extLst>
          </p:cNvPr>
          <p:cNvSpPr txBox="1"/>
          <p:nvPr/>
        </p:nvSpPr>
        <p:spPr>
          <a:xfrm>
            <a:off x="9896348" y="950538"/>
            <a:ext cx="1445491" cy="4000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min_sup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=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388BA8-8D5F-E0E0-A565-D59BDC474618}"/>
              </a:ext>
            </a:extLst>
          </p:cNvPr>
          <p:cNvSpPr txBox="1"/>
          <p:nvPr/>
        </p:nvSpPr>
        <p:spPr>
          <a:xfrm>
            <a:off x="455459" y="1813779"/>
            <a:ext cx="7741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atin typeface="STKaiti" panose="02010600040101010101" pitchFamily="2" charset="-122"/>
              </a:rPr>
              <a:t>&lt;(bd)</a:t>
            </a:r>
            <a:r>
              <a:rPr lang="en-US" altLang="ko-KR" sz="1800" dirty="0" err="1">
                <a:latin typeface="STKaiti" panose="02010600040101010101" pitchFamily="2" charset="-122"/>
              </a:rPr>
              <a:t>ba</a:t>
            </a:r>
            <a:r>
              <a:rPr lang="en-US" altLang="ko-KR" sz="1800" dirty="0">
                <a:latin typeface="STKaiti" panose="02010600040101010101" pitchFamily="2" charset="-122"/>
              </a:rPr>
              <a:t>&gt;:2 &lt;(bd)</a:t>
            </a:r>
            <a:r>
              <a:rPr lang="en-US" altLang="ko-KR" sz="1800" dirty="0" err="1">
                <a:latin typeface="STKaiti" panose="02010600040101010101" pitchFamily="2" charset="-122"/>
              </a:rPr>
              <a:t>bc</a:t>
            </a:r>
            <a:r>
              <a:rPr lang="en-US" altLang="ko-KR" sz="1800" dirty="0">
                <a:latin typeface="STKaiti" panose="02010600040101010101" pitchFamily="2" charset="-122"/>
              </a:rPr>
              <a:t>&gt;:2 &lt;(bd)ca&gt;:2 &lt;(bd)</a:t>
            </a:r>
            <a:r>
              <a:rPr lang="en-US" altLang="ko-KR" sz="1800" dirty="0" err="1">
                <a:latin typeface="STKaiti" panose="02010600040101010101" pitchFamily="2" charset="-122"/>
              </a:rPr>
              <a:t>cb</a:t>
            </a:r>
            <a:r>
              <a:rPr lang="en-US" altLang="ko-KR" sz="1800" dirty="0">
                <a:latin typeface="STKaiti" panose="02010600040101010101" pitchFamily="2" charset="-122"/>
              </a:rPr>
              <a:t>&gt;:2 &lt;(bf)bf&gt;:2 &lt;</a:t>
            </a:r>
            <a:r>
              <a:rPr lang="en-US" altLang="ko-KR" sz="1800" dirty="0" err="1">
                <a:latin typeface="STKaiti" panose="02010600040101010101" pitchFamily="2" charset="-122"/>
              </a:rPr>
              <a:t>bcba</a:t>
            </a:r>
            <a:r>
              <a:rPr lang="en-US" altLang="ko-KR" sz="1800" dirty="0">
                <a:latin typeface="STKaiti" panose="02010600040101010101" pitchFamily="2" charset="-122"/>
              </a:rPr>
              <a:t>&gt;:2 &lt;</a:t>
            </a:r>
            <a:r>
              <a:rPr lang="en-US" altLang="ko-KR" sz="1800" dirty="0" err="1">
                <a:latin typeface="STKaiti" panose="02010600040101010101" pitchFamily="2" charset="-122"/>
              </a:rPr>
              <a:t>dcba</a:t>
            </a:r>
            <a:r>
              <a:rPr lang="en-US" altLang="ko-KR" sz="1800" dirty="0">
                <a:latin typeface="STKaiti" panose="02010600040101010101" pitchFamily="2" charset="-122"/>
              </a:rPr>
              <a:t>&gt;:2</a:t>
            </a:r>
            <a:endParaRPr lang="ko-KR" altLang="ko-KR" sz="1800" dirty="0">
              <a:latin typeface="STKaiti" panose="02010600040101010101" pitchFamily="2" charset="-122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24E7C151-9F21-F163-7F3B-9319AAAAC683}"/>
              </a:ext>
            </a:extLst>
          </p:cNvPr>
          <p:cNvSpPr txBox="1">
            <a:spLocks noChangeArrowheads="1"/>
          </p:cNvSpPr>
          <p:nvPr/>
        </p:nvSpPr>
        <p:spPr>
          <a:xfrm>
            <a:off x="455459" y="2382364"/>
            <a:ext cx="7511845" cy="400611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STKaiti" panose="02010600040101010101" pitchFamily="2" charset="-122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STKaiti" panose="02010600040101010101" pitchFamily="2" charset="-122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STKaiti" panose="02010600040101010101" pitchFamily="2" charset="-122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STKaiti" panose="02010600040101010101" pitchFamily="2" charset="-122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STKaiti" panose="02010600040101010101" pitchFamily="2" charset="-122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400" dirty="0">
                <a:ea typeface="STKaiti" panose="02010600040101010101" pitchFamily="2" charset="-122"/>
              </a:rPr>
              <a:t>Example: </a:t>
            </a:r>
            <a:r>
              <a:rPr lang="en-US" altLang="en-US" sz="2400">
                <a:ea typeface="STKaiti" panose="02010600040101010101" pitchFamily="2" charset="-122"/>
              </a:rPr>
              <a:t>Generate </a:t>
            </a:r>
            <a:r>
              <a:rPr lang="en-US" altLang="en-US" sz="2400" u="sng">
                <a:ea typeface="STKaiti" panose="02010600040101010101" pitchFamily="2" charset="-122"/>
              </a:rPr>
              <a:t>length-5 </a:t>
            </a:r>
            <a:r>
              <a:rPr lang="en-US" altLang="en-US" sz="2400" dirty="0">
                <a:ea typeface="STKaiti" panose="02010600040101010101" pitchFamily="2" charset="-122"/>
              </a:rPr>
              <a:t>candidate sequences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936878-4609-C37A-04C0-C4C25892623A}"/>
              </a:ext>
            </a:extLst>
          </p:cNvPr>
          <p:cNvSpPr txBox="1"/>
          <p:nvPr/>
        </p:nvSpPr>
        <p:spPr>
          <a:xfrm>
            <a:off x="927348" y="2893358"/>
            <a:ext cx="2252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latin typeface="STKaiti" panose="02010600040101010101" pitchFamily="2" charset="-122"/>
              </a:rPr>
              <a:t>&lt;(</a:t>
            </a:r>
            <a:r>
              <a:rPr lang="ko-KR" altLang="en-US" sz="1800" dirty="0" err="1">
                <a:latin typeface="STKaiti" panose="02010600040101010101" pitchFamily="2" charset="-122"/>
              </a:rPr>
              <a:t>bd</a:t>
            </a:r>
            <a:r>
              <a:rPr lang="ko-KR" altLang="en-US" sz="1800" dirty="0">
                <a:latin typeface="STKaiti" panose="02010600040101010101" pitchFamily="2" charset="-122"/>
              </a:rPr>
              <a:t>)</a:t>
            </a:r>
            <a:r>
              <a:rPr lang="ko-KR" altLang="en-US" sz="1800" dirty="0" err="1">
                <a:latin typeface="STKaiti" panose="02010600040101010101" pitchFamily="2" charset="-122"/>
              </a:rPr>
              <a:t>cba</a:t>
            </a:r>
            <a:r>
              <a:rPr lang="ko-KR" altLang="en-US" sz="1800" dirty="0">
                <a:latin typeface="STKaiti" panose="02010600040101010101" pitchFamily="2" charset="-122"/>
              </a:rPr>
              <a:t>&gt;:2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CBF1AF-D976-E28E-43BE-66A41DD0C5A4}"/>
              </a:ext>
            </a:extLst>
          </p:cNvPr>
          <p:cNvSpPr txBox="1"/>
          <p:nvPr/>
        </p:nvSpPr>
        <p:spPr>
          <a:xfrm>
            <a:off x="4815332" y="5301238"/>
            <a:ext cx="6806517" cy="1212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ko-KR" sz="1800" dirty="0">
                <a:latin typeface="KaiTi" panose="02010609060101010101" pitchFamily="49" charset="-122"/>
                <a:cs typeface="Times New Roman" panose="02020603050405020304" pitchFamily="18" charset="0"/>
              </a:rPr>
              <a:t>Rule1: &lt;(bd) c&gt; </a:t>
            </a:r>
            <a:r>
              <a:rPr lang="zh-CN" altLang="ko-KR" sz="18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→</a:t>
            </a:r>
            <a:r>
              <a:rPr lang="en-US" altLang="ko-KR" sz="1800" dirty="0">
                <a:latin typeface="KaiTi" panose="02010609060101010101" pitchFamily="49" charset="-122"/>
                <a:cs typeface="Times New Roman" panose="02020603050405020304" pitchFamily="18" charset="0"/>
              </a:rPr>
              <a:t> &lt;b a&gt;</a:t>
            </a:r>
            <a:endParaRPr lang="ko-KR" altLang="ko-KR" sz="28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ko-KR" sz="1800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Support = ?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ko-KR" sz="1800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Confidence = Support(X∪Y) / Support(X)</a:t>
            </a:r>
            <a:r>
              <a:rPr lang="en-US" altLang="ko-KR" sz="1800" dirty="0"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800" b="1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= ?</a:t>
            </a:r>
            <a:endParaRPr lang="ko-KR" altLang="ko-KR" sz="1800" dirty="0">
              <a:effectLst/>
              <a:latin typeface="KaiTi" panose="02010609060101010101" pitchFamily="49" charset="-122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494DD9-5210-155D-A96F-4CE93AC7CF44}"/>
              </a:ext>
            </a:extLst>
          </p:cNvPr>
          <p:cNvSpPr txBox="1"/>
          <p:nvPr/>
        </p:nvSpPr>
        <p:spPr>
          <a:xfrm>
            <a:off x="455459" y="5501855"/>
            <a:ext cx="4023885" cy="38472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接下来根据要求计算关联规则 ！</a:t>
            </a:r>
            <a:endParaRPr lang="en-US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438062-B812-962C-ACE4-82F8A13A2F55}"/>
              </a:ext>
            </a:extLst>
          </p:cNvPr>
          <p:cNvSpPr txBox="1"/>
          <p:nvPr/>
        </p:nvSpPr>
        <p:spPr>
          <a:xfrm>
            <a:off x="3180298" y="3045767"/>
            <a:ext cx="3442771" cy="17811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可以产生规则：</a:t>
            </a:r>
            <a:endParaRPr lang="ko-KR" altLang="ko-KR" sz="32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Rule1: &lt;(bd) c&gt; 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→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 &lt;b a&gt;</a:t>
            </a:r>
            <a:endParaRPr lang="ko-KR" altLang="ko-KR" sz="32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Rule2: &lt;(bd) c b&gt; 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→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 &lt;a&gt;</a:t>
            </a:r>
            <a:endParaRPr lang="ko-KR" altLang="ko-KR" sz="32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Rule3: &lt;(bd)&gt; 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→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 &lt;c b a&gt;</a:t>
            </a:r>
            <a:endParaRPr lang="ko-KR" altLang="ko-KR" sz="32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138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C4C9BF-5E13-9CBA-999C-A6AFB00D8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GSP Mining and Pruning</a:t>
            </a:r>
            <a:endParaRPr lang="ko-KR" altLang="en-US" dirty="0"/>
          </a:p>
        </p:txBody>
      </p:sp>
      <p:pic>
        <p:nvPicPr>
          <p:cNvPr id="8194" name="Picture 2" descr="这里写图片描述">
            <a:extLst>
              <a:ext uri="{FF2B5EF4-FFF2-40B4-BE49-F238E27FC236}">
                <a16:creationId xmlns:a16="http://schemas.microsoft.com/office/drawing/2014/main" id="{7E4DAC6F-8FF7-E96D-5C4F-C40EA70FC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237" y="1349921"/>
            <a:ext cx="9915525" cy="468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16757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2DE77-44BE-8E35-D661-61F285791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D25264-456B-8C98-61AE-423C9A463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GSP Mining and Pruning</a:t>
            </a:r>
            <a:endParaRPr lang="ko-KR" altLang="en-US" dirty="0"/>
          </a:p>
        </p:txBody>
      </p:sp>
      <p:pic>
        <p:nvPicPr>
          <p:cNvPr id="9218" name="Picture 2" descr="这里写图片描述">
            <a:extLst>
              <a:ext uri="{FF2B5EF4-FFF2-40B4-BE49-F238E27FC236}">
                <a16:creationId xmlns:a16="http://schemas.microsoft.com/office/drawing/2014/main" id="{C21F09A8-8C0E-65EF-FCE7-1D589F390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679" y="1304068"/>
            <a:ext cx="9867900" cy="526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166784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F2004-4562-61EA-FF31-36A486087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659C962-DE6C-BE9C-057B-1ED3A20F2B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12192000" cy="5334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dirty="0">
                <a:ea typeface="STKaiti" panose="02010600040101010101" pitchFamily="2" charset="-122"/>
              </a:rPr>
              <a:t>GSP: </a:t>
            </a:r>
            <a:r>
              <a:rPr lang="en-US" altLang="en-US" sz="4000" dirty="0" err="1">
                <a:ea typeface="STKaiti" panose="02010600040101010101" pitchFamily="2" charset="-122"/>
              </a:rPr>
              <a:t>Apriori</a:t>
            </a:r>
            <a:r>
              <a:rPr lang="en-US" altLang="en-US" sz="4000" dirty="0">
                <a:ea typeface="STKaiti" panose="02010600040101010101" pitchFamily="2" charset="-122"/>
              </a:rPr>
              <a:t>-Based Sequential Pattern Mining</a:t>
            </a:r>
          </a:p>
        </p:txBody>
      </p:sp>
      <p:graphicFrame>
        <p:nvGraphicFramePr>
          <p:cNvPr id="5" name="Table 30">
            <a:extLst>
              <a:ext uri="{FF2B5EF4-FFF2-40B4-BE49-F238E27FC236}">
                <a16:creationId xmlns:a16="http://schemas.microsoft.com/office/drawing/2014/main" id="{06CF5889-7F80-9725-35B6-1B7C4FE2EE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727629"/>
              </p:ext>
            </p:extLst>
          </p:nvPr>
        </p:nvGraphicFramePr>
        <p:xfrm>
          <a:off x="703113" y="1437130"/>
          <a:ext cx="5392887" cy="146323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58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45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8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SID   </a:t>
                      </a:r>
                    </a:p>
                  </a:txBody>
                  <a:tcPr marL="121920" marR="121920" marT="45734" marB="4573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Sequence</a:t>
                      </a:r>
                    </a:p>
                  </a:txBody>
                  <a:tcPr marL="121920" marR="121920" marT="45734" marB="4573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706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10</a:t>
                      </a:r>
                    </a:p>
                  </a:txBody>
                  <a:tcPr marL="121920" marR="121920" marT="45734" marB="45734"/>
                </a:tc>
                <a:tc>
                  <a:txBody>
                    <a:bodyPr/>
                    <a:lstStyle/>
                    <a:p>
                      <a:pPr algn="ctr" ea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buFont typeface="Wingdings" pitchFamily="2" charset="2"/>
                        <a:buNone/>
                      </a:pPr>
                      <a:r>
                        <a:rPr lang="en-US" altLang="zh-CN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&lt;{</a:t>
                      </a:r>
                      <a:r>
                        <a:rPr lang="zh-CN" altLang="en-US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牛奶</a:t>
                      </a:r>
                      <a:r>
                        <a:rPr lang="en-US" altLang="zh-CN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}{</a:t>
                      </a:r>
                      <a:r>
                        <a:rPr lang="zh-CN" altLang="en-US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面包</a:t>
                      </a:r>
                      <a:r>
                        <a:rPr lang="en-US" altLang="zh-CN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}{</a:t>
                      </a:r>
                      <a:r>
                        <a:rPr lang="zh-CN" altLang="en-US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黄油</a:t>
                      </a:r>
                      <a:r>
                        <a:rPr lang="en-US" altLang="zh-CN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}{</a:t>
                      </a:r>
                      <a:r>
                        <a:rPr lang="zh-CN" altLang="en-US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鸡蛋</a:t>
                      </a:r>
                      <a:r>
                        <a:rPr lang="en-US" altLang="zh-CN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}&gt;</a:t>
                      </a:r>
                      <a:endParaRPr lang="en-US" altLang="en-US" sz="1800" dirty="0"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121920" marR="121920" marT="45734" marB="4573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706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20</a:t>
                      </a:r>
                    </a:p>
                  </a:txBody>
                  <a:tcPr marL="121920" marR="121920" marT="45734" marB="45734"/>
                </a:tc>
                <a:tc>
                  <a:txBody>
                    <a:bodyPr/>
                    <a:lstStyle/>
                    <a:p>
                      <a:pPr algn="ctr" ea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buFont typeface="Wingdings" pitchFamily="2" charset="2"/>
                        <a:buNone/>
                      </a:pPr>
                      <a:r>
                        <a:rPr lang="en-US" altLang="zh-CN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&lt;{</a:t>
                      </a:r>
                      <a:r>
                        <a:rPr lang="zh-CN" altLang="en-US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牛奶</a:t>
                      </a:r>
                      <a:r>
                        <a:rPr lang="en-US" altLang="zh-CN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,</a:t>
                      </a:r>
                      <a:r>
                        <a:rPr lang="zh-CN" altLang="en-US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面包</a:t>
                      </a:r>
                      <a:r>
                        <a:rPr lang="en-US" altLang="zh-CN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}{</a:t>
                      </a:r>
                      <a:r>
                        <a:rPr lang="zh-CN" altLang="en-US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黄油</a:t>
                      </a:r>
                      <a:r>
                        <a:rPr lang="en-US" altLang="zh-CN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}{</a:t>
                      </a:r>
                      <a:r>
                        <a:rPr lang="zh-CN" altLang="en-US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果汁</a:t>
                      </a:r>
                      <a:r>
                        <a:rPr lang="en-US" altLang="zh-CN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}&gt;</a:t>
                      </a:r>
                      <a:endParaRPr lang="en-US" altLang="en-US" sz="1800" dirty="0"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121920" marR="121920" marT="45734" marB="4573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706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30</a:t>
                      </a:r>
                    </a:p>
                  </a:txBody>
                  <a:tcPr marL="121920" marR="121920" marT="45734" marB="45734"/>
                </a:tc>
                <a:tc>
                  <a:txBody>
                    <a:bodyPr/>
                    <a:lstStyle/>
                    <a:p>
                      <a:pPr algn="ctr" ea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buFont typeface="Wingdings" pitchFamily="2" charset="2"/>
                        <a:buNone/>
                      </a:pPr>
                      <a:r>
                        <a:rPr lang="en-US" altLang="zh-CN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&lt;{</a:t>
                      </a:r>
                      <a:r>
                        <a:rPr lang="zh-CN" altLang="en-US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面包</a:t>
                      </a:r>
                      <a:r>
                        <a:rPr lang="en-US" altLang="zh-CN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}{</a:t>
                      </a:r>
                      <a:r>
                        <a:rPr lang="zh-CN" altLang="en-US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黄油</a:t>
                      </a:r>
                      <a:r>
                        <a:rPr lang="en-US" altLang="zh-CN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}{</a:t>
                      </a:r>
                      <a:r>
                        <a:rPr lang="zh-CN" altLang="en-US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牛奶</a:t>
                      </a:r>
                      <a:r>
                        <a:rPr lang="en-US" altLang="zh-CN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}{</a:t>
                      </a:r>
                      <a:r>
                        <a:rPr lang="zh-CN" altLang="en-US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果汁</a:t>
                      </a:r>
                      <a:r>
                        <a:rPr lang="en-US" altLang="zh-CN" sz="18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}&gt;</a:t>
                      </a:r>
                      <a:endParaRPr lang="en-US" altLang="en-US" sz="1800" dirty="0"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121920" marR="121920" marT="45734" marB="4573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A7FCD76-E5B2-7DA7-2CE8-6CEAC9A15904}"/>
              </a:ext>
            </a:extLst>
          </p:cNvPr>
          <p:cNvSpPr txBox="1"/>
          <p:nvPr/>
        </p:nvSpPr>
        <p:spPr>
          <a:xfrm>
            <a:off x="956632" y="3395950"/>
            <a:ext cx="611436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>
                <a:latin typeface="KaiTi" panose="02010609060101010101" pitchFamily="49" charset="-122"/>
                <a:ea typeface="KaiTi" panose="02010609060101010101" pitchFamily="49" charset="-122"/>
              </a:rPr>
              <a:t>Q1: </a:t>
            </a:r>
            <a:r>
              <a:rPr lang="zh-CN" altLang="en-US" b="1" dirty="0">
                <a:latin typeface="KaiTi" panose="02010609060101010101" pitchFamily="49" charset="-122"/>
                <a:ea typeface="KaiTi" panose="02010609060101010101" pitchFamily="49" charset="-122"/>
              </a:rPr>
              <a:t>找频繁序列</a:t>
            </a:r>
          </a:p>
          <a:p>
            <a:pPr>
              <a:buFont typeface="+mj-lt"/>
              <a:buAutoNum type="arabicPeriod"/>
            </a:pP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列出所有频繁 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1-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序列（单个商品）</a:t>
            </a:r>
          </a:p>
          <a:p>
            <a:pPr>
              <a:buFont typeface="+mj-lt"/>
              <a:buAutoNum type="arabicPeriod"/>
            </a:pP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列出所有频繁 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2-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序列（顺序的两个事件）</a:t>
            </a:r>
            <a:endParaRPr lang="en-US" altLang="zh-CN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buFont typeface="+mj-lt"/>
              <a:buAutoNum type="arabicPeriod"/>
            </a:pPr>
            <a:endParaRPr lang="en-US" altLang="zh-CN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b="1" dirty="0">
                <a:latin typeface="KaiTi" panose="02010609060101010101" pitchFamily="49" charset="-122"/>
                <a:ea typeface="KaiTi" panose="02010609060101010101" pitchFamily="49" charset="-122"/>
              </a:rPr>
              <a:t>Q2</a:t>
            </a:r>
            <a:r>
              <a:rPr lang="zh-CN" altLang="en-US" b="1" dirty="0">
                <a:latin typeface="KaiTi" panose="02010609060101010101" pitchFamily="49" charset="-122"/>
                <a:ea typeface="KaiTi" panose="02010609060101010101" pitchFamily="49" charset="-122"/>
              </a:rPr>
              <a:t>： 生成长度为 </a:t>
            </a:r>
            <a:r>
              <a:rPr lang="en-US" altLang="zh-CN" b="1" dirty="0">
                <a:latin typeface="KaiTi" panose="02010609060101010101" pitchFamily="49" charset="-122"/>
                <a:ea typeface="KaiTi" panose="02010609060101010101" pitchFamily="49" charset="-122"/>
              </a:rPr>
              <a:t>3 </a:t>
            </a:r>
            <a:r>
              <a:rPr lang="zh-CN" altLang="en-US" b="1" dirty="0">
                <a:latin typeface="KaiTi" panose="02010609060101010101" pitchFamily="49" charset="-122"/>
                <a:ea typeface="KaiTi" panose="02010609060101010101" pitchFamily="49" charset="-122"/>
              </a:rPr>
              <a:t>的频繁序列关联规则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47B1FD-BEAC-6368-4ADF-060173337126}"/>
              </a:ext>
            </a:extLst>
          </p:cNvPr>
          <p:cNvSpPr txBox="1"/>
          <p:nvPr/>
        </p:nvSpPr>
        <p:spPr>
          <a:xfrm>
            <a:off x="3399556" y="2955796"/>
            <a:ext cx="1525836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 err="1">
                <a:latin typeface="KaiTi" panose="02010609060101010101" pitchFamily="49" charset="-122"/>
                <a:ea typeface="KaiTi" panose="02010609060101010101" pitchFamily="49" charset="-122"/>
              </a:rPr>
              <a:t>minsup</a:t>
            </a:r>
            <a:r>
              <a:rPr lang="en-US" altLang="zh-CN" b="1" dirty="0">
                <a:latin typeface="KaiTi" panose="02010609060101010101" pitchFamily="49" charset="-122"/>
                <a:ea typeface="KaiTi" panose="02010609060101010101" pitchFamily="49" charset="-122"/>
              </a:rPr>
              <a:t> = 2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0522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406399" y="1182256"/>
            <a:ext cx="11277601" cy="877455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461963" indent="-4619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88" indent="-5381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4746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88" indent="-522288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63" indent="-508000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7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6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6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5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/>
            <a:r>
              <a:rPr lang="zh-CN" altLang="ko-Kore-KR" sz="2000">
                <a:latin typeface="KaiTi" panose="02010609060101010101" pitchFamily="49" charset="-122"/>
                <a:ea typeface="KaiTi" panose="02010609060101010101" pitchFamily="49" charset="-122"/>
              </a:rPr>
              <a:t>序列数据库映射至：</a:t>
            </a:r>
            <a:r>
              <a:rPr lang="en-US" altLang="ko-Kore-KR" sz="2000">
                <a:latin typeface="KaiTi" panose="02010609060101010101" pitchFamily="49" charset="-122"/>
                <a:ea typeface="KaiTi" panose="02010609060101010101" pitchFamily="49" charset="-122"/>
              </a:rPr>
              <a:t>&lt;SID, EID&gt;</a:t>
            </a:r>
            <a:endParaRPr lang="ko-Kore-KR" altLang="ko-Kore-KR" sz="2000">
              <a:latin typeface="KaiTi" panose="02010609060101010101" pitchFamily="49" charset="-122"/>
            </a:endParaRPr>
          </a:p>
          <a:p>
            <a:pPr latinLnBrk="1"/>
            <a:r>
              <a:rPr lang="zh-CN" altLang="ko-Kore-KR" sz="2000">
                <a:latin typeface="KaiTi" panose="02010609060101010101" pitchFamily="49" charset="-122"/>
                <a:ea typeface="KaiTi" panose="02010609060101010101" pitchFamily="49" charset="-122"/>
              </a:rPr>
              <a:t>通过</a:t>
            </a:r>
            <a:r>
              <a:rPr lang="en-US" altLang="ko-Kore-KR" sz="2000">
                <a:latin typeface="KaiTi" panose="02010609060101010101" pitchFamily="49" charset="-122"/>
                <a:ea typeface="KaiTi" panose="02010609060101010101" pitchFamily="49" charset="-122"/>
              </a:rPr>
              <a:t>Apriori</a:t>
            </a:r>
            <a:r>
              <a:rPr lang="zh-CN" altLang="ko-Kore-KR" sz="2000">
                <a:latin typeface="KaiTi" panose="02010609060101010101" pitchFamily="49" charset="-122"/>
                <a:ea typeface="KaiTi" panose="02010609060101010101" pitchFamily="49" charset="-122"/>
              </a:rPr>
              <a:t>候选生成，逐项扩展子序列（模式）</a:t>
            </a:r>
            <a:endParaRPr lang="ko-Kore-KR" altLang="ko-Kore-KR" sz="2000">
              <a:latin typeface="KaiTi" panose="02010609060101010101" pitchFamily="49" charset="-122"/>
            </a:endParaRPr>
          </a:p>
          <a:p>
            <a:pPr marL="461963" lvl="1" indent="-461963">
              <a:spcBef>
                <a:spcPts val="0"/>
              </a:spcBef>
              <a:buClr>
                <a:srgbClr val="0000CC"/>
              </a:buClr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제목 10">
            <a:extLst>
              <a:ext uri="{FF2B5EF4-FFF2-40B4-BE49-F238E27FC236}">
                <a16:creationId xmlns:a16="http://schemas.microsoft.com/office/drawing/2014/main" id="{D2E54B28-466F-B8CD-D532-9E6D5D861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KaiTi" panose="02010609060101010101" pitchFamily="49" charset="-122"/>
              </a:rPr>
              <a:t>垂直数据格式中的序列模式挖掘：</a:t>
            </a:r>
            <a:r>
              <a:rPr lang="en" altLang="ko-Kore-KR" dirty="0">
                <a:latin typeface="KaiTi" panose="02010609060101010101" pitchFamily="49" charset="-122"/>
                <a:ea typeface="KaiTi" panose="02010609060101010101" pitchFamily="49" charset="-122"/>
              </a:rPr>
              <a:t>SPADE</a:t>
            </a:r>
            <a:r>
              <a:rPr lang="ko-KR" altLang="en-US" dirty="0">
                <a:latin typeface="KaiTi" panose="02010609060101010101" pitchFamily="49" charset="-122"/>
              </a:rPr>
              <a:t>算法</a:t>
            </a:r>
            <a:endParaRPr lang="ko-Kore-KR" altLang="en-US" dirty="0">
              <a:latin typeface="KaiTi" panose="02010609060101010101" pitchFamily="49" charset="-122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45BDBDFC-F047-4D0B-F77D-67E22997C4A9}"/>
              </a:ext>
            </a:extLst>
          </p:cNvPr>
          <p:cNvSpPr txBox="1">
            <a:spLocks noChangeArrowheads="1"/>
          </p:cNvSpPr>
          <p:nvPr/>
        </p:nvSpPr>
        <p:spPr>
          <a:xfrm>
            <a:off x="7181673" y="1328207"/>
            <a:ext cx="3976657" cy="634045"/>
          </a:xfrm>
          <a:prstGeom prst="rect">
            <a:avLst/>
          </a:prstGeom>
          <a:solidFill>
            <a:srgbClr val="CCFFCC"/>
          </a:solidFill>
        </p:spPr>
        <p:txBody>
          <a:bodyPr/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altLang="en-US" sz="1600" dirty="0">
                <a:solidFill>
                  <a:srgbClr val="0033C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SID</a:t>
            </a:r>
            <a:r>
              <a:rPr lang="zh-CN" altLang="en-US" sz="1600" dirty="0">
                <a:solidFill>
                  <a:srgbClr val="0033C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  <a:r>
              <a:rPr lang="en-US" altLang="zh-CN" sz="1600" dirty="0">
                <a:solidFill>
                  <a:srgbClr val="0033C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Sequence</a:t>
            </a:r>
            <a:r>
              <a:rPr lang="zh-CN" altLang="en-US" sz="1600" dirty="0">
                <a:solidFill>
                  <a:srgbClr val="0033C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lang="en-US" altLang="zh-CN" sz="1600" dirty="0">
                <a:solidFill>
                  <a:srgbClr val="0033C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ID</a:t>
            </a:r>
            <a:r>
              <a:rPr lang="zh-CN" altLang="en-US" sz="1600" dirty="0">
                <a:solidFill>
                  <a:srgbClr val="0033C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（哪一条序列）</a:t>
            </a:r>
            <a:endParaRPr lang="en-US" altLang="zh-CN" sz="1600" dirty="0">
              <a:solidFill>
                <a:srgbClr val="0033C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1600" dirty="0">
                <a:solidFill>
                  <a:srgbClr val="0033C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EID</a:t>
            </a:r>
            <a:r>
              <a:rPr lang="zh-CN" altLang="en-US" sz="1600" dirty="0">
                <a:solidFill>
                  <a:srgbClr val="0033C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  <a:r>
              <a:rPr lang="en-US" altLang="zh-CN" sz="1600" dirty="0">
                <a:solidFill>
                  <a:srgbClr val="0033C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Event</a:t>
            </a:r>
            <a:r>
              <a:rPr lang="zh-CN" altLang="en-US" sz="1600" dirty="0">
                <a:solidFill>
                  <a:srgbClr val="0033C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lang="en-US" altLang="zh-CN" sz="1600" dirty="0">
                <a:solidFill>
                  <a:srgbClr val="0033C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ID</a:t>
            </a:r>
            <a:r>
              <a:rPr lang="zh-CN" altLang="en-US" sz="1600" dirty="0">
                <a:solidFill>
                  <a:srgbClr val="0033C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（项集在序列中的哪个位置）</a:t>
            </a:r>
            <a:endParaRPr lang="en-US" altLang="en-US" sz="1600" dirty="0">
              <a:solidFill>
                <a:srgbClr val="0033C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11266" name="Picture 2" descr="A example dataset">
            <a:extLst>
              <a:ext uri="{FF2B5EF4-FFF2-40B4-BE49-F238E27FC236}">
                <a16:creationId xmlns:a16="http://schemas.microsoft.com/office/drawing/2014/main" id="{8AE83967-AFCD-0095-8BF0-00C08D927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985" y="2157987"/>
            <a:ext cx="4267200" cy="423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585DE3B-7006-CB90-2A86-ED2E0CA9BC31}"/>
              </a:ext>
            </a:extLst>
          </p:cNvPr>
          <p:cNvSpPr txBox="1"/>
          <p:nvPr/>
        </p:nvSpPr>
        <p:spPr>
          <a:xfrm>
            <a:off x="4963099" y="4775915"/>
            <a:ext cx="6434462" cy="1678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zh-CN" altLang="ko-KR" sz="2000" b="1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把原始数据库转成纵向格式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（每个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 item 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对应一个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 ID-list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&lt;SID, EID&gt;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）。</a:t>
            </a:r>
            <a:endParaRPr lang="ko-KR" altLang="ko-KR" sz="32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通过 </a:t>
            </a:r>
            <a:r>
              <a:rPr lang="en-US" altLang="ko-KR" sz="2000" b="1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ID-list </a:t>
            </a:r>
            <a:r>
              <a:rPr lang="zh-CN" altLang="ko-KR" sz="2000" b="1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交集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来计算支持度，避免多次扫描数据库。</a:t>
            </a:r>
            <a:endParaRPr lang="ko-KR" altLang="ko-KR" sz="32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用 </a:t>
            </a:r>
            <a:r>
              <a:rPr lang="en-US" altLang="ko-KR" sz="2000" b="1" dirty="0" err="1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Apriori</a:t>
            </a:r>
            <a:r>
              <a:rPr lang="en-US" altLang="ko-KR" sz="2000" b="1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zh-CN" altLang="ko-KR" sz="2000" b="1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原则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 来生成更长的候选序列。</a:t>
            </a:r>
            <a:endParaRPr lang="ko-KR" altLang="ko-KR" sz="32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1271" name="Picture 7" descr="The ID lists">
            <a:extLst>
              <a:ext uri="{FF2B5EF4-FFF2-40B4-BE49-F238E27FC236}">
                <a16:creationId xmlns:a16="http://schemas.microsoft.com/office/drawing/2014/main" id="{C01AAAB1-D215-0E14-F125-15DF4059F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4286" y="2473991"/>
            <a:ext cx="4897514" cy="1887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1247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03D82-A480-4F79-7FC5-F1EEC20FE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>
            <a:extLst>
              <a:ext uri="{FF2B5EF4-FFF2-40B4-BE49-F238E27FC236}">
                <a16:creationId xmlns:a16="http://schemas.microsoft.com/office/drawing/2014/main" id="{23C59D78-448E-8818-FE4A-1F294C4EB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KaiTi" panose="02010609060101010101" pitchFamily="49" charset="-122"/>
              </a:rPr>
              <a:t>垂直数据格式中的序列模式挖掘：</a:t>
            </a:r>
            <a:r>
              <a:rPr lang="en" altLang="ko-Kore-KR" dirty="0">
                <a:latin typeface="KaiTi" panose="02010609060101010101" pitchFamily="49" charset="-122"/>
                <a:ea typeface="KaiTi" panose="02010609060101010101" pitchFamily="49" charset="-122"/>
              </a:rPr>
              <a:t>SPADE</a:t>
            </a:r>
            <a:r>
              <a:rPr lang="ko-KR" altLang="en-US" dirty="0">
                <a:latin typeface="KaiTi" panose="02010609060101010101" pitchFamily="49" charset="-122"/>
              </a:rPr>
              <a:t>算法</a:t>
            </a:r>
            <a:endParaRPr lang="ko-Kore-KR" altLang="en-US" dirty="0">
              <a:latin typeface="KaiTi" panose="02010609060101010101" pitchFamily="49" charset="-122"/>
            </a:endParaRPr>
          </a:p>
        </p:txBody>
      </p:sp>
      <p:pic>
        <p:nvPicPr>
          <p:cNvPr id="13316" name="Picture 4">
            <a:extLst>
              <a:ext uri="{FF2B5EF4-FFF2-40B4-BE49-F238E27FC236}">
                <a16:creationId xmlns:a16="http://schemas.microsoft.com/office/drawing/2014/main" id="{1F0C5331-10A1-E1ED-7634-D8AA83E51A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7" t="8671" r="27301"/>
          <a:stretch>
            <a:fillRect/>
          </a:stretch>
        </p:blipFill>
        <p:spPr bwMode="auto">
          <a:xfrm>
            <a:off x="350985" y="1321207"/>
            <a:ext cx="6731306" cy="5315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ADDFCD-C993-22F5-D244-EB9EA0FF9BE8}"/>
              </a:ext>
            </a:extLst>
          </p:cNvPr>
          <p:cNvSpPr txBox="1"/>
          <p:nvPr/>
        </p:nvSpPr>
        <p:spPr>
          <a:xfrm>
            <a:off x="7203754" y="1658901"/>
            <a:ext cx="4209721" cy="2034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只需将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2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k-1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序列的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ID-list 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进行简单的连接操作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检查其基数。</a:t>
            </a:r>
            <a:endParaRPr lang="en-US" altLang="zh-CN" sz="2000" dirty="0">
              <a:effectLst/>
              <a:latin typeface="맑은 고딕" panose="020B0503020000020004" pitchFamily="50" charset="-127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ko-KR" sz="20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随着序列变大</a:t>
            </a:r>
            <a:r>
              <a:rPr lang="en-US" altLang="ko-KR" sz="2000" dirty="0">
                <a:latin typeface="KaiTi" panose="02010609060101010101" pitchFamily="49" charset="-122"/>
                <a:cs typeface="Times New Roman" panose="02020603050405020304" pitchFamily="18" charset="0"/>
              </a:rPr>
              <a:t>, ID-list </a:t>
            </a:r>
            <a:r>
              <a:rPr lang="zh-CN" altLang="ko-KR" sz="20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将不断缩小</a:t>
            </a:r>
            <a:r>
              <a:rPr lang="en-US" altLang="ko-KR" sz="2000" dirty="0">
                <a:latin typeface="KaiT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ko-KR" sz="20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进而越来越快。</a:t>
            </a:r>
            <a:endParaRPr lang="ko-KR" altLang="ko-KR" sz="20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ko-KR" altLang="ko-KR" sz="20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2BD32B-E36E-6F4C-11CB-0D58B8507DBE}"/>
              </a:ext>
            </a:extLst>
          </p:cNvPr>
          <p:cNvSpPr txBox="1"/>
          <p:nvPr/>
        </p:nvSpPr>
        <p:spPr>
          <a:xfrm>
            <a:off x="7302906" y="4795248"/>
            <a:ext cx="429785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i="0" dirty="0">
                <a:solidFill>
                  <a:srgbClr val="4D4D4D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如果</a:t>
            </a:r>
            <a:r>
              <a:rPr lang="en-US" altLang="zh-CN" sz="1600" b="1" i="0" dirty="0">
                <a:solidFill>
                  <a:srgbClr val="4D4D4D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P-&gt;A-&gt;F</a:t>
            </a:r>
            <a:r>
              <a:rPr lang="zh-CN" altLang="en-US" sz="1600" b="1" i="0" dirty="0">
                <a:solidFill>
                  <a:srgbClr val="4D4D4D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得到的一定是</a:t>
            </a:r>
            <a:r>
              <a:rPr lang="en-US" altLang="zh-CN" sz="1600" b="1" i="0" dirty="0">
                <a:solidFill>
                  <a:srgbClr val="4D4D4D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F</a:t>
            </a:r>
            <a:r>
              <a:rPr lang="zh-CN" altLang="en-US" sz="1600" b="1" i="0" dirty="0">
                <a:solidFill>
                  <a:srgbClr val="4D4D4D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中大于</a:t>
            </a:r>
            <a:r>
              <a:rPr lang="en-US" altLang="zh-CN" sz="1600" b="1" i="0" dirty="0">
                <a:solidFill>
                  <a:srgbClr val="4D4D4D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A</a:t>
            </a:r>
            <a:r>
              <a:rPr lang="zh-CN" altLang="en-US" sz="1600" b="1" i="0" dirty="0">
                <a:solidFill>
                  <a:srgbClr val="4D4D4D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的</a:t>
            </a:r>
            <a:r>
              <a:rPr lang="en-US" altLang="zh-CN" sz="1600" b="1" i="0" dirty="0">
                <a:solidFill>
                  <a:srgbClr val="4D4D4D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SID</a:t>
            </a:r>
            <a:r>
              <a:rPr lang="zh-CN" altLang="en-US" sz="1600" b="1" i="0" dirty="0">
                <a:solidFill>
                  <a:srgbClr val="4D4D4D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和</a:t>
            </a:r>
            <a:r>
              <a:rPr lang="en-US" altLang="zh-CN" sz="1600" b="1" i="0" dirty="0">
                <a:solidFill>
                  <a:srgbClr val="4D4D4D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EID</a:t>
            </a:r>
            <a:r>
              <a:rPr lang="zh-CN" altLang="en-US" sz="1600" b="1" i="0" dirty="0">
                <a:solidFill>
                  <a:srgbClr val="4D4D4D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，也就是</a:t>
            </a:r>
            <a:r>
              <a:rPr lang="en-US" altLang="zh-CN" sz="1600" b="1" i="0" dirty="0">
                <a:solidFill>
                  <a:srgbClr val="4D4D4D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A</a:t>
            </a:r>
            <a:r>
              <a:rPr lang="zh-CN" altLang="en-US" sz="1600" b="1" i="0" dirty="0">
                <a:solidFill>
                  <a:srgbClr val="4D4D4D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要包含于</a:t>
            </a:r>
            <a:r>
              <a:rPr lang="en-US" altLang="zh-CN" sz="1600" b="1" i="0" dirty="0">
                <a:solidFill>
                  <a:srgbClr val="4D4D4D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F</a:t>
            </a:r>
            <a:r>
              <a:rPr lang="zh-CN" altLang="en-US" sz="1600" b="1" i="0" dirty="0">
                <a:solidFill>
                  <a:srgbClr val="4D4D4D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（这里的包含是指一个事件的包含，不是全部都要包含，满足一个即可），所以</a:t>
            </a:r>
            <a:r>
              <a:rPr lang="en-US" altLang="zh-CN" sz="1600" b="1" i="0" dirty="0">
                <a:solidFill>
                  <a:srgbClr val="4D4D4D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P-&gt;F-&gt;A</a:t>
            </a:r>
            <a:r>
              <a:rPr lang="zh-CN" altLang="en-US" sz="1600" b="1" i="0" dirty="0">
                <a:solidFill>
                  <a:srgbClr val="4D4D4D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中</a:t>
            </a:r>
            <a:r>
              <a:rPr lang="en-US" altLang="zh-CN" sz="1600" b="1" i="0" dirty="0">
                <a:solidFill>
                  <a:srgbClr val="4D4D4D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F</a:t>
            </a:r>
            <a:r>
              <a:rPr lang="zh-CN" altLang="en-US" sz="1600" b="1" i="0" dirty="0">
                <a:solidFill>
                  <a:srgbClr val="4D4D4D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要包含于</a:t>
            </a:r>
            <a:r>
              <a:rPr lang="en-US" altLang="zh-CN" sz="1600" b="1" i="0" dirty="0">
                <a:solidFill>
                  <a:srgbClr val="4D4D4D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A</a:t>
            </a:r>
            <a:r>
              <a:rPr lang="zh-CN" altLang="en-US" sz="1600" b="1" i="0" dirty="0">
                <a:solidFill>
                  <a:srgbClr val="4D4D4D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，则</a:t>
            </a:r>
            <a:r>
              <a:rPr lang="en-US" altLang="zh-CN" sz="1600" b="1" i="0" dirty="0">
                <a:solidFill>
                  <a:srgbClr val="4D4D4D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A</a:t>
            </a:r>
            <a:r>
              <a:rPr lang="zh-CN" altLang="en-US" sz="1600" b="1" i="0" dirty="0">
                <a:solidFill>
                  <a:srgbClr val="4D4D4D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中只有（</a:t>
            </a:r>
            <a:r>
              <a:rPr lang="en-US" altLang="zh-CN" sz="1600" b="1" i="0" dirty="0">
                <a:solidFill>
                  <a:srgbClr val="4D4D4D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8</a:t>
            </a:r>
            <a:r>
              <a:rPr lang="zh-CN" altLang="en-US" sz="1600" b="1" i="0" dirty="0">
                <a:solidFill>
                  <a:srgbClr val="4D4D4D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，</a:t>
            </a:r>
            <a:r>
              <a:rPr lang="en-US" altLang="zh-CN" sz="1600" b="1" i="0" dirty="0">
                <a:solidFill>
                  <a:srgbClr val="4D4D4D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50</a:t>
            </a:r>
            <a:r>
              <a:rPr lang="zh-CN" altLang="en-US" sz="1600" b="1" i="0" dirty="0">
                <a:solidFill>
                  <a:srgbClr val="4D4D4D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）（</a:t>
            </a:r>
            <a:r>
              <a:rPr lang="en-US" altLang="zh-CN" sz="1600" b="1" i="0" dirty="0">
                <a:solidFill>
                  <a:srgbClr val="4D4D4D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8</a:t>
            </a:r>
            <a:r>
              <a:rPr lang="zh-CN" altLang="en-US" sz="1600" b="1" i="0" dirty="0">
                <a:solidFill>
                  <a:srgbClr val="4D4D4D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，</a:t>
            </a:r>
            <a:r>
              <a:rPr lang="en-US" altLang="zh-CN" sz="1600" b="1" i="0" dirty="0">
                <a:solidFill>
                  <a:srgbClr val="4D4D4D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80</a:t>
            </a:r>
            <a:r>
              <a:rPr lang="zh-CN" altLang="en-US" sz="1600" b="1" i="0" dirty="0">
                <a:solidFill>
                  <a:srgbClr val="4D4D4D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）满足。</a:t>
            </a:r>
            <a:r>
              <a:rPr lang="en-US" altLang="zh-CN" sz="1600" b="1" i="0" dirty="0">
                <a:solidFill>
                  <a:srgbClr val="4D4D4D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P-AF</a:t>
            </a:r>
            <a:r>
              <a:rPr lang="zh-CN" altLang="en-US" sz="1600" b="1" i="0" dirty="0">
                <a:solidFill>
                  <a:srgbClr val="4D4D4D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就是</a:t>
            </a:r>
            <a:r>
              <a:rPr lang="en-US" altLang="zh-CN" sz="1600" b="1" i="0" dirty="0">
                <a:solidFill>
                  <a:srgbClr val="4D4D4D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AF</a:t>
            </a:r>
            <a:r>
              <a:rPr lang="zh-CN" altLang="en-US" sz="1600" b="1" i="0" dirty="0">
                <a:solidFill>
                  <a:srgbClr val="4D4D4D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相交。</a:t>
            </a:r>
            <a:endParaRPr lang="ko-KR" altLang="en-US" sz="1600" dirty="0">
              <a:latin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172847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666038-D1E0-0869-901A-06BAE3C4E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TKaiti" panose="02010600040101010101" pitchFamily="2" charset="-122"/>
              </a:rPr>
              <a:t>SPADE</a:t>
            </a:r>
            <a:r>
              <a:rPr lang="en-US" altLang="en-US" dirty="0">
                <a:ea typeface="STKaiti" panose="02010600040101010101" pitchFamily="2" charset="-122"/>
              </a:rPr>
              <a:t>-</a:t>
            </a:r>
            <a:r>
              <a:rPr lang="en-US" altLang="zh-CN" dirty="0" err="1">
                <a:ea typeface="STKaiti" panose="02010600040101010101" pitchFamily="2" charset="-122"/>
              </a:rPr>
              <a:t>Exerise</a:t>
            </a:r>
            <a:endParaRPr lang="ko-KR" altLang="en-US" dirty="0"/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EB71EA09-71C8-2D2A-8593-936B3F3DD3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610" b="55282"/>
          <a:stretch>
            <a:fillRect/>
          </a:stretch>
        </p:blipFill>
        <p:spPr bwMode="auto">
          <a:xfrm>
            <a:off x="3408645" y="1191939"/>
            <a:ext cx="5374709" cy="5539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989118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0" y="157018"/>
            <a:ext cx="11785600" cy="75738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 err="1"/>
              <a:t>PrefixSpan</a:t>
            </a:r>
            <a:r>
              <a:rPr lang="en-US" altLang="en-US" sz="4000" dirty="0"/>
              <a:t>: A Pattern-Growth Approach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3200400"/>
            <a:ext cx="8432800" cy="3352800"/>
          </a:xfrm>
        </p:spPr>
        <p:txBody>
          <a:bodyPr/>
          <a:lstStyle/>
          <a:p>
            <a:r>
              <a:rPr lang="ko-Kore-KR" altLang="ko-Kore-KR" sz="2400" dirty="0"/>
              <a:t>前缀跨度挖掘：前缀投影</a:t>
            </a:r>
          </a:p>
          <a:p>
            <a:pPr lvl="1"/>
            <a:r>
              <a:rPr lang="ko-Kore-KR" altLang="ko-Kore-KR" sz="2400" dirty="0"/>
              <a:t>步骤</a:t>
            </a:r>
            <a:r>
              <a:rPr lang="en-US" altLang="ko-Kore-KR" sz="2400" dirty="0"/>
              <a:t>1</a:t>
            </a:r>
            <a:r>
              <a:rPr lang="ko-Kore-KR" altLang="ko-Kore-KR" sz="2400" dirty="0"/>
              <a:t>：寻找长度为</a:t>
            </a:r>
            <a:r>
              <a:rPr lang="en-US" altLang="ko-Kore-KR" sz="2400" dirty="0"/>
              <a:t>1</a:t>
            </a:r>
            <a:r>
              <a:rPr lang="ko-Kore-KR" altLang="ko-Kore-KR" sz="2400" dirty="0"/>
              <a:t>的顺序模式</a:t>
            </a:r>
          </a:p>
          <a:p>
            <a:pPr lvl="2" eaLnBrk="1" hangingPunct="1">
              <a:spcBef>
                <a:spcPts val="300"/>
              </a:spcBef>
            </a:pPr>
            <a:r>
              <a:rPr lang="en-US" altLang="en-US" sz="2400" dirty="0"/>
              <a:t>&lt;a&gt;, &lt;b&gt;, &lt;c&gt;, &lt;d&gt;, &lt;e&gt;, &lt;f&gt;</a:t>
            </a:r>
          </a:p>
          <a:p>
            <a:pPr lvl="1"/>
            <a:r>
              <a:rPr lang="ko-Kore-KR" altLang="ko-Kore-KR" sz="2400" dirty="0"/>
              <a:t>步骤</a:t>
            </a:r>
            <a:r>
              <a:rPr lang="en-US" altLang="ko-Kore-KR" sz="2400" dirty="0"/>
              <a:t>2</a:t>
            </a:r>
            <a:r>
              <a:rPr lang="ko-Kore-KR" altLang="ko-Kore-KR" sz="2400" dirty="0"/>
              <a:t>：划分搜索空间并挖掘每个投影数据库</a:t>
            </a:r>
          </a:p>
          <a:p>
            <a:pPr lvl="2"/>
            <a:r>
              <a:rPr lang="en-US" altLang="ko-Kore-KR" sz="2400" dirty="0"/>
              <a:t>&lt;a&gt;</a:t>
            </a:r>
            <a:r>
              <a:rPr lang="ko-Kore-KR" altLang="ko-Kore-KR" sz="2400" dirty="0"/>
              <a:t>投影数据库</a:t>
            </a:r>
            <a:r>
              <a:rPr lang="en-US" altLang="ko-Kore-KR" sz="2400" dirty="0"/>
              <a:t>,</a:t>
            </a:r>
            <a:endParaRPr lang="ko-Kore-KR" altLang="ko-Kore-KR" sz="2400" dirty="0"/>
          </a:p>
          <a:p>
            <a:pPr lvl="2"/>
            <a:r>
              <a:rPr lang="en-US" altLang="ko-Kore-KR" sz="2400" dirty="0"/>
              <a:t>&lt;b&gt;</a:t>
            </a:r>
            <a:r>
              <a:rPr lang="ko-Kore-KR" altLang="ko-Kore-KR" sz="2400" dirty="0"/>
              <a:t>投影数据库</a:t>
            </a:r>
            <a:r>
              <a:rPr lang="en-US" altLang="ko-Kore-KR" sz="2400" dirty="0"/>
              <a:t>,</a:t>
            </a:r>
            <a:endParaRPr lang="ko-Kore-KR" altLang="ko-Kore-KR" sz="2400" dirty="0"/>
          </a:p>
          <a:p>
            <a:pPr lvl="2"/>
            <a:r>
              <a:rPr lang="en-US" altLang="ko-Kore-KR" sz="2400" dirty="0"/>
              <a:t>…</a:t>
            </a:r>
            <a:endParaRPr lang="ko-Kore-KR" altLang="ko-Kore-KR" sz="2400" dirty="0"/>
          </a:p>
          <a:p>
            <a:pPr lvl="2"/>
            <a:r>
              <a:rPr lang="en-US" altLang="ko-Kore-KR" sz="2400" dirty="0"/>
              <a:t>&lt;f&gt;</a:t>
            </a:r>
            <a:r>
              <a:rPr lang="ko-Kore-KR" altLang="ko-Kore-KR" sz="2400" dirty="0"/>
              <a:t>投影数据库</a:t>
            </a:r>
            <a:r>
              <a:rPr lang="en-US" altLang="ko-Kore-KR" sz="2400" dirty="0"/>
              <a:t>, …</a:t>
            </a:r>
            <a:endParaRPr lang="ko-Kore-KR" altLang="ko-Kore-KR" sz="240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8000" y="1295400"/>
          <a:ext cx="3048000" cy="18288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46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1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SID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Sequence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&lt;a(</a:t>
                      </a:r>
                      <a:r>
                        <a:rPr kumimoji="0" lang="en-US" sz="18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ab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)(a</a:t>
                      </a:r>
                      <a:r>
                        <a:rPr kumimoji="0" lang="en-US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)d(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cf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)&gt;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&lt;(ad)c(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bc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)(ae)&gt;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ef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)(</a:t>
                      </a:r>
                      <a:r>
                        <a:rPr kumimoji="0" lang="en-US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ab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)(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df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r>
                        <a:rPr kumimoji="0" lang="en-US" sz="18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eg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af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cbc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759200" y="1549281"/>
          <a:ext cx="3657600" cy="147776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Prefix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00" marB="457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Suffix</a:t>
                      </a: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(</a:t>
                      </a:r>
                      <a:r>
                        <a:rPr kumimoji="0" lang="en-US" sz="180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Projection)</a:t>
                      </a:r>
                      <a:endParaRPr kumimoji="0" lang="en-US" sz="18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&lt;a&gt;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00" marB="457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&lt;(</a:t>
                      </a: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abc</a:t>
                      </a: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)(ac)d(</a:t>
                      </a: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cf</a:t>
                      </a: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)&gt;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&lt;aa&gt;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00" marB="457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&lt;(_</a:t>
                      </a: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bc</a:t>
                      </a: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)(ac)d(</a:t>
                      </a: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cf</a:t>
                      </a: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)&gt;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&lt;ab&gt;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00" marB="457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&lt;(_c)(ac)d(</a:t>
                      </a: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cf</a:t>
                      </a: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)&gt;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083964" y="6488980"/>
            <a:ext cx="8108036" cy="338554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marL="0" marR="0" lvl="0" indent="0" algn="just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PrefixSpan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 (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Prefix-projected Sequential pattern mining)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Pei, et al. @TKDE’04</a:t>
            </a:r>
          </a:p>
        </p:txBody>
      </p:sp>
      <p:sp>
        <p:nvSpPr>
          <p:cNvPr id="10" name="Right Arrow 9"/>
          <p:cNvSpPr/>
          <p:nvPr/>
        </p:nvSpPr>
        <p:spPr>
          <a:xfrm rot="1450729">
            <a:off x="3393829" y="1782764"/>
            <a:ext cx="374563" cy="252248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59200" y="1187915"/>
            <a:ext cx="1342421" cy="3698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min_sup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= 2</a:t>
            </a:r>
          </a:p>
        </p:txBody>
      </p:sp>
      <p:sp>
        <p:nvSpPr>
          <p:cNvPr id="12" name="Line 27">
            <a:extLst>
              <a:ext uri="{FF2B5EF4-FFF2-40B4-BE49-F238E27FC236}">
                <a16:creationId xmlns:a16="http://schemas.microsoft.com/office/drawing/2014/main" id="{C6B6C32C-D73A-0849-BB4F-2958162E7C0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1621" y="3027044"/>
            <a:ext cx="2750935" cy="816758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 Box 8">
            <a:extLst>
              <a:ext uri="{FF2B5EF4-FFF2-40B4-BE49-F238E27FC236}">
                <a16:creationId xmlns:a16="http://schemas.microsoft.com/office/drawing/2014/main" id="{C715A3A9-BC20-994A-979E-4D380612C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2556" y="3647060"/>
            <a:ext cx="248177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altLang="ko-Kore-KR" sz="1800">
                <a:effectLst/>
                <a:latin typeface="KaiTi" panose="02010609060101010101" pitchFamily="49" charset="-122"/>
                <a:ea typeface="Times New Roman" panose="02020603050405020304" pitchFamily="18" charset="0"/>
              </a:rPr>
              <a:t>“_”</a:t>
            </a:r>
            <a:r>
              <a:rPr lang="ko-Kore-KR" altLang="ko-Kore-KR" sz="1800">
                <a:effectLst/>
                <a:latin typeface="Times New Roman" panose="02020603050405020304" pitchFamily="18" charset="0"/>
                <a:ea typeface="KaiTi" panose="02010609060101010101" pitchFamily="49" charset="-122"/>
              </a:rPr>
              <a:t>是前缀的占位符</a:t>
            </a:r>
            <a:endParaRPr lang="ko-Kore-KR" altLang="ko-Kore-KR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C8D24F-9A27-0C99-3A62-E52B2FB4EED7}"/>
              </a:ext>
            </a:extLst>
          </p:cNvPr>
          <p:cNvSpPr txBox="1"/>
          <p:nvPr/>
        </p:nvSpPr>
        <p:spPr>
          <a:xfrm>
            <a:off x="7653974" y="1394192"/>
            <a:ext cx="413624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0033CC"/>
              </a:buClr>
              <a:buFont typeface="Wingdings" pitchFamily="2" charset="2"/>
              <a:buChar char="q"/>
            </a:pPr>
            <a:r>
              <a:rPr lang="ko-Kore-KR" altLang="ko-Kore-KR" sz="2000">
                <a:effectLst/>
                <a:latin typeface="Times New Roman" panose="02020603050405020304" pitchFamily="18" charset="0"/>
                <a:ea typeface="KaiTi" panose="02010609060101010101" pitchFamily="49" charset="-122"/>
                <a:cs typeface="바탕" panose="02030600000101010101" pitchFamily="18" charset="-127"/>
              </a:rPr>
              <a:t>前</a:t>
            </a:r>
            <a:r>
              <a:rPr lang="ko-Kore-KR" altLang="ko-Kore-KR" sz="2000">
                <a:effectLst/>
                <a:latin typeface="Times New Roman" panose="02020603050405020304" pitchFamily="18" charset="0"/>
                <a:ea typeface="KaiTi" panose="02010609060101010101" pitchFamily="49" charset="-122"/>
                <a:cs typeface="Microsoft YaHei" panose="020B0503020204020204" pitchFamily="34" charset="-122"/>
              </a:rPr>
              <a:t>缀与</a:t>
            </a:r>
            <a:r>
              <a:rPr lang="ko-Kore-KR" altLang="ko-Kore-KR" sz="2000">
                <a:effectLst/>
                <a:latin typeface="Times New Roman" panose="02020603050405020304" pitchFamily="18" charset="0"/>
                <a:ea typeface="KaiTi" panose="02010609060101010101" pitchFamily="49" charset="-122"/>
                <a:cs typeface="바탕" panose="02030600000101010101" pitchFamily="18" charset="-127"/>
              </a:rPr>
              <a:t>后</a:t>
            </a:r>
            <a:r>
              <a:rPr lang="ko-Kore-KR" altLang="ko-Kore-KR" sz="2000">
                <a:effectLst/>
                <a:latin typeface="Times New Roman" panose="02020603050405020304" pitchFamily="18" charset="0"/>
                <a:ea typeface="KaiTi" panose="02010609060101010101" pitchFamily="49" charset="-122"/>
                <a:cs typeface="SimSun" panose="02010600030101010101" pitchFamily="2" charset="-122"/>
              </a:rPr>
              <a:t>缀</a:t>
            </a:r>
            <a:endParaRPr lang="en-US" altLang="ko-Kore-KR" sz="2000">
              <a:latin typeface="Times New Roman" panose="02020603050405020304" pitchFamily="18" charset="0"/>
              <a:ea typeface="KaiTi" panose="02010609060101010101" pitchFamily="49" charset="-122"/>
            </a:endParaRPr>
          </a:p>
          <a:p>
            <a:pPr marL="800078" lvl="1" indent="-342900">
              <a:buClr>
                <a:srgbClr val="FF0000"/>
              </a:buClr>
              <a:buFont typeface="Wingdings" pitchFamily="2" charset="2"/>
              <a:buChar char="q"/>
            </a:pPr>
            <a:r>
              <a:rPr lang="ko-Kore-KR" altLang="ko-Kore-KR" sz="2000">
                <a:effectLst/>
                <a:latin typeface="Times New Roman" panose="02020603050405020304" pitchFamily="18" charset="0"/>
                <a:ea typeface="KaiTi" panose="02010609060101010101" pitchFamily="49" charset="-122"/>
                <a:cs typeface="SimSun" panose="02010600030101010101" pitchFamily="2" charset="-122"/>
              </a:rPr>
              <a:t>给</a:t>
            </a:r>
            <a:r>
              <a:rPr lang="ko-Kore-KR" altLang="ko-Kore-KR" sz="2000">
                <a:effectLst/>
                <a:latin typeface="Times New Roman" panose="02020603050405020304" pitchFamily="18" charset="0"/>
                <a:ea typeface="KaiTi" panose="02010609060101010101" pitchFamily="49" charset="-122"/>
                <a:cs typeface="바탕" panose="02030600000101010101" pitchFamily="18" charset="-127"/>
              </a:rPr>
              <a:t>定</a:t>
            </a:r>
            <a:r>
              <a:rPr lang="en-US" altLang="ko-Kore-KR" sz="2000">
                <a:effectLst/>
                <a:latin typeface="KaiTi" panose="02010609060101010101" pitchFamily="49" charset="-122"/>
                <a:ea typeface="Times New Roman" panose="02020603050405020304" pitchFamily="18" charset="0"/>
              </a:rPr>
              <a:t> &lt;a(abc)(ac)d(cf)&gt;</a:t>
            </a:r>
            <a:endParaRPr lang="ko-Kore-KR" altLang="ko-Kore-KR" sz="20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00078" lvl="1" indent="-342900">
              <a:buClr>
                <a:srgbClr val="FF0000"/>
              </a:buClr>
              <a:buFont typeface="Wingdings" pitchFamily="2" charset="2"/>
              <a:buChar char="q"/>
            </a:pPr>
            <a:r>
              <a:rPr lang="ko-Kore-KR" altLang="ko-Kore-KR" sz="2000" u="sng">
                <a:effectLst/>
                <a:latin typeface="Times New Roman" panose="02020603050405020304" pitchFamily="18" charset="0"/>
                <a:ea typeface="KaiTi" panose="02010609060101010101" pitchFamily="49" charset="-122"/>
                <a:cs typeface="바탕" panose="02030600000101010101" pitchFamily="18" charset="-127"/>
              </a:rPr>
              <a:t>前</a:t>
            </a:r>
            <a:r>
              <a:rPr lang="ko-Kore-KR" altLang="ko-Kore-KR" sz="2000" u="sng">
                <a:effectLst/>
                <a:latin typeface="Times New Roman" panose="02020603050405020304" pitchFamily="18" charset="0"/>
                <a:ea typeface="KaiTi" panose="02010609060101010101" pitchFamily="49" charset="-122"/>
                <a:cs typeface="SimSun" panose="02010600030101010101" pitchFamily="2" charset="-122"/>
              </a:rPr>
              <a:t>缀</a:t>
            </a:r>
            <a:r>
              <a:rPr lang="en-US" altLang="ko-Kore-KR" sz="2000">
                <a:effectLst/>
                <a:latin typeface="KaiTi" panose="02010609060101010101" pitchFamily="49" charset="-122"/>
                <a:ea typeface="Times New Roman" panose="02020603050405020304" pitchFamily="18" charset="0"/>
              </a:rPr>
              <a:t>: &lt;a&gt;, &lt;aa&gt;, &lt;a(ab)&gt;, &lt;a(abc)&gt;, …</a:t>
            </a:r>
            <a:endParaRPr lang="ko-Kore-KR" altLang="ko-Kore-KR" sz="20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00078" lvl="1" indent="-342900">
              <a:buClr>
                <a:srgbClr val="FF0000"/>
              </a:buClr>
              <a:buFont typeface="Wingdings" pitchFamily="2" charset="2"/>
              <a:buChar char="q"/>
            </a:pPr>
            <a:r>
              <a:rPr lang="ko-Kore-KR" altLang="ko-Kore-KR" sz="2000">
                <a:effectLst/>
                <a:latin typeface="Times New Roman" panose="02020603050405020304" pitchFamily="18" charset="0"/>
                <a:ea typeface="KaiTi" panose="02010609060101010101" pitchFamily="49" charset="-122"/>
                <a:cs typeface="바탕" panose="02030600000101010101" pitchFamily="18" charset="-127"/>
              </a:rPr>
              <a:t>后</a:t>
            </a:r>
            <a:r>
              <a:rPr lang="ko-Kore-KR" altLang="ko-Kore-KR" sz="2000">
                <a:effectLst/>
                <a:latin typeface="Times New Roman" panose="02020603050405020304" pitchFamily="18" charset="0"/>
                <a:ea typeface="KaiTi" panose="02010609060101010101" pitchFamily="49" charset="-122"/>
                <a:cs typeface="SimSun" panose="02010600030101010101" pitchFamily="2" charset="-122"/>
              </a:rPr>
              <a:t>缀</a:t>
            </a:r>
            <a:r>
              <a:rPr lang="en-US" altLang="ko-Kore-KR" sz="2000">
                <a:effectLst/>
                <a:latin typeface="KaiTi" panose="02010609060101010101" pitchFamily="49" charset="-122"/>
                <a:ea typeface="Times New Roman" panose="02020603050405020304" pitchFamily="18" charset="0"/>
              </a:rPr>
              <a:t>: </a:t>
            </a:r>
            <a:r>
              <a:rPr lang="ko-Kore-KR" altLang="ko-Kore-KR" sz="2000">
                <a:effectLst/>
                <a:latin typeface="Times New Roman" panose="02020603050405020304" pitchFamily="18" charset="0"/>
                <a:ea typeface="KaiTi" panose="02010609060101010101" pitchFamily="49" charset="-122"/>
                <a:cs typeface="바탕" panose="02030600000101010101" pitchFamily="18" charset="-127"/>
              </a:rPr>
              <a:t>基于前</a:t>
            </a:r>
            <a:r>
              <a:rPr lang="ko-Kore-KR" altLang="ko-Kore-KR" sz="2000">
                <a:effectLst/>
                <a:latin typeface="Times New Roman" panose="02020603050405020304" pitchFamily="18" charset="0"/>
                <a:ea typeface="KaiTi" panose="02010609060101010101" pitchFamily="49" charset="-122"/>
                <a:cs typeface="SimSun" panose="02010600030101010101" pitchFamily="2" charset="-122"/>
              </a:rPr>
              <a:t>缀</a:t>
            </a:r>
            <a:r>
              <a:rPr lang="ko-Kore-KR" altLang="ko-Kore-KR" sz="2000">
                <a:effectLst/>
                <a:latin typeface="Times New Roman" panose="02020603050405020304" pitchFamily="18" charset="0"/>
                <a:ea typeface="KaiTi" panose="02010609060101010101" pitchFamily="49" charset="-122"/>
                <a:cs typeface="바탕" panose="02030600000101010101" pitchFamily="18" charset="-127"/>
              </a:rPr>
              <a:t>的投影</a:t>
            </a:r>
            <a:endParaRPr lang="ko-Kore-KR" altLang="ko-Kore-KR" sz="20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3BF69-5B85-03CB-13EB-3466728E2188}"/>
              </a:ext>
            </a:extLst>
          </p:cNvPr>
          <p:cNvSpPr txBox="1"/>
          <p:nvPr/>
        </p:nvSpPr>
        <p:spPr>
          <a:xfrm>
            <a:off x="7273581" y="5116136"/>
            <a:ext cx="4368800" cy="677108"/>
          </a:xfrm>
          <a:prstGeom prst="rect">
            <a:avLst/>
          </a:prstGeom>
          <a:solidFill>
            <a:srgbClr val="CCFFCC"/>
          </a:solidFill>
        </p:spPr>
        <p:txBody>
          <a:bodyPr wrap="square">
            <a:spAutoFit/>
          </a:bodyPr>
          <a:lstStyle/>
          <a:p>
            <a:r>
              <a:rPr lang="ko-KR" altLang="en-US" dirty="0" err="1">
                <a:latin typeface="KaiTi" panose="02010609060101010101" pitchFamily="49" charset="-122"/>
              </a:rPr>
              <a:t>pip</a:t>
            </a:r>
            <a:r>
              <a:rPr lang="ko-KR" altLang="en-US" dirty="0">
                <a:latin typeface="KaiTi" panose="02010609060101010101" pitchFamily="49" charset="-122"/>
              </a:rPr>
              <a:t> </a:t>
            </a:r>
            <a:r>
              <a:rPr lang="ko-KR" altLang="en-US" dirty="0" err="1">
                <a:latin typeface="KaiTi" panose="02010609060101010101" pitchFamily="49" charset="-122"/>
              </a:rPr>
              <a:t>install</a:t>
            </a:r>
            <a:r>
              <a:rPr lang="ko-KR" altLang="en-US" dirty="0">
                <a:latin typeface="KaiTi" panose="02010609060101010101" pitchFamily="49" charset="-122"/>
              </a:rPr>
              <a:t> </a:t>
            </a:r>
            <a:r>
              <a:rPr lang="ko-KR" altLang="en-US" dirty="0" err="1">
                <a:latin typeface="KaiTi" panose="02010609060101010101" pitchFamily="49" charset="-122"/>
              </a:rPr>
              <a:t>prefixspan</a:t>
            </a:r>
            <a:endParaRPr lang="en-US" altLang="ko-KR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ko-KR" dirty="0">
                <a:latin typeface="KaiTi" panose="02010609060101010101" pitchFamily="49" charset="-122"/>
                <a:ea typeface="KaiTi" panose="02010609060101010101" pitchFamily="49" charset="-122"/>
              </a:rPr>
              <a:t>from </a:t>
            </a:r>
            <a:r>
              <a:rPr lang="en-US" altLang="ko-KR" dirty="0" err="1">
                <a:latin typeface="KaiTi" panose="02010609060101010101" pitchFamily="49" charset="-122"/>
                <a:ea typeface="KaiTi" panose="02010609060101010101" pitchFamily="49" charset="-122"/>
              </a:rPr>
              <a:t>prefixspan</a:t>
            </a:r>
            <a:r>
              <a:rPr lang="en-US" altLang="ko-KR" dirty="0">
                <a:latin typeface="KaiTi" panose="02010609060101010101" pitchFamily="49" charset="-122"/>
                <a:ea typeface="KaiTi" panose="02010609060101010101" pitchFamily="49" charset="-122"/>
              </a:rPr>
              <a:t> import </a:t>
            </a:r>
            <a:r>
              <a:rPr lang="en-US" altLang="ko-KR" dirty="0" err="1">
                <a:latin typeface="KaiTi" panose="02010609060101010101" pitchFamily="49" charset="-122"/>
                <a:ea typeface="KaiTi" panose="02010609060101010101" pitchFamily="49" charset="-122"/>
              </a:rPr>
              <a:t>PrefixSpan</a:t>
            </a:r>
            <a:endParaRPr lang="ko-KR" altLang="en-US" dirty="0">
              <a:latin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5846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11" grpId="0" animBg="1"/>
      <p:bldP spid="12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8"/>
          <p:cNvSpPr txBox="1">
            <a:spLocks noChangeArrowheads="1"/>
          </p:cNvSpPr>
          <p:nvPr/>
        </p:nvSpPr>
        <p:spPr bwMode="auto">
          <a:xfrm>
            <a:off x="1009651" y="3135314"/>
            <a:ext cx="1114151" cy="3693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prefix &lt;a&gt;</a:t>
            </a: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12192000" cy="762000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PrefixSpan</a:t>
            </a:r>
            <a:r>
              <a:rPr lang="en-US" altLang="en-US" dirty="0"/>
              <a:t>: Mining Prefix-Projected DBs</a:t>
            </a:r>
          </a:p>
        </p:txBody>
      </p:sp>
      <p:sp>
        <p:nvSpPr>
          <p:cNvPr id="11268" name="Text Box 24"/>
          <p:cNvSpPr txBox="1">
            <a:spLocks noChangeArrowheads="1"/>
          </p:cNvSpPr>
          <p:nvPr/>
        </p:nvSpPr>
        <p:spPr bwMode="auto">
          <a:xfrm>
            <a:off x="7518401" y="1784351"/>
            <a:ext cx="3180038" cy="707886"/>
          </a:xfrm>
          <a:prstGeom prst="rect">
            <a:avLst/>
          </a:prstGeom>
          <a:solidFill>
            <a:srgbClr val="FAE2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Length-1 sequential patterns</a:t>
            </a:r>
          </a:p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&lt;a&gt;, &lt;b&gt;, &lt;c&gt;, &lt;d&gt;, &lt;e&gt;, &lt;f&gt;</a:t>
            </a:r>
          </a:p>
        </p:txBody>
      </p:sp>
      <p:sp>
        <p:nvSpPr>
          <p:cNvPr id="11270" name="Line 27"/>
          <p:cNvSpPr>
            <a:spLocks noChangeShapeType="1"/>
          </p:cNvSpPr>
          <p:nvPr/>
        </p:nvSpPr>
        <p:spPr bwMode="auto">
          <a:xfrm flipH="1">
            <a:off x="2133600" y="2830286"/>
            <a:ext cx="1828800" cy="638402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271" name="Text Box 29"/>
          <p:cNvSpPr txBox="1">
            <a:spLocks noChangeArrowheads="1"/>
          </p:cNvSpPr>
          <p:nvPr/>
        </p:nvSpPr>
        <p:spPr bwMode="auto">
          <a:xfrm>
            <a:off x="323851" y="5410200"/>
            <a:ext cx="1708149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prefix &lt;aa&gt;</a:t>
            </a:r>
          </a:p>
        </p:txBody>
      </p:sp>
      <p:sp>
        <p:nvSpPr>
          <p:cNvPr id="11272" name="Text Box 32"/>
          <p:cNvSpPr txBox="1">
            <a:spLocks noChangeArrowheads="1"/>
          </p:cNvSpPr>
          <p:nvPr/>
        </p:nvSpPr>
        <p:spPr bwMode="auto">
          <a:xfrm>
            <a:off x="2571752" y="5791200"/>
            <a:ext cx="4363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…</a:t>
            </a:r>
          </a:p>
        </p:txBody>
      </p:sp>
      <p:sp>
        <p:nvSpPr>
          <p:cNvPr id="11273" name="Text Box 35"/>
          <p:cNvSpPr txBox="1">
            <a:spLocks noChangeArrowheads="1"/>
          </p:cNvSpPr>
          <p:nvPr/>
        </p:nvSpPr>
        <p:spPr bwMode="auto">
          <a:xfrm>
            <a:off x="3751731" y="5402851"/>
            <a:ext cx="1183337" cy="3693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prefix &lt;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af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&gt;</a:t>
            </a:r>
          </a:p>
        </p:txBody>
      </p:sp>
      <p:sp>
        <p:nvSpPr>
          <p:cNvPr id="11274" name="Text Box 37"/>
          <p:cNvSpPr txBox="1">
            <a:spLocks noChangeArrowheads="1"/>
          </p:cNvSpPr>
          <p:nvPr/>
        </p:nvSpPr>
        <p:spPr bwMode="auto">
          <a:xfrm>
            <a:off x="10049781" y="3656173"/>
            <a:ext cx="4363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…</a:t>
            </a:r>
          </a:p>
        </p:txBody>
      </p:sp>
      <p:sp>
        <p:nvSpPr>
          <p:cNvPr id="11275" name="Text Box 40"/>
          <p:cNvSpPr txBox="1">
            <a:spLocks noChangeArrowheads="1"/>
          </p:cNvSpPr>
          <p:nvPr/>
        </p:nvSpPr>
        <p:spPr bwMode="auto">
          <a:xfrm>
            <a:off x="5348897" y="3101897"/>
            <a:ext cx="1524000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prefix &lt;b&gt;</a:t>
            </a:r>
          </a:p>
        </p:txBody>
      </p:sp>
      <p:sp>
        <p:nvSpPr>
          <p:cNvPr id="11276" name="Text Box 41"/>
          <p:cNvSpPr txBox="1">
            <a:spLocks noChangeArrowheads="1"/>
          </p:cNvSpPr>
          <p:nvPr/>
        </p:nvSpPr>
        <p:spPr bwMode="auto">
          <a:xfrm>
            <a:off x="9220374" y="3286841"/>
            <a:ext cx="1782604" cy="3693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prefix &lt;c&gt;, …, &lt;f&gt;</a:t>
            </a:r>
          </a:p>
        </p:txBody>
      </p:sp>
      <p:sp>
        <p:nvSpPr>
          <p:cNvPr id="11279" name="Text Box 44"/>
          <p:cNvSpPr txBox="1">
            <a:spLocks noChangeArrowheads="1"/>
          </p:cNvSpPr>
          <p:nvPr/>
        </p:nvSpPr>
        <p:spPr bwMode="auto">
          <a:xfrm>
            <a:off x="7143751" y="4343400"/>
            <a:ext cx="7841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… …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064000" y="1295400"/>
          <a:ext cx="3048000" cy="18288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46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1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SID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Sequence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&lt;a(</a:t>
                      </a:r>
                      <a:r>
                        <a:rPr kumimoji="0" lang="en-US" sz="18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ab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)(a</a:t>
                      </a:r>
                      <a:r>
                        <a:rPr kumimoji="0" lang="en-US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)d(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cf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)&gt;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&lt;(ad)c(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bc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)(ae)&gt;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ef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)(</a:t>
                      </a:r>
                      <a:r>
                        <a:rPr kumimoji="0" lang="en-US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ab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)(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df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r>
                        <a:rPr kumimoji="0" lang="en-US" sz="18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eg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af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cbc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95300" y="3505200"/>
          <a:ext cx="2590800" cy="18288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45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u="sng" dirty="0">
                          <a:solidFill>
                            <a:schemeClr val="tx1"/>
                          </a:solidFill>
                        </a:rPr>
                        <a:t>&lt;a&gt;-projected DB</a:t>
                      </a:r>
                      <a:endParaRPr lang="en-US" altLang="en-US" sz="1800" b="0" u="sng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5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/>
                        <a:t>&lt;(</a:t>
                      </a:r>
                      <a:r>
                        <a:rPr lang="en-US" altLang="en-US" sz="1800" dirty="0" err="1"/>
                        <a:t>abc</a:t>
                      </a:r>
                      <a:r>
                        <a:rPr lang="en-US" altLang="en-US" sz="1800" dirty="0"/>
                        <a:t>)(ac)d(</a:t>
                      </a:r>
                      <a:r>
                        <a:rPr lang="en-US" altLang="en-US" sz="1800" dirty="0" err="1"/>
                        <a:t>cf</a:t>
                      </a:r>
                      <a:r>
                        <a:rPr lang="en-US" altLang="en-US" sz="1800" dirty="0"/>
                        <a:t>)&gt;</a:t>
                      </a:r>
                      <a:endParaRPr lang="en-US" alt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5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/>
                        <a:t>&lt;(_d)c(</a:t>
                      </a:r>
                      <a:r>
                        <a:rPr lang="en-US" altLang="en-US" sz="1800" dirty="0" err="1"/>
                        <a:t>bc</a:t>
                      </a:r>
                      <a:r>
                        <a:rPr lang="en-US" altLang="en-US" sz="1800" dirty="0"/>
                        <a:t>)(ae)&gt;</a:t>
                      </a:r>
                      <a:endParaRPr lang="en-US" alt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5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/>
                        <a:t>&lt;(_b)(</a:t>
                      </a:r>
                      <a:r>
                        <a:rPr lang="en-US" altLang="en-US" sz="1800" dirty="0" err="1"/>
                        <a:t>df</a:t>
                      </a:r>
                      <a:r>
                        <a:rPr lang="en-US" altLang="en-US" sz="1800" dirty="0"/>
                        <a:t>)</a:t>
                      </a:r>
                      <a:r>
                        <a:rPr lang="en-US" altLang="en-US" sz="1800" dirty="0" err="1"/>
                        <a:t>cb</a:t>
                      </a:r>
                      <a:r>
                        <a:rPr lang="en-US" altLang="en-US" sz="1800" dirty="0"/>
                        <a:t>&gt;</a:t>
                      </a:r>
                      <a:endParaRPr lang="en-US" alt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5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/>
                        <a:t>&lt;(_f)</a:t>
                      </a:r>
                      <a:r>
                        <a:rPr lang="en-US" altLang="en-US" sz="1800" dirty="0" err="1"/>
                        <a:t>cbc</a:t>
                      </a:r>
                      <a:r>
                        <a:rPr lang="en-US" altLang="en-US" sz="1800" dirty="0"/>
                        <a:t>&gt;</a:t>
                      </a:r>
                      <a:endParaRPr lang="en-US" alt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321" name="Line 27"/>
          <p:cNvSpPr>
            <a:spLocks noChangeShapeType="1"/>
          </p:cNvSpPr>
          <p:nvPr/>
        </p:nvSpPr>
        <p:spPr bwMode="auto">
          <a:xfrm>
            <a:off x="5072485" y="3045207"/>
            <a:ext cx="349623" cy="282437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322" name="Line 27"/>
          <p:cNvSpPr>
            <a:spLocks noChangeShapeType="1"/>
          </p:cNvSpPr>
          <p:nvPr/>
        </p:nvSpPr>
        <p:spPr bwMode="auto">
          <a:xfrm>
            <a:off x="7448550" y="2895600"/>
            <a:ext cx="2180642" cy="282437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137584" y="5894388"/>
          <a:ext cx="2590800" cy="36532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u="sng" dirty="0">
                          <a:solidFill>
                            <a:schemeClr val="tx1"/>
                          </a:solidFill>
                        </a:rPr>
                        <a:t>&lt;aa&gt;-projected DB</a:t>
                      </a:r>
                      <a:endParaRPr lang="en-US" altLang="en-US" sz="1800" b="0" u="sng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5503" marB="4550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048000" y="5897563"/>
          <a:ext cx="2590800" cy="36532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u="sng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altLang="en-US" sz="1800" u="sng" dirty="0" err="1">
                          <a:solidFill>
                            <a:schemeClr val="tx1"/>
                          </a:solidFill>
                        </a:rPr>
                        <a:t>af</a:t>
                      </a:r>
                      <a:r>
                        <a:rPr lang="en-US" altLang="en-US" sz="1800" u="sng" dirty="0">
                          <a:solidFill>
                            <a:schemeClr val="tx1"/>
                          </a:solidFill>
                        </a:rPr>
                        <a:t>&gt;-projected DB</a:t>
                      </a:r>
                      <a:endParaRPr lang="en-US" altLang="en-US" sz="1800" b="0" u="sng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5503" marB="4550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35" name="Line 27"/>
          <p:cNvSpPr>
            <a:spLocks noChangeShapeType="1"/>
          </p:cNvSpPr>
          <p:nvPr/>
        </p:nvSpPr>
        <p:spPr bwMode="auto">
          <a:xfrm flipH="1">
            <a:off x="1524000" y="5286375"/>
            <a:ext cx="304800" cy="611188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336" name="Line 27"/>
          <p:cNvSpPr>
            <a:spLocks noChangeShapeType="1"/>
          </p:cNvSpPr>
          <p:nvPr/>
        </p:nvSpPr>
        <p:spPr bwMode="auto">
          <a:xfrm>
            <a:off x="2184400" y="5286375"/>
            <a:ext cx="2237317" cy="611188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Rectangle 3"/>
          <p:cNvSpPr txBox="1">
            <a:spLocks noChangeArrowheads="1"/>
          </p:cNvSpPr>
          <p:nvPr/>
        </p:nvSpPr>
        <p:spPr bwMode="auto">
          <a:xfrm>
            <a:off x="7874094" y="5391367"/>
            <a:ext cx="3492308" cy="1228725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latinLnBrk="1">
              <a:buNone/>
            </a:pPr>
            <a:r>
              <a:rPr lang="en-US" altLang="ko-Kore-KR" sz="2000">
                <a:latin typeface="KaiTi" panose="02010609060101010101" pitchFamily="49" charset="-122"/>
                <a:ea typeface="KaiTi" panose="02010609060101010101" pitchFamily="49" charset="-122"/>
              </a:rPr>
              <a:t>PrefixSpan</a:t>
            </a:r>
            <a:r>
              <a:rPr lang="ko-Kore-KR" altLang="ko-Kore-KR" sz="2000">
                <a:latin typeface="KaiTi" panose="02010609060101010101" pitchFamily="49" charset="-122"/>
              </a:rPr>
              <a:t>的主要优势：</a:t>
            </a:r>
          </a:p>
          <a:p>
            <a:pPr latinLnBrk="1"/>
            <a:r>
              <a:rPr lang="ko-Kore-KR" altLang="ko-Kore-KR" sz="2000">
                <a:latin typeface="KaiTi" panose="02010609060101010101" pitchFamily="49" charset="-122"/>
              </a:rPr>
              <a:t>无需生成候选子序列</a:t>
            </a:r>
          </a:p>
          <a:p>
            <a:pPr latinLnBrk="1"/>
            <a:r>
              <a:rPr lang="ko-Kore-KR" altLang="ko-Kore-KR" sz="2000">
                <a:latin typeface="KaiTi" panose="02010609060101010101" pitchFamily="49" charset="-122"/>
              </a:rPr>
              <a:t>投影数据库持续缩减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8400" y="1337710"/>
            <a:ext cx="1342421" cy="3698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min_sup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= 2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940933" y="3480629"/>
          <a:ext cx="2177924" cy="18288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177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936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u="sng" dirty="0">
                          <a:solidFill>
                            <a:schemeClr val="tx1"/>
                          </a:solidFill>
                        </a:rPr>
                        <a:t>&lt;b&gt;-projected DB</a:t>
                      </a:r>
                      <a:endParaRPr lang="en-US" altLang="en-US" sz="1800" b="0" u="sng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5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/>
                        <a:t>&lt;(_c)(ac)d(</a:t>
                      </a:r>
                      <a:r>
                        <a:rPr lang="en-US" altLang="en-US" sz="1800" dirty="0" err="1"/>
                        <a:t>cf</a:t>
                      </a:r>
                      <a:r>
                        <a:rPr lang="en-US" altLang="en-US" sz="1800" dirty="0"/>
                        <a:t>)&gt;</a:t>
                      </a:r>
                      <a:endParaRPr lang="en-US" alt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5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/>
                        <a:t>&lt;(_c)(ae)&gt;</a:t>
                      </a:r>
                      <a:endParaRPr lang="en-US" alt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5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/>
                        <a:t>&lt;(</a:t>
                      </a:r>
                      <a:r>
                        <a:rPr lang="en-US" altLang="en-US" sz="1800" dirty="0" err="1"/>
                        <a:t>df</a:t>
                      </a:r>
                      <a:r>
                        <a:rPr lang="en-US" altLang="en-US" sz="1800" dirty="0"/>
                        <a:t>)</a:t>
                      </a:r>
                      <a:r>
                        <a:rPr lang="en-US" altLang="en-US" sz="1800" dirty="0" err="1"/>
                        <a:t>cb</a:t>
                      </a:r>
                      <a:r>
                        <a:rPr lang="en-US" altLang="en-US" sz="1800" dirty="0"/>
                        <a:t>&gt;</a:t>
                      </a:r>
                      <a:endParaRPr lang="en-US" alt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5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/>
                        <a:t>&lt;c&gt;</a:t>
                      </a:r>
                      <a:endParaRPr lang="en-US" alt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 Box 26">
            <a:extLst>
              <a:ext uri="{FF2B5EF4-FFF2-40B4-BE49-F238E27FC236}">
                <a16:creationId xmlns:a16="http://schemas.microsoft.com/office/drawing/2014/main" id="{E2381604-6A78-6868-56A3-36878B148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9201" y="4144241"/>
            <a:ext cx="2049122" cy="1200329"/>
          </a:xfrm>
          <a:prstGeom prst="rect">
            <a:avLst/>
          </a:prstGeom>
          <a:solidFill>
            <a:srgbClr val="FAE2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Length-2 sequential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patterns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&lt;aa&gt;, &lt;ab&gt;, &lt;(ab)&gt;,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&lt;ac&gt;, &lt;ad&gt;, &lt;</a:t>
            </a:r>
            <a:r>
              <a:rPr lang="en-US" altLang="en-US" sz="1800" dirty="0" err="1"/>
              <a:t>af</a:t>
            </a:r>
            <a:r>
              <a:rPr lang="en-US" altLang="en-US" sz="180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103525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  <p:bldP spid="11268" grpId="0" animBg="1"/>
      <p:bldP spid="11270" grpId="0" animBg="1"/>
      <p:bldP spid="11271" grpId="0"/>
      <p:bldP spid="11272" grpId="0"/>
      <p:bldP spid="11273" grpId="0"/>
      <p:bldP spid="11274" grpId="0"/>
      <p:bldP spid="11275" grpId="0"/>
      <p:bldP spid="11276" grpId="0"/>
      <p:bldP spid="11279" grpId="0"/>
      <p:bldP spid="11321" grpId="0" animBg="1"/>
      <p:bldP spid="11322" grpId="0" animBg="1"/>
      <p:bldP spid="11335" grpId="0" animBg="1"/>
      <p:bldP spid="11336" grpId="0" animBg="1"/>
      <p:bldP spid="37" grpId="0" animBg="1"/>
      <p:bldP spid="26" grpId="0" animBg="1"/>
      <p:bldP spid="2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AA82EA-01DC-EFB2-85E9-3B5177066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PrefixSpan</a:t>
            </a:r>
            <a:r>
              <a:rPr lang="en-US" altLang="en-US" dirty="0"/>
              <a:t>: Mining Prefix-Projected DBs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F078287-A64D-91D7-6D3C-B79561032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34" y="1333762"/>
            <a:ext cx="9476190" cy="20952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18CA30-E5E4-B7B7-E71A-49650FFDE9C4}"/>
              </a:ext>
            </a:extLst>
          </p:cNvPr>
          <p:cNvSpPr txBox="1"/>
          <p:nvPr/>
        </p:nvSpPr>
        <p:spPr>
          <a:xfrm>
            <a:off x="350985" y="3696594"/>
            <a:ext cx="611436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4D4D4D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对上面的表格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求（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a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）序列的前缀</a:t>
            </a:r>
            <a:endParaRPr lang="ko-KR" altLang="en-US" dirty="0">
              <a:latin typeface="KaiTi" panose="02010609060101010101" pitchFamily="49" charset="-122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FA81E60-53C3-B2EA-0F7E-658542B90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34" y="4220916"/>
            <a:ext cx="9371428" cy="21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42853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956D1-BE32-CEFC-8A6E-23FB5AA68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34A4B3-430C-A2E2-7E56-84A70E80F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PrefixSpan</a:t>
            </a:r>
            <a:r>
              <a:rPr lang="en-US" altLang="en-US" dirty="0"/>
              <a:t>: Mining Prefix-Projected DBs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2B82ED3-3C02-F67E-03E3-152D725EB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34" y="1333762"/>
            <a:ext cx="9476190" cy="209523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DD7A738-FBA1-CD09-9047-8AAAA86B7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676" y="4269887"/>
            <a:ext cx="9361905" cy="20857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DE1D18-7B27-F01A-69A0-A6A391005759}"/>
              </a:ext>
            </a:extLst>
          </p:cNvPr>
          <p:cNvSpPr txBox="1"/>
          <p:nvPr/>
        </p:nvSpPr>
        <p:spPr>
          <a:xfrm>
            <a:off x="350985" y="3725059"/>
            <a:ext cx="6114360" cy="411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(a)(a) 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这个序列的前缀投影</a:t>
            </a:r>
            <a:endParaRPr lang="ko-KR" altLang="ko-KR" sz="32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898916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5BD07-2D1F-E114-FC04-3C6E9F7EC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EC24F8-38BC-5E1A-674E-2FA4D4FA6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PrefixSpan</a:t>
            </a:r>
            <a:r>
              <a:rPr lang="en-US" altLang="en-US" dirty="0"/>
              <a:t>: Mining Prefix-Projected DBs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21B1B42-8A92-BD27-FD8B-27602E04D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918" y="3380100"/>
            <a:ext cx="9438095" cy="21523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9BFBBAB-57D9-8169-A778-EF2086CA57A5}"/>
              </a:ext>
            </a:extLst>
          </p:cNvPr>
          <p:cNvSpPr txBox="1"/>
          <p:nvPr/>
        </p:nvSpPr>
        <p:spPr>
          <a:xfrm>
            <a:off x="8167171" y="5710046"/>
            <a:ext cx="178106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0000"/>
                </a:solidFill>
                <a:latin typeface="-apple-system"/>
              </a:rPr>
              <a:t>m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-apple-system"/>
              </a:rPr>
              <a:t>in_sup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=2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F8D57C-9B27-6FAF-2311-D637B12B5B9F}"/>
              </a:ext>
            </a:extLst>
          </p:cNvPr>
          <p:cNvSpPr txBox="1"/>
          <p:nvPr/>
        </p:nvSpPr>
        <p:spPr>
          <a:xfrm>
            <a:off x="350985" y="1325519"/>
            <a:ext cx="11271810" cy="1929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ko-KR" sz="2000" dirty="0" err="1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PrefixSpan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算法思想及其流程</a:t>
            </a:r>
            <a:endParaRPr lang="ko-KR" altLang="ko-KR" sz="32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ko-KR" sz="2000" dirty="0" err="1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PrefixSpan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算法的目的是挖掘出满足最小支持度的频繁序列，和</a:t>
            </a:r>
            <a:r>
              <a:rPr lang="en-US" altLang="ko-KR" sz="2000" dirty="0" err="1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Apriori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算法类似，它是从长度为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的前缀开始挖掘序列模式，搜索对应的前缀投影数据库，得到长度为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的前缀对应的频繁序列，然后递归的挖掘长度为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2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的前缀所对应的频繁序列，依次类推。直到某个前缀的前缀投影数据库为空时，就结束。</a:t>
            </a:r>
            <a:endParaRPr lang="ko-KR" altLang="ko-KR" sz="32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52426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7A833-2AA6-8ECE-C378-AA3B2372A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606402-5E35-2E47-2C6D-86710888E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PrefixSpan</a:t>
            </a:r>
            <a:r>
              <a:rPr lang="en-US" altLang="en-US" dirty="0"/>
              <a:t>: Mining Prefix-Projected DBs</a:t>
            </a:r>
            <a:endParaRPr lang="ko-KR" altLang="en-US" dirty="0"/>
          </a:p>
        </p:txBody>
      </p:sp>
      <p:pic>
        <p:nvPicPr>
          <p:cNvPr id="15362" name="Picture 2" descr="在这里插入图片描述">
            <a:extLst>
              <a:ext uri="{FF2B5EF4-FFF2-40B4-BE49-F238E27FC236}">
                <a16:creationId xmlns:a16="http://schemas.microsoft.com/office/drawing/2014/main" id="{4D4EAB9D-F6A6-ED25-119A-7D6ED5FC0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4360" y="3264871"/>
            <a:ext cx="382905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E010165-7D1D-13B3-FE5D-A81DB826D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079" y="4410062"/>
            <a:ext cx="9114286" cy="2076190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AD2E61D-A74F-4F08-E408-E436E04DC3E0}"/>
              </a:ext>
            </a:extLst>
          </p:cNvPr>
          <p:cNvCxnSpPr/>
          <p:nvPr/>
        </p:nvCxnSpPr>
        <p:spPr>
          <a:xfrm>
            <a:off x="7006728" y="3576442"/>
            <a:ext cx="143219" cy="23410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56DC9C6-9B41-D929-F312-B5ED902C68B7}"/>
              </a:ext>
            </a:extLst>
          </p:cNvPr>
          <p:cNvSpPr txBox="1"/>
          <p:nvPr/>
        </p:nvSpPr>
        <p:spPr>
          <a:xfrm>
            <a:off x="677180" y="1409843"/>
            <a:ext cx="10934598" cy="1929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step1 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：扫描整个数据库，找出所有不同的元素，结果如下：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a b c d e f g 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共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7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个不同元素</a:t>
            </a:r>
            <a:endParaRPr lang="ko-KR" altLang="ko-KR" sz="32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再求出每个元素在表格中出现的次数（如果某个元素在同一条数据记录中出现多次，也只认为是出现了一次，例如 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( a )( </a:t>
            </a:r>
            <a:r>
              <a:rPr lang="en-US" altLang="ko-KR" sz="2000" dirty="0" err="1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abc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 )( ac)( d )( </a:t>
            </a:r>
            <a:r>
              <a:rPr lang="en-US" altLang="ko-KR" sz="2000" dirty="0" err="1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cf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 ) 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这个序列，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a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元素在这条记录中，出现了多次，但是只记为出现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r>
              <a:rPr lang="zh-CN" altLang="ko-KR" sz="2000" dirty="0">
                <a:effectLst/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次），最后结果如下（数字代表出现次数）：</a:t>
            </a:r>
            <a:endParaRPr lang="ko-KR" altLang="ko-KR" sz="32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85127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00042-9A71-D1D8-D4DF-E4E5A02EA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0A0AC4-6257-C26B-A560-569A5CAF4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PrefixSpan</a:t>
            </a:r>
            <a:r>
              <a:rPr lang="en-US" altLang="en-US" dirty="0"/>
              <a:t>: Mining Prefix-Projected DBs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870B1E-B4BB-B1EE-D184-364267E327C9}"/>
              </a:ext>
            </a:extLst>
          </p:cNvPr>
          <p:cNvSpPr txBox="1"/>
          <p:nvPr/>
        </p:nvSpPr>
        <p:spPr>
          <a:xfrm>
            <a:off x="485422" y="1355876"/>
            <a:ext cx="1076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step2</a:t>
            </a:r>
            <a:r>
              <a:rPr lang="zh-CN" altLang="en-US" sz="20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 ：</a:t>
            </a:r>
            <a:br>
              <a:rPr lang="zh-CN" altLang="en-US" sz="20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20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对与这个新的数据库，依次以刚才的频繁元素为前缀，求其前缀投影，结果如下图：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81AF522-188B-5F64-09D7-8C87D4CBA50B}"/>
              </a:ext>
            </a:extLst>
          </p:cNvPr>
          <p:cNvCxnSpPr/>
          <p:nvPr/>
        </p:nvCxnSpPr>
        <p:spPr>
          <a:xfrm>
            <a:off x="7006728" y="3194892"/>
            <a:ext cx="143219" cy="23410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386" name="Picture 2" descr="在这里插入图片描述">
            <a:extLst>
              <a:ext uri="{FF2B5EF4-FFF2-40B4-BE49-F238E27FC236}">
                <a16:creationId xmlns:a16="http://schemas.microsoft.com/office/drawing/2014/main" id="{C87B8B63-2BEE-4FEA-0002-7834968CE8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193"/>
          <a:stretch>
            <a:fillRect/>
          </a:stretch>
        </p:blipFill>
        <p:spPr bwMode="auto">
          <a:xfrm>
            <a:off x="267934" y="2666082"/>
            <a:ext cx="11204575" cy="3552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4E003E-E3F5-D085-9000-66B406EDE48B}"/>
              </a:ext>
            </a:extLst>
          </p:cNvPr>
          <p:cNvSpPr txBox="1"/>
          <p:nvPr/>
        </p:nvSpPr>
        <p:spPr>
          <a:xfrm>
            <a:off x="7811911" y="5911245"/>
            <a:ext cx="38156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effectLst/>
                <a:latin typeface="-apple-system"/>
              </a:rPr>
              <a:t>注：空白</a:t>
            </a:r>
            <a:r>
              <a:rPr lang="zh-CN" altLang="en-US" sz="1400" b="1" dirty="0">
                <a:latin typeface="-apple-system"/>
              </a:rPr>
              <a:t>表示</a:t>
            </a:r>
            <a:r>
              <a:rPr lang="zh-CN" altLang="en-US" sz="1400" b="1" i="0" dirty="0">
                <a:effectLst/>
                <a:latin typeface="-apple-system"/>
              </a:rPr>
              <a:t>该记录没有这个前缀的前缀投影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57294592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A8CF1-E25B-96A5-EE92-87FA6EB88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0BFE5F-03C6-59FB-B00F-E825AE80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407" y="255543"/>
            <a:ext cx="11369963" cy="738909"/>
          </a:xfrm>
        </p:spPr>
        <p:txBody>
          <a:bodyPr/>
          <a:lstStyle/>
          <a:p>
            <a:r>
              <a:rPr lang="en-US" altLang="en-US" dirty="0" err="1"/>
              <a:t>PrefixSpan</a:t>
            </a:r>
            <a:r>
              <a:rPr lang="en-US" altLang="en-US" dirty="0"/>
              <a:t>: Mining Prefix-Projected DBs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6B33B7-FE27-6259-9822-1B500B29A7E0}"/>
              </a:ext>
            </a:extLst>
          </p:cNvPr>
          <p:cNvSpPr txBox="1"/>
          <p:nvPr/>
        </p:nvSpPr>
        <p:spPr>
          <a:xfrm>
            <a:off x="462844" y="1389743"/>
            <a:ext cx="1076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 </a:t>
            </a:r>
            <a:r>
              <a:rPr lang="en-US" altLang="zh-CN" sz="20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step3 </a:t>
            </a:r>
            <a:r>
              <a:rPr lang="zh-CN" altLang="en-US" sz="20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br>
              <a:rPr lang="zh-CN" altLang="en-US" sz="20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20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开始挖掘频繁序列，以 </a:t>
            </a:r>
            <a:r>
              <a:rPr lang="en-US" altLang="zh-CN" sz="20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a </a:t>
            </a:r>
            <a:r>
              <a:rPr lang="zh-CN" altLang="en-US" sz="20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的前缀投影数据库为例：</a:t>
            </a:r>
          </a:p>
        </p:txBody>
      </p:sp>
      <p:pic>
        <p:nvPicPr>
          <p:cNvPr id="17410" name="Picture 2" descr="在这里插入图片描述">
            <a:extLst>
              <a:ext uri="{FF2B5EF4-FFF2-40B4-BE49-F238E27FC236}">
                <a16:creationId xmlns:a16="http://schemas.microsoft.com/office/drawing/2014/main" id="{1E9766B3-972F-FF06-F194-78FD8B878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502" y="2404846"/>
            <a:ext cx="2085975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1D979F-6931-9E0C-7C41-D31CD5EDCA4B}"/>
              </a:ext>
            </a:extLst>
          </p:cNvPr>
          <p:cNvSpPr txBox="1"/>
          <p:nvPr/>
        </p:nvSpPr>
        <p:spPr>
          <a:xfrm>
            <a:off x="1983035" y="4433798"/>
            <a:ext cx="98490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同样的，对这个新的数据记录，求它的所有不同的元素，并求出现次数，结果如下表：</a:t>
            </a:r>
            <a:endParaRPr lang="ko-KR" altLang="en-US" sz="20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5AA3DA6F-BF75-A7BC-9270-FF99E052CE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284359"/>
              </p:ext>
            </p:extLst>
          </p:nvPr>
        </p:nvGraphicFramePr>
        <p:xfrm>
          <a:off x="4273472" y="5058155"/>
          <a:ext cx="5930448" cy="79248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741306">
                  <a:extLst>
                    <a:ext uri="{9D8B030D-6E8A-4147-A177-3AD203B41FA5}">
                      <a16:colId xmlns:a16="http://schemas.microsoft.com/office/drawing/2014/main" val="1625231112"/>
                    </a:ext>
                  </a:extLst>
                </a:gridCol>
                <a:gridCol w="741306">
                  <a:extLst>
                    <a:ext uri="{9D8B030D-6E8A-4147-A177-3AD203B41FA5}">
                      <a16:colId xmlns:a16="http://schemas.microsoft.com/office/drawing/2014/main" val="2884447537"/>
                    </a:ext>
                  </a:extLst>
                </a:gridCol>
                <a:gridCol w="741306">
                  <a:extLst>
                    <a:ext uri="{9D8B030D-6E8A-4147-A177-3AD203B41FA5}">
                      <a16:colId xmlns:a16="http://schemas.microsoft.com/office/drawing/2014/main" val="550658214"/>
                    </a:ext>
                  </a:extLst>
                </a:gridCol>
                <a:gridCol w="741306">
                  <a:extLst>
                    <a:ext uri="{9D8B030D-6E8A-4147-A177-3AD203B41FA5}">
                      <a16:colId xmlns:a16="http://schemas.microsoft.com/office/drawing/2014/main" val="3936022837"/>
                    </a:ext>
                  </a:extLst>
                </a:gridCol>
                <a:gridCol w="741306">
                  <a:extLst>
                    <a:ext uri="{9D8B030D-6E8A-4147-A177-3AD203B41FA5}">
                      <a16:colId xmlns:a16="http://schemas.microsoft.com/office/drawing/2014/main" val="1484107294"/>
                    </a:ext>
                  </a:extLst>
                </a:gridCol>
                <a:gridCol w="741306">
                  <a:extLst>
                    <a:ext uri="{9D8B030D-6E8A-4147-A177-3AD203B41FA5}">
                      <a16:colId xmlns:a16="http://schemas.microsoft.com/office/drawing/2014/main" val="1436070268"/>
                    </a:ext>
                  </a:extLst>
                </a:gridCol>
                <a:gridCol w="741306">
                  <a:extLst>
                    <a:ext uri="{9D8B030D-6E8A-4147-A177-3AD203B41FA5}">
                      <a16:colId xmlns:a16="http://schemas.microsoft.com/office/drawing/2014/main" val="45274362"/>
                    </a:ext>
                  </a:extLst>
                </a:gridCol>
                <a:gridCol w="741306">
                  <a:extLst>
                    <a:ext uri="{9D8B030D-6E8A-4147-A177-3AD203B41FA5}">
                      <a16:colId xmlns:a16="http://schemas.microsoft.com/office/drawing/2014/main" val="1069338155"/>
                    </a:ext>
                  </a:extLst>
                </a:gridCol>
              </a:tblGrid>
              <a:tr h="3138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20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a</a:t>
                      </a:r>
                      <a:endParaRPr lang="ko-KR" altLang="en-US" sz="2000" dirty="0">
                        <a:latin typeface="KaiTi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b</a:t>
                      </a:r>
                      <a:endParaRPr lang="ko-KR" altLang="en-US" sz="2000" dirty="0">
                        <a:latin typeface="KaiTi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_b</a:t>
                      </a:r>
                      <a:endParaRPr lang="ko-KR" altLang="en-US" sz="2000" dirty="0">
                        <a:latin typeface="KaiTi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20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c</a:t>
                      </a:r>
                      <a:endParaRPr lang="ko-KR" altLang="en-US" sz="2000" dirty="0">
                        <a:latin typeface="KaiTi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d</a:t>
                      </a:r>
                      <a:endParaRPr lang="ko-KR" altLang="en-US" sz="2000" dirty="0">
                        <a:latin typeface="KaiTi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f</a:t>
                      </a:r>
                      <a:endParaRPr lang="ko-KR" altLang="en-US" sz="2000" dirty="0">
                        <a:latin typeface="KaiTi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_d</a:t>
                      </a:r>
                      <a:endParaRPr lang="ko-KR" altLang="en-US" sz="2000" dirty="0">
                        <a:latin typeface="KaiTi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_f</a:t>
                      </a:r>
                      <a:endParaRPr lang="ko-KR" altLang="en-US" sz="2000" dirty="0">
                        <a:latin typeface="KaiTi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4535577"/>
                  </a:ext>
                </a:extLst>
              </a:tr>
              <a:tr h="3138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2</a:t>
                      </a:r>
                      <a:endParaRPr lang="ko-KR" altLang="en-US" sz="2000" dirty="0">
                        <a:latin typeface="KaiTi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4</a:t>
                      </a:r>
                      <a:endParaRPr lang="ko-KR" altLang="en-US" sz="2000" dirty="0">
                        <a:latin typeface="KaiTi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2</a:t>
                      </a:r>
                      <a:endParaRPr lang="ko-KR" altLang="en-US" sz="2000" dirty="0">
                        <a:latin typeface="KaiTi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4</a:t>
                      </a:r>
                      <a:endParaRPr lang="ko-KR" altLang="en-US" sz="2000" dirty="0">
                        <a:latin typeface="KaiTi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2</a:t>
                      </a:r>
                      <a:endParaRPr lang="ko-KR" altLang="en-US" sz="2000" dirty="0">
                        <a:latin typeface="KaiTi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2</a:t>
                      </a:r>
                      <a:endParaRPr lang="ko-KR" altLang="en-US" sz="2000" dirty="0">
                        <a:latin typeface="KaiTi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1</a:t>
                      </a:r>
                      <a:endParaRPr lang="ko-KR" altLang="en-US" sz="2000" dirty="0">
                        <a:latin typeface="KaiTi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1</a:t>
                      </a:r>
                      <a:endParaRPr lang="ko-KR" altLang="en-US" sz="2000" dirty="0">
                        <a:latin typeface="KaiTi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0605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832617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3AE69-24F6-9A06-D362-77D31D2EF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3A2578-8193-8384-E021-DD5D3A6E2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407" y="255543"/>
            <a:ext cx="11369963" cy="738909"/>
          </a:xfrm>
        </p:spPr>
        <p:txBody>
          <a:bodyPr/>
          <a:lstStyle/>
          <a:p>
            <a:r>
              <a:rPr lang="en-US" altLang="en-US" dirty="0" err="1"/>
              <a:t>PrefixSpan</a:t>
            </a:r>
            <a:r>
              <a:rPr lang="en-US" altLang="en-US" dirty="0"/>
              <a:t>: Mining Prefix-Projected DBs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4B13DB-6EED-DC4B-D762-08C3644B958D}"/>
              </a:ext>
            </a:extLst>
          </p:cNvPr>
          <p:cNvSpPr txBox="1"/>
          <p:nvPr/>
        </p:nvSpPr>
        <p:spPr>
          <a:xfrm>
            <a:off x="462844" y="1389743"/>
            <a:ext cx="1076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step4</a:t>
            </a:r>
            <a:r>
              <a:rPr lang="zh-CN" altLang="en-US" sz="20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 ：</a:t>
            </a:r>
            <a:br>
              <a:rPr lang="zh-CN" altLang="en-US" sz="20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20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求出了</a:t>
            </a:r>
            <a:r>
              <a:rPr lang="en-US" altLang="zh-CN" sz="20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0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的投影数据库。并且求出了这个数据库中，所有的频繁元素，如下图：</a:t>
            </a:r>
          </a:p>
        </p:txBody>
      </p:sp>
      <p:pic>
        <p:nvPicPr>
          <p:cNvPr id="18434" name="Picture 2" descr="在这里插入图片描述">
            <a:extLst>
              <a:ext uri="{FF2B5EF4-FFF2-40B4-BE49-F238E27FC236}">
                <a16:creationId xmlns:a16="http://schemas.microsoft.com/office/drawing/2014/main" id="{F25F7E07-88D5-8859-91A5-C089F21922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254"/>
          <a:stretch>
            <a:fillRect/>
          </a:stretch>
        </p:blipFill>
        <p:spPr bwMode="auto">
          <a:xfrm>
            <a:off x="1562452" y="4052671"/>
            <a:ext cx="8570383" cy="2673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在这里插入图片描述">
            <a:extLst>
              <a:ext uri="{FF2B5EF4-FFF2-40B4-BE49-F238E27FC236}">
                <a16:creationId xmlns:a16="http://schemas.microsoft.com/office/drawing/2014/main" id="{52E5024A-4A97-70D5-3720-69F928E74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502" y="2404846"/>
            <a:ext cx="2085975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在这里插入图片描述">
            <a:extLst>
              <a:ext uri="{FF2B5EF4-FFF2-40B4-BE49-F238E27FC236}">
                <a16:creationId xmlns:a16="http://schemas.microsoft.com/office/drawing/2014/main" id="{EFF30423-345F-2010-E82B-C735E960D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8510" y="2426530"/>
            <a:ext cx="6023073" cy="946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8C3EA6-07E6-2705-35E2-4063BE08A5B0}"/>
              </a:ext>
            </a:extLst>
          </p:cNvPr>
          <p:cNvSpPr txBox="1"/>
          <p:nvPr/>
        </p:nvSpPr>
        <p:spPr>
          <a:xfrm>
            <a:off x="5847643" y="3462322"/>
            <a:ext cx="4984734" cy="411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&lt;ab&gt;, &lt;</a:t>
            </a:r>
            <a:r>
              <a:rPr lang="en-US" altLang="ko-KR" sz="2000" dirty="0" err="1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a_b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&gt;, &lt;ac&gt;, &lt;ad&gt;, &lt;</a:t>
            </a:r>
            <a:r>
              <a:rPr lang="en-US" altLang="ko-KR" sz="2000" dirty="0" err="1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af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맑은 고딕" panose="020B0503020000020004" pitchFamily="50" charset="-127"/>
                <a:cs typeface="Times New Roman" panose="02020603050405020304" pitchFamily="18" charset="0"/>
              </a:rPr>
              <a:t>&gt;, &lt;aa&gt;</a:t>
            </a:r>
            <a:endParaRPr lang="ko-KR" altLang="ko-KR" sz="32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8969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44CAC-7196-3BDD-3819-72D5F4089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1803ED-0685-0AA9-1FA0-ABDFDCA1C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407" y="255543"/>
            <a:ext cx="11369963" cy="738909"/>
          </a:xfrm>
        </p:spPr>
        <p:txBody>
          <a:bodyPr/>
          <a:lstStyle/>
          <a:p>
            <a:r>
              <a:rPr lang="en-US" altLang="en-US" dirty="0" err="1"/>
              <a:t>PrefixSpan</a:t>
            </a:r>
            <a:r>
              <a:rPr lang="en-US" altLang="en-US" dirty="0"/>
              <a:t>: Mining Prefix-Projected DBs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4BB202-1781-BB4F-ED23-E86537C30CAD}"/>
              </a:ext>
            </a:extLst>
          </p:cNvPr>
          <p:cNvSpPr txBox="1"/>
          <p:nvPr/>
        </p:nvSpPr>
        <p:spPr>
          <a:xfrm>
            <a:off x="462844" y="1389743"/>
            <a:ext cx="1076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step5</a:t>
            </a:r>
            <a:r>
              <a:rPr lang="zh-CN" altLang="en-US" sz="20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 ：</a:t>
            </a:r>
            <a:br>
              <a:rPr lang="zh-CN" altLang="en-US" sz="20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20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接着我们再次递归，这次选刚才的 </a:t>
            </a:r>
            <a:r>
              <a:rPr lang="en-US" altLang="zh-CN" sz="20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d </a:t>
            </a:r>
            <a:r>
              <a:rPr lang="zh-CN" altLang="en-US" sz="20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为前缀的投影数据库为例：</a:t>
            </a:r>
          </a:p>
        </p:txBody>
      </p:sp>
      <p:pic>
        <p:nvPicPr>
          <p:cNvPr id="19458" name="Picture 2" descr="在这里插入图片描述">
            <a:extLst>
              <a:ext uri="{FF2B5EF4-FFF2-40B4-BE49-F238E27FC236}">
                <a16:creationId xmlns:a16="http://schemas.microsoft.com/office/drawing/2014/main" id="{2E0F697A-BC51-EE55-BF3A-999AFFB45A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721" y="2216227"/>
            <a:ext cx="1114425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61C395-4965-EBAA-1519-7A2CE123A3A2}"/>
              </a:ext>
            </a:extLst>
          </p:cNvPr>
          <p:cNvSpPr txBox="1"/>
          <p:nvPr/>
        </p:nvSpPr>
        <p:spPr>
          <a:xfrm>
            <a:off x="2853369" y="2721114"/>
            <a:ext cx="7546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0" i="0">
                <a:solidFill>
                  <a:srgbClr val="4D4D4D"/>
                </a:solidFill>
                <a:effectLst/>
                <a:latin typeface="-apple-system"/>
              </a:defRPr>
            </a:lvl1pPr>
          </a:lstStyle>
          <a:p>
            <a:r>
              <a:rPr lang="zh-CN" altLang="en-US" sz="2000" dirty="0">
                <a:solidFill>
                  <a:schemeClr val="tx1"/>
                </a:solidFill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这个数据库的所有元素，其出现次数都小于</a:t>
            </a:r>
            <a:r>
              <a:rPr lang="en-US" altLang="zh-CN" sz="2000" dirty="0">
                <a:solidFill>
                  <a:schemeClr val="tx1"/>
                </a:solidFill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chemeClr val="tx1"/>
                </a:solidFill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，即没有频繁元素</a:t>
            </a:r>
            <a:endParaRPr lang="en-US" altLang="zh-CN" sz="2000" dirty="0">
              <a:solidFill>
                <a:schemeClr val="tx1"/>
              </a:solidFill>
              <a:latin typeface="맑은 고딕" panose="020B0503020000020004" pitchFamily="50" charset="-127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递归到此结束</a:t>
            </a:r>
            <a:endParaRPr lang="ko-KR" altLang="en-US" sz="2000" dirty="0">
              <a:solidFill>
                <a:schemeClr val="tx1"/>
              </a:solidFill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06133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D879DE-71CE-7D48-FBD9-A3EC22FBD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 err="1"/>
              <a:t>PrefixSpan</a:t>
            </a:r>
            <a:r>
              <a:rPr lang="en-US" altLang="en-US" sz="4400" dirty="0"/>
              <a:t>: A Pattern-Growth Approach</a:t>
            </a:r>
            <a:endParaRPr kumimoji="1" lang="ko-Kore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62B25F5-02C8-5218-0921-81E1EFD14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692" y="1223785"/>
            <a:ext cx="9982408" cy="541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54428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FA563B-C5CA-98EF-8FFB-756C67051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 err="1"/>
              <a:t>PrefixSpan</a:t>
            </a:r>
            <a:r>
              <a:rPr lang="en-US" altLang="en-US" sz="4400" dirty="0"/>
              <a:t>: A Pattern-Growth Approach</a:t>
            </a:r>
            <a:endParaRPr kumimoji="1" lang="ko-Kore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CE8133B-4FF8-6026-7D72-33C5FB157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161" y="1431060"/>
            <a:ext cx="9428486" cy="501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75130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41CD0-9F95-E9A6-E0CC-2990786DB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A4823E-5FA9-1D0D-C0D8-589A2E781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 err="1"/>
              <a:t>PrefixSpan</a:t>
            </a:r>
            <a:r>
              <a:rPr lang="zh-CN" altLang="en-US" sz="4400" dirty="0"/>
              <a:t>练习</a:t>
            </a:r>
            <a:endParaRPr kumimoji="1" lang="ko-Kore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92D78C-C2CE-E778-34D2-A14DACA2AE72}"/>
              </a:ext>
            </a:extLst>
          </p:cNvPr>
          <p:cNvSpPr txBox="1"/>
          <p:nvPr/>
        </p:nvSpPr>
        <p:spPr>
          <a:xfrm>
            <a:off x="1167788" y="1491402"/>
            <a:ext cx="9265185" cy="2683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ko-KR" sz="2000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请以 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&lt;b&gt;</a:t>
            </a:r>
            <a:r>
              <a:rPr lang="zh-CN" altLang="ko-KR" sz="2000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&lt;c&gt;</a:t>
            </a:r>
            <a:r>
              <a:rPr lang="zh-CN" altLang="ko-KR" sz="2000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&lt;e&gt;</a:t>
            </a:r>
            <a:r>
              <a:rPr lang="zh-CN" altLang="ko-KR" sz="2000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&lt;f&gt; </a:t>
            </a:r>
            <a:r>
              <a:rPr lang="zh-CN" altLang="ko-KR" sz="2000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为前缀，分别：</a:t>
            </a:r>
            <a:endParaRPr lang="ko-KR" altLang="ko-KR" sz="2000" dirty="0">
              <a:effectLst/>
              <a:latin typeface="KaiTi" panose="02010609060101010101" pitchFamily="49" charset="-122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zh-CN" altLang="ko-KR" sz="2000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写出它们的前缀投影数据库；</a:t>
            </a:r>
            <a:endParaRPr lang="ko-KR" altLang="ko-KR" sz="2000" dirty="0">
              <a:effectLst/>
              <a:latin typeface="KaiTi" panose="02010609060101010101" pitchFamily="49" charset="-122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zh-CN" altLang="ko-KR" sz="2000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统计各元素在投影中的出现次数；</a:t>
            </a:r>
            <a:endParaRPr lang="ko-KR" altLang="ko-KR" sz="2000" dirty="0">
              <a:effectLst/>
              <a:latin typeface="KaiTi" panose="02010609060101010101" pitchFamily="49" charset="-122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zh-CN" altLang="ko-KR" sz="2000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根据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ko-KR" sz="2000" dirty="0" err="1"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min_sup</a:t>
            </a:r>
            <a:r>
              <a:rPr lang="en-US" altLang="ko-KR" sz="2000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=2 </a:t>
            </a:r>
            <a:r>
              <a:rPr lang="zh-CN" altLang="ko-KR" sz="2000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判断哪些元素可以扩展；</a:t>
            </a:r>
            <a:endParaRPr lang="ko-KR" altLang="ko-KR" sz="2000" dirty="0">
              <a:effectLst/>
              <a:latin typeface="KaiTi" panose="02010609060101010101" pitchFamily="49" charset="-122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zh-CN" altLang="ko-KR" sz="2000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递归进行扩展，直到投影数据库不再产生新的频繁项。</a:t>
            </a:r>
            <a:endParaRPr lang="ko-KR" altLang="ko-KR" sz="2000" dirty="0">
              <a:effectLst/>
              <a:latin typeface="KaiTi" panose="02010609060101010101" pitchFamily="49" charset="-122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zh-CN" altLang="en-US" sz="2000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要求</a:t>
            </a:r>
            <a:r>
              <a:rPr lang="zh-CN" altLang="en-US" sz="20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ko-KR" sz="2000" dirty="0"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列出每个前缀最终得到的频繁序列集合</a:t>
            </a:r>
            <a:endParaRPr lang="ko-KR" altLang="ko-KR" sz="2000" dirty="0">
              <a:effectLst/>
              <a:latin typeface="KaiTi" panose="02010609060101010101" pitchFamily="49" charset="-122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95557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C58CC9C7-0629-4564-8314-AD53774F69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6983" y="351495"/>
            <a:ext cx="11040533" cy="635932"/>
          </a:xfrm>
        </p:spPr>
        <p:txBody>
          <a:bodyPr>
            <a:normAutofit fontScale="90000"/>
          </a:bodyPr>
          <a:lstStyle/>
          <a:p>
            <a:r>
              <a:rPr lang="en-US" altLang="en-US" dirty="0" err="1">
                <a:latin typeface="STKaiti" panose="02010600040101010101" pitchFamily="2" charset="-122"/>
                <a:ea typeface="STKaiti" panose="02010600040101010101" pitchFamily="2" charset="-122"/>
              </a:rPr>
              <a:t>时间约束（一</a:t>
            </a:r>
            <a:r>
              <a:rPr lang="en-US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）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D3C73EE9-6025-4AD1-9A89-789C348C0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1219200"/>
            <a:ext cx="3733800" cy="17526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sz="140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62468" name="Text Box 4">
            <a:extLst>
              <a:ext uri="{FF2B5EF4-FFF2-40B4-BE49-F238E27FC236}">
                <a16:creationId xmlns:a16="http://schemas.microsoft.com/office/drawing/2014/main" id="{8DEF4F86-3802-4EB9-ADF8-EDBEB0014A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6813" y="1306513"/>
            <a:ext cx="3766800" cy="52322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latin typeface="STKaiti" panose="02010600040101010101" pitchFamily="2" charset="-122"/>
                <a:ea typeface="STKaiti" panose="02010600040101010101" pitchFamily="2" charset="-122"/>
              </a:rPr>
              <a:t>{A   B}     {C}    {D   E}</a:t>
            </a:r>
          </a:p>
        </p:txBody>
      </p:sp>
      <p:sp>
        <p:nvSpPr>
          <p:cNvPr id="62469" name="Text Box 5">
            <a:extLst>
              <a:ext uri="{FF2B5EF4-FFF2-40B4-BE49-F238E27FC236}">
                <a16:creationId xmlns:a16="http://schemas.microsoft.com/office/drawing/2014/main" id="{7B00F9D9-1B1F-4E6A-A990-F2E06B7C9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1751" y="2381251"/>
            <a:ext cx="596638" cy="30777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≤ m</a:t>
            </a:r>
            <a:r>
              <a:rPr lang="en-US" altLang="en-US" sz="1400" baseline="-25000">
                <a:solidFill>
                  <a:srgbClr val="0000FF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s</a:t>
            </a:r>
          </a:p>
        </p:txBody>
      </p:sp>
      <p:sp>
        <p:nvSpPr>
          <p:cNvPr id="62470" name="Text Box 6">
            <a:extLst>
              <a:ext uri="{FF2B5EF4-FFF2-40B4-BE49-F238E27FC236}">
                <a16:creationId xmlns:a16="http://schemas.microsoft.com/office/drawing/2014/main" id="{AA654061-D85A-4848-BB64-6919664E2F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3888" y="1828801"/>
            <a:ext cx="551754" cy="30777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≤ x</a:t>
            </a:r>
            <a:r>
              <a:rPr lang="en-US" altLang="en-US" sz="1400" baseline="-25000">
                <a:solidFill>
                  <a:srgbClr val="0000FF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g</a:t>
            </a:r>
          </a:p>
        </p:txBody>
      </p:sp>
      <p:sp>
        <p:nvSpPr>
          <p:cNvPr id="62471" name="Text Box 7">
            <a:extLst>
              <a:ext uri="{FF2B5EF4-FFF2-40B4-BE49-F238E27FC236}">
                <a16:creationId xmlns:a16="http://schemas.microsoft.com/office/drawing/2014/main" id="{792D3C87-0C29-43FF-AB71-8DF37913B4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750" y="1828800"/>
            <a:ext cx="514350" cy="30480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solidFill>
                  <a:srgbClr val="0000FF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 &gt;n</a:t>
            </a:r>
            <a:r>
              <a:rPr lang="en-US" altLang="en-US" sz="1400" baseline="-25000">
                <a:solidFill>
                  <a:srgbClr val="0000FF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g</a:t>
            </a:r>
          </a:p>
        </p:txBody>
      </p:sp>
      <p:sp>
        <p:nvSpPr>
          <p:cNvPr id="62472" name="Line 8">
            <a:extLst>
              <a:ext uri="{FF2B5EF4-FFF2-40B4-BE49-F238E27FC236}">
                <a16:creationId xmlns:a16="http://schemas.microsoft.com/office/drawing/2014/main" id="{D1C69E07-949F-43E7-83E0-BECACF3F54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266700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62473" name="Line 9">
            <a:extLst>
              <a:ext uri="{FF2B5EF4-FFF2-40B4-BE49-F238E27FC236}">
                <a16:creationId xmlns:a16="http://schemas.microsoft.com/office/drawing/2014/main" id="{BA95DB9D-69B5-4D02-ABEE-500B4E771A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4600" y="2133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62474" name="Line 10">
            <a:extLst>
              <a:ext uri="{FF2B5EF4-FFF2-40B4-BE49-F238E27FC236}">
                <a16:creationId xmlns:a16="http://schemas.microsoft.com/office/drawing/2014/main" id="{99510CB0-89F4-4DF6-B1CC-525BA7FEB6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95800" y="2127250"/>
            <a:ext cx="533400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62475" name="Line 11">
            <a:extLst>
              <a:ext uri="{FF2B5EF4-FFF2-40B4-BE49-F238E27FC236}">
                <a16:creationId xmlns:a16="http://schemas.microsoft.com/office/drawing/2014/main" id="{C70CC78B-4822-4EE8-A501-735CDE3507C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9838" y="1752600"/>
            <a:ext cx="0" cy="1125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62476" name="Line 12">
            <a:extLst>
              <a:ext uri="{FF2B5EF4-FFF2-40B4-BE49-F238E27FC236}">
                <a16:creationId xmlns:a16="http://schemas.microsoft.com/office/drawing/2014/main" id="{AD192C0D-8828-411D-94C1-C9FB0D5E3F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95800" y="1839913"/>
            <a:ext cx="0" cy="519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62477" name="Line 13">
            <a:extLst>
              <a:ext uri="{FF2B5EF4-FFF2-40B4-BE49-F238E27FC236}">
                <a16:creationId xmlns:a16="http://schemas.microsoft.com/office/drawing/2014/main" id="{252983A8-14BE-44B8-964A-DD89AF01D7CC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1752600"/>
            <a:ext cx="0" cy="1125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62478" name="Text Box 14">
            <a:extLst>
              <a:ext uri="{FF2B5EF4-FFF2-40B4-BE49-F238E27FC236}">
                <a16:creationId xmlns:a16="http://schemas.microsoft.com/office/drawing/2014/main" id="{E8E3D4D3-A0FF-4179-9DB6-DCBE54787A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1420814"/>
            <a:ext cx="3124200" cy="124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en-US" sz="1800">
                <a:latin typeface="STKaiti" panose="02010600040101010101" pitchFamily="2" charset="-122"/>
                <a:ea typeface="STKaiti" panose="02010600040101010101" pitchFamily="2" charset="-122"/>
              </a:rPr>
              <a:t>x</a:t>
            </a:r>
            <a:r>
              <a:rPr lang="en-US" altLang="en-US" sz="1800" baseline="-25000">
                <a:latin typeface="STKaiti" panose="02010600040101010101" pitchFamily="2" charset="-122"/>
                <a:ea typeface="STKaiti" panose="02010600040101010101" pitchFamily="2" charset="-122"/>
              </a:rPr>
              <a:t>g</a:t>
            </a:r>
            <a:r>
              <a:rPr lang="en-US" altLang="en-US" sz="1800">
                <a:latin typeface="STKaiti" panose="02010600040101010101" pitchFamily="2" charset="-122"/>
                <a:ea typeface="STKaiti" panose="02010600040101010101" pitchFamily="2" charset="-122"/>
              </a:rPr>
              <a:t> : max-gap</a:t>
            </a:r>
          </a:p>
          <a:p>
            <a:pPr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en-US" sz="1800">
                <a:latin typeface="STKaiti" panose="02010600040101010101" pitchFamily="2" charset="-122"/>
                <a:ea typeface="STKaiti" panose="02010600040101010101" pitchFamily="2" charset="-122"/>
              </a:rPr>
              <a:t>n</a:t>
            </a:r>
            <a:r>
              <a:rPr lang="en-US" altLang="en-US" sz="1800" baseline="-25000">
                <a:latin typeface="STKaiti" panose="02010600040101010101" pitchFamily="2" charset="-122"/>
                <a:ea typeface="STKaiti" panose="02010600040101010101" pitchFamily="2" charset="-122"/>
              </a:rPr>
              <a:t>g</a:t>
            </a:r>
            <a:r>
              <a:rPr lang="en-US" altLang="en-US" sz="1800">
                <a:latin typeface="STKaiti" panose="02010600040101010101" pitchFamily="2" charset="-122"/>
                <a:ea typeface="STKaiti" panose="02010600040101010101" pitchFamily="2" charset="-122"/>
              </a:rPr>
              <a:t> : 最小间隔</a:t>
            </a:r>
          </a:p>
          <a:p>
            <a:pPr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en-US" sz="1800">
                <a:latin typeface="STKaiti" panose="02010600040101010101" pitchFamily="2" charset="-122"/>
                <a:ea typeface="STKaiti" panose="02010600040101010101" pitchFamily="2" charset="-122"/>
              </a:rPr>
              <a:t>m</a:t>
            </a:r>
            <a:r>
              <a:rPr lang="en-US" altLang="en-US" sz="1800" baseline="-25000">
                <a:latin typeface="STKaiti" panose="02010600040101010101" pitchFamily="2" charset="-122"/>
                <a:ea typeface="STKaiti" panose="02010600040101010101" pitchFamily="2" charset="-122"/>
              </a:rPr>
              <a:t>s</a:t>
            </a:r>
            <a:r>
              <a:rPr lang="en-US" altLang="en-US" sz="1800">
                <a:latin typeface="STKaiti" panose="02010600040101010101" pitchFamily="2" charset="-122"/>
                <a:ea typeface="STKaiti" panose="02010600040101010101" pitchFamily="2" charset="-122"/>
              </a:rPr>
              <a:t> : 最大跨度</a:t>
            </a:r>
          </a:p>
        </p:txBody>
      </p:sp>
      <p:sp>
        <p:nvSpPr>
          <p:cNvPr id="62505" name="Text Box 41">
            <a:extLst>
              <a:ext uri="{FF2B5EF4-FFF2-40B4-BE49-F238E27FC236}">
                <a16:creationId xmlns:a16="http://schemas.microsoft.com/office/drawing/2014/main" id="{A30DE5AC-E7FE-43F7-8429-375FCAE45C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3200401"/>
            <a:ext cx="7848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en-US" sz="1800">
                <a:latin typeface="STKaiti" panose="02010600040101010101" pitchFamily="2" charset="-122"/>
                <a:ea typeface="STKaiti" panose="02010600040101010101" pitchFamily="2" charset="-122"/>
              </a:rPr>
              <a:t>x</a:t>
            </a:r>
            <a:r>
              <a:rPr lang="en-US" altLang="en-US" sz="1800" baseline="-25000">
                <a:latin typeface="STKaiti" panose="02010600040101010101" pitchFamily="2" charset="-122"/>
                <a:ea typeface="STKaiti" panose="02010600040101010101" pitchFamily="2" charset="-122"/>
              </a:rPr>
              <a:t>g</a:t>
            </a:r>
            <a:r>
              <a:rPr lang="en-US" altLang="en-US" sz="1800">
                <a:latin typeface="STKaiti" panose="02010600040101010101" pitchFamily="2" charset="-122"/>
                <a:ea typeface="STKaiti" panose="02010600040101010101" pitchFamily="2" charset="-122"/>
              </a:rPr>
              <a:t> =2, n</a:t>
            </a:r>
            <a:r>
              <a:rPr lang="en-US" altLang="en-US" sz="1800" baseline="-25000">
                <a:latin typeface="STKaiti" panose="02010600040101010101" pitchFamily="2" charset="-122"/>
                <a:ea typeface="STKaiti" panose="02010600040101010101" pitchFamily="2" charset="-122"/>
              </a:rPr>
              <a:t>g</a:t>
            </a:r>
            <a:r>
              <a:rPr lang="en-US" altLang="en-US" sz="1800">
                <a:latin typeface="STKaiti" panose="02010600040101010101" pitchFamily="2" charset="-122"/>
                <a:ea typeface="STKaiti" panose="02010600040101010101" pitchFamily="2" charset="-122"/>
              </a:rPr>
              <a:t> =0, m</a:t>
            </a:r>
            <a:r>
              <a:rPr lang="en-US" altLang="en-US" sz="1800" baseline="-25000">
                <a:latin typeface="STKaiti" panose="02010600040101010101" pitchFamily="2" charset="-122"/>
                <a:ea typeface="STKaiti" panose="02010600040101010101" pitchFamily="2" charset="-122"/>
              </a:rPr>
              <a:t>s</a:t>
            </a:r>
            <a:r>
              <a:rPr lang="en-US" altLang="en-US" sz="1800">
                <a:latin typeface="STKaiti" panose="02010600040101010101" pitchFamily="2" charset="-122"/>
                <a:ea typeface="STKaiti" panose="02010600040101010101" pitchFamily="2" charset="-122"/>
              </a:rPr>
              <a:t> =4</a:t>
            </a:r>
          </a:p>
        </p:txBody>
      </p:sp>
      <p:sp>
        <p:nvSpPr>
          <p:cNvPr id="62506" name="Line 42">
            <a:extLst>
              <a:ext uri="{FF2B5EF4-FFF2-40B4-BE49-F238E27FC236}">
                <a16:creationId xmlns:a16="http://schemas.microsoft.com/office/drawing/2014/main" id="{FB22668D-FE12-47BE-AC75-552EFCAE4A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29200" y="1828801"/>
            <a:ext cx="0" cy="519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46C4AF3-07B5-ABC4-1030-E362D0745212}"/>
              </a:ext>
            </a:extLst>
          </p:cNvPr>
          <p:cNvGrpSpPr/>
          <p:nvPr/>
        </p:nvGrpSpPr>
        <p:grpSpPr>
          <a:xfrm>
            <a:off x="1619480" y="3946328"/>
            <a:ext cx="8568036" cy="2514602"/>
            <a:chOff x="161627" y="3810000"/>
            <a:chExt cx="8568036" cy="2514602"/>
          </a:xfrm>
        </p:grpSpPr>
        <p:graphicFrame>
          <p:nvGraphicFramePr>
            <p:cNvPr id="5" name="Group 15">
              <a:extLst>
                <a:ext uri="{FF2B5EF4-FFF2-40B4-BE49-F238E27FC236}">
                  <a16:creationId xmlns:a16="http://schemas.microsoft.com/office/drawing/2014/main" id="{49CB2F91-9C1D-2BE5-1392-9CB829905831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61627" y="3810000"/>
            <a:ext cx="8568036" cy="2514602"/>
          </p:xfrm>
          <a:graphic>
            <a:graphicData uri="http://schemas.openxmlformats.org/drawingml/2006/table">
              <a:tbl>
                <a:tblPr/>
                <a:tblGrid>
                  <a:gridCol w="367575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846746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2045537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503238">
                  <a:tc>
                    <a:txBody>
                      <a:bodyPr/>
                      <a:lstStyle>
                        <a:lvl1pPr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defRPr sz="2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100000"/>
                          <a:buFont typeface="Arial" charset="0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0000"/>
                          <a:buFont typeface="Wingdings" charset="2"/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marL="0" marR="0" lvl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buNone/>
                          <a:tabLst/>
                        </a:pPr>
                        <a:r>
                          <a:rPr kumimoji="0" lang="en-US" altLang="en-US" sz="2000" b="1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STKaiti" panose="02010600040101010101" pitchFamily="2" charset="-122"/>
                            <a:ea typeface="STKaiti" panose="02010600040101010101" pitchFamily="2" charset="-122"/>
                          </a:rPr>
                          <a:t>Data sequence, d</a:t>
                        </a:r>
                      </a:p>
                    </a:txBody>
                    <a:tcPr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defRPr sz="2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100000"/>
                          <a:buFont typeface="Arial" charset="0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0000"/>
                          <a:buFont typeface="Wingdings" charset="2"/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marL="0" marR="0" lvl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buNone/>
                          <a:tabLst/>
                        </a:pPr>
                        <a:r>
                          <a:rPr kumimoji="0" lang="en-US" altLang="en-US" sz="2000" b="1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STKaiti" panose="02010600040101010101" pitchFamily="2" charset="-122"/>
                            <a:ea typeface="STKaiti" panose="02010600040101010101" pitchFamily="2" charset="-122"/>
                          </a:rPr>
                          <a:t>Sequential Pattern, s</a:t>
                        </a: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defRPr sz="2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100000"/>
                          <a:buFont typeface="Arial" charset="0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0000"/>
                          <a:buFont typeface="Wingdings" charset="2"/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marL="0" marR="0" lvl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buNone/>
                          <a:tabLst/>
                        </a:pPr>
                        <a:r>
                          <a:rPr kumimoji="0" lang="en-US" altLang="en-US" sz="2000" b="1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STKaiti" panose="02010600040101010101" pitchFamily="2" charset="-122"/>
                            <a:ea typeface="STKaiti" panose="02010600040101010101" pitchFamily="2" charset="-122"/>
                          </a:rPr>
                          <a:t>d contains s?</a:t>
                        </a: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503238">
                  <a:tc>
                    <a:txBody>
                      <a:bodyPr/>
                      <a:lstStyle>
                        <a:lvl1pPr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defRPr sz="2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100000"/>
                          <a:buFont typeface="Arial" charset="0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0000"/>
                          <a:buFont typeface="Wingdings" charset="2"/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marL="0" marR="0" lvl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buNone/>
                          <a:tabLst/>
                        </a:pPr>
                        <a:r>
                          <a:rPr kumimoji="0" lang="en-US" altLang="en-US" sz="1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STKaiti" panose="02010600040101010101" pitchFamily="2" charset="-122"/>
                            <a:ea typeface="STKaiti" panose="02010600040101010101" pitchFamily="2" charset="-122"/>
                          </a:rPr>
                          <a:t>&lt; {2,4} {3,5,6} {4,7} {4,5} {8} &gt;</a:t>
                        </a:r>
                      </a:p>
                    </a:txBody>
                    <a:tcPr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defRPr sz="2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100000"/>
                          <a:buFont typeface="Arial" charset="0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0000"/>
                          <a:buFont typeface="Wingdings" charset="2"/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marL="0" marR="0" lvl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buNone/>
                          <a:tabLst/>
                        </a:pPr>
                        <a:r>
                          <a:rPr kumimoji="0" lang="en-US" altLang="en-US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STKaiti" panose="02010600040101010101" pitchFamily="2" charset="-122"/>
                            <a:ea typeface="STKaiti" panose="02010600040101010101" pitchFamily="2" charset="-122"/>
                          </a:rPr>
                          <a:t>&lt; {6} {5} &gt;</a:t>
                        </a: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defRPr sz="2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100000"/>
                          <a:buFont typeface="Arial" charset="0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0000"/>
                          <a:buFont typeface="Wingdings" charset="2"/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marL="0" marR="0" lvl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buNone/>
                          <a:tabLst/>
                        </a:pPr>
                        <a:endPara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501650">
                  <a:tc>
                    <a:txBody>
                      <a:bodyPr/>
                      <a:lstStyle>
                        <a:lvl1pPr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defRPr sz="2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100000"/>
                          <a:buFont typeface="Arial" charset="0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0000"/>
                          <a:buFont typeface="Wingdings" charset="2"/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marL="0" marR="0" lvl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buNone/>
                          <a:tabLst/>
                        </a:pPr>
                        <a:r>
                          <a:rPr kumimoji="0" lang="en-US" altLang="en-US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STKaiti" panose="02010600040101010101" pitchFamily="2" charset="-122"/>
                            <a:ea typeface="STKaiti" panose="02010600040101010101" pitchFamily="2" charset="-122"/>
                          </a:rPr>
                          <a:t>&lt; {1} {2} {3} {4} {5}&gt;</a:t>
                        </a:r>
                      </a:p>
                    </a:txBody>
                    <a:tcPr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defRPr sz="2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100000"/>
                          <a:buFont typeface="Arial" charset="0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0000"/>
                          <a:buFont typeface="Wingdings" charset="2"/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marL="0" marR="0" lvl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buNone/>
                          <a:tabLst/>
                        </a:pPr>
                        <a:r>
                          <a:rPr kumimoji="0" lang="en-US" altLang="en-US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STKaiti" panose="02010600040101010101" pitchFamily="2" charset="-122"/>
                            <a:ea typeface="STKaiti" panose="02010600040101010101" pitchFamily="2" charset="-122"/>
                          </a:rPr>
                          <a:t>&lt; {1} {4} &gt;</a:t>
                        </a: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defRPr sz="2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100000"/>
                          <a:buFont typeface="Arial" charset="0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0000"/>
                          <a:buFont typeface="Wingdings" charset="2"/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marL="0" marR="0" lvl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buNone/>
                          <a:tabLst/>
                        </a:pPr>
                        <a:endPara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sym typeface="Marlett" charset="2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503238">
                  <a:tc>
                    <a:txBody>
                      <a:bodyPr/>
                      <a:lstStyle>
                        <a:lvl1pPr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defRPr sz="2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100000"/>
                          <a:buFont typeface="Arial" charset="0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0000"/>
                          <a:buFont typeface="Wingdings" charset="2"/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marL="0" marR="0" lvl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buNone/>
                          <a:tabLst/>
                        </a:pPr>
                        <a:r>
                          <a:rPr kumimoji="0" lang="en-US" altLang="en-US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STKaiti" panose="02010600040101010101" pitchFamily="2" charset="-122"/>
                            <a:ea typeface="STKaiti" panose="02010600040101010101" pitchFamily="2" charset="-122"/>
                          </a:rPr>
                          <a:t>&lt; {1} {2,3} {3,4} {4,5}&gt;</a:t>
                        </a:r>
                      </a:p>
                    </a:txBody>
                    <a:tcPr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defRPr sz="2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100000"/>
                          <a:buFont typeface="Arial" charset="0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0000"/>
                          <a:buFont typeface="Wingdings" charset="2"/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marL="0" marR="0" lvl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buNone/>
                          <a:tabLst/>
                        </a:pPr>
                        <a:r>
                          <a:rPr kumimoji="0" lang="en-US" altLang="en-US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STKaiti" panose="02010600040101010101" pitchFamily="2" charset="-122"/>
                            <a:ea typeface="STKaiti" panose="02010600040101010101" pitchFamily="2" charset="-122"/>
                          </a:rPr>
                          <a:t>&lt; {2} {3} {5} &gt; </a:t>
                        </a: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defRPr sz="2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100000"/>
                          <a:buFont typeface="Arial" charset="0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0000"/>
                          <a:buFont typeface="Wingdings" charset="2"/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marL="0" marR="0" lvl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buNone/>
                          <a:tabLst/>
                        </a:pPr>
                        <a:endPara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sym typeface="Marlett" charset="2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503238">
                  <a:tc>
                    <a:txBody>
                      <a:bodyPr/>
                      <a:lstStyle>
                        <a:lvl1pPr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defRPr sz="2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100000"/>
                          <a:buFont typeface="Arial" charset="0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0000"/>
                          <a:buFont typeface="Wingdings" charset="2"/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marL="0" marR="0" lvl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buNone/>
                          <a:tabLst/>
                        </a:pPr>
                        <a:r>
                          <a:rPr kumimoji="0" lang="en-US" altLang="en-US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STKaiti" panose="02010600040101010101" pitchFamily="2" charset="-122"/>
                            <a:ea typeface="STKaiti" panose="02010600040101010101" pitchFamily="2" charset="-122"/>
                          </a:rPr>
                          <a:t>&lt; {1,2} {3} {2,3} {3,4} {2,4} {4,5}&gt;</a:t>
                        </a:r>
                      </a:p>
                    </a:txBody>
                    <a:tcPr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defRPr sz="2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100000"/>
                          <a:buFont typeface="Arial" charset="0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0000"/>
                          <a:buFont typeface="Wingdings" charset="2"/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marL="0" marR="0" lvl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buNone/>
                          <a:tabLst/>
                        </a:pPr>
                        <a:r>
                          <a:rPr kumimoji="0" lang="en-US" altLang="en-US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STKaiti" panose="02010600040101010101" pitchFamily="2" charset="-122"/>
                            <a:ea typeface="STKaiti" panose="02010600040101010101" pitchFamily="2" charset="-122"/>
                          </a:rPr>
                          <a:t>&lt; {1,2} {5} &gt;</a:t>
                        </a: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defRPr sz="2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100000"/>
                          <a:buFont typeface="Arial" charset="0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0000"/>
                          <a:buFont typeface="Wingdings" charset="2"/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SzPct val="100000"/>
                          <a:defRPr>
                            <a:solidFill>
                              <a:schemeClr val="tx1"/>
                            </a:solidFill>
                            <a:latin typeface="Times New Roman" charset="0"/>
                          </a:defRPr>
                        </a:lvl9pPr>
                      </a:lstStyle>
                      <a:p>
                        <a:pPr marL="0" marR="0" lvl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10000"/>
                          </a:spcBef>
                          <a:spcAft>
                            <a:spcPts val="400"/>
                          </a:spcAft>
                          <a:buClr>
                            <a:srgbClr val="0C7B9C"/>
                          </a:buClr>
                          <a:buSzPct val="75000"/>
                          <a:buFont typeface="Monotype Sorts" charset="2"/>
                          <a:buNone/>
                          <a:tabLst/>
                        </a:pPr>
                        <a:endPara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sym typeface="Marlett" charset="2"/>
                        </a:endParaRP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</a:tbl>
            </a:graphicData>
          </a:graphic>
        </p:graphicFrame>
        <p:sp>
          <p:nvSpPr>
            <p:cNvPr id="6" name="Text Box 43">
              <a:extLst>
                <a:ext uri="{FF2B5EF4-FFF2-40B4-BE49-F238E27FC236}">
                  <a16:creationId xmlns:a16="http://schemas.microsoft.com/office/drawing/2014/main" id="{070FC748-62A9-C020-6018-CB291C43FC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91400" y="4343400"/>
              <a:ext cx="7620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/>
                <a:t>Yes</a:t>
              </a:r>
            </a:p>
          </p:txBody>
        </p:sp>
        <p:sp>
          <p:nvSpPr>
            <p:cNvPr id="7" name="Text Box 44">
              <a:extLst>
                <a:ext uri="{FF2B5EF4-FFF2-40B4-BE49-F238E27FC236}">
                  <a16:creationId xmlns:a16="http://schemas.microsoft.com/office/drawing/2014/main" id="{9866182F-003C-46AC-F2C4-BC0F6956F6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91400" y="5410200"/>
              <a:ext cx="7620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/>
                <a:t>Yes</a:t>
              </a:r>
            </a:p>
          </p:txBody>
        </p:sp>
        <p:sp>
          <p:nvSpPr>
            <p:cNvPr id="8" name="Text Box 45">
              <a:extLst>
                <a:ext uri="{FF2B5EF4-FFF2-40B4-BE49-F238E27FC236}">
                  <a16:creationId xmlns:a16="http://schemas.microsoft.com/office/drawing/2014/main" id="{2687271F-A0F3-5522-F812-AE7830063F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7600" y="5881688"/>
              <a:ext cx="5334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/>
                <a:t>No</a:t>
              </a:r>
            </a:p>
          </p:txBody>
        </p:sp>
        <p:sp>
          <p:nvSpPr>
            <p:cNvPr id="9" name="Text Box 46">
              <a:extLst>
                <a:ext uri="{FF2B5EF4-FFF2-40B4-BE49-F238E27FC236}">
                  <a16:creationId xmlns:a16="http://schemas.microsoft.com/office/drawing/2014/main" id="{853799BD-1A25-390E-67A2-96C2EA63B6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7600" y="4876800"/>
              <a:ext cx="5334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/>
                <a:t>No</a:t>
              </a:r>
            </a:p>
          </p:txBody>
        </p:sp>
      </p:grp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C27D5DCE-BF82-48C7-BD48-A13E242DB2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/>
              <a:t>具有时间约束的序列模式挖掘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CC0CF11E-218C-42E1-985A-2842424566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方法1:</a:t>
            </a:r>
          </a:p>
          <a:p>
            <a:pPr lvl="1"/>
            <a:r>
              <a:rPr lang="en-US" altLang="en-US" dirty="0" err="1"/>
              <a:t>挖掘不考虑时间约束的序列模式</a:t>
            </a:r>
            <a:endParaRPr lang="en-US" altLang="en-US" dirty="0"/>
          </a:p>
          <a:p>
            <a:pPr lvl="1"/>
            <a:r>
              <a:rPr lang="en-US" altLang="en-US" dirty="0" err="1"/>
              <a:t>对发现的模式进行后处理</a:t>
            </a:r>
            <a:endParaRPr lang="en-US" altLang="en-US" dirty="0"/>
          </a:p>
          <a:p>
            <a:pPr lvl="1"/>
            <a:endParaRPr lang="en-US" altLang="en-US" dirty="0"/>
          </a:p>
          <a:p>
            <a:r>
              <a:rPr lang="en-US" altLang="en-US" dirty="0"/>
              <a:t>方法2:</a:t>
            </a:r>
          </a:p>
          <a:p>
            <a:pPr lvl="1"/>
            <a:r>
              <a:rPr lang="en-US" altLang="en-US" dirty="0" err="1"/>
              <a:t>修改GSP以直接剔除违反时间约束的候选模式</a:t>
            </a:r>
            <a:endParaRPr lang="en-US" altLang="en-US" dirty="0"/>
          </a:p>
          <a:p>
            <a:pPr lvl="1"/>
            <a:r>
              <a:rPr lang="en-US" altLang="en-US" dirty="0" err="1"/>
              <a:t>问题</a:t>
            </a:r>
            <a:r>
              <a:rPr lang="en-US" altLang="en-US" dirty="0"/>
              <a:t>： </a:t>
            </a:r>
          </a:p>
          <a:p>
            <a:pPr lvl="2"/>
            <a:r>
              <a:rPr lang="en-US" altLang="en-US" dirty="0"/>
              <a:t> </a:t>
            </a:r>
            <a:r>
              <a:rPr lang="en-US" altLang="en-US" dirty="0" err="1"/>
              <a:t>Apriori</a:t>
            </a:r>
            <a:r>
              <a:rPr lang="en-US" altLang="en-US" dirty="0"/>
              <a:t> </a:t>
            </a:r>
            <a:r>
              <a:rPr lang="en-US" altLang="en-US" dirty="0" err="1"/>
              <a:t>原则是否仍然成立</a:t>
            </a:r>
            <a:r>
              <a:rPr lang="en-US" altLang="en-US" dirty="0"/>
              <a:t>？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485977CB-A136-451E-8878-0652747870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>
                <a:latin typeface="STKaiti" panose="02010600040101010101" pitchFamily="2" charset="-122"/>
                <a:ea typeface="STKaiti" panose="02010600040101010101" pitchFamily="2" charset="-122"/>
              </a:rPr>
              <a:t>序列数据的Aprior原则</a:t>
            </a:r>
          </a:p>
        </p:txBody>
      </p:sp>
      <p:pic>
        <p:nvPicPr>
          <p:cNvPr id="64515" name="Picture 3">
            <a:extLst>
              <a:ext uri="{FF2B5EF4-FFF2-40B4-BE49-F238E27FC236}">
                <a16:creationId xmlns:a16="http://schemas.microsoft.com/office/drawing/2014/main" id="{6A931F26-23C1-460A-A478-170CE8137C17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05000" y="1592263"/>
            <a:ext cx="4268365" cy="3895200"/>
          </a:xfrm>
          <a:noFill/>
        </p:spPr>
      </p:pic>
      <p:sp>
        <p:nvSpPr>
          <p:cNvPr id="1480709" name="Text Box 5">
            <a:extLst>
              <a:ext uri="{FF2B5EF4-FFF2-40B4-BE49-F238E27FC236}">
                <a16:creationId xmlns:a16="http://schemas.microsoft.com/office/drawing/2014/main" id="{1748C0BE-5C03-42F1-BBCC-38CAE15568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5715000"/>
            <a:ext cx="4800600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 err="1">
                <a:latin typeface="STKaiti" panose="02010600040101010101" pitchFamily="2" charset="-122"/>
                <a:ea typeface="STKaiti" panose="02010600040101010101" pitchFamily="2" charset="-122"/>
              </a:rPr>
              <a:t>问题存在是因为最大间隔约束</a:t>
            </a:r>
            <a:endParaRPr lang="en-US" altLang="en-US" sz="18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 err="1">
                <a:latin typeface="STKaiti" panose="02010600040101010101" pitchFamily="2" charset="-122"/>
                <a:ea typeface="STKaiti" panose="02010600040101010101" pitchFamily="2" charset="-122"/>
              </a:rPr>
              <a:t>如果最大间隔为无穷大，则不存在此问题</a:t>
            </a:r>
            <a:endParaRPr lang="en-US" altLang="en-US" sz="180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0B7F0756-EFFD-1CB4-F096-6B4496276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3154" y="1626883"/>
            <a:ext cx="3581400" cy="3859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4000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STKaiti" panose="02010600040101010101" pitchFamily="2" charset="-122"/>
                <a:ea typeface="STKaiti" panose="02010600040101010101" pitchFamily="2" charset="-122"/>
              </a:rPr>
              <a:t>Suppose:    	</a:t>
            </a:r>
          </a:p>
          <a:p>
            <a:pPr>
              <a:spcBef>
                <a:spcPct val="0"/>
              </a:spcBef>
              <a:spcAft>
                <a:spcPct val="4000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STKaiti" panose="02010600040101010101" pitchFamily="2" charset="-122"/>
                <a:ea typeface="STKaiti" panose="02010600040101010101" pitchFamily="2" charset="-122"/>
              </a:rPr>
              <a:t>	</a:t>
            </a:r>
            <a:r>
              <a:rPr lang="en-US" altLang="en-US" sz="1800" b="0" dirty="0" err="1">
                <a:latin typeface="STKaiti" panose="02010600040101010101" pitchFamily="2" charset="-122"/>
                <a:ea typeface="STKaiti" panose="02010600040101010101" pitchFamily="2" charset="-122"/>
              </a:rPr>
              <a:t>x</a:t>
            </a:r>
            <a:r>
              <a:rPr lang="en-US" altLang="en-US" sz="1800" b="0" baseline="-25000" dirty="0" err="1">
                <a:latin typeface="STKaiti" panose="02010600040101010101" pitchFamily="2" charset="-122"/>
                <a:ea typeface="STKaiti" panose="02010600040101010101" pitchFamily="2" charset="-122"/>
              </a:rPr>
              <a:t>g</a:t>
            </a:r>
            <a:r>
              <a:rPr lang="en-US" altLang="en-US" sz="1800" b="0" dirty="0">
                <a:latin typeface="STKaiti" panose="02010600040101010101" pitchFamily="2" charset="-122"/>
                <a:ea typeface="STKaiti" panose="02010600040101010101" pitchFamily="2" charset="-122"/>
              </a:rPr>
              <a:t> = 1 (max-gap)</a:t>
            </a:r>
          </a:p>
          <a:p>
            <a:pPr>
              <a:spcBef>
                <a:spcPct val="0"/>
              </a:spcBef>
              <a:spcAft>
                <a:spcPct val="4000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STKaiti" panose="02010600040101010101" pitchFamily="2" charset="-122"/>
                <a:ea typeface="STKaiti" panose="02010600040101010101" pitchFamily="2" charset="-122"/>
              </a:rPr>
              <a:t>	n</a:t>
            </a:r>
            <a:r>
              <a:rPr lang="en-US" altLang="en-US" sz="1800" b="0" baseline="-25000" dirty="0">
                <a:latin typeface="STKaiti" panose="02010600040101010101" pitchFamily="2" charset="-122"/>
                <a:ea typeface="STKaiti" panose="02010600040101010101" pitchFamily="2" charset="-122"/>
              </a:rPr>
              <a:t>g</a:t>
            </a:r>
            <a:r>
              <a:rPr lang="en-US" altLang="en-US" sz="1800" b="0" dirty="0">
                <a:latin typeface="STKaiti" panose="02010600040101010101" pitchFamily="2" charset="-122"/>
                <a:ea typeface="STKaiti" panose="02010600040101010101" pitchFamily="2" charset="-122"/>
              </a:rPr>
              <a:t> = 0 (min-gap)</a:t>
            </a:r>
          </a:p>
          <a:p>
            <a:pPr>
              <a:spcBef>
                <a:spcPct val="0"/>
              </a:spcBef>
              <a:spcAft>
                <a:spcPct val="4000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STKaiti" panose="02010600040101010101" pitchFamily="2" charset="-122"/>
                <a:ea typeface="STKaiti" panose="02010600040101010101" pitchFamily="2" charset="-122"/>
              </a:rPr>
              <a:t>	</a:t>
            </a:r>
            <a:r>
              <a:rPr lang="en-US" altLang="en-US" sz="1800" b="0" dirty="0" err="1">
                <a:latin typeface="STKaiti" panose="02010600040101010101" pitchFamily="2" charset="-122"/>
                <a:ea typeface="STKaiti" panose="02010600040101010101" pitchFamily="2" charset="-122"/>
              </a:rPr>
              <a:t>m</a:t>
            </a:r>
            <a:r>
              <a:rPr lang="en-US" altLang="en-US" sz="1800" b="0" baseline="-25000" dirty="0" err="1">
                <a:latin typeface="STKaiti" panose="02010600040101010101" pitchFamily="2" charset="-122"/>
                <a:ea typeface="STKaiti" panose="02010600040101010101" pitchFamily="2" charset="-122"/>
              </a:rPr>
              <a:t>s</a:t>
            </a:r>
            <a:r>
              <a:rPr lang="en-US" altLang="en-US" sz="1800" b="0" dirty="0">
                <a:latin typeface="STKaiti" panose="02010600040101010101" pitchFamily="2" charset="-122"/>
                <a:ea typeface="STKaiti" panose="02010600040101010101" pitchFamily="2" charset="-122"/>
              </a:rPr>
              <a:t> = 5 (maximum span)</a:t>
            </a:r>
          </a:p>
          <a:p>
            <a:pPr>
              <a:spcBef>
                <a:spcPct val="0"/>
              </a:spcBef>
              <a:spcAft>
                <a:spcPct val="40000"/>
              </a:spcAft>
              <a:buClrTx/>
              <a:buSzTx/>
              <a:buFontTx/>
              <a:buNone/>
            </a:pPr>
            <a:r>
              <a:rPr lang="en-US" altLang="en-US" sz="1800" b="0" i="1" dirty="0">
                <a:latin typeface="STKaiti" panose="02010600040101010101" pitchFamily="2" charset="-122"/>
                <a:ea typeface="STKaiti" panose="02010600040101010101" pitchFamily="2" charset="-122"/>
              </a:rPr>
              <a:t>	</a:t>
            </a:r>
            <a:r>
              <a:rPr lang="en-US" altLang="en-US" sz="1800" b="0" i="1" dirty="0" err="1">
                <a:latin typeface="STKaiti" panose="02010600040101010101" pitchFamily="2" charset="-122"/>
                <a:ea typeface="STKaiti" panose="02010600040101010101" pitchFamily="2" charset="-122"/>
              </a:rPr>
              <a:t>minsup</a:t>
            </a:r>
            <a:r>
              <a:rPr lang="en-US" altLang="en-US" sz="1800" b="0" i="1" dirty="0">
                <a:latin typeface="STKaiti" panose="02010600040101010101" pitchFamily="2" charset="-122"/>
                <a:ea typeface="STKaiti" panose="02010600040101010101" pitchFamily="2" charset="-122"/>
              </a:rPr>
              <a:t> </a:t>
            </a:r>
            <a:r>
              <a:rPr lang="en-US" altLang="en-US" sz="1800" b="0" dirty="0">
                <a:latin typeface="STKaiti" panose="02010600040101010101" pitchFamily="2" charset="-122"/>
                <a:ea typeface="STKaiti" panose="02010600040101010101" pitchFamily="2" charset="-122"/>
              </a:rPr>
              <a:t>= 60%</a:t>
            </a:r>
            <a:endParaRPr lang="en-US" altLang="en-US" sz="1800" b="0" i="1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>
              <a:spcBef>
                <a:spcPct val="0"/>
              </a:spcBef>
              <a:spcAft>
                <a:spcPct val="40000"/>
              </a:spcAft>
              <a:buClrTx/>
              <a:buSzTx/>
              <a:buFontTx/>
              <a:buNone/>
            </a:pPr>
            <a:endParaRPr lang="en-US" altLang="en-US" sz="1800" b="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>
              <a:spcBef>
                <a:spcPct val="0"/>
              </a:spcBef>
              <a:spcAft>
                <a:spcPct val="4000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STKaiti" panose="02010600040101010101" pitchFamily="2" charset="-122"/>
                <a:ea typeface="STKaiti" panose="02010600040101010101" pitchFamily="2" charset="-122"/>
              </a:rPr>
              <a:t>&lt;{2} {5}&gt;   support = 40%</a:t>
            </a:r>
            <a:endParaRPr lang="en-US" altLang="en-US" sz="18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>
              <a:spcBef>
                <a:spcPct val="0"/>
              </a:spcBef>
              <a:spcAft>
                <a:spcPct val="4000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STKaiti" panose="02010600040101010101" pitchFamily="2" charset="-122"/>
                <a:ea typeface="STKaiti" panose="02010600040101010101" pitchFamily="2" charset="-122"/>
              </a:rPr>
              <a:t>but</a:t>
            </a:r>
          </a:p>
          <a:p>
            <a:pPr>
              <a:spcBef>
                <a:spcPct val="0"/>
              </a:spcBef>
              <a:spcAft>
                <a:spcPct val="4000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STKaiti" panose="02010600040101010101" pitchFamily="2" charset="-122"/>
                <a:ea typeface="STKaiti" panose="02010600040101010101" pitchFamily="2" charset="-122"/>
              </a:rPr>
              <a:t>&lt;{2} {3} {5}&gt;   support = 60%</a:t>
            </a:r>
          </a:p>
          <a:p>
            <a:pPr>
              <a:spcBef>
                <a:spcPct val="0"/>
              </a:spcBef>
              <a:spcAft>
                <a:spcPct val="40000"/>
              </a:spcAft>
              <a:buClrTx/>
              <a:buSzTx/>
              <a:buFontTx/>
              <a:buNone/>
            </a:pPr>
            <a:endParaRPr lang="en-US" altLang="en-US" sz="1800" b="0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0709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3212694E-305E-4E02-85D1-C70F4A31A2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连续子序列</a:t>
            </a:r>
            <a:endParaRPr lang="en-US" altLang="en-US" dirty="0"/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EDFA0A6D-AA55-4461-B1B6-48431023FA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/>
            <a:r>
              <a:rPr lang="en-US" altLang="en-US" sz="2400" dirty="0"/>
              <a:t>s 是 w = &lt;e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&gt;&lt; e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&gt;…&lt; e</a:t>
            </a:r>
            <a:r>
              <a:rPr lang="en-US" altLang="en-US" sz="2400" baseline="-25000" dirty="0"/>
              <a:t>k</a:t>
            </a:r>
            <a:r>
              <a:rPr lang="en-US" altLang="en-US" sz="2400" dirty="0"/>
              <a:t>&gt; </a:t>
            </a:r>
            <a:r>
              <a:rPr lang="en-US" altLang="en-US" sz="2400" dirty="0" err="1"/>
              <a:t>的一段连续子序列</a:t>
            </a:r>
            <a:r>
              <a:rPr lang="en-US" altLang="en-US" sz="2400" dirty="0"/>
              <a:t> </a:t>
            </a:r>
            <a:br>
              <a:rPr lang="en-US" altLang="en-US" sz="2400" dirty="0"/>
            </a:br>
            <a:r>
              <a:rPr lang="en-US" altLang="en-US" sz="2400" dirty="0"/>
              <a:t>	</a:t>
            </a:r>
            <a:br>
              <a:rPr lang="en-US" altLang="en-US" sz="2000" dirty="0"/>
            </a:br>
            <a:r>
              <a:rPr lang="en-US" altLang="en-US" sz="2400" dirty="0" err="1"/>
              <a:t>如果满足以下任一条件</a:t>
            </a:r>
            <a:r>
              <a:rPr lang="en-US" altLang="en-US" sz="2400" dirty="0"/>
              <a:t>：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altLang="en-US" sz="2000" dirty="0"/>
              <a:t>s </a:t>
            </a:r>
            <a:r>
              <a:rPr lang="en-US" altLang="en-US" sz="2000" dirty="0" err="1"/>
              <a:t>是通过从</a:t>
            </a:r>
            <a:r>
              <a:rPr lang="en-US" altLang="en-US" sz="2000" dirty="0"/>
              <a:t> w </a:t>
            </a:r>
            <a:r>
              <a:rPr lang="en-US" altLang="en-US" sz="2000" dirty="0" err="1"/>
              <a:t>中删除</a:t>
            </a:r>
            <a:r>
              <a:rPr lang="en-US" altLang="en-US" sz="2000" dirty="0"/>
              <a:t> </a:t>
            </a:r>
            <a:r>
              <a:rPr lang="en-US" altLang="en-US" sz="1800" dirty="0"/>
              <a:t>e</a:t>
            </a:r>
            <a:r>
              <a:rPr lang="en-US" altLang="en-US" sz="1800" baseline="-25000" dirty="0"/>
              <a:t>1</a:t>
            </a:r>
            <a:r>
              <a:rPr lang="en-US" altLang="en-US" sz="2000" dirty="0"/>
              <a:t> 或 </a:t>
            </a:r>
            <a:r>
              <a:rPr lang="en-US" altLang="en-US" sz="1800" dirty="0"/>
              <a:t>e</a:t>
            </a:r>
            <a:r>
              <a:rPr lang="en-US" altLang="en-US" sz="1800" baseline="-25000" dirty="0"/>
              <a:t>k</a:t>
            </a:r>
            <a:r>
              <a:rPr lang="en-US" altLang="en-US" sz="1800" dirty="0"/>
              <a:t> </a:t>
            </a:r>
            <a:r>
              <a:rPr lang="en-US" altLang="en-US" sz="2000" dirty="0" err="1"/>
              <a:t>中包含至少</a:t>
            </a:r>
            <a:r>
              <a:rPr lang="en-US" altLang="en-US" sz="2000" dirty="0"/>
              <a:t> 2 </a:t>
            </a:r>
            <a:r>
              <a:rPr lang="en-US" altLang="en-US" sz="2000" dirty="0" err="1"/>
              <a:t>个项的项而得到的</a:t>
            </a:r>
            <a:r>
              <a:rPr lang="en-US" altLang="en-US" sz="2000" dirty="0"/>
              <a:t>。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altLang="en-US" sz="2000" dirty="0"/>
              <a:t>s </a:t>
            </a:r>
            <a:r>
              <a:rPr lang="en-US" altLang="en-US" sz="2000" dirty="0" err="1"/>
              <a:t>是通过从</a:t>
            </a:r>
            <a:r>
              <a:rPr lang="en-US" altLang="en-US" sz="2000" dirty="0"/>
              <a:t> w </a:t>
            </a:r>
            <a:r>
              <a:rPr lang="en-US" altLang="en-US" sz="2000" dirty="0" err="1"/>
              <a:t>中删除</a:t>
            </a:r>
            <a:r>
              <a:rPr lang="en-US" altLang="en-US" sz="2000" dirty="0"/>
              <a:t> </a:t>
            </a:r>
            <a:r>
              <a:rPr lang="en-US" altLang="en-US" sz="1800" dirty="0" err="1"/>
              <a:t>e</a:t>
            </a:r>
            <a:r>
              <a:rPr lang="en-US" altLang="en-US" sz="1800" baseline="-25000" dirty="0" err="1"/>
              <a:t>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中包含至少</a:t>
            </a:r>
            <a:r>
              <a:rPr lang="en-US" altLang="en-US" sz="2000" dirty="0"/>
              <a:t> 2 </a:t>
            </a:r>
            <a:r>
              <a:rPr lang="en-US" altLang="en-US" sz="2000" dirty="0" err="1"/>
              <a:t>个项的任何元素获得的</a:t>
            </a:r>
            <a:endParaRPr lang="en-US" altLang="en-US" sz="2000" dirty="0"/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altLang="en-US" sz="2000" dirty="0"/>
              <a:t>s 是 s’ </a:t>
            </a:r>
            <a:r>
              <a:rPr lang="en-US" altLang="en-US" sz="2000" dirty="0" err="1"/>
              <a:t>的连续子序列，且</a:t>
            </a:r>
            <a:r>
              <a:rPr lang="en-US" altLang="en-US" sz="2000" dirty="0"/>
              <a:t> s’ 是 w </a:t>
            </a:r>
            <a:r>
              <a:rPr lang="en-US" altLang="en-US" sz="2000" dirty="0" err="1"/>
              <a:t>的连续子序列（递归定义</a:t>
            </a:r>
            <a:r>
              <a:rPr lang="en-US" altLang="en-US" sz="2000" dirty="0"/>
              <a:t>）</a:t>
            </a:r>
          </a:p>
          <a:p>
            <a:pPr marL="2209800" lvl="4" indent="-381000"/>
            <a:endParaRPr lang="en-US" altLang="en-US" sz="800" dirty="0"/>
          </a:p>
          <a:p>
            <a:pPr marL="533400" indent="-533400"/>
            <a:r>
              <a:rPr lang="en-US" altLang="en-US" sz="2400" dirty="0" err="1"/>
              <a:t>示例：s</a:t>
            </a:r>
            <a:r>
              <a:rPr lang="en-US" altLang="en-US" sz="2400" dirty="0"/>
              <a:t> = &lt; {1} {2} &gt; </a:t>
            </a:r>
          </a:p>
          <a:p>
            <a:pPr marL="914400" lvl="1" indent="-457200"/>
            <a:r>
              <a:rPr lang="en-US" altLang="en-US" sz="2000" dirty="0"/>
              <a:t>是 &lt; {1} {2 3}&gt;, &lt; {1 2} {2} {3}&gt;, 和 &lt; {3 4} {1 2} {2 3} {4} &gt;  </a:t>
            </a:r>
            <a:r>
              <a:rPr lang="en-US" altLang="en-US" sz="2000" dirty="0" err="1"/>
              <a:t>的连续子序列</a:t>
            </a:r>
            <a:endParaRPr lang="en-US" altLang="en-US" sz="2000" dirty="0"/>
          </a:p>
          <a:p>
            <a:pPr marL="914400" lvl="1" indent="-457200"/>
            <a:r>
              <a:rPr lang="en-US" altLang="en-US" sz="2000" dirty="0"/>
              <a:t>不</a:t>
            </a:r>
            <a:r>
              <a:rPr lang="zh-CN" altLang="en-US" sz="2000" dirty="0"/>
              <a:t>是</a:t>
            </a:r>
            <a:r>
              <a:rPr lang="en-US" altLang="en-US" sz="2000" dirty="0"/>
              <a:t> &lt; {1} {3} {2}&gt; 和 &lt; {2} {1} {3} {2}&gt;</a:t>
            </a:r>
            <a:r>
              <a:rPr lang="en-US" altLang="en-US" sz="2000" dirty="0" err="1"/>
              <a:t>的连续子序列</a:t>
            </a:r>
            <a:endParaRPr lang="en-US" alt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DBDB62-ECC3-3847-30EB-6B1F0AE38B62}"/>
              </a:ext>
            </a:extLst>
          </p:cNvPr>
          <p:cNvSpPr txBox="1"/>
          <p:nvPr/>
        </p:nvSpPr>
        <p:spPr>
          <a:xfrm>
            <a:off x="6910330" y="1809520"/>
            <a:ext cx="4467340" cy="3847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KaiTi" panose="02010609060101010101" pitchFamily="49" charset="-122"/>
                <a:ea typeface="KaiTi" panose="02010609060101010101" pitchFamily="49" charset="-122"/>
              </a:rPr>
              <a:t>连续子序列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：必须相邻，中间不能跳</a:t>
            </a:r>
            <a:endParaRPr lang="ko-KR" altLang="en-US" dirty="0">
              <a:latin typeface="KaiTi" panose="02010609060101010101" pitchFamily="49" charset="-122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3BAEC-8847-A595-EECE-4473C9DCC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B9DAE4E3-421B-5B00-AFC0-BB2EB6E9C0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修改后的候选剪枝步骤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CEC64955-7B91-2674-E0A0-D4C72A7C45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0983" y="1219200"/>
            <a:ext cx="11406908" cy="3936694"/>
          </a:xfrm>
        </p:spPr>
        <p:txBody>
          <a:bodyPr/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ko-KR" sz="2400" dirty="0">
                <a:latin typeface="KaiTi" panose="02010609060101010101" pitchFamily="49" charset="-122"/>
                <a:cs typeface="Times New Roman" panose="02020603050405020304" pitchFamily="18" charset="0"/>
              </a:rPr>
              <a:t> </a:t>
            </a:r>
            <a:r>
              <a:rPr lang="zh-CN" altLang="ko-KR" sz="24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无最大间隔约束时（标准</a:t>
            </a:r>
            <a:r>
              <a:rPr lang="en-US" altLang="ko-KR" sz="2400" dirty="0">
                <a:latin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ko-KR" sz="2400" dirty="0" err="1">
                <a:latin typeface="KaiTi" panose="02010609060101010101" pitchFamily="49" charset="-122"/>
                <a:cs typeface="Times New Roman" panose="02020603050405020304" pitchFamily="18" charset="0"/>
              </a:rPr>
              <a:t>Apriori</a:t>
            </a:r>
            <a:r>
              <a:rPr lang="en-US" altLang="ko-KR" sz="2400" dirty="0">
                <a:latin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ko-KR" sz="24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剪枝）：</a:t>
            </a:r>
            <a:endParaRPr lang="ko-KR" altLang="ko-KR" sz="24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ko-KR" sz="24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只要候选</a:t>
            </a:r>
            <a:r>
              <a:rPr lang="en-US" altLang="ko-KR" sz="2400" dirty="0">
                <a:latin typeface="KaiTi" panose="02010609060101010101" pitchFamily="49" charset="-122"/>
                <a:cs typeface="Times New Roman" panose="02020603050405020304" pitchFamily="18" charset="0"/>
              </a:rPr>
              <a:t> k-</a:t>
            </a:r>
            <a:r>
              <a:rPr lang="zh-CN" altLang="ko-KR" sz="24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序列的某个</a:t>
            </a:r>
            <a:r>
              <a:rPr lang="en-US" altLang="ko-KR" sz="2400" dirty="0">
                <a:latin typeface="KaiTi" panose="02010609060101010101" pitchFamily="49" charset="-122"/>
                <a:cs typeface="Times New Roman" panose="02020603050405020304" pitchFamily="18" charset="0"/>
              </a:rPr>
              <a:t> (k-1)-</a:t>
            </a:r>
            <a:r>
              <a:rPr lang="zh-CN" altLang="ko-KR" sz="24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子序列是低频的，那这个候选就可以直接剪掉。</a:t>
            </a:r>
            <a:endParaRPr lang="ko-KR" altLang="ko-KR" sz="24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ko-KR" sz="24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ko-KR" sz="2400" dirty="0">
                <a:latin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ko-KR" sz="2400" dirty="0" err="1">
                <a:latin typeface="KaiTi" panose="02010609060101010101" pitchFamily="49" charset="-122"/>
                <a:cs typeface="Times New Roman" panose="02020603050405020304" pitchFamily="18" charset="0"/>
              </a:rPr>
              <a:t>Apriori</a:t>
            </a:r>
            <a:r>
              <a:rPr lang="en-US" altLang="ko-KR" sz="2400" dirty="0">
                <a:latin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ko-KR" sz="24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性质：子序列不频繁</a:t>
            </a:r>
            <a:r>
              <a:rPr lang="en-US" altLang="ko-KR" sz="2400" dirty="0">
                <a:latin typeface="KaiTi" panose="02010609060101010101" pitchFamily="49" charset="-122"/>
                <a:cs typeface="Times New Roman" panose="02020603050405020304" pitchFamily="18" charset="0"/>
              </a:rPr>
              <a:t> → </a:t>
            </a:r>
            <a:r>
              <a:rPr lang="zh-CN" altLang="ko-KR" sz="24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超序列一定不频繁。</a:t>
            </a:r>
            <a:endParaRPr lang="ko-KR" altLang="ko-KR" sz="24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ko-KR" sz="2400" dirty="0">
                <a:latin typeface="KaiTi" panose="02010609060101010101" pitchFamily="49" charset="-122"/>
                <a:cs typeface="Times New Roman" panose="02020603050405020304" pitchFamily="18" charset="0"/>
              </a:rPr>
              <a:t> </a:t>
            </a:r>
            <a:r>
              <a:rPr lang="zh-CN" altLang="ko-KR" sz="24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有最大间隔约束时：</a:t>
            </a:r>
            <a:endParaRPr lang="ko-KR" altLang="ko-KR" sz="24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ko-KR" sz="24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只看候选的 连续</a:t>
            </a:r>
            <a:r>
              <a:rPr lang="en-US" altLang="ko-KR" sz="2400" dirty="0">
                <a:latin typeface="KaiTi" panose="02010609060101010101" pitchFamily="49" charset="-122"/>
                <a:cs typeface="Times New Roman" panose="02020603050405020304" pitchFamily="18" charset="0"/>
              </a:rPr>
              <a:t> (k-1)-</a:t>
            </a:r>
            <a:r>
              <a:rPr lang="zh-CN" altLang="ko-KR" sz="24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子序列。</a:t>
            </a:r>
            <a:endParaRPr lang="ko-KR" altLang="ko-KR" sz="24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ko-KR" sz="24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如果某个连续</a:t>
            </a:r>
            <a:r>
              <a:rPr lang="en-US" altLang="ko-KR" sz="2400" dirty="0">
                <a:latin typeface="KaiTi" panose="02010609060101010101" pitchFamily="49" charset="-122"/>
                <a:cs typeface="Times New Roman" panose="02020603050405020304" pitchFamily="18" charset="0"/>
              </a:rPr>
              <a:t> (k-1)-</a:t>
            </a:r>
            <a:r>
              <a:rPr lang="zh-CN" altLang="ko-KR" sz="24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子序列不频繁，那么候选</a:t>
            </a:r>
            <a:r>
              <a:rPr lang="en-US" altLang="ko-KR" sz="2400" dirty="0">
                <a:latin typeface="KaiTi" panose="02010609060101010101" pitchFamily="49" charset="-122"/>
                <a:cs typeface="Times New Roman" panose="02020603050405020304" pitchFamily="18" charset="0"/>
              </a:rPr>
              <a:t> k-</a:t>
            </a:r>
            <a:r>
              <a:rPr lang="zh-CN" altLang="ko-KR" sz="24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序列就可以被剪枝</a:t>
            </a:r>
            <a:endParaRPr lang="ko-KR" altLang="ko-KR" sz="24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89158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0FFA4D61-9A31-4261-9D03-AB2908A770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KaiTi" panose="02010609060101010101" pitchFamily="49" charset="-122"/>
                <a:ea typeface="KaiTi" panose="02010609060101010101" pitchFamily="49" charset="-122"/>
              </a:rPr>
              <a:t>时间约束（二）</a:t>
            </a:r>
          </a:p>
        </p:txBody>
      </p:sp>
      <p:grpSp>
        <p:nvGrpSpPr>
          <p:cNvPr id="67587" name="Group 3">
            <a:extLst>
              <a:ext uri="{FF2B5EF4-FFF2-40B4-BE49-F238E27FC236}">
                <a16:creationId xmlns:a16="http://schemas.microsoft.com/office/drawing/2014/main" id="{0CD04BA0-8476-4563-86A6-140E098EC18A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1371600"/>
            <a:ext cx="3841750" cy="1752600"/>
            <a:chOff x="528" y="1248"/>
            <a:chExt cx="2420" cy="1104"/>
          </a:xfrm>
        </p:grpSpPr>
        <p:sp>
          <p:nvSpPr>
            <p:cNvPr id="56348" name="Rectangle 4">
              <a:extLst>
                <a:ext uri="{FF2B5EF4-FFF2-40B4-BE49-F238E27FC236}">
                  <a16:creationId xmlns:a16="http://schemas.microsoft.com/office/drawing/2014/main" id="{792CE297-65D6-4DFA-BBBD-691A0D7336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248"/>
              <a:ext cx="2352" cy="1104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lang="en-US" altLang="en-US" sz="1400"/>
            </a:p>
          </p:txBody>
        </p:sp>
        <p:sp>
          <p:nvSpPr>
            <p:cNvPr id="67613" name="Text Box 5">
              <a:extLst>
                <a:ext uri="{FF2B5EF4-FFF2-40B4-BE49-F238E27FC236}">
                  <a16:creationId xmlns:a16="http://schemas.microsoft.com/office/drawing/2014/main" id="{A89F01F5-3FE6-4A14-86C8-C2EA21CD22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5" y="1303"/>
              <a:ext cx="2373" cy="330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>
                  <a:latin typeface="Times New Roman" panose="02020603050405020304" pitchFamily="18" charset="0"/>
                </a:rPr>
                <a:t>{A   B}     {C}    {D   E}</a:t>
              </a:r>
            </a:p>
          </p:txBody>
        </p:sp>
        <p:sp>
          <p:nvSpPr>
            <p:cNvPr id="67614" name="Text Box 6">
              <a:extLst>
                <a:ext uri="{FF2B5EF4-FFF2-40B4-BE49-F238E27FC236}">
                  <a16:creationId xmlns:a16="http://schemas.microsoft.com/office/drawing/2014/main" id="{B3AFBFC2-76D3-4F41-9545-EBF7CB4BA0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0" y="1980"/>
              <a:ext cx="410" cy="194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50000"/>
                </a:spcAft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FF"/>
                  </a:solidFill>
                </a:rPr>
                <a:t>&lt;= m</a:t>
              </a:r>
              <a:r>
                <a:rPr lang="en-US" altLang="en-US" sz="1400" baseline="-25000">
                  <a:solidFill>
                    <a:srgbClr val="0000FF"/>
                  </a:solidFill>
                </a:rPr>
                <a:t>s</a:t>
              </a:r>
            </a:p>
          </p:txBody>
        </p:sp>
        <p:sp>
          <p:nvSpPr>
            <p:cNvPr id="67615" name="Text Box 7">
              <a:extLst>
                <a:ext uri="{FF2B5EF4-FFF2-40B4-BE49-F238E27FC236}">
                  <a16:creationId xmlns:a16="http://schemas.microsoft.com/office/drawing/2014/main" id="{DAFA2495-72C9-4A7C-833E-FB33D25116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3" y="1632"/>
              <a:ext cx="308" cy="194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50000"/>
                </a:spcAft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FF"/>
                  </a:solidFill>
                </a:rPr>
                <a:t>≤ x</a:t>
              </a:r>
              <a:r>
                <a:rPr lang="en-US" altLang="en-US" sz="1400" baseline="-25000">
                  <a:solidFill>
                    <a:srgbClr val="0000FF"/>
                  </a:solidFill>
                </a:rPr>
                <a:t>g</a:t>
              </a:r>
            </a:p>
          </p:txBody>
        </p:sp>
        <p:sp>
          <p:nvSpPr>
            <p:cNvPr id="67616" name="Text Box 8">
              <a:extLst>
                <a:ext uri="{FF2B5EF4-FFF2-40B4-BE49-F238E27FC236}">
                  <a16:creationId xmlns:a16="http://schemas.microsoft.com/office/drawing/2014/main" id="{36A00893-1B47-434F-B314-E418E0CE1A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0" y="1632"/>
              <a:ext cx="318" cy="194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FF"/>
                  </a:solidFill>
                </a:rPr>
                <a:t> &gt;n</a:t>
              </a:r>
              <a:r>
                <a:rPr lang="en-US" altLang="en-US" sz="1400" baseline="-25000">
                  <a:solidFill>
                    <a:srgbClr val="0000FF"/>
                  </a:solidFill>
                </a:rPr>
                <a:t>g</a:t>
              </a:r>
            </a:p>
          </p:txBody>
        </p:sp>
        <p:sp>
          <p:nvSpPr>
            <p:cNvPr id="67617" name="Text Box 9">
              <a:extLst>
                <a:ext uri="{FF2B5EF4-FFF2-40B4-BE49-F238E27FC236}">
                  <a16:creationId xmlns:a16="http://schemas.microsoft.com/office/drawing/2014/main" id="{580CA028-ED99-43DB-8A72-494A6A1C4B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2" y="1644"/>
              <a:ext cx="348" cy="194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FF"/>
                  </a:solidFill>
                </a:rPr>
                <a:t>≤ ws</a:t>
              </a:r>
              <a:endParaRPr lang="en-US" altLang="en-US" sz="1600">
                <a:latin typeface="Times New Roman" panose="02020603050405020304" pitchFamily="18" charset="0"/>
              </a:endParaRPr>
            </a:p>
          </p:txBody>
        </p:sp>
        <p:sp>
          <p:nvSpPr>
            <p:cNvPr id="67618" name="Line 10">
              <a:extLst>
                <a:ext uri="{FF2B5EF4-FFF2-40B4-BE49-F238E27FC236}">
                  <a16:creationId xmlns:a16="http://schemas.microsoft.com/office/drawing/2014/main" id="{0CC128FF-BCCB-4580-BA58-9E17013716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160"/>
              <a:ext cx="2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19" name="Line 11">
              <a:extLst>
                <a:ext uri="{FF2B5EF4-FFF2-40B4-BE49-F238E27FC236}">
                  <a16:creationId xmlns:a16="http://schemas.microsoft.com/office/drawing/2014/main" id="{59D03F20-4A4F-4CC4-B550-2F8A04F30D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4" y="1824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20" name="Line 12">
              <a:extLst>
                <a:ext uri="{FF2B5EF4-FFF2-40B4-BE49-F238E27FC236}">
                  <a16:creationId xmlns:a16="http://schemas.microsoft.com/office/drawing/2014/main" id="{3DD56F87-717C-455B-8185-B72DD276FD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2" y="1820"/>
              <a:ext cx="336" cy="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21" name="Line 13">
              <a:extLst>
                <a:ext uri="{FF2B5EF4-FFF2-40B4-BE49-F238E27FC236}">
                  <a16:creationId xmlns:a16="http://schemas.microsoft.com/office/drawing/2014/main" id="{ED5350A8-4C86-4739-A1B4-967FA2C698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8" y="182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22" name="Line 14">
              <a:extLst>
                <a:ext uri="{FF2B5EF4-FFF2-40B4-BE49-F238E27FC236}">
                  <a16:creationId xmlns:a16="http://schemas.microsoft.com/office/drawing/2014/main" id="{A0F55249-2244-4BBB-A007-EE51A9CBF2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1" y="1584"/>
              <a:ext cx="0" cy="7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23" name="Line 15">
              <a:extLst>
                <a:ext uri="{FF2B5EF4-FFF2-40B4-BE49-F238E27FC236}">
                  <a16:creationId xmlns:a16="http://schemas.microsoft.com/office/drawing/2014/main" id="{3F9D06E3-508D-4490-8D27-B1DC1BDF82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2" y="1639"/>
              <a:ext cx="0" cy="3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24" name="Line 16">
              <a:extLst>
                <a:ext uri="{FF2B5EF4-FFF2-40B4-BE49-F238E27FC236}">
                  <a16:creationId xmlns:a16="http://schemas.microsoft.com/office/drawing/2014/main" id="{6FEBF6A7-BDE0-421D-9004-6777A0CB11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8" y="1639"/>
              <a:ext cx="0" cy="3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25" name="Line 17">
              <a:extLst>
                <a:ext uri="{FF2B5EF4-FFF2-40B4-BE49-F238E27FC236}">
                  <a16:creationId xmlns:a16="http://schemas.microsoft.com/office/drawing/2014/main" id="{B5BF3215-9B52-4482-8DCA-A020B063A3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1584"/>
              <a:ext cx="0" cy="7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7588" name="Text Box 18">
            <a:extLst>
              <a:ext uri="{FF2B5EF4-FFF2-40B4-BE49-F238E27FC236}">
                <a16:creationId xmlns:a16="http://schemas.microsoft.com/office/drawing/2014/main" id="{60B293B8-A29D-4163-83F0-871BE1B16A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1295401"/>
            <a:ext cx="4876800" cy="1975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en-US" sz="1800" dirty="0" err="1">
                <a:latin typeface="KaiTi" panose="02010609060101010101" pitchFamily="49" charset="-122"/>
                <a:ea typeface="KaiTi" panose="02010609060101010101" pitchFamily="49" charset="-122"/>
              </a:rPr>
              <a:t>x</a:t>
            </a:r>
            <a:r>
              <a:rPr lang="en-US" altLang="en-US" sz="1800" baseline="-25000" dirty="0" err="1">
                <a:latin typeface="KaiTi" panose="02010609060101010101" pitchFamily="49" charset="-122"/>
                <a:ea typeface="KaiTi" panose="02010609060101010101" pitchFamily="49" charset="-122"/>
              </a:rPr>
              <a:t>g</a:t>
            </a:r>
            <a:r>
              <a:rPr lang="en-US" altLang="en-US" sz="1800" dirty="0">
                <a:latin typeface="KaiTi" panose="02010609060101010101" pitchFamily="49" charset="-122"/>
                <a:ea typeface="KaiTi" panose="02010609060101010101" pitchFamily="49" charset="-122"/>
              </a:rPr>
              <a:t> : max-gap</a:t>
            </a:r>
          </a:p>
          <a:p>
            <a:pPr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en-US" sz="1800" dirty="0">
                <a:latin typeface="KaiTi" panose="02010609060101010101" pitchFamily="49" charset="-122"/>
                <a:ea typeface="KaiTi" panose="02010609060101010101" pitchFamily="49" charset="-122"/>
              </a:rPr>
              <a:t>n</a:t>
            </a:r>
            <a:r>
              <a:rPr lang="en-US" altLang="en-US" sz="1800" baseline="-25000" dirty="0">
                <a:latin typeface="KaiTi" panose="02010609060101010101" pitchFamily="49" charset="-122"/>
                <a:ea typeface="KaiTi" panose="02010609060101010101" pitchFamily="49" charset="-122"/>
              </a:rPr>
              <a:t>g</a:t>
            </a:r>
            <a:r>
              <a:rPr lang="en-US" altLang="en-US" sz="1800" dirty="0">
                <a:latin typeface="KaiTi" panose="02010609060101010101" pitchFamily="49" charset="-122"/>
                <a:ea typeface="KaiTi" panose="02010609060101010101" pitchFamily="49" charset="-122"/>
              </a:rPr>
              <a:t> : min-gap</a:t>
            </a:r>
          </a:p>
          <a:p>
            <a:pPr>
              <a:spcAft>
                <a:spcPct val="50000"/>
              </a:spcAft>
              <a:buClrTx/>
              <a:buSzTx/>
              <a:buNone/>
            </a:pPr>
            <a:r>
              <a:rPr lang="en-US" altLang="en-US" sz="1800" dirty="0" err="1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ws</a:t>
            </a:r>
            <a:r>
              <a:rPr lang="en-US" altLang="en-US" sz="18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: </a:t>
            </a:r>
            <a:r>
              <a:rPr lang="en-US" altLang="en-US" sz="1800" dirty="0" err="1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窗口大</a:t>
            </a:r>
            <a:r>
              <a:rPr lang="zh-CN" altLang="ko-KR" sz="1800" dirty="0">
                <a:latin typeface="맑은 고딕" panose="020B0503020000020004" pitchFamily="50" charset="-127"/>
                <a:ea typeface="KaiTi" panose="02010609060101010101" pitchFamily="49" charset="-122"/>
                <a:cs typeface="Times New Roman" panose="02020603050405020304" pitchFamily="18" charset="0"/>
              </a:rPr>
              <a:t>规定一个元素内部的事件发生的最大时间差</a:t>
            </a:r>
            <a:endParaRPr lang="en-US" altLang="en-US" sz="1800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en-US" sz="1800" dirty="0" err="1">
                <a:latin typeface="KaiTi" panose="02010609060101010101" pitchFamily="49" charset="-122"/>
                <a:ea typeface="KaiTi" panose="02010609060101010101" pitchFamily="49" charset="-122"/>
              </a:rPr>
              <a:t>m</a:t>
            </a:r>
            <a:r>
              <a:rPr lang="en-US" altLang="en-US" sz="1800" baseline="-25000" dirty="0" err="1">
                <a:latin typeface="KaiTi" panose="02010609060101010101" pitchFamily="49" charset="-122"/>
                <a:ea typeface="KaiTi" panose="02010609060101010101" pitchFamily="49" charset="-122"/>
              </a:rPr>
              <a:t>s</a:t>
            </a:r>
            <a:r>
              <a:rPr lang="en-US" altLang="en-US" sz="1800" dirty="0">
                <a:latin typeface="KaiTi" panose="02010609060101010101" pitchFamily="49" charset="-122"/>
                <a:ea typeface="KaiTi" panose="02010609060101010101" pitchFamily="49" charset="-122"/>
              </a:rPr>
              <a:t> : </a:t>
            </a:r>
            <a:r>
              <a:rPr lang="en-US" altLang="en-US" sz="1800" dirty="0" err="1">
                <a:latin typeface="KaiTi" panose="02010609060101010101" pitchFamily="49" charset="-122"/>
                <a:ea typeface="KaiTi" panose="02010609060101010101" pitchFamily="49" charset="-122"/>
              </a:rPr>
              <a:t>最大跨度</a:t>
            </a:r>
            <a:endParaRPr lang="en-US" altLang="en-US" sz="18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graphicFrame>
        <p:nvGraphicFramePr>
          <p:cNvPr id="1483795" name="Group 19">
            <a:extLst>
              <a:ext uri="{FF2B5EF4-FFF2-40B4-BE49-F238E27FC236}">
                <a16:creationId xmlns:a16="http://schemas.microsoft.com/office/drawing/2014/main" id="{C837C73D-1A4F-433D-82BC-705EA875BCBF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1453663" y="4176713"/>
          <a:ext cx="8800002" cy="1828800"/>
        </p:xfrm>
        <a:graphic>
          <a:graphicData uri="http://schemas.openxmlformats.org/drawingml/2006/table">
            <a:tbl>
              <a:tblPr/>
              <a:tblGrid>
                <a:gridCol w="4079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16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数据序列，d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序列模式，s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d 包含 s?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&lt; {2,4} {3,5,6} {4,7} {4,5} {8} 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&lt; {3,4,5}&gt;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sym typeface="Marlett" charset="2"/>
                        </a:rPr>
                        <a:t>是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&lt; {1} {2} {3} {4} {5}&gt;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&lt; {1,2} {3,4} &gt;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sym typeface="Marlett" charset="2"/>
                        </a:rPr>
                        <a:t>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&lt; {1,2} {2,3} {3,4} {4,5}&gt;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&lt; {1,2} {3,4} 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sym typeface="Marlett" charset="2"/>
                        </a:rPr>
                        <a:t>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7611" name="Text Box 41">
            <a:extLst>
              <a:ext uri="{FF2B5EF4-FFF2-40B4-BE49-F238E27FC236}">
                <a16:creationId xmlns:a16="http://schemas.microsoft.com/office/drawing/2014/main" id="{74C2A7E6-F2C7-48A3-A419-28E08DBB0B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657601"/>
            <a:ext cx="7848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en-US" sz="1800"/>
              <a:t>x</a:t>
            </a:r>
            <a:r>
              <a:rPr lang="en-US" altLang="en-US" sz="1800" baseline="-25000"/>
              <a:t>g</a:t>
            </a:r>
            <a:r>
              <a:rPr lang="en-US" altLang="en-US" sz="1800"/>
              <a:t> =2, n</a:t>
            </a:r>
            <a:r>
              <a:rPr lang="en-US" altLang="en-US" sz="1800" baseline="-25000"/>
              <a:t>g</a:t>
            </a:r>
            <a:r>
              <a:rPr lang="en-US" altLang="en-US" sz="1800"/>
              <a:t> =0, </a:t>
            </a:r>
            <a:r>
              <a:rPr lang="en-US" altLang="en-US" sz="1800">
                <a:solidFill>
                  <a:srgbClr val="FF0000"/>
                </a:solidFill>
              </a:rPr>
              <a:t>ws=1</a:t>
            </a:r>
            <a:r>
              <a:rPr lang="en-US" altLang="en-US" sz="1800"/>
              <a:t>, m</a:t>
            </a:r>
            <a:r>
              <a:rPr lang="en-US" altLang="en-US" sz="1800" baseline="-25000"/>
              <a:t>s</a:t>
            </a:r>
            <a:r>
              <a:rPr lang="en-US" altLang="en-US" sz="1800"/>
              <a:t> =5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BB3C218B-ABC2-41A3-A5D4-1C6DEC11B8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修改后的支持计数步骤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552E0622-6F59-4C66-B47E-B7AE56B173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err="1"/>
              <a:t>给定一个候选序列模式</a:t>
            </a:r>
            <a:r>
              <a:rPr lang="en-US" altLang="en-US" dirty="0"/>
              <a:t>：&lt;{a, c}&gt;</a:t>
            </a:r>
          </a:p>
          <a:p>
            <a:pPr lvl="1"/>
            <a:r>
              <a:rPr lang="en-US" altLang="en-US" dirty="0" err="1"/>
              <a:t>任何包含以下数据序列的序列</a:t>
            </a:r>
            <a:r>
              <a:rPr lang="en-US" altLang="en-US" dirty="0"/>
              <a:t>： </a:t>
            </a:r>
          </a:p>
          <a:p>
            <a:pPr lvl="4"/>
            <a:endParaRPr lang="en-US" altLang="en-US" sz="800" dirty="0"/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dirty="0"/>
              <a:t>	&lt;… {a c} … &gt;,</a:t>
            </a:r>
            <a:br>
              <a:rPr lang="en-US" altLang="en-US" dirty="0"/>
            </a:br>
            <a:r>
              <a:rPr lang="en-US" altLang="en-US" dirty="0"/>
              <a:t>&lt;… {a} … {c}…&gt;   (</a:t>
            </a:r>
            <a:r>
              <a:rPr lang="en-US" altLang="en-US" dirty="0" err="1"/>
              <a:t>其中</a:t>
            </a:r>
            <a:r>
              <a:rPr lang="en-US" altLang="en-US" dirty="0"/>
              <a:t> time({c}) – time({a})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 </a:t>
            </a:r>
            <a:r>
              <a:rPr lang="en-US" altLang="en-US" dirty="0" err="1"/>
              <a:t>ws</a:t>
            </a:r>
            <a:r>
              <a:rPr lang="en-US" altLang="en-US" dirty="0"/>
              <a:t>) </a:t>
            </a:r>
            <a:br>
              <a:rPr lang="en-US" altLang="en-US" dirty="0"/>
            </a:br>
            <a:r>
              <a:rPr lang="en-US" altLang="en-US" dirty="0"/>
              <a:t>&lt;…{c} … {a} …&gt;   (</a:t>
            </a:r>
            <a:r>
              <a:rPr lang="en-US" altLang="en-US" dirty="0" err="1"/>
              <a:t>其中</a:t>
            </a:r>
            <a:r>
              <a:rPr lang="en-US" altLang="en-US" dirty="0"/>
              <a:t> time({a}) – time({c})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 </a:t>
            </a:r>
            <a:r>
              <a:rPr lang="en-US" altLang="en-US" dirty="0" err="1"/>
              <a:t>ws</a:t>
            </a:r>
            <a:r>
              <a:rPr lang="en-US" altLang="en-US" dirty="0"/>
              <a:t>)</a:t>
            </a:r>
          </a:p>
          <a:p>
            <a:pPr lvl="1">
              <a:buFont typeface="Arial" panose="020B0604020202020204" pitchFamily="34" charset="0"/>
              <a:buNone/>
            </a:pPr>
            <a:endParaRPr lang="en-US" altLang="en-US" sz="800" dirty="0"/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dirty="0"/>
              <a:t>	</a:t>
            </a:r>
            <a:r>
              <a:rPr lang="en-US" altLang="en-US" dirty="0" err="1"/>
              <a:t>将计入候选模式的支持次数</a:t>
            </a:r>
            <a:r>
              <a:rPr lang="en-US" altLang="en-US" dirty="0"/>
              <a:t>。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dirty="0"/>
              <a:t> 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0292"/>
            <a:ext cx="12192000" cy="80190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/>
              <a:t>实现考虑：伪投影与物理投影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151016"/>
            <a:ext cx="11379200" cy="1447800"/>
          </a:xfrm>
        </p:spPr>
        <p:txBody>
          <a:bodyPr/>
          <a:lstStyle/>
          <a:p>
            <a:pPr eaLnBrk="1" hangingPunct="1">
              <a:spcAft>
                <a:spcPts val="600"/>
              </a:spcAft>
            </a:pPr>
            <a:r>
              <a:rPr lang="en-US" altLang="en-US" sz="2400" dirty="0" err="1"/>
              <a:t>前缀跨度的</a:t>
            </a:r>
            <a:r>
              <a:rPr lang="en-US" altLang="en-US" sz="2400" dirty="0"/>
              <a:t>主要成本：构建投影数据库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递归投影数据库中后缀大量重复 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当数据库可完全加载到主内存时，使用伪投影 </a:t>
            </a:r>
          </a:p>
        </p:txBody>
      </p: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469976" y="2621540"/>
            <a:ext cx="8652277" cy="3895361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461963" indent="-4619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88" indent="-5381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4746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88" indent="-522288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63" indent="-508000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7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6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6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5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738188" marR="0" lvl="1" indent="-538163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不物理复制后缀</a:t>
            </a:r>
          </a:p>
          <a:p>
            <a:pPr marL="738188" marR="0" lvl="1" indent="-538163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指向序列的指针</a:t>
            </a:r>
          </a:p>
          <a:p>
            <a:pPr marL="738188" marR="0" lvl="1" indent="-538163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后缀的偏移量</a:t>
            </a:r>
          </a:p>
          <a:p>
            <a:pPr marL="461963" marR="0" lvl="0" indent="-461963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但如果无法放入内存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marL="738188" marR="0" lvl="1" indent="-538163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物理投影</a:t>
            </a:r>
          </a:p>
          <a:p>
            <a:pPr marL="461963" marR="0" lvl="0" indent="-461963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建议方法：</a:t>
            </a:r>
          </a:p>
          <a:p>
            <a:pPr marL="738188" marR="0" lvl="1" indent="-538163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物理投影与伪投影的集成</a:t>
            </a:r>
          </a:p>
          <a:p>
            <a:pPr marL="738188" marR="0" lvl="1" indent="-538163" algn="l" defTabSz="91437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当数据能放入内存时切换到伪投影</a:t>
            </a:r>
          </a:p>
        </p:txBody>
      </p:sp>
      <p:grpSp>
        <p:nvGrpSpPr>
          <p:cNvPr id="3" name="Group 1">
            <a:extLst>
              <a:ext uri="{FF2B5EF4-FFF2-40B4-BE49-F238E27FC236}">
                <a16:creationId xmlns:a16="http://schemas.microsoft.com/office/drawing/2014/main" id="{0F9754F8-4331-50FA-EA21-C6C0167542A6}"/>
              </a:ext>
            </a:extLst>
          </p:cNvPr>
          <p:cNvGrpSpPr/>
          <p:nvPr/>
        </p:nvGrpSpPr>
        <p:grpSpPr>
          <a:xfrm>
            <a:off x="6025874" y="2727639"/>
            <a:ext cx="5251056" cy="2662943"/>
            <a:chOff x="4038600" y="3634921"/>
            <a:chExt cx="3938292" cy="2700688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4" name="Group 1">
              <a:extLst>
                <a:ext uri="{FF2B5EF4-FFF2-40B4-BE49-F238E27FC236}">
                  <a16:creationId xmlns:a16="http://schemas.microsoft.com/office/drawing/2014/main" id="{E5E0CFFA-24A4-330A-8A40-08FEFD2840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8600" y="3962400"/>
              <a:ext cx="3938292" cy="2373209"/>
              <a:chOff x="4038600" y="3962400"/>
              <a:chExt cx="3938292" cy="2373209"/>
            </a:xfrm>
            <a:grpFill/>
          </p:grpSpPr>
          <p:sp>
            <p:nvSpPr>
              <p:cNvPr id="7" name="Text Box 4">
                <a:extLst>
                  <a:ext uri="{FF2B5EF4-FFF2-40B4-BE49-F238E27FC236}">
                    <a16:creationId xmlns:a16="http://schemas.microsoft.com/office/drawing/2014/main" id="{B4A3142F-429B-E53B-FD01-38621D2B21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91200" y="3962400"/>
                <a:ext cx="2037817" cy="46820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+mn-cs"/>
                  </a:rPr>
                  <a:t>s = &lt;a(</a:t>
                </a:r>
                <a:r>
                  <a:rPr kumimoji="0" lang="en-US" altLang="en-US" sz="2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+mn-cs"/>
                  </a:rPr>
                  <a:t>abc</a:t>
                </a: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+mn-cs"/>
                  </a:rPr>
                  <a:t>)(ac)d(</a:t>
                </a:r>
                <a:r>
                  <a:rPr kumimoji="0" lang="en-US" altLang="en-US" sz="2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+mn-cs"/>
                  </a:rPr>
                  <a:t>cf</a:t>
                </a: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+mn-cs"/>
                  </a:rPr>
                  <a:t>)&gt;</a:t>
                </a:r>
              </a:p>
            </p:txBody>
          </p:sp>
          <p:sp>
            <p:nvSpPr>
              <p:cNvPr id="8" name="Text Box 5">
                <a:extLst>
                  <a:ext uri="{FF2B5EF4-FFF2-40B4-BE49-F238E27FC236}">
                    <a16:creationId xmlns:a16="http://schemas.microsoft.com/office/drawing/2014/main" id="{B2F5464E-8B07-6B38-E03A-119BCC853A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96000" y="4876800"/>
                <a:ext cx="1618232" cy="46820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+mn-cs"/>
                  </a:rPr>
                  <a:t>&lt;(</a:t>
                </a:r>
                <a:r>
                  <a:rPr kumimoji="0" lang="en-US" altLang="en-US" sz="2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+mn-cs"/>
                  </a:rPr>
                  <a:t>abc</a:t>
                </a: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+mn-cs"/>
                  </a:rPr>
                  <a:t>)(ac)d(</a:t>
                </a:r>
                <a:r>
                  <a:rPr kumimoji="0" lang="en-US" altLang="en-US" sz="2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+mn-cs"/>
                  </a:rPr>
                  <a:t>cf</a:t>
                </a: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+mn-cs"/>
                  </a:rPr>
                  <a:t>)&gt;</a:t>
                </a:r>
              </a:p>
            </p:txBody>
          </p:sp>
          <p:sp>
            <p:nvSpPr>
              <p:cNvPr id="9" name="Text Box 6">
                <a:extLst>
                  <a:ext uri="{FF2B5EF4-FFF2-40B4-BE49-F238E27FC236}">
                    <a16:creationId xmlns:a16="http://schemas.microsoft.com/office/drawing/2014/main" id="{D0370879-B8F2-4FEB-9342-D456EFDBFB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72200" y="5867400"/>
                <a:ext cx="1501613" cy="46820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+mn-cs"/>
                  </a:rPr>
                  <a:t>&lt;(_c)(ac)d(</a:t>
                </a:r>
                <a:r>
                  <a:rPr kumimoji="0" lang="en-US" altLang="en-US" sz="2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+mn-cs"/>
                  </a:rPr>
                  <a:t>cf</a:t>
                </a: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+mn-cs"/>
                  </a:rPr>
                  <a:t>)&gt;</a:t>
                </a:r>
              </a:p>
            </p:txBody>
          </p:sp>
          <p:sp>
            <p:nvSpPr>
              <p:cNvPr id="10" name="Line 7">
                <a:extLst>
                  <a:ext uri="{FF2B5EF4-FFF2-40B4-BE49-F238E27FC236}">
                    <a16:creationId xmlns:a16="http://schemas.microsoft.com/office/drawing/2014/main" id="{F2BC8D80-E7D9-A894-CE14-506B4979E3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315200" y="4495800"/>
                <a:ext cx="0" cy="38100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1" name="Line 8">
                <a:extLst>
                  <a:ext uri="{FF2B5EF4-FFF2-40B4-BE49-F238E27FC236}">
                    <a16:creationId xmlns:a16="http://schemas.microsoft.com/office/drawing/2014/main" id="{05FFFE3F-3F54-E534-65D6-3738B5BBFA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315200" y="5486400"/>
                <a:ext cx="0" cy="38100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2" name="Text Box 9">
                <a:extLst>
                  <a:ext uri="{FF2B5EF4-FFF2-40B4-BE49-F238E27FC236}">
                    <a16:creationId xmlns:a16="http://schemas.microsoft.com/office/drawing/2014/main" id="{572C0081-8154-9D5A-93AD-7001C6E32D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85050" y="4376738"/>
                <a:ext cx="479939" cy="46820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+mn-cs"/>
                  </a:rPr>
                  <a:t>&lt;a&gt;</a:t>
                </a:r>
              </a:p>
            </p:txBody>
          </p:sp>
          <p:sp>
            <p:nvSpPr>
              <p:cNvPr id="13" name="Text Box 10">
                <a:extLst>
                  <a:ext uri="{FF2B5EF4-FFF2-40B4-BE49-F238E27FC236}">
                    <a16:creationId xmlns:a16="http://schemas.microsoft.com/office/drawing/2014/main" id="{702628A9-DA6E-4258-84B2-3724E35ABE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75525" y="5367338"/>
                <a:ext cx="601367" cy="46820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+mn-cs"/>
                  </a:rPr>
                  <a:t>&lt;ab&gt;</a:t>
                </a:r>
              </a:p>
            </p:txBody>
          </p:sp>
          <p:sp>
            <p:nvSpPr>
              <p:cNvPr id="14" name="Text Box 11">
                <a:extLst>
                  <a:ext uri="{FF2B5EF4-FFF2-40B4-BE49-F238E27FC236}">
                    <a16:creationId xmlns:a16="http://schemas.microsoft.com/office/drawing/2014/main" id="{B8F21001-3D6A-8C54-988F-257DEEA64F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91000" y="4876800"/>
                <a:ext cx="1206100" cy="46820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+mn-cs"/>
                  </a:rPr>
                  <a:t>s|&lt;a&gt;: ( , 2)</a:t>
                </a:r>
              </a:p>
            </p:txBody>
          </p:sp>
          <p:sp>
            <p:nvSpPr>
              <p:cNvPr id="15" name="Line 12">
                <a:extLst>
                  <a:ext uri="{FF2B5EF4-FFF2-40B4-BE49-F238E27FC236}">
                    <a16:creationId xmlns:a16="http://schemas.microsoft.com/office/drawing/2014/main" id="{3EB91DC4-8DE7-FFCE-09F5-F96F1C8FB2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86400" y="4376738"/>
                <a:ext cx="457200" cy="728662"/>
              </a:xfrm>
              <a:prstGeom prst="line">
                <a:avLst/>
              </a:prstGeom>
              <a:grpFill/>
              <a:ln w="9525">
                <a:solidFill>
                  <a:schemeClr val="hlink"/>
                </a:solidFill>
                <a:miter lim="800000"/>
                <a:headE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6" name="Text Box 13">
                <a:extLst>
                  <a:ext uri="{FF2B5EF4-FFF2-40B4-BE49-F238E27FC236}">
                    <a16:creationId xmlns:a16="http://schemas.microsoft.com/office/drawing/2014/main" id="{0E8505C4-8F84-79D8-F260-0D63808271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8600" y="5867400"/>
                <a:ext cx="1327527" cy="46820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+mn-cs"/>
                  </a:rPr>
                  <a:t>s|&lt;ab&gt;: ( , 5)</a:t>
                </a:r>
              </a:p>
            </p:txBody>
          </p:sp>
          <p:sp>
            <p:nvSpPr>
              <p:cNvPr id="19" name="Line 14">
                <a:extLst>
                  <a:ext uri="{FF2B5EF4-FFF2-40B4-BE49-F238E27FC236}">
                    <a16:creationId xmlns:a16="http://schemas.microsoft.com/office/drawing/2014/main" id="{C855771C-B7C7-AA06-89BE-59DE0C1A44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86400" y="4376738"/>
                <a:ext cx="457200" cy="1795462"/>
              </a:xfrm>
              <a:prstGeom prst="line">
                <a:avLst/>
              </a:prstGeom>
              <a:grpFill/>
              <a:ln w="9525">
                <a:solidFill>
                  <a:srgbClr val="00B050"/>
                </a:solidFill>
                <a:miter lim="800000"/>
                <a:headE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45718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5" name="Line 12">
              <a:extLst>
                <a:ext uri="{FF2B5EF4-FFF2-40B4-BE49-F238E27FC236}">
                  <a16:creationId xmlns:a16="http://schemas.microsoft.com/office/drawing/2014/main" id="{F75CED43-062C-DA78-1CC2-1092A46239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34965" y="3634921"/>
              <a:ext cx="0" cy="414338"/>
            </a:xfrm>
            <a:prstGeom prst="line">
              <a:avLst/>
            </a:prstGeom>
            <a:grpFill/>
            <a:ln w="9525">
              <a:solidFill>
                <a:schemeClr val="hlink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  <p:sp>
          <p:nvSpPr>
            <p:cNvPr id="6" name="Line 12">
              <a:extLst>
                <a:ext uri="{FF2B5EF4-FFF2-40B4-BE49-F238E27FC236}">
                  <a16:creationId xmlns:a16="http://schemas.microsoft.com/office/drawing/2014/main" id="{8F8426F8-8D98-58D8-82C1-6E648D81C9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47644" y="3666898"/>
              <a:ext cx="0" cy="414338"/>
            </a:xfrm>
            <a:prstGeom prst="line">
              <a:avLst/>
            </a:prstGeom>
            <a:grpFill/>
            <a:ln w="9525">
              <a:solidFill>
                <a:srgbClr val="00B050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pPr marL="0" marR="0" lvl="0" indent="0" algn="l" defTabSz="4571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20" name="Text Box 8">
            <a:extLst>
              <a:ext uri="{FF2B5EF4-FFF2-40B4-BE49-F238E27FC236}">
                <a16:creationId xmlns:a16="http://schemas.microsoft.com/office/drawing/2014/main" id="{BBAA943C-F2E7-219C-3BEB-BD08D3781C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3748" y="2182852"/>
            <a:ext cx="278185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600" dirty="0">
                <a:solidFill>
                  <a:srgbClr val="000000"/>
                </a:solidFill>
                <a:latin typeface="Tahoma" pitchFamily="34" charset="0"/>
              </a:rPr>
              <a:t>Pointers save memory usage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70381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7518400" y="4576764"/>
          <a:ext cx="4470400" cy="197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11000000" imgH="5458587" progId="MSPhotoEd.3">
                  <p:embed/>
                </p:oleObj>
              </mc:Choice>
              <mc:Fallback>
                <p:oleObj name="Photo Editor Photo" r:id="rId3" imgW="11000000" imgH="5458587" progId="MSPhotoEd.3">
                  <p:embed/>
                  <p:pic>
                    <p:nvPicPr>
                      <p:cNvPr id="1331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8400" y="4576764"/>
                        <a:ext cx="4470400" cy="197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7414685" y="2590800"/>
          <a:ext cx="4777316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5" imgW="10488489" imgH="5401429" progId="MSPhotoEd.3">
                  <p:embed/>
                </p:oleObj>
              </mc:Choice>
              <mc:Fallback>
                <p:oleObj name="Photo Editor Photo" r:id="rId5" imgW="10488489" imgH="5401429" progId="MSPhotoEd.3">
                  <p:embed/>
                  <p:pic>
                    <p:nvPicPr>
                      <p:cNvPr id="1331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4685" y="2590800"/>
                        <a:ext cx="4777316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12192000" cy="609600"/>
          </a:xfrm>
          <a:noFill/>
        </p:spPr>
        <p:txBody>
          <a:bodyPr lIns="92075" tIns="46038" rIns="92075" bIns="46038" anchor="ctr">
            <a:normAutofit fontScale="90000"/>
          </a:bodyPr>
          <a:lstStyle/>
          <a:p>
            <a:pPr eaLnBrk="1" hangingPunct="1"/>
            <a:r>
              <a:rPr lang="en-US" altLang="en-US" dirty="0" err="1"/>
              <a:t>CloSpan</a:t>
            </a:r>
            <a:r>
              <a:rPr lang="en-US" altLang="en-US" dirty="0"/>
              <a:t>：挖掘闭合序列模式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06400" y="1171072"/>
            <a:ext cx="11277600" cy="911116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闭合序列模式 </a:t>
            </a:r>
            <a:r>
              <a:rPr lang="en-US" altLang="en-US" i="1" dirty="0"/>
              <a:t>s</a:t>
            </a:r>
            <a:r>
              <a:rPr lang="en-US" altLang="en-US" dirty="0"/>
              <a:t>：不存在</a:t>
            </a:r>
            <a:r>
              <a:rPr lang="en-US" altLang="en-US" dirty="0" err="1"/>
              <a:t>超模式 </a:t>
            </a:r>
            <a:r>
              <a:rPr lang="en-US" altLang="en-US" i="1" dirty="0"/>
              <a:t>s’</a:t>
            </a:r>
            <a:r>
              <a:rPr lang="en-US" altLang="en-US" dirty="0"/>
              <a:t> 使得 </a:t>
            </a:r>
            <a:r>
              <a:rPr lang="en-US" altLang="en-US" i="1" dirty="0"/>
              <a:t>s’ </a:t>
            </a:r>
            <a:r>
              <a:rPr lang="he-IL" altLang="en-US" dirty="0"/>
              <a:t>= </a:t>
            </a:r>
            <a:r>
              <a:rPr lang="en-US" altLang="en-US" dirty="0"/>
              <a:t>s，且 </a:t>
            </a:r>
            <a:r>
              <a:rPr lang="en-US" altLang="en-US" i="1" dirty="0"/>
              <a:t>s’ </a:t>
            </a:r>
            <a:r>
              <a:rPr lang="en-US" altLang="en-US" dirty="0"/>
              <a:t>和 </a:t>
            </a:r>
            <a:r>
              <a:rPr lang="en-US" altLang="en-US" i="1" dirty="0"/>
              <a:t>s</a:t>
            </a:r>
            <a:r>
              <a:rPr lang="en-US" altLang="en-US" dirty="0"/>
              <a:t> 具有相同的支撑集 </a:t>
            </a:r>
          </a:p>
          <a:p>
            <a:pPr>
              <a:lnSpc>
                <a:spcPct val="110000"/>
              </a:lnSpc>
            </a:pPr>
            <a:r>
              <a:rPr lang="en-US" altLang="en-US" dirty="0"/>
              <a:t>哪些是闭合的？ ?  &lt;abc&gt;: 20, &lt;abcd&gt;:20, &lt;abcde&gt;: 15 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06400" y="2082188"/>
            <a:ext cx="7640465" cy="4041695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341313" indent="-34131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88" indent="-3730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96" indent="-300031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813" indent="-29051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74638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7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6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6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5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kern="0" dirty="0">
                <a:latin typeface="STKaiti" panose="02010600040101010101" pitchFamily="2" charset="-122"/>
                <a:ea typeface="STKaiti" panose="02010600040101010101" pitchFamily="2" charset="-122"/>
              </a:rPr>
              <a:t>为什么直接挖掘闭合序列模式？</a:t>
            </a:r>
          </a:p>
          <a:p>
            <a:pPr lvl="1">
              <a:defRPr/>
            </a:pPr>
            <a:r>
              <a:rPr lang="en-US" altLang="en-US" kern="0" dirty="0">
                <a:latin typeface="STKaiti" panose="02010600040101010101" pitchFamily="2" charset="-122"/>
                <a:ea typeface="STKaiti" panose="02010600040101010101" pitchFamily="2" charset="-122"/>
              </a:rPr>
              <a:t>减少模式数量（减少冗余模式）</a:t>
            </a:r>
          </a:p>
          <a:p>
            <a:pPr lvl="1">
              <a:defRPr/>
            </a:pPr>
            <a:r>
              <a:rPr lang="en-US" altLang="en-US" kern="0" dirty="0">
                <a:latin typeface="STKaiti" panose="02010600040101010101" pitchFamily="2" charset="-122"/>
                <a:ea typeface="STKaiti" panose="02010600040101010101" pitchFamily="2" charset="-122"/>
              </a:rPr>
              <a:t>实现相同的表达能力</a:t>
            </a:r>
          </a:p>
          <a:p>
            <a:pPr>
              <a:defRPr/>
            </a:pPr>
            <a:r>
              <a:rPr lang="en-US" altLang="en-US" kern="0" dirty="0">
                <a:latin typeface="STKaiti" panose="02010600040101010101" pitchFamily="2" charset="-122"/>
                <a:ea typeface="STKaiti" panose="02010600040101010101" pitchFamily="2" charset="-122"/>
              </a:rPr>
              <a:t>性质P：</a:t>
            </a:r>
            <a:r>
              <a:rPr lang="en-US" dirty="0">
                <a:latin typeface="STKaiti" panose="02010600040101010101" pitchFamily="2" charset="-122"/>
                <a:ea typeface="STKaiti" panose="02010600040101010101" pitchFamily="2" charset="-122"/>
              </a:rPr>
              <a:t>给定两个序列s和s’，如果s是s’的子序列，则s的投影数据库等于s’的投影数据库</a:t>
            </a:r>
            <a:r>
              <a:rPr lang="en-US" dirty="0" err="1">
                <a:latin typeface="STKaiti" panose="02010600040101010101" pitchFamily="2" charset="-122"/>
                <a:ea typeface="STKaiti" panose="02010600040101010101" pitchFamily="2" charset="-122"/>
              </a:rPr>
              <a:t>，当且仅当</a:t>
            </a:r>
            <a:r>
              <a:rPr lang="en-US" dirty="0">
                <a:latin typeface="STKaiti" panose="02010600040101010101" pitchFamily="2" charset="-122"/>
                <a:ea typeface="STKaiti" panose="02010600040101010101" pitchFamily="2" charset="-122"/>
              </a:rPr>
              <a:t>两个投影数据库的大小相同。</a:t>
            </a:r>
            <a:endParaRPr lang="en-US" altLang="en-US" kern="0" dirty="0">
              <a:solidFill>
                <a:srgbClr val="FF000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>
              <a:defRPr/>
            </a:pPr>
            <a:r>
              <a:rPr lang="en-US" altLang="en-US" kern="0" dirty="0">
                <a:latin typeface="STKaiti" panose="02010600040101010101" pitchFamily="2" charset="-122"/>
                <a:ea typeface="STKaiti" panose="02010600040101010101" pitchFamily="2" charset="-122"/>
              </a:rPr>
              <a:t>探索</a:t>
            </a:r>
            <a:r>
              <a:rPr lang="en-US" altLang="en-US" i="1" kern="0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向后</a:t>
            </a:r>
            <a:r>
              <a:rPr lang="en-US" altLang="en-US" i="1" kern="0" dirty="0" err="1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子</a:t>
            </a:r>
            <a:r>
              <a:rPr lang="en-US" altLang="en-US" kern="0" dirty="0">
                <a:latin typeface="STKaiti" panose="02010600040101010101" pitchFamily="2" charset="-122"/>
                <a:ea typeface="STKaiti" panose="02010600040101010101" pitchFamily="2" charset="-122"/>
              </a:rPr>
              <a:t>模式和</a:t>
            </a:r>
            <a:r>
              <a:rPr lang="en-US" altLang="en-US" i="1" kern="0" dirty="0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向后</a:t>
            </a:r>
            <a:r>
              <a:rPr lang="en-US" altLang="en-US" i="1" kern="0" dirty="0" err="1">
                <a:solidFill>
                  <a:srgbClr val="FF000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超模式</a:t>
            </a:r>
            <a:r>
              <a:rPr lang="en-US" altLang="en-US" kern="0" dirty="0">
                <a:latin typeface="STKaiti" panose="02010600040101010101" pitchFamily="2" charset="-122"/>
                <a:ea typeface="STKaiti" panose="02010600040101010101" pitchFamily="2" charset="-122"/>
              </a:rPr>
              <a:t>剪枝以剪枝冗余搜索空间</a:t>
            </a:r>
          </a:p>
          <a:p>
            <a:pPr>
              <a:defRPr/>
            </a:pPr>
            <a:r>
              <a:rPr lang="en-US" altLang="en-US" kern="0" dirty="0">
                <a:latin typeface="STKaiti" panose="02010600040101010101" pitchFamily="2" charset="-122"/>
                <a:ea typeface="STKaiti" panose="02010600040101010101" pitchFamily="2" charset="-122"/>
              </a:rPr>
              <a:t>显著提升效率</a:t>
            </a:r>
            <a:r>
              <a:rPr lang="en-US" altLang="en-US" dirty="0">
                <a:latin typeface="STKaiti" panose="02010600040101010101" pitchFamily="2" charset="-122"/>
                <a:ea typeface="STKaiti" panose="02010600040101010101" pitchFamily="2" charset="-122"/>
              </a:rPr>
              <a:t>（Yan 等，SDM’03）</a:t>
            </a:r>
          </a:p>
        </p:txBody>
      </p:sp>
    </p:spTree>
    <p:extLst>
      <p:ext uri="{BB962C8B-B14F-4D97-AF65-F5344CB8AC3E}">
        <p14:creationId xmlns:p14="http://schemas.microsoft.com/office/powerpoint/2010/main" val="930507351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41379" y="3119691"/>
          <a:ext cx="1324618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4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20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efbcg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fegb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(ac)&gt;</a:t>
                      </a:r>
                    </a:p>
                  </a:txBody>
                  <a:tcPr marL="121920" marR="121920"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fea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Object 6"/>
          <p:cNvGraphicFramePr>
            <a:graphicFrameLocks noGrp="1" noChangeAspect="1"/>
          </p:cNvGraphicFramePr>
          <p:nvPr/>
        </p:nvGraphicFramePr>
        <p:xfrm>
          <a:off x="681527" y="4875334"/>
          <a:ext cx="4060854" cy="197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11000000" imgH="5458587" progId="MSPhotoEd.3">
                  <p:embed/>
                </p:oleObj>
              </mc:Choice>
              <mc:Fallback>
                <p:oleObj name="Photo Editor Photo" r:id="rId3" imgW="11000000" imgH="5458587" progId="MSPhotoEd.3">
                  <p:embed/>
                  <p:pic>
                    <p:nvPicPr>
                      <p:cNvPr id="7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527" y="4875334"/>
                        <a:ext cx="4060854" cy="197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40"/>
          <p:cNvSpPr txBox="1">
            <a:spLocks noChangeArrowheads="1"/>
          </p:cNvSpPr>
          <p:nvPr/>
        </p:nvSpPr>
        <p:spPr bwMode="auto">
          <a:xfrm>
            <a:off x="9213798" y="2777459"/>
            <a:ext cx="560914" cy="369332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&lt;e&gt;</a:t>
            </a:r>
          </a:p>
        </p:txBody>
      </p:sp>
      <p:sp>
        <p:nvSpPr>
          <p:cNvPr id="11266" name="Text Box 28"/>
          <p:cNvSpPr txBox="1">
            <a:spLocks noChangeArrowheads="1"/>
          </p:cNvSpPr>
          <p:nvPr/>
        </p:nvSpPr>
        <p:spPr bwMode="auto">
          <a:xfrm>
            <a:off x="7419646" y="2789829"/>
            <a:ext cx="526106" cy="369332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&lt;a&gt;</a:t>
            </a: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-6402" y="206191"/>
            <a:ext cx="12192000" cy="762000"/>
          </a:xfrm>
        </p:spPr>
        <p:txBody>
          <a:bodyPr>
            <a:normAutofit/>
          </a:bodyPr>
          <a:lstStyle/>
          <a:p>
            <a:r>
              <a:rPr lang="en-US" altLang="en-US" dirty="0" err="1"/>
              <a:t>CloSpan</a:t>
            </a:r>
            <a:r>
              <a:rPr lang="en-US" altLang="en-US" dirty="0"/>
              <a:t>: When </a:t>
            </a:r>
            <a:r>
              <a:rPr lang="en-US" altLang="en-US" kern="0" dirty="0"/>
              <a:t>Two Projected DBs Have the Same Size</a:t>
            </a:r>
            <a:r>
              <a:rPr lang="en-US" altLang="en-US" dirty="0"/>
              <a:t> </a:t>
            </a:r>
          </a:p>
        </p:txBody>
      </p:sp>
      <p:sp>
        <p:nvSpPr>
          <p:cNvPr id="11270" name="Line 27"/>
          <p:cNvSpPr>
            <a:spLocks noChangeShapeType="1"/>
          </p:cNvSpPr>
          <p:nvPr/>
        </p:nvSpPr>
        <p:spPr bwMode="auto">
          <a:xfrm flipH="1">
            <a:off x="7765997" y="2650543"/>
            <a:ext cx="918027" cy="458818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1271" name="Text Box 29"/>
          <p:cNvSpPr txBox="1">
            <a:spLocks noChangeArrowheads="1"/>
          </p:cNvSpPr>
          <p:nvPr/>
        </p:nvSpPr>
        <p:spPr bwMode="auto">
          <a:xfrm>
            <a:off x="5436456" y="3919145"/>
            <a:ext cx="653142" cy="369332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&lt;f&gt;</a:t>
            </a:r>
          </a:p>
        </p:txBody>
      </p:sp>
      <p:sp>
        <p:nvSpPr>
          <p:cNvPr id="11275" name="Text Box 40"/>
          <p:cNvSpPr txBox="1">
            <a:spLocks noChangeArrowheads="1"/>
          </p:cNvSpPr>
          <p:nvPr/>
        </p:nvSpPr>
        <p:spPr bwMode="auto">
          <a:xfrm>
            <a:off x="8498212" y="2782374"/>
            <a:ext cx="620486" cy="369332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&lt;b&gt;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8228486" y="1168173"/>
          <a:ext cx="1840442" cy="1463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3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4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Sequence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85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aefbcg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85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afegb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(ac)&gt;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85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afea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321" name="Line 27"/>
          <p:cNvSpPr>
            <a:spLocks noChangeShapeType="1"/>
          </p:cNvSpPr>
          <p:nvPr/>
        </p:nvSpPr>
        <p:spPr bwMode="auto">
          <a:xfrm>
            <a:off x="8808455" y="2699806"/>
            <a:ext cx="0" cy="540992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1335" name="Line 27"/>
          <p:cNvSpPr>
            <a:spLocks noChangeShapeType="1"/>
          </p:cNvSpPr>
          <p:nvPr/>
        </p:nvSpPr>
        <p:spPr bwMode="auto">
          <a:xfrm flipH="1">
            <a:off x="5889076" y="3823854"/>
            <a:ext cx="676816" cy="483771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226766" y="4318845"/>
          <a:ext cx="1189403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45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bcg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5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egb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(ac)&gt;</a:t>
                      </a:r>
                    </a:p>
                  </a:txBody>
                  <a:tcPr marL="121920" marR="12192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5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ea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8207854" y="3240798"/>
          <a:ext cx="910844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79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&lt;cg&gt;</a:t>
                      </a:r>
                    </a:p>
                  </a:txBody>
                  <a:tcPr marL="121920" marR="121920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9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&lt;(ac)&gt;</a:t>
                      </a:r>
                    </a:p>
                  </a:txBody>
                  <a:tcPr marL="121920" marR="121920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2" name="Line 27"/>
          <p:cNvSpPr>
            <a:spLocks noChangeShapeType="1"/>
          </p:cNvSpPr>
          <p:nvPr/>
        </p:nvSpPr>
        <p:spPr bwMode="auto">
          <a:xfrm>
            <a:off x="9118698" y="2707261"/>
            <a:ext cx="468086" cy="45190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9259153" y="3191197"/>
          <a:ext cx="113815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7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fbcg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>
                    <a:solidFill>
                      <a:srgbClr val="F0CD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gb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(ac)&gt;</a:t>
                      </a:r>
                    </a:p>
                  </a:txBody>
                  <a:tcPr marL="121920" marR="121920">
                    <a:solidFill>
                      <a:srgbClr val="F0CD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&lt;a&gt;</a:t>
                      </a:r>
                    </a:p>
                  </a:txBody>
                  <a:tcPr marL="121920" marR="121920">
                    <a:solidFill>
                      <a:srgbClr val="F0CD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8" name="Text Box 40"/>
          <p:cNvSpPr txBox="1">
            <a:spLocks noChangeArrowheads="1"/>
          </p:cNvSpPr>
          <p:nvPr/>
        </p:nvSpPr>
        <p:spPr bwMode="auto">
          <a:xfrm>
            <a:off x="10174270" y="4307625"/>
            <a:ext cx="560914" cy="369332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&lt;b&gt;</a:t>
            </a:r>
          </a:p>
        </p:txBody>
      </p:sp>
      <p:sp>
        <p:nvSpPr>
          <p:cNvPr id="39" name="Line 27"/>
          <p:cNvSpPr>
            <a:spLocks noChangeShapeType="1"/>
          </p:cNvSpPr>
          <p:nvPr/>
        </p:nvSpPr>
        <p:spPr bwMode="auto">
          <a:xfrm>
            <a:off x="10068928" y="4232423"/>
            <a:ext cx="468086" cy="45190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0044585" y="4709003"/>
          <a:ext cx="910844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3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&lt;cg&gt;</a:t>
                      </a:r>
                    </a:p>
                  </a:txBody>
                  <a:tcPr marL="121920" marR="121920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4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&lt;(ac)&gt;</a:t>
                      </a:r>
                    </a:p>
                  </a:txBody>
                  <a:tcPr marL="121920" marR="121920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1" name="Line 27"/>
          <p:cNvSpPr>
            <a:spLocks noChangeShapeType="1"/>
          </p:cNvSpPr>
          <p:nvPr/>
        </p:nvSpPr>
        <p:spPr bwMode="auto">
          <a:xfrm>
            <a:off x="9398856" y="2707260"/>
            <a:ext cx="1698170" cy="439531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Text Box 40"/>
          <p:cNvSpPr txBox="1">
            <a:spLocks noChangeArrowheads="1"/>
          </p:cNvSpPr>
          <p:nvPr/>
        </p:nvSpPr>
        <p:spPr bwMode="auto">
          <a:xfrm>
            <a:off x="10174270" y="2748545"/>
            <a:ext cx="560914" cy="369332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&lt;f&gt;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10583428" y="3155272"/>
          <a:ext cx="1189403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45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bcg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5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egb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(ac)&gt;</a:t>
                      </a:r>
                    </a:p>
                  </a:txBody>
                  <a:tcPr marL="121920" marR="12192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5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ea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121920" marR="12192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Object 5"/>
          <p:cNvGraphicFramePr>
            <a:graphicFrameLocks noGrp="1" noChangeAspect="1"/>
          </p:cNvGraphicFramePr>
          <p:nvPr/>
        </p:nvGraphicFramePr>
        <p:xfrm>
          <a:off x="179621" y="2997419"/>
          <a:ext cx="448503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5" imgW="10488489" imgH="5401429" progId="MSPhotoEd.3">
                  <p:embed/>
                </p:oleObj>
              </mc:Choice>
              <mc:Fallback>
                <p:oleObj name="Photo Editor Photo" r:id="rId5" imgW="10488489" imgH="5401429" progId="MSPhotoEd.3">
                  <p:embed/>
                  <p:pic>
                    <p:nvPicPr>
                      <p:cNvPr id="6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621" y="2997419"/>
                        <a:ext cx="448503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Rectangle 3"/>
          <p:cNvSpPr txBox="1">
            <a:spLocks noChangeArrowheads="1"/>
          </p:cNvSpPr>
          <p:nvPr/>
        </p:nvSpPr>
        <p:spPr>
          <a:xfrm>
            <a:off x="541780" y="1194565"/>
            <a:ext cx="7698908" cy="1367364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341313" indent="-34131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88" indent="-3730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96" indent="-300031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813" indent="-29051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74638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7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6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6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5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kern="0" dirty="0">
                <a:solidFill>
                  <a:srgbClr val="000000"/>
                </a:solidFill>
              </a:rPr>
              <a:t>Exploring Property P for closed pattern mining</a:t>
            </a:r>
          </a:p>
          <a:p>
            <a:pPr>
              <a:defRPr/>
            </a:pPr>
            <a:r>
              <a:rPr lang="en-US" altLang="en-US" kern="0" dirty="0">
                <a:solidFill>
                  <a:srgbClr val="000000"/>
                </a:solidFill>
              </a:rPr>
              <a:t>When two projected sequence DBs have the same size?</a:t>
            </a:r>
          </a:p>
          <a:p>
            <a:pPr lvl="2">
              <a:defRPr/>
            </a:pPr>
            <a:r>
              <a:rPr lang="en-US" altLang="en-US" kern="0" dirty="0">
                <a:solidFill>
                  <a:srgbClr val="000000"/>
                </a:solidFill>
              </a:rPr>
              <a:t>Here is one example: </a:t>
            </a:r>
          </a:p>
        </p:txBody>
      </p:sp>
      <p:sp>
        <p:nvSpPr>
          <p:cNvPr id="45" name="Rectangle 3"/>
          <p:cNvSpPr txBox="1">
            <a:spLocks noChangeArrowheads="1"/>
          </p:cNvSpPr>
          <p:nvPr/>
        </p:nvSpPr>
        <p:spPr>
          <a:xfrm>
            <a:off x="1320101" y="328619"/>
            <a:ext cx="2952612" cy="871301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341313" indent="-34131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88" indent="-3730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96" indent="-300031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813" indent="-29051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74638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7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6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6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5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altLang="en-US" kern="0" dirty="0">
              <a:solidFill>
                <a:srgbClr val="0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416169" y="4492985"/>
            <a:ext cx="1978971" cy="92333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defTabSz="457178"/>
            <a:r>
              <a:rPr lang="en-US" sz="1800" dirty="0">
                <a:solidFill>
                  <a:srgbClr val="000000"/>
                </a:solidFill>
              </a:rPr>
              <a:t>Only need to keep size = 12 (including parentheses)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0525" y="4030973"/>
            <a:ext cx="989485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defTabSz="457178"/>
            <a:r>
              <a:rPr lang="en-US" sz="1800" dirty="0">
                <a:solidFill>
                  <a:srgbClr val="000000"/>
                </a:solidFill>
              </a:rPr>
              <a:t>size =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1428" y="4441498"/>
            <a:ext cx="3211285" cy="38472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 defTabSz="457178">
              <a:defRPr/>
            </a:pPr>
            <a:r>
              <a:rPr lang="en-US" altLang="en-US" i="1" kern="0" dirty="0">
                <a:solidFill>
                  <a:srgbClr val="000000"/>
                </a:solidFill>
              </a:rPr>
              <a:t>Backward </a:t>
            </a:r>
            <a:r>
              <a:rPr lang="en-US" altLang="en-US" i="1" kern="0" dirty="0" err="1">
                <a:solidFill>
                  <a:srgbClr val="000000"/>
                </a:solidFill>
              </a:rPr>
              <a:t>subpattern</a:t>
            </a:r>
            <a:r>
              <a:rPr lang="en-US" altLang="en-US" i="1" kern="0" dirty="0">
                <a:solidFill>
                  <a:srgbClr val="000000"/>
                </a:solidFill>
              </a:rPr>
              <a:t> </a:t>
            </a:r>
            <a:r>
              <a:rPr lang="en-US" altLang="en-US" kern="0" dirty="0">
                <a:solidFill>
                  <a:srgbClr val="000000"/>
                </a:solidFill>
              </a:rPr>
              <a:t>pruning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21088" y="6244612"/>
            <a:ext cx="3526972" cy="38472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 defTabSz="457178">
              <a:defRPr/>
            </a:pPr>
            <a:r>
              <a:rPr lang="en-US" altLang="en-US" i="1" kern="0" dirty="0">
                <a:solidFill>
                  <a:srgbClr val="000000"/>
                </a:solidFill>
              </a:rPr>
              <a:t>Backward </a:t>
            </a:r>
            <a:r>
              <a:rPr lang="en-US" altLang="en-US" i="1" kern="0" dirty="0" err="1">
                <a:solidFill>
                  <a:srgbClr val="000000"/>
                </a:solidFill>
              </a:rPr>
              <a:t>superpattern</a:t>
            </a:r>
            <a:r>
              <a:rPr lang="en-US" altLang="en-US" i="1" kern="0" dirty="0">
                <a:solidFill>
                  <a:srgbClr val="000000"/>
                </a:solidFill>
              </a:rPr>
              <a:t> </a:t>
            </a:r>
            <a:r>
              <a:rPr lang="en-US" altLang="en-US" kern="0" dirty="0">
                <a:solidFill>
                  <a:srgbClr val="000000"/>
                </a:solidFill>
              </a:rPr>
              <a:t>pruning</a:t>
            </a:r>
          </a:p>
        </p:txBody>
      </p:sp>
      <p:sp>
        <p:nvSpPr>
          <p:cNvPr id="4" name="Right Arrow 3"/>
          <p:cNvSpPr/>
          <p:nvPr/>
        </p:nvSpPr>
        <p:spPr>
          <a:xfrm rot="2027556">
            <a:off x="4850398" y="2515879"/>
            <a:ext cx="607073" cy="349258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5064419" y="4216971"/>
            <a:ext cx="1430746" cy="136927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10435710" y="3004457"/>
            <a:ext cx="1430746" cy="136927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10152101" y="1224103"/>
            <a:ext cx="1342421" cy="3698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800" i="1" dirty="0" err="1">
                <a:latin typeface="Calibri" panose="020F0502020204030204" pitchFamily="34" charset="0"/>
              </a:rPr>
              <a:t>min_sup</a:t>
            </a:r>
            <a:r>
              <a:rPr lang="en-US" sz="1800" i="1" dirty="0">
                <a:latin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</a:rPr>
              <a:t>= 2</a:t>
            </a:r>
          </a:p>
        </p:txBody>
      </p:sp>
    </p:spTree>
    <p:extLst>
      <p:ext uri="{BB962C8B-B14F-4D97-AF65-F5344CB8AC3E}">
        <p14:creationId xmlns:p14="http://schemas.microsoft.com/office/powerpoint/2010/main" val="621945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11266" grpId="0" animBg="1"/>
      <p:bldP spid="11270" grpId="0" animBg="1"/>
      <p:bldP spid="11271" grpId="0" animBg="1"/>
      <p:bldP spid="11275" grpId="0" animBg="1"/>
      <p:bldP spid="11321" grpId="0" animBg="1"/>
      <p:bldP spid="11335" grpId="0" animBg="1"/>
      <p:bldP spid="32" grpId="0" animBg="1"/>
      <p:bldP spid="38" grpId="0" animBg="1"/>
      <p:bldP spid="39" grpId="0" animBg="1"/>
      <p:bldP spid="41" grpId="0" animBg="1"/>
      <p:bldP spid="42" grpId="0" animBg="1"/>
      <p:bldP spid="2" grpId="0" animBg="1"/>
      <p:bldP spid="27" grpId="0" animBg="1"/>
      <p:bldP spid="3" grpId="0" animBg="1"/>
      <p:bldP spid="30" grpId="0" animBg="1"/>
      <p:bldP spid="4" grpId="0" animBg="1"/>
      <p:bldP spid="34" grpId="0" animBg="1"/>
      <p:bldP spid="37" grpId="0" animBg="1"/>
      <p:bldP spid="33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12192000" cy="838200"/>
          </a:xfrm>
          <a:noFill/>
        </p:spPr>
        <p:txBody>
          <a:bodyPr lIns="92075" tIns="46038" rIns="92075" bIns="46038" anchor="ctr">
            <a:normAutofit/>
          </a:bodyPr>
          <a:lstStyle/>
          <a:p>
            <a:pPr eaLnBrk="1" hangingPunct="1"/>
            <a:r>
              <a:rPr lang="en-US" altLang="en-US" sz="4000" dirty="0"/>
              <a:t>基于约束的序列模式挖掘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581891" y="1160995"/>
            <a:ext cx="9329364" cy="5257800"/>
          </a:xfrm>
          <a:noFill/>
        </p:spPr>
        <p:txBody>
          <a:bodyPr lIns="92075" tIns="46038" rIns="92075" bIns="46038"/>
          <a:lstStyle/>
          <a:p>
            <a:pPr eaLnBrk="1" hangingPunct="1">
              <a:spcBef>
                <a:spcPts val="300"/>
              </a:spcBef>
            </a:pPr>
            <a:r>
              <a:rPr lang="en-US" altLang="en-US" sz="2400" dirty="0"/>
              <a:t>与约束基于</a:t>
            </a:r>
            <a:r>
              <a:rPr lang="en-US" altLang="en-US" sz="2400" dirty="0" err="1"/>
              <a:t>项集</a:t>
            </a:r>
            <a:r>
              <a:rPr lang="en-US" altLang="en-US" sz="2400" dirty="0"/>
              <a:t>挖掘具有许多相似之处</a:t>
            </a:r>
          </a:p>
          <a:p>
            <a:pPr eaLnBrk="1" hangingPunct="1">
              <a:spcBef>
                <a:spcPts val="300"/>
              </a:spcBef>
            </a:pPr>
            <a:r>
              <a:rPr lang="en-US" altLang="en-US" sz="2400" dirty="0">
                <a:solidFill>
                  <a:srgbClr val="FF0000"/>
                </a:solidFill>
              </a:rPr>
              <a:t>反单调性：</a:t>
            </a:r>
            <a:r>
              <a:rPr lang="en-US" altLang="en-US" sz="2400" dirty="0"/>
              <a:t>如果</a:t>
            </a:r>
            <a:r>
              <a:rPr lang="en-US" altLang="en-US" sz="2400" i="1" dirty="0"/>
              <a:t>集合S违反</a:t>
            </a:r>
            <a:r>
              <a:rPr lang="en-US" altLang="en-US" sz="2400" dirty="0"/>
              <a:t>约束c，则S的所有超序列也违反约束c  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400" dirty="0"/>
              <a:t>sum(</a:t>
            </a:r>
            <a:r>
              <a:rPr lang="en-US" altLang="en-US" sz="2400" dirty="0" err="1"/>
              <a:t>S.price</a:t>
            </a:r>
            <a:r>
              <a:rPr lang="en-US" altLang="en-US" sz="2400" dirty="0"/>
              <a:t>) &lt;=150; min(</a:t>
            </a:r>
            <a:r>
              <a:rPr lang="en-US" altLang="en-US" sz="2400" dirty="0" err="1"/>
              <a:t>S.value</a:t>
            </a:r>
            <a:r>
              <a:rPr lang="en-US" altLang="en-US" sz="2400" dirty="0"/>
              <a:t>) &gt; 10 </a:t>
            </a:r>
          </a:p>
          <a:p>
            <a:pPr eaLnBrk="1" hangingPunct="1">
              <a:spcBef>
                <a:spcPts val="300"/>
              </a:spcBef>
            </a:pPr>
            <a:r>
              <a:rPr lang="en-US" altLang="en-US" sz="2400" dirty="0">
                <a:solidFill>
                  <a:srgbClr val="FF0000"/>
                </a:solidFill>
              </a:rPr>
              <a:t>单调性：</a:t>
            </a:r>
            <a:r>
              <a:rPr lang="en-US" altLang="en-US" sz="2400" dirty="0"/>
              <a:t>如果S满足</a:t>
            </a:r>
            <a:r>
              <a:rPr lang="en-US" altLang="en-US" sz="2400" i="1" dirty="0"/>
              <a:t>约束c</a:t>
            </a:r>
            <a:r>
              <a:rPr lang="en-US" altLang="en-US" sz="2400" dirty="0"/>
              <a:t>，则S的所有超序列也满足c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400" dirty="0" err="1"/>
              <a:t>element_count</a:t>
            </a:r>
            <a:r>
              <a:rPr lang="en-US" altLang="en-US" sz="2400" dirty="0"/>
              <a:t>(S) &gt; 5; S</a:t>
            </a:r>
            <a:r>
              <a:rPr lang="en-US" altLang="en-US" sz="2400" dirty="0">
                <a:sym typeface="Symbol" pitchFamily="18" charset="2"/>
              </a:rPr>
              <a:t> ⊆ {PC, </a:t>
            </a:r>
            <a:r>
              <a:rPr lang="en-US" altLang="en-US" sz="2400" dirty="0" err="1">
                <a:sym typeface="Symbol" pitchFamily="18" charset="2"/>
              </a:rPr>
              <a:t>digital_camera</a:t>
            </a:r>
            <a:r>
              <a:rPr lang="en-US" altLang="en-US" sz="2400" dirty="0">
                <a:sym typeface="Symbol" pitchFamily="18" charset="2"/>
              </a:rPr>
              <a:t>}</a:t>
            </a:r>
          </a:p>
          <a:p>
            <a:pPr eaLnBrk="1" hangingPunct="1">
              <a:spcBef>
                <a:spcPts val="300"/>
              </a:spcBef>
            </a:pPr>
            <a:r>
              <a:rPr lang="en-US" altLang="en-US" sz="2400" dirty="0">
                <a:solidFill>
                  <a:srgbClr val="FF0000"/>
                </a:solidFill>
                <a:sym typeface="Symbol" pitchFamily="18" charset="2"/>
              </a:rPr>
              <a:t>数据反单调性：</a:t>
            </a:r>
            <a:r>
              <a:rPr lang="en-US" altLang="en-US" sz="2400" dirty="0"/>
              <a:t>若序列 s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 违反规则 c，且</a:t>
            </a:r>
            <a:r>
              <a:rPr lang="en-US" altLang="en-US" sz="2400" i="1" baseline="-25000" dirty="0"/>
              <a:t>3</a:t>
            </a:r>
            <a:r>
              <a:rPr lang="en-US" altLang="en-US" sz="2400" dirty="0"/>
              <a:t> ，则 s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 可被移除  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400" dirty="0"/>
              <a:t>c</a:t>
            </a:r>
            <a:r>
              <a:rPr lang="en-US" altLang="en-US" sz="2400" baseline="-25000" dirty="0"/>
              <a:t>3</a:t>
            </a:r>
            <a:r>
              <a:rPr lang="en-US" altLang="en-US" sz="2400" dirty="0"/>
              <a:t> : sum(</a:t>
            </a:r>
            <a:r>
              <a:rPr lang="en-US" altLang="en-US" sz="2400" dirty="0" err="1"/>
              <a:t>S.price</a:t>
            </a:r>
            <a:r>
              <a:rPr lang="en-US" altLang="en-US" sz="2400" dirty="0"/>
              <a:t>) ≥ v</a:t>
            </a:r>
          </a:p>
          <a:p>
            <a:pPr eaLnBrk="1" hangingPunct="1">
              <a:spcBef>
                <a:spcPts val="300"/>
              </a:spcBef>
            </a:pPr>
            <a:r>
              <a:rPr lang="en-US" altLang="en-US" sz="2400" dirty="0">
                <a:solidFill>
                  <a:srgbClr val="FF0000"/>
                </a:solidFill>
              </a:rPr>
              <a:t>简洁性：</a:t>
            </a:r>
            <a:r>
              <a:rPr lang="en-US" altLang="en-US" sz="2400" dirty="0"/>
              <a:t>通过显式操作数据来强制约束 c</a:t>
            </a:r>
          </a:p>
          <a:p>
            <a:pPr lvl="1">
              <a:spcBef>
                <a:spcPts val="300"/>
              </a:spcBef>
            </a:pPr>
            <a:r>
              <a:rPr lang="en-US" altLang="en-US" sz="2400" dirty="0">
                <a:sym typeface="Symbol" pitchFamily="18" charset="2"/>
              </a:rPr>
              <a:t>S  {i-phone, </a:t>
            </a:r>
            <a:r>
              <a:rPr lang="en-US" altLang="en-US" sz="2400" dirty="0" err="1">
                <a:sym typeface="Symbol" pitchFamily="18" charset="2"/>
              </a:rPr>
              <a:t>MacAir</a:t>
            </a:r>
            <a:r>
              <a:rPr lang="en-US" altLang="en-US" sz="2400" dirty="0">
                <a:sym typeface="Symbol" pitchFamily="18" charset="2"/>
              </a:rPr>
              <a:t>} </a:t>
            </a:r>
            <a:endParaRPr lang="en-US" altLang="en-US" sz="2400" dirty="0"/>
          </a:p>
          <a:p>
            <a:pPr eaLnBrk="1" hangingPunct="1">
              <a:spcBef>
                <a:spcPts val="300"/>
              </a:spcBef>
            </a:pPr>
            <a:r>
              <a:rPr lang="en-US" altLang="en-US" sz="2400" dirty="0">
                <a:solidFill>
                  <a:srgbClr val="FF0000"/>
                </a:solidFill>
              </a:rPr>
              <a:t>可转换：</a:t>
            </a:r>
            <a:r>
              <a:rPr lang="en-US" altLang="en-US" sz="2400" dirty="0"/>
              <a:t>基于排序值而非序列顺序的投影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400" dirty="0" err="1"/>
              <a:t>value_avg</a:t>
            </a:r>
            <a:r>
              <a:rPr lang="en-US" altLang="en-US" sz="2400" dirty="0"/>
              <a:t>(S) &lt;=25; </a:t>
            </a:r>
            <a:r>
              <a:rPr lang="en-US" altLang="en-US" sz="2400" dirty="0" err="1"/>
              <a:t>profit_sum </a:t>
            </a:r>
            <a:r>
              <a:rPr lang="en-US" altLang="en-US" sz="2400" dirty="0"/>
              <a:t>(S) &gt; 160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400" dirty="0"/>
              <a:t>max(S)</a:t>
            </a:r>
            <a:r>
              <a:rPr lang="en-US" altLang="en-US" sz="2400" dirty="0" err="1"/>
              <a:t>/avg</a:t>
            </a:r>
            <a:r>
              <a:rPr lang="en-US" altLang="en-US" sz="2400" dirty="0"/>
              <a:t>(S) &lt;=2; median(S) – min(S) &gt; 5</a:t>
            </a:r>
          </a:p>
        </p:txBody>
      </p:sp>
    </p:spTree>
    <p:extLst>
      <p:ext uri="{BB962C8B-B14F-4D97-AF65-F5344CB8AC3E}">
        <p14:creationId xmlns:p14="http://schemas.microsoft.com/office/powerpoint/2010/main" val="2085694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12192000" cy="838200"/>
          </a:xfrm>
          <a:noFill/>
        </p:spPr>
        <p:txBody>
          <a:bodyPr lIns="92075" tIns="46038" rIns="92075" bIns="46038" anchor="ctr">
            <a:normAutofit/>
          </a:bodyPr>
          <a:lstStyle/>
          <a:p>
            <a:pPr eaLnBrk="1" hangingPunct="1"/>
            <a:r>
              <a:rPr lang="en-US" altLang="en-US" sz="4000" dirty="0"/>
              <a:t>基于时间的约束在序列模式挖掘中的应用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498763" y="1203037"/>
            <a:ext cx="10440985" cy="5257800"/>
          </a:xfrm>
          <a:noFill/>
        </p:spPr>
        <p:txBody>
          <a:bodyPr lIns="92075" tIns="46038" rIns="92075" bIns="46038"/>
          <a:lstStyle/>
          <a:p>
            <a:pPr eaLnBrk="1" hangingPunct="1">
              <a:spcBef>
                <a:spcPts val="300"/>
              </a:spcBef>
            </a:pPr>
            <a:r>
              <a:rPr lang="en-US" altLang="en-US" sz="2400" dirty="0">
                <a:solidFill>
                  <a:srgbClr val="FF0000"/>
                </a:solidFill>
              </a:rPr>
              <a:t>顺序约束</a:t>
            </a:r>
            <a:r>
              <a:rPr lang="en-US" altLang="en-US" sz="2400" dirty="0"/>
              <a:t>：某些项必须在其他项之前发生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400" dirty="0"/>
              <a:t>{代数, 几何} </a:t>
            </a:r>
            <a:r>
              <a:rPr lang="en-US" altLang="en-US" sz="2400" dirty="0">
                <a:sym typeface="Symbol" pitchFamily="18" charset="2"/>
              </a:rPr>
              <a:t>→ {微积分}（其中“→”表示顺序关系）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400" dirty="0">
                <a:sym typeface="Symbol" pitchFamily="18" charset="2"/>
              </a:rPr>
              <a:t>反单调性：剪枝违反约束的子模式</a:t>
            </a:r>
          </a:p>
          <a:p>
            <a:pPr eaLnBrk="1" hangingPunct="1">
              <a:spcBef>
                <a:spcPts val="300"/>
              </a:spcBef>
            </a:pPr>
            <a:r>
              <a:rPr lang="en-US" altLang="en-US" sz="2400" dirty="0">
                <a:solidFill>
                  <a:srgbClr val="FF0000"/>
                </a:solidFill>
              </a:rPr>
              <a:t>最小间隔/最大间隔约束：</a:t>
            </a:r>
            <a:r>
              <a:rPr lang="en-US" altLang="en-US" sz="2400" dirty="0"/>
              <a:t>限制模式中两个元素的间隔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400" dirty="0"/>
              <a:t>例如，</a:t>
            </a:r>
            <a:r>
              <a:rPr lang="en-US" altLang="en-US" sz="2400" dirty="0" err="1"/>
              <a:t>min-gap </a:t>
            </a:r>
            <a:r>
              <a:rPr lang="en-US" altLang="en-US" sz="2400" dirty="0"/>
              <a:t>= 1</a:t>
            </a:r>
            <a:r>
              <a:rPr lang="en-US" altLang="en-US" sz="2400" dirty="0" err="1"/>
              <a:t>，max-gap </a:t>
            </a:r>
            <a:r>
              <a:rPr lang="en-US" altLang="en-US" sz="2400" dirty="0"/>
              <a:t>= 4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400" dirty="0"/>
              <a:t>简洁性：在模式生长过程中直接强制执行</a:t>
            </a:r>
          </a:p>
          <a:p>
            <a:pPr eaLnBrk="1" hangingPunct="1">
              <a:spcBef>
                <a:spcPts val="300"/>
              </a:spcBef>
            </a:pPr>
            <a:r>
              <a:rPr lang="en-US" altLang="en-US" sz="2400" dirty="0">
                <a:solidFill>
                  <a:srgbClr val="FF0000"/>
                </a:solidFill>
              </a:rPr>
              <a:t>最大跨度约束：</a:t>
            </a:r>
            <a:r>
              <a:rPr lang="en-US" altLang="en-US" sz="2400" dirty="0"/>
              <a:t>模式中</a:t>
            </a:r>
            <a:r>
              <a:rPr lang="en-US" altLang="en-US" sz="2400" baseline="30000" dirty="0"/>
              <a:t>st</a:t>
            </a:r>
            <a:r>
              <a:rPr lang="en-US" altLang="en-US" sz="2400" dirty="0"/>
              <a:t> 与最后一个元素之间允许的最大时间差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400" dirty="0"/>
              <a:t>例如，</a:t>
            </a:r>
            <a:r>
              <a:rPr lang="en-US" altLang="en-US" sz="2400" dirty="0" err="1"/>
              <a:t>maxspan</a:t>
            </a:r>
            <a:r>
              <a:rPr lang="en-US" altLang="en-US" sz="2400" dirty="0"/>
              <a:t>(S) = 60（天）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400" dirty="0"/>
              <a:t>简洁：在确定第一个</a:t>
            </a:r>
            <a:r>
              <a:rPr lang="en-US" altLang="en-US" sz="2400" baseline="30000" dirty="0"/>
              <a:t>st</a:t>
            </a:r>
            <a:r>
              <a:rPr lang="en-US" altLang="en-US" sz="2400" dirty="0"/>
              <a:t> 元素时直接强制执行</a:t>
            </a:r>
            <a:endParaRPr lang="en-US" altLang="en-US" sz="2400" dirty="0">
              <a:sym typeface="Symbol" pitchFamily="18" charset="2"/>
            </a:endParaRPr>
          </a:p>
          <a:p>
            <a:pPr eaLnBrk="1" hangingPunct="1">
              <a:spcBef>
                <a:spcPts val="300"/>
              </a:spcBef>
            </a:pPr>
            <a:r>
              <a:rPr lang="en-US" altLang="en-US" sz="2400" dirty="0">
                <a:solidFill>
                  <a:srgbClr val="FF0000"/>
                </a:solidFill>
                <a:sym typeface="Symbol" pitchFamily="18" charset="2"/>
              </a:rPr>
              <a:t>窗口大小约束：</a:t>
            </a:r>
            <a:r>
              <a:rPr lang="en-US" altLang="en-US" sz="2400" dirty="0">
                <a:sym typeface="Symbol" pitchFamily="18" charset="2"/>
              </a:rPr>
              <a:t>元素中的事件不必同时发生：强制最大允许时间差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400" dirty="0"/>
              <a:t>例如，窗口大小 = 2：合并事件到元素的多种方式</a:t>
            </a:r>
          </a:p>
        </p:txBody>
      </p:sp>
    </p:spTree>
    <p:extLst>
      <p:ext uri="{BB962C8B-B14F-4D97-AF65-F5344CB8AC3E}">
        <p14:creationId xmlns:p14="http://schemas.microsoft.com/office/powerpoint/2010/main" val="1990250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381000"/>
            <a:ext cx="110744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剧集与剧集模式挖掘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508000" y="1200807"/>
            <a:ext cx="10398699" cy="4747606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400" dirty="0">
                <a:ea typeface="STKaiti" panose="02010600040101010101" pitchFamily="2" charset="-122"/>
              </a:rPr>
              <a:t>剧集与正则表达式：序列模式的替代方案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>
                <a:ea typeface="STKaiti" panose="02010600040101010101" pitchFamily="2" charset="-122"/>
              </a:rPr>
              <a:t>串行剧集：</a:t>
            </a:r>
            <a:r>
              <a:rPr lang="en-US" altLang="en-US" sz="2400" dirty="0">
                <a:ea typeface="STKaiti" panose="02010600040101010101" pitchFamily="2" charset="-122"/>
                <a:sym typeface="Symbol" pitchFamily="18" charset="2"/>
              </a:rPr>
              <a:t>AB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>
                <a:ea typeface="STKaiti" panose="02010600040101010101" pitchFamily="2" charset="-122"/>
                <a:sym typeface="Symbol" pitchFamily="18" charset="2"/>
              </a:rPr>
              <a:t>并行剧集：A|B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>
                <a:ea typeface="STKaiti" panose="02010600040101010101" pitchFamily="2" charset="-122"/>
                <a:sym typeface="Symbol" pitchFamily="18" charset="2"/>
              </a:rPr>
              <a:t>正则表达式：(A|B)C*(DE)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>
                <a:ea typeface="STKaiti" panose="02010600040101010101" pitchFamily="2" charset="-122"/>
                <a:sym typeface="Symbol" pitchFamily="18" charset="2"/>
              </a:rPr>
              <a:t>例如，给定一个大型购物序列数据库，可能希望找到</a:t>
            </a:r>
          </a:p>
          <a:p>
            <a:pPr lvl="2">
              <a:lnSpc>
                <a:spcPct val="120000"/>
              </a:lnSpc>
            </a:pPr>
            <a:r>
              <a:rPr lang="en-US" altLang="en-US" sz="2400" dirty="0">
                <a:ea typeface="STKaiti" panose="02010600040101010101" pitchFamily="2" charset="-122"/>
                <a:sym typeface="Symbol" pitchFamily="18" charset="2"/>
              </a:rPr>
              <a:t>假设模式顺序遵循模板 (A|B)C*(D E)，并且</a:t>
            </a:r>
          </a:p>
          <a:p>
            <a:pPr lvl="2">
              <a:lnSpc>
                <a:spcPct val="120000"/>
              </a:lnSpc>
            </a:pPr>
            <a:r>
              <a:rPr lang="en-US" altLang="en-US" sz="2400" dirty="0">
                <a:ea typeface="STKaiti" panose="02010600040101010101" pitchFamily="2" charset="-122"/>
                <a:sym typeface="Symbol" pitchFamily="18" charset="2"/>
              </a:rPr>
              <a:t>A、B、C*、D 和 E 的价格之和大于 $100，其中 C* 表示 C 出现 * 次</a:t>
            </a:r>
          </a:p>
          <a:p>
            <a:pPr lvl="1">
              <a:lnSpc>
                <a:spcPct val="120000"/>
              </a:lnSpc>
            </a:pPr>
            <a:r>
              <a:rPr lang="en-US" altLang="en-US" sz="2400" dirty="0">
                <a:ea typeface="STKaiti" panose="02010600040101010101" pitchFamily="2" charset="-122"/>
                <a:sym typeface="Symbol" pitchFamily="18" charset="2"/>
              </a:rPr>
              <a:t>如何高效地挖掘此类片段模式？</a:t>
            </a:r>
          </a:p>
        </p:txBody>
      </p:sp>
      <p:sp>
        <p:nvSpPr>
          <p:cNvPr id="16389" name="TextBox 1"/>
          <p:cNvSpPr txBox="1">
            <a:spLocks noChangeArrowheads="1"/>
          </p:cNvSpPr>
          <p:nvPr/>
        </p:nvSpPr>
        <p:spPr bwMode="auto">
          <a:xfrm>
            <a:off x="4958418" y="2239893"/>
            <a:ext cx="7062872" cy="461665"/>
          </a:xfrm>
          <a:prstGeom prst="rect">
            <a:avLst/>
          </a:prstGeom>
          <a:solidFill>
            <a:srgbClr val="FAE2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部分顺序关系：A 和 B 可以以任意顺序出现</a:t>
            </a:r>
          </a:p>
        </p:txBody>
      </p:sp>
      <p:sp>
        <p:nvSpPr>
          <p:cNvPr id="6" name="TextBox 1"/>
          <p:cNvSpPr txBox="1">
            <a:spLocks noChangeArrowheads="1"/>
          </p:cNvSpPr>
          <p:nvPr/>
        </p:nvSpPr>
        <p:spPr bwMode="auto">
          <a:xfrm>
            <a:off x="5193322" y="1709145"/>
            <a:ext cx="3982180" cy="461665"/>
          </a:xfrm>
          <a:prstGeom prst="rect">
            <a:avLst/>
          </a:prstGeom>
          <a:solidFill>
            <a:srgbClr val="FAE2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全序关系：</a:t>
            </a:r>
            <a:r>
              <a:rPr kumimoji="0" lang="en-US" altLang="en-US" sz="24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先出现A再出现B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2" name="Right Arrow 1"/>
          <p:cNvSpPr/>
          <p:nvPr/>
        </p:nvSpPr>
        <p:spPr>
          <a:xfrm rot="10800000">
            <a:off x="4723511" y="1874030"/>
            <a:ext cx="469811" cy="1318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 rot="10800000">
            <a:off x="4488606" y="2405805"/>
            <a:ext cx="469811" cy="1318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1"/>
          <p:cNvSpPr txBox="1">
            <a:spLocks noChangeArrowheads="1"/>
          </p:cNvSpPr>
          <p:nvPr/>
        </p:nvSpPr>
        <p:spPr bwMode="auto">
          <a:xfrm>
            <a:off x="5943600" y="2777369"/>
            <a:ext cx="5272597" cy="461665"/>
          </a:xfrm>
          <a:prstGeom prst="rect">
            <a:avLst/>
          </a:prstGeom>
          <a:solidFill>
            <a:srgbClr val="FAE2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</a:rPr>
              <a:t>(DE)表示D和E在同一时间窗口内发生</a:t>
            </a:r>
          </a:p>
        </p:txBody>
      </p:sp>
      <p:sp>
        <p:nvSpPr>
          <p:cNvPr id="10" name="Right Arrow 9"/>
          <p:cNvSpPr/>
          <p:nvPr/>
        </p:nvSpPr>
        <p:spPr>
          <a:xfrm rot="10800000">
            <a:off x="5629373" y="2935524"/>
            <a:ext cx="314227" cy="1386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598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 animBg="1"/>
      <p:bldP spid="6" grpId="0" animBg="1"/>
      <p:bldP spid="9" grpId="0" animBg="1"/>
    </p:bld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36019</TotalTime>
  <Words>9247</Words>
  <Application>Microsoft Office PowerPoint</Application>
  <PresentationFormat>宽屏</PresentationFormat>
  <Paragraphs>1772</Paragraphs>
  <Slides>103</Slides>
  <Notes>58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103</vt:i4>
      </vt:variant>
    </vt:vector>
  </HeadingPairs>
  <TitlesOfParts>
    <vt:vector size="123" baseType="lpstr">
      <vt:lpstr>-apple-system</vt:lpstr>
      <vt:lpstr>굴림</vt:lpstr>
      <vt:lpstr>맑은 고딕</vt:lpstr>
      <vt:lpstr>Monotype Sorts</vt:lpstr>
      <vt:lpstr>STKaiti</vt:lpstr>
      <vt:lpstr>KaiTi</vt:lpstr>
      <vt:lpstr>Arial</vt:lpstr>
      <vt:lpstr>Berlin Sans FB Demi</vt:lpstr>
      <vt:lpstr>Calibri</vt:lpstr>
      <vt:lpstr>Cambria Math</vt:lpstr>
      <vt:lpstr>Symbol</vt:lpstr>
      <vt:lpstr>Tahoma</vt:lpstr>
      <vt:lpstr>Times New Roman</vt:lpstr>
      <vt:lpstr>Wingdings</vt:lpstr>
      <vt:lpstr>Retrospect</vt:lpstr>
      <vt:lpstr>Visio</vt:lpstr>
      <vt:lpstr>Equation</vt:lpstr>
      <vt:lpstr>VISIO</vt:lpstr>
      <vt:lpstr>Worksheet</vt:lpstr>
      <vt:lpstr>Photo Editor Photo</vt:lpstr>
      <vt:lpstr>模式挖掘：高级方法</vt:lpstr>
      <vt:lpstr>挖掘各种类型的模式 </vt:lpstr>
      <vt:lpstr>连续型和分类型属性</vt:lpstr>
      <vt:lpstr>处理分类属性</vt:lpstr>
      <vt:lpstr>处理分类属性</vt:lpstr>
      <vt:lpstr>处理分类属性</vt:lpstr>
      <vt:lpstr>处理分类属性</vt:lpstr>
      <vt:lpstr>处理连续属性</vt:lpstr>
      <vt:lpstr>离散化方法</vt:lpstr>
      <vt:lpstr>离散化方法</vt:lpstr>
      <vt:lpstr>离散化方法</vt:lpstr>
      <vt:lpstr>离散化问题</vt:lpstr>
      <vt:lpstr>离散化问题</vt:lpstr>
      <vt:lpstr>基于统计的方法</vt:lpstr>
      <vt:lpstr>基于统计的方法</vt:lpstr>
      <vt:lpstr>基于统计的方法</vt:lpstr>
      <vt:lpstr>基于统计的方法</vt:lpstr>
      <vt:lpstr>练习1</vt:lpstr>
      <vt:lpstr>练习2</vt:lpstr>
      <vt:lpstr>练习3</vt:lpstr>
      <vt:lpstr>概念层次结构</vt:lpstr>
      <vt:lpstr>挖掘多层次频繁模式</vt:lpstr>
      <vt:lpstr>冗余过滤在挖掘多层次关联中的应用 </vt:lpstr>
      <vt:lpstr>针对不同类型项的自定义最小支持度</vt:lpstr>
      <vt:lpstr>挖掘多维关联</vt:lpstr>
      <vt:lpstr>罕见模式与负面模式</vt:lpstr>
      <vt:lpstr>定义负相关模式</vt:lpstr>
      <vt:lpstr>定义负相关：定义中需满足零不变性</vt:lpstr>
      <vt:lpstr>模式挖掘：高级方法</vt:lpstr>
      <vt:lpstr>挖掘压缩模式</vt:lpstr>
      <vt:lpstr>挖掘压缩模式</vt:lpstr>
      <vt:lpstr>冗余感知Top-k模式</vt:lpstr>
      <vt:lpstr>模式挖掘：高级方法</vt:lpstr>
      <vt:lpstr>为什么选择约束基于挖掘？</vt:lpstr>
      <vt:lpstr>数据挖掘中用户指定的各种约束</vt:lpstr>
      <vt:lpstr>基于模式反单调性的模式空间剪枝 </vt:lpstr>
      <vt:lpstr>模式单调性及其作用</vt:lpstr>
      <vt:lpstr>先验方法在模式反单调约束中的应用</vt:lpstr>
      <vt:lpstr>可转换约束：事务中数据的排序</vt:lpstr>
      <vt:lpstr>Apriori 算法是否支持项目重新排序？ </vt:lpstr>
      <vt:lpstr>基于数据反单调性的数据空间剪枝</vt:lpstr>
      <vt:lpstr>数据空间剪枝应采用递归方式探索 </vt:lpstr>
      <vt:lpstr>数据空间剪枝的递归探索（续）</vt:lpstr>
      <vt:lpstr>简洁性：同时对数据空间和模式空间进行剪枝</vt:lpstr>
      <vt:lpstr>不同类型的约束导致不同的剪枝策略</vt:lpstr>
      <vt:lpstr>如何处理多个约束条件？</vt:lpstr>
      <vt:lpstr>模式挖掘：高级方法</vt:lpstr>
      <vt:lpstr>序列模式挖掘</vt:lpstr>
      <vt:lpstr>序列模式挖掘</vt:lpstr>
      <vt:lpstr>序列模式示例</vt:lpstr>
      <vt:lpstr>序列示例</vt:lpstr>
      <vt:lpstr>序列模式发现：示例</vt:lpstr>
      <vt:lpstr>序列数据</vt:lpstr>
      <vt:lpstr>序列数据</vt:lpstr>
      <vt:lpstr>序列的正式定义</vt:lpstr>
      <vt:lpstr>子序列的正式定义</vt:lpstr>
      <vt:lpstr>序列模式挖掘：定义</vt:lpstr>
      <vt:lpstr>提取序列模式</vt:lpstr>
      <vt:lpstr>PowerPoint 演示文稿</vt:lpstr>
      <vt:lpstr>PowerPoint 演示文稿</vt:lpstr>
      <vt:lpstr>通用序列模式（GSP）</vt:lpstr>
      <vt:lpstr>Candidate Generation</vt:lpstr>
      <vt:lpstr>候选生成示例</vt:lpstr>
      <vt:lpstr>候选生成：示例（续）</vt:lpstr>
      <vt:lpstr>候选生成：示例（续）</vt:lpstr>
      <vt:lpstr>GSP: Apriori-Based Sequential Pattern Mining</vt:lpstr>
      <vt:lpstr>GSP: Apriori-Based Sequential Pattern Mining</vt:lpstr>
      <vt:lpstr>GSP Mining and Pruning</vt:lpstr>
      <vt:lpstr>GSP: Apriori-Based Sequential Pattern Mining</vt:lpstr>
      <vt:lpstr>GSP: Apriori-Based Sequential Pattern Mining</vt:lpstr>
      <vt:lpstr>GSP: Apriori-Based Sequential Pattern Mining</vt:lpstr>
      <vt:lpstr>GSP Mining and Pruning</vt:lpstr>
      <vt:lpstr>GSP Mining and Pruning</vt:lpstr>
      <vt:lpstr>GSP: Apriori-Based Sequential Pattern Mining</vt:lpstr>
      <vt:lpstr>垂直数据格式中的序列模式挖掘：SPADE算法</vt:lpstr>
      <vt:lpstr>垂直数据格式中的序列模式挖掘：SPADE算法</vt:lpstr>
      <vt:lpstr>SPADE-Exerise</vt:lpstr>
      <vt:lpstr>PrefixSpan: A Pattern-Growth Approach</vt:lpstr>
      <vt:lpstr>PrefixSpan: Mining Prefix-Projected DBs</vt:lpstr>
      <vt:lpstr>PrefixSpan: Mining Prefix-Projected DBs</vt:lpstr>
      <vt:lpstr>PrefixSpan: Mining Prefix-Projected DBs</vt:lpstr>
      <vt:lpstr>PrefixSpan: Mining Prefix-Projected DBs</vt:lpstr>
      <vt:lpstr>PrefixSpan: Mining Prefix-Projected DBs</vt:lpstr>
      <vt:lpstr>PrefixSpan: Mining Prefix-Projected DBs</vt:lpstr>
      <vt:lpstr>PrefixSpan: Mining Prefix-Projected DBs</vt:lpstr>
      <vt:lpstr>PrefixSpan: Mining Prefix-Projected DBs</vt:lpstr>
      <vt:lpstr>PrefixSpan: Mining Prefix-Projected DBs</vt:lpstr>
      <vt:lpstr>PrefixSpan: A Pattern-Growth Approach</vt:lpstr>
      <vt:lpstr>PrefixSpan: A Pattern-Growth Approach</vt:lpstr>
      <vt:lpstr>PrefixSpan练习</vt:lpstr>
      <vt:lpstr>时间约束（一）</vt:lpstr>
      <vt:lpstr>具有时间约束的序列模式挖掘</vt:lpstr>
      <vt:lpstr>序列数据的Aprior原则</vt:lpstr>
      <vt:lpstr>连续子序列</vt:lpstr>
      <vt:lpstr>修改后的候选剪枝步骤</vt:lpstr>
      <vt:lpstr>时间约束（二）</vt:lpstr>
      <vt:lpstr>修改后的支持计数步骤</vt:lpstr>
      <vt:lpstr>实现考虑：伪投影与物理投影</vt:lpstr>
      <vt:lpstr>CloSpan：挖掘闭合序列模式</vt:lpstr>
      <vt:lpstr>CloSpan: When Two Projected DBs Have the Same Size </vt:lpstr>
      <vt:lpstr>基于约束的序列模式挖掘</vt:lpstr>
      <vt:lpstr>基于时间的约束在序列模式挖掘中的应用</vt:lpstr>
      <vt:lpstr>剧集与剧集模式挖掘</vt:lpstr>
    </vt:vector>
  </TitlesOfParts>
  <Company>UIUC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Latent Entity Structures</dc:title>
  <dc:creator>Jiawei Han</dc:creator>
  <cp:keywords>, docId:A5CCB344FF95BBA04F6A34E337BBECDD</cp:keywords>
  <cp:lastModifiedBy>明源 周</cp:lastModifiedBy>
  <cp:revision>1241</cp:revision>
  <cp:lastPrinted>2017-09-26T19:57:32Z</cp:lastPrinted>
  <dcterms:created xsi:type="dcterms:W3CDTF">2014-06-02T15:06:14Z</dcterms:created>
  <dcterms:modified xsi:type="dcterms:W3CDTF">2025-10-13T14:18:15Z</dcterms:modified>
</cp:coreProperties>
</file>