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8"/>
  </p:notesMasterIdLst>
  <p:handoutMasterIdLst>
    <p:handoutMasterId r:id="rId39"/>
  </p:handoutMasterIdLst>
  <p:sldIdLst>
    <p:sldId id="285" r:id="rId2"/>
    <p:sldId id="380" r:id="rId3"/>
    <p:sldId id="381" r:id="rId4"/>
    <p:sldId id="382" r:id="rId5"/>
    <p:sldId id="422" r:id="rId6"/>
    <p:sldId id="332" r:id="rId7"/>
    <p:sldId id="423" r:id="rId8"/>
    <p:sldId id="436" r:id="rId9"/>
    <p:sldId id="334" r:id="rId10"/>
    <p:sldId id="335" r:id="rId11"/>
    <p:sldId id="336" r:id="rId12"/>
    <p:sldId id="290" r:id="rId13"/>
    <p:sldId id="416" r:id="rId14"/>
    <p:sldId id="437" r:id="rId15"/>
    <p:sldId id="438" r:id="rId16"/>
    <p:sldId id="439" r:id="rId17"/>
    <p:sldId id="440" r:id="rId18"/>
    <p:sldId id="441" r:id="rId19"/>
    <p:sldId id="442" r:id="rId20"/>
    <p:sldId id="444" r:id="rId21"/>
    <p:sldId id="445" r:id="rId22"/>
    <p:sldId id="446" r:id="rId23"/>
    <p:sldId id="338" r:id="rId24"/>
    <p:sldId id="339" r:id="rId25"/>
    <p:sldId id="358" r:id="rId26"/>
    <p:sldId id="447" r:id="rId27"/>
    <p:sldId id="359" r:id="rId28"/>
    <p:sldId id="448" r:id="rId29"/>
    <p:sldId id="360" r:id="rId30"/>
    <p:sldId id="361" r:id="rId31"/>
    <p:sldId id="417" r:id="rId32"/>
    <p:sldId id="418" r:id="rId33"/>
    <p:sldId id="419" r:id="rId34"/>
    <p:sldId id="362" r:id="rId35"/>
    <p:sldId id="367" r:id="rId36"/>
    <p:sldId id="363" r:id="rId37"/>
  </p:sldIdLst>
  <p:sldSz cx="12192000" cy="6858000"/>
  <p:notesSz cx="6858000" cy="9144000"/>
  <p:custDataLst>
    <p:tags r:id="rId40"/>
  </p:custDataLst>
  <p:defaultTextStyle>
    <a:defPPr>
      <a:defRPr lang="en-US"/>
    </a:defPPr>
    <a:lvl1pPr algn="r" rtl="0" fontAlgn="base">
      <a:spcBef>
        <a:spcPct val="0"/>
      </a:spcBef>
      <a:spcAft>
        <a:spcPct val="0"/>
      </a:spcAft>
      <a:defRPr b="1" kern="1200">
        <a:solidFill>
          <a:schemeClr val="tx1"/>
        </a:solidFill>
        <a:latin typeface="Arial" panose="020B0604020202020204" pitchFamily="34" charset="0"/>
        <a:ea typeface="+mn-ea"/>
        <a:cs typeface="+mn-cs"/>
      </a:defRPr>
    </a:lvl1pPr>
    <a:lvl2pPr marL="457200" algn="r" rtl="0" fontAlgn="base">
      <a:spcBef>
        <a:spcPct val="0"/>
      </a:spcBef>
      <a:spcAft>
        <a:spcPct val="0"/>
      </a:spcAft>
      <a:defRPr b="1" kern="1200">
        <a:solidFill>
          <a:schemeClr val="tx1"/>
        </a:solidFill>
        <a:latin typeface="Arial" panose="020B0604020202020204" pitchFamily="34" charset="0"/>
        <a:ea typeface="+mn-ea"/>
        <a:cs typeface="+mn-cs"/>
      </a:defRPr>
    </a:lvl2pPr>
    <a:lvl3pPr marL="914400" algn="r" rtl="0" fontAlgn="base">
      <a:spcBef>
        <a:spcPct val="0"/>
      </a:spcBef>
      <a:spcAft>
        <a:spcPct val="0"/>
      </a:spcAft>
      <a:defRPr b="1" kern="1200">
        <a:solidFill>
          <a:schemeClr val="tx1"/>
        </a:solidFill>
        <a:latin typeface="Arial" panose="020B0604020202020204" pitchFamily="34" charset="0"/>
        <a:ea typeface="+mn-ea"/>
        <a:cs typeface="+mn-cs"/>
      </a:defRPr>
    </a:lvl3pPr>
    <a:lvl4pPr marL="1371600" algn="r" rtl="0" fontAlgn="base">
      <a:spcBef>
        <a:spcPct val="0"/>
      </a:spcBef>
      <a:spcAft>
        <a:spcPct val="0"/>
      </a:spcAft>
      <a:defRPr b="1" kern="1200">
        <a:solidFill>
          <a:schemeClr val="tx1"/>
        </a:solidFill>
        <a:latin typeface="Arial" panose="020B0604020202020204" pitchFamily="34" charset="0"/>
        <a:ea typeface="+mn-ea"/>
        <a:cs typeface="+mn-cs"/>
      </a:defRPr>
    </a:lvl4pPr>
    <a:lvl5pPr marL="1828800" algn="r" rtl="0" fontAlgn="base">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3399"/>
    <a:srgbClr val="5F5F5F"/>
    <a:srgbClr val="808080"/>
    <a:srgbClr val="CC0000"/>
    <a:srgbClr val="5EB4B4"/>
    <a:srgbClr val="488FD6"/>
    <a:srgbClr val="86B5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29" autoAdjust="0"/>
    <p:restoredTop sz="94720" autoAdjust="0"/>
  </p:normalViewPr>
  <p:slideViewPr>
    <p:cSldViewPr>
      <p:cViewPr varScale="1">
        <p:scale>
          <a:sx n="101" d="100"/>
          <a:sy n="101" d="100"/>
        </p:scale>
        <p:origin x="200" y="184"/>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2025/7/20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b="0"/>
            </a:lvl1pPr>
          </a:lstStyle>
          <a:p>
            <a:endParaRPr lang="en-US" altLang="zh-CN"/>
          </a:p>
        </p:txBody>
      </p:sp>
      <p:sp>
        <p:nvSpPr>
          <p:cNvPr id="1044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b="0"/>
            </a:lvl1pPr>
          </a:lstStyle>
          <a:p>
            <a:endParaRPr lang="en-US" altLang="zh-CN"/>
          </a:p>
        </p:txBody>
      </p:sp>
      <p:sp>
        <p:nvSpPr>
          <p:cNvPr id="1044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4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b="0"/>
            </a:lvl1pPr>
          </a:lstStyle>
          <a:p>
            <a:endParaRPr lang="en-US" altLang="zh-CN"/>
          </a:p>
        </p:txBody>
      </p:sp>
      <p:sp>
        <p:nvSpPr>
          <p:cNvPr id="1044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b="0"/>
            </a:lvl1pPr>
          </a:lstStyle>
          <a:p>
            <a:fld id="{865FB784-6F92-4A06-818E-F0E0C06F9DA8}"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865FB784-6F92-4A06-818E-F0E0C06F9DA8}" type="slidenum">
              <a:rPr lang="en-US" altLang="zh-CN"/>
              <a:t>2</a:t>
            </a:fld>
            <a:endParaRPr lang="en-US" altLang="zh-CN"/>
          </a:p>
        </p:txBody>
      </p:sp>
    </p:spTree>
    <p:extLst>
      <p:ext uri="{BB962C8B-B14F-4D97-AF65-F5344CB8AC3E}">
        <p14:creationId xmlns:p14="http://schemas.microsoft.com/office/powerpoint/2010/main" val="1514747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971925" y="8831263"/>
            <a:ext cx="3038475" cy="465137"/>
          </a:xfrm>
          <a:prstGeom prst="rect">
            <a:avLst/>
          </a:prstGeom>
          <a:noFill/>
          <a:ln w="9525">
            <a:noFill/>
          </a:ln>
        </p:spPr>
        <p:txBody>
          <a:bodyPr lIns="93170" tIns="46586" rIns="93170" bIns="46586" anchor="b" anchorCtr="0"/>
          <a:lstStyle/>
          <a:p>
            <a:pPr lvl="0" algn="r" defTabSz="932180" eaLnBrk="1" hangingPunct="1">
              <a:spcBef>
                <a:spcPct val="0"/>
              </a:spcBef>
              <a:buChar char="•"/>
            </a:pPr>
            <a:fld id="{9A0DB2DC-4C9A-4742-B13C-FB6460FD3503}" type="slidenum">
              <a:rPr lang="en-US" altLang="en-US" sz="2800" dirty="0">
                <a:latin typeface="Tahoma" panose="020B0604030504040204" pitchFamily="34" charset="0"/>
              </a:rPr>
              <a:t>3</a:t>
            </a:fld>
            <a:endParaRPr lang="en-US" altLang="en-US" sz="2800" dirty="0">
              <a:latin typeface="Tahoma" panose="020B0604030504040204" pitchFamily="34" charset="0"/>
            </a:endParaRPr>
          </a:p>
        </p:txBody>
      </p:sp>
      <p:sp>
        <p:nvSpPr>
          <p:cNvPr id="14339" name="Rectangle 2"/>
          <p:cNvSpPr>
            <a:spLocks noGrp="1" noRot="1" noChangeAspect="1" noTextEdit="1"/>
          </p:cNvSpPr>
          <p:nvPr>
            <p:ph type="sldImg"/>
          </p:nvPr>
        </p:nvSpPr>
        <p:spPr>
          <a:xfrm>
            <a:off x="381000" y="685800"/>
            <a:ext cx="6096000" cy="3429000"/>
          </a:xfrm>
        </p:spPr>
      </p:sp>
      <p:sp>
        <p:nvSpPr>
          <p:cNvPr id="14340" name="Rectangle 3"/>
          <p:cNvSpPr>
            <a:spLocks noGrp="1"/>
          </p:cNvSpPr>
          <p:nvPr>
            <p:ph type="body"/>
          </p:nvPr>
        </p:nvSpPr>
        <p:spPr/>
        <p:txBody>
          <a:bodyPr wrap="square" lIns="93170" tIns="46586" rIns="93170" bIns="46586" anchor="t" anchorCtr="0"/>
          <a:lstStyle/>
          <a:p>
            <a:pPr lvl="0" eaLnBrk="1" hangingPunct="1"/>
            <a:endParaRPr lang="zh-CN" altLang="zh-CN"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eaLnBrk="0" hangingPunct="0">
              <a:defRPr sz="2800">
                <a:solidFill>
                  <a:schemeClr val="tx1"/>
                </a:solidFill>
                <a:latin typeface="Tahoma" panose="020B0604030504040204" pitchFamily="34" charset="0"/>
              </a:defRPr>
            </a:lvl1pPr>
            <a:lvl2pPr marL="742950" indent="-285750" defTabSz="932180" eaLnBrk="0" hangingPunct="0">
              <a:defRPr sz="2800">
                <a:solidFill>
                  <a:schemeClr val="tx1"/>
                </a:solidFill>
                <a:latin typeface="Tahoma" panose="020B0604030504040204" pitchFamily="34" charset="0"/>
              </a:defRPr>
            </a:lvl2pPr>
            <a:lvl3pPr marL="1143000" indent="-228600" defTabSz="932180" eaLnBrk="0" hangingPunct="0">
              <a:defRPr sz="2800">
                <a:solidFill>
                  <a:schemeClr val="tx1"/>
                </a:solidFill>
                <a:latin typeface="Tahoma" panose="020B0604030504040204" pitchFamily="34" charset="0"/>
              </a:defRPr>
            </a:lvl3pPr>
            <a:lvl4pPr marL="1600200" indent="-228600" defTabSz="932180" eaLnBrk="0" hangingPunct="0">
              <a:defRPr sz="2800">
                <a:solidFill>
                  <a:schemeClr val="tx1"/>
                </a:solidFill>
                <a:latin typeface="Tahoma" panose="020B0604030504040204" pitchFamily="34" charset="0"/>
              </a:defRPr>
            </a:lvl4pPr>
            <a:lvl5pPr marL="2057400" indent="-228600" defTabSz="932180" eaLnBrk="0" hangingPunct="0">
              <a:defRPr sz="2800">
                <a:solidFill>
                  <a:schemeClr val="tx1"/>
                </a:solidFill>
                <a:latin typeface="Tahoma" panose="020B0604030504040204" pitchFamily="34" charset="0"/>
              </a:defRPr>
            </a:lvl5pPr>
            <a:lvl6pPr marL="2514600" indent="-228600" defTabSz="93218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6pPr>
            <a:lvl7pPr marL="2971800" indent="-228600" defTabSz="93218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7pPr>
            <a:lvl8pPr marL="3429000" indent="-228600" defTabSz="93218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8pPr>
            <a:lvl9pPr marL="3886200" indent="-228600" defTabSz="93218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9pPr>
          </a:lstStyle>
          <a:p>
            <a:pPr eaLnBrk="1" hangingPunct="1">
              <a:buFont typeface="Arial" panose="020B0604020202020204" pitchFamily="34" charset="0"/>
              <a:buChar char="•"/>
            </a:pPr>
            <a:fld id="{2E39F23B-BC08-4C3F-97BF-D205F534937C}" type="slidenum">
              <a:rPr lang="en-US" altLang="en-US"/>
              <a:t>7</a:t>
            </a:fld>
            <a:endParaRPr lang="en-US" altLang="en-US"/>
          </a:p>
        </p:txBody>
      </p:sp>
      <p:sp>
        <p:nvSpPr>
          <p:cNvPr id="59395" name="Rectangle 2"/>
          <p:cNvSpPr>
            <a:spLocks noGrp="1" noRot="1" noChangeAspect="1" noChangeArrowheads="1" noTextEdit="1"/>
          </p:cNvSpPr>
          <p:nvPr>
            <p:ph type="sldImg" idx="4294967295"/>
          </p:nvPr>
        </p:nvSpPr>
        <p:spPr>
          <a:xfrm>
            <a:off x="381000" y="685800"/>
            <a:ext cx="6096000" cy="3429000"/>
          </a:xfrm>
        </p:spPr>
      </p:sp>
      <p:sp>
        <p:nvSpPr>
          <p:cNvPr id="59396"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p:cNvSpPr>
          <p:nvPr>
            <p:ph type="sldNum" sz="quarter"/>
          </p:nvPr>
        </p:nvSpPr>
        <p:spPr>
          <a:xfrm>
            <a:off x="3971925" y="8831263"/>
            <a:ext cx="3038475" cy="465137"/>
          </a:xfrm>
          <a:prstGeom prst="rect">
            <a:avLst/>
          </a:prstGeom>
          <a:noFill/>
          <a:ln w="9525">
            <a:noFill/>
          </a:ln>
        </p:spPr>
        <p:txBody>
          <a:bodyPr lIns="93170" tIns="46586" rIns="93170" bIns="46586" anchor="b" anchorCtr="0"/>
          <a:lstStyle/>
          <a:p>
            <a:pPr lvl="0" algn="r" defTabSz="932180" eaLnBrk="1" hangingPunct="1">
              <a:buNone/>
            </a:pPr>
            <a:fld id="{9A0DB2DC-4C9A-4742-B13C-FB6460FD3503}" type="slidenum">
              <a:rPr lang="en-US" altLang="zh-CN" sz="1200" dirty="0">
                <a:ea typeface="宋体" panose="02010600030101010101" pitchFamily="2" charset="-122"/>
              </a:rPr>
              <a:t>8</a:t>
            </a:fld>
            <a:endParaRPr lang="en-US" altLang="zh-CN" sz="1200" dirty="0">
              <a:ea typeface="宋体" panose="02010600030101010101" pitchFamily="2" charset="-122"/>
            </a:endParaRPr>
          </a:p>
        </p:txBody>
      </p:sp>
      <p:sp>
        <p:nvSpPr>
          <p:cNvPr id="66563" name="Rectangle 2"/>
          <p:cNvSpPr>
            <a:spLocks noGrp="1" noRot="1" noChangeAspect="1" noTextEdit="1"/>
          </p:cNvSpPr>
          <p:nvPr>
            <p:ph type="sldImg"/>
          </p:nvPr>
        </p:nvSpPr>
        <p:spPr>
          <a:xfrm>
            <a:off x="381000" y="685800"/>
            <a:ext cx="6096000" cy="3429000"/>
          </a:xfrm>
        </p:spPr>
      </p:sp>
      <p:sp>
        <p:nvSpPr>
          <p:cNvPr id="66564" name="Rectangle 3"/>
          <p:cNvSpPr>
            <a:spLocks noGrp="1"/>
          </p:cNvSpPr>
          <p:nvPr>
            <p:ph type="body" idx="1"/>
          </p:nvPr>
        </p:nvSpPr>
        <p:spPr/>
        <p:txBody>
          <a:bodyPr wrap="square" lIns="93170" tIns="46586" rIns="93170" bIns="46586" anchor="t" anchorCtr="0"/>
          <a:lstStyle/>
          <a:p>
            <a:pPr lvl="0" eaLnBrk="1" hangingPunct="1"/>
            <a:endParaRPr lang="zh-CN" altLang="zh-CN"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a:lstStyle/>
          <a:p>
            <a:pPr eaLnBrk="1" hangingPunct="1">
              <a:defRPr/>
            </a:pPr>
            <a:endParaRPr lang="zh-CN" altLang="zh-CN" dirty="0">
              <a:latin typeface="+mn-lt"/>
              <a:ea typeface="微软雅黑" panose="020B0503020204020204" charset="-122"/>
            </a:endParaRPr>
          </a:p>
        </p:txBody>
      </p:sp>
      <p:sp>
        <p:nvSpPr>
          <p:cNvPr id="522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32180">
              <a:defRPr b="1">
                <a:solidFill>
                  <a:schemeClr val="tx1"/>
                </a:solidFill>
                <a:latin typeface="Arial" panose="020B0604020202020204" pitchFamily="34" charset="0"/>
              </a:defRPr>
            </a:lvl1pPr>
            <a:lvl2pPr marL="742950" indent="-285750" algn="r" defTabSz="932180">
              <a:defRPr b="1">
                <a:solidFill>
                  <a:schemeClr val="tx1"/>
                </a:solidFill>
                <a:latin typeface="Arial" panose="020B0604020202020204" pitchFamily="34" charset="0"/>
              </a:defRPr>
            </a:lvl2pPr>
            <a:lvl3pPr marL="1143000" indent="-228600" algn="r" defTabSz="932180">
              <a:defRPr b="1">
                <a:solidFill>
                  <a:schemeClr val="tx1"/>
                </a:solidFill>
                <a:latin typeface="Arial" panose="020B0604020202020204" pitchFamily="34" charset="0"/>
              </a:defRPr>
            </a:lvl3pPr>
            <a:lvl4pPr marL="1600200" indent="-228600" algn="r" defTabSz="932180">
              <a:defRPr b="1">
                <a:solidFill>
                  <a:schemeClr val="tx1"/>
                </a:solidFill>
                <a:latin typeface="Arial" panose="020B0604020202020204" pitchFamily="34" charset="0"/>
              </a:defRPr>
            </a:lvl4pPr>
            <a:lvl5pPr marL="2057400" indent="-228600" algn="r" defTabSz="932180">
              <a:defRPr b="1">
                <a:solidFill>
                  <a:schemeClr val="tx1"/>
                </a:solidFill>
                <a:latin typeface="Arial" panose="020B0604020202020204" pitchFamily="34" charset="0"/>
              </a:defRPr>
            </a:lvl5pPr>
            <a:lvl6pPr marL="2514600" indent="-228600" algn="r" defTabSz="932180" eaLnBrk="0" fontAlgn="base" hangingPunct="0">
              <a:spcBef>
                <a:spcPct val="0"/>
              </a:spcBef>
              <a:spcAft>
                <a:spcPct val="0"/>
              </a:spcAft>
              <a:defRPr b="1">
                <a:solidFill>
                  <a:schemeClr val="tx1"/>
                </a:solidFill>
                <a:latin typeface="Arial" panose="020B0604020202020204" pitchFamily="34" charset="0"/>
              </a:defRPr>
            </a:lvl6pPr>
            <a:lvl7pPr marL="2971800" indent="-228600" algn="r" defTabSz="932180" eaLnBrk="0" fontAlgn="base" hangingPunct="0">
              <a:spcBef>
                <a:spcPct val="0"/>
              </a:spcBef>
              <a:spcAft>
                <a:spcPct val="0"/>
              </a:spcAft>
              <a:defRPr b="1">
                <a:solidFill>
                  <a:schemeClr val="tx1"/>
                </a:solidFill>
                <a:latin typeface="Arial" panose="020B0604020202020204" pitchFamily="34" charset="0"/>
              </a:defRPr>
            </a:lvl7pPr>
            <a:lvl8pPr marL="3429000" indent="-228600" algn="r" defTabSz="932180" eaLnBrk="0" fontAlgn="base" hangingPunct="0">
              <a:spcBef>
                <a:spcPct val="0"/>
              </a:spcBef>
              <a:spcAft>
                <a:spcPct val="0"/>
              </a:spcAft>
              <a:defRPr b="1">
                <a:solidFill>
                  <a:schemeClr val="tx1"/>
                </a:solidFill>
                <a:latin typeface="Arial" panose="020B0604020202020204" pitchFamily="34" charset="0"/>
              </a:defRPr>
            </a:lvl8pPr>
            <a:lvl9pPr marL="3886200" indent="-228600" algn="r" defTabSz="932180" eaLnBrk="0" fontAlgn="base" hangingPunct="0">
              <a:spcBef>
                <a:spcPct val="0"/>
              </a:spcBef>
              <a:spcAft>
                <a:spcPct val="0"/>
              </a:spcAft>
              <a:defRPr b="1">
                <a:solidFill>
                  <a:schemeClr val="tx1"/>
                </a:solidFill>
                <a:latin typeface="Arial" panose="020B0604020202020204" pitchFamily="34" charset="0"/>
              </a:defRPr>
            </a:lvl9pPr>
          </a:lstStyle>
          <a:p>
            <a:fld id="{E7E6134C-38B0-43CC-8256-51A37C6D76C5}" type="slidenum">
              <a:rPr lang="zh-CN" altLang="en-US" b="0" smtClean="0">
                <a:latin typeface="Tahoma" panose="020B0604030504040204" pitchFamily="34" charset="0"/>
              </a:rPr>
              <a:t>31</a:t>
            </a:fld>
            <a:endParaRPr lang="zh-CN" altLang="en-US" b="0">
              <a:latin typeface="Tahom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a:lstStyle/>
          <a:p>
            <a:pPr eaLnBrk="1" hangingPunct="1">
              <a:defRPr/>
            </a:pPr>
            <a:endParaRPr lang="zh-CN" altLang="zh-CN" dirty="0">
              <a:latin typeface="+mn-lt"/>
              <a:ea typeface="微软雅黑" panose="020B0503020204020204" charset="-122"/>
            </a:endParaRPr>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32180">
              <a:defRPr b="1">
                <a:solidFill>
                  <a:schemeClr val="tx1"/>
                </a:solidFill>
                <a:latin typeface="Arial" panose="020B0604020202020204" pitchFamily="34" charset="0"/>
              </a:defRPr>
            </a:lvl1pPr>
            <a:lvl2pPr marL="742950" indent="-285750" algn="r" defTabSz="932180">
              <a:defRPr b="1">
                <a:solidFill>
                  <a:schemeClr val="tx1"/>
                </a:solidFill>
                <a:latin typeface="Arial" panose="020B0604020202020204" pitchFamily="34" charset="0"/>
              </a:defRPr>
            </a:lvl2pPr>
            <a:lvl3pPr marL="1143000" indent="-228600" algn="r" defTabSz="932180">
              <a:defRPr b="1">
                <a:solidFill>
                  <a:schemeClr val="tx1"/>
                </a:solidFill>
                <a:latin typeface="Arial" panose="020B0604020202020204" pitchFamily="34" charset="0"/>
              </a:defRPr>
            </a:lvl3pPr>
            <a:lvl4pPr marL="1600200" indent="-228600" algn="r" defTabSz="932180">
              <a:defRPr b="1">
                <a:solidFill>
                  <a:schemeClr val="tx1"/>
                </a:solidFill>
                <a:latin typeface="Arial" panose="020B0604020202020204" pitchFamily="34" charset="0"/>
              </a:defRPr>
            </a:lvl4pPr>
            <a:lvl5pPr marL="2057400" indent="-228600" algn="r" defTabSz="932180">
              <a:defRPr b="1">
                <a:solidFill>
                  <a:schemeClr val="tx1"/>
                </a:solidFill>
                <a:latin typeface="Arial" panose="020B0604020202020204" pitchFamily="34" charset="0"/>
              </a:defRPr>
            </a:lvl5pPr>
            <a:lvl6pPr marL="2514600" indent="-228600" algn="r" defTabSz="932180" eaLnBrk="0" fontAlgn="base" hangingPunct="0">
              <a:spcBef>
                <a:spcPct val="0"/>
              </a:spcBef>
              <a:spcAft>
                <a:spcPct val="0"/>
              </a:spcAft>
              <a:defRPr b="1">
                <a:solidFill>
                  <a:schemeClr val="tx1"/>
                </a:solidFill>
                <a:latin typeface="Arial" panose="020B0604020202020204" pitchFamily="34" charset="0"/>
              </a:defRPr>
            </a:lvl6pPr>
            <a:lvl7pPr marL="2971800" indent="-228600" algn="r" defTabSz="932180" eaLnBrk="0" fontAlgn="base" hangingPunct="0">
              <a:spcBef>
                <a:spcPct val="0"/>
              </a:spcBef>
              <a:spcAft>
                <a:spcPct val="0"/>
              </a:spcAft>
              <a:defRPr b="1">
                <a:solidFill>
                  <a:schemeClr val="tx1"/>
                </a:solidFill>
                <a:latin typeface="Arial" panose="020B0604020202020204" pitchFamily="34" charset="0"/>
              </a:defRPr>
            </a:lvl7pPr>
            <a:lvl8pPr marL="3429000" indent="-228600" algn="r" defTabSz="932180" eaLnBrk="0" fontAlgn="base" hangingPunct="0">
              <a:spcBef>
                <a:spcPct val="0"/>
              </a:spcBef>
              <a:spcAft>
                <a:spcPct val="0"/>
              </a:spcAft>
              <a:defRPr b="1">
                <a:solidFill>
                  <a:schemeClr val="tx1"/>
                </a:solidFill>
                <a:latin typeface="Arial" panose="020B0604020202020204" pitchFamily="34" charset="0"/>
              </a:defRPr>
            </a:lvl8pPr>
            <a:lvl9pPr marL="3886200" indent="-228600" algn="r" defTabSz="932180" eaLnBrk="0" fontAlgn="base" hangingPunct="0">
              <a:spcBef>
                <a:spcPct val="0"/>
              </a:spcBef>
              <a:spcAft>
                <a:spcPct val="0"/>
              </a:spcAft>
              <a:defRPr b="1">
                <a:solidFill>
                  <a:schemeClr val="tx1"/>
                </a:solidFill>
                <a:latin typeface="Arial" panose="020B0604020202020204" pitchFamily="34" charset="0"/>
              </a:defRPr>
            </a:lvl9pPr>
          </a:lstStyle>
          <a:p>
            <a:fld id="{292565C1-7F7E-4FC7-8605-339DC166ED9A}" type="slidenum">
              <a:rPr lang="zh-CN" altLang="en-US" b="0" smtClean="0">
                <a:latin typeface="Tahoma" panose="020B0604030504040204" pitchFamily="34" charset="0"/>
              </a:rPr>
              <a:t>32</a:t>
            </a:fld>
            <a:endParaRPr lang="zh-CN" altLang="en-US" b="0">
              <a:latin typeface="Tahom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a:lstStyle/>
          <a:p>
            <a:pPr eaLnBrk="1" hangingPunct="1">
              <a:defRPr/>
            </a:pPr>
            <a:endParaRPr lang="zh-CN" altLang="zh-CN" dirty="0">
              <a:latin typeface="+mn-lt"/>
              <a:ea typeface="微软雅黑" panose="020B0503020204020204" charset="-122"/>
            </a:endParaRPr>
          </a:p>
        </p:txBody>
      </p:sp>
      <p:sp>
        <p:nvSpPr>
          <p:cNvPr id="665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defTabSz="932180">
              <a:defRPr b="1">
                <a:solidFill>
                  <a:schemeClr val="tx1"/>
                </a:solidFill>
                <a:latin typeface="Arial" panose="020B0604020202020204" pitchFamily="34" charset="0"/>
              </a:defRPr>
            </a:lvl1pPr>
            <a:lvl2pPr marL="742950" indent="-285750" algn="r" defTabSz="932180">
              <a:defRPr b="1">
                <a:solidFill>
                  <a:schemeClr val="tx1"/>
                </a:solidFill>
                <a:latin typeface="Arial" panose="020B0604020202020204" pitchFamily="34" charset="0"/>
              </a:defRPr>
            </a:lvl2pPr>
            <a:lvl3pPr marL="1143000" indent="-228600" algn="r" defTabSz="932180">
              <a:defRPr b="1">
                <a:solidFill>
                  <a:schemeClr val="tx1"/>
                </a:solidFill>
                <a:latin typeface="Arial" panose="020B0604020202020204" pitchFamily="34" charset="0"/>
              </a:defRPr>
            </a:lvl3pPr>
            <a:lvl4pPr marL="1600200" indent="-228600" algn="r" defTabSz="932180">
              <a:defRPr b="1">
                <a:solidFill>
                  <a:schemeClr val="tx1"/>
                </a:solidFill>
                <a:latin typeface="Arial" panose="020B0604020202020204" pitchFamily="34" charset="0"/>
              </a:defRPr>
            </a:lvl4pPr>
            <a:lvl5pPr marL="2057400" indent="-228600" algn="r" defTabSz="932180">
              <a:defRPr b="1">
                <a:solidFill>
                  <a:schemeClr val="tx1"/>
                </a:solidFill>
                <a:latin typeface="Arial" panose="020B0604020202020204" pitchFamily="34" charset="0"/>
              </a:defRPr>
            </a:lvl5pPr>
            <a:lvl6pPr marL="2514600" indent="-228600" algn="r" defTabSz="932180" eaLnBrk="0" fontAlgn="base" hangingPunct="0">
              <a:spcBef>
                <a:spcPct val="0"/>
              </a:spcBef>
              <a:spcAft>
                <a:spcPct val="0"/>
              </a:spcAft>
              <a:defRPr b="1">
                <a:solidFill>
                  <a:schemeClr val="tx1"/>
                </a:solidFill>
                <a:latin typeface="Arial" panose="020B0604020202020204" pitchFamily="34" charset="0"/>
              </a:defRPr>
            </a:lvl6pPr>
            <a:lvl7pPr marL="2971800" indent="-228600" algn="r" defTabSz="932180" eaLnBrk="0" fontAlgn="base" hangingPunct="0">
              <a:spcBef>
                <a:spcPct val="0"/>
              </a:spcBef>
              <a:spcAft>
                <a:spcPct val="0"/>
              </a:spcAft>
              <a:defRPr b="1">
                <a:solidFill>
                  <a:schemeClr val="tx1"/>
                </a:solidFill>
                <a:latin typeface="Arial" panose="020B0604020202020204" pitchFamily="34" charset="0"/>
              </a:defRPr>
            </a:lvl7pPr>
            <a:lvl8pPr marL="3429000" indent="-228600" algn="r" defTabSz="932180" eaLnBrk="0" fontAlgn="base" hangingPunct="0">
              <a:spcBef>
                <a:spcPct val="0"/>
              </a:spcBef>
              <a:spcAft>
                <a:spcPct val="0"/>
              </a:spcAft>
              <a:defRPr b="1">
                <a:solidFill>
                  <a:schemeClr val="tx1"/>
                </a:solidFill>
                <a:latin typeface="Arial" panose="020B0604020202020204" pitchFamily="34" charset="0"/>
              </a:defRPr>
            </a:lvl8pPr>
            <a:lvl9pPr marL="3886200" indent="-228600" algn="r" defTabSz="932180" eaLnBrk="0" fontAlgn="base" hangingPunct="0">
              <a:spcBef>
                <a:spcPct val="0"/>
              </a:spcBef>
              <a:spcAft>
                <a:spcPct val="0"/>
              </a:spcAft>
              <a:defRPr b="1">
                <a:solidFill>
                  <a:schemeClr val="tx1"/>
                </a:solidFill>
                <a:latin typeface="Arial" panose="020B0604020202020204" pitchFamily="34" charset="0"/>
              </a:defRPr>
            </a:lvl9pPr>
          </a:lstStyle>
          <a:p>
            <a:fld id="{C1E538F6-95CB-419A-9740-82D56E84BDAF}" type="slidenum">
              <a:rPr lang="zh-CN" altLang="en-US" b="0" smtClean="0">
                <a:latin typeface="Tahoma" panose="020B0604030504040204" pitchFamily="34" charset="0"/>
              </a:rPr>
              <a:t>33</a:t>
            </a:fld>
            <a:endParaRPr lang="zh-CN" altLang="en-US" b="0">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52464" y="2143116"/>
            <a:ext cx="10363200" cy="1214446"/>
          </a:xfrm>
        </p:spPr>
        <p:txBody>
          <a:bodyPr/>
          <a:lstStyle>
            <a:lvl1pPr>
              <a:defRPr>
                <a:solidFill>
                  <a:schemeClr val="tx1"/>
                </a:solidFill>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714469" y="4000504"/>
            <a:ext cx="8534400" cy="928694"/>
          </a:xfrm>
          <a:prstGeom prst="rect">
            <a:avLst/>
          </a:prstGeom>
        </p:spPr>
        <p:txBody>
          <a:bodyPr/>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399665" indent="0" algn="ctr">
              <a:buNone/>
              <a:defRPr>
                <a:solidFill>
                  <a:schemeClr val="tx1">
                    <a:tint val="75000"/>
                  </a:schemeClr>
                </a:solidFill>
              </a:defRPr>
            </a:lvl8pPr>
            <a:lvl9pPr marL="2742565" indent="0" algn="ctr">
              <a:buNone/>
              <a:defRPr>
                <a:solidFill>
                  <a:schemeClr val="tx1">
                    <a:tint val="75000"/>
                  </a:schemeClr>
                </a:solidFill>
              </a:defRPr>
            </a:lvl9pPr>
          </a:lstStyle>
          <a:p>
            <a:r>
              <a:rPr lang="zh-CN" altLang="en-US"/>
              <a:t>单击此处编辑母版副标题样式</a:t>
            </a:r>
            <a:endParaRPr lang="zh-CN" altLang="en-US" dirty="0"/>
          </a:p>
        </p:txBody>
      </p:sp>
      <p:pic>
        <p:nvPicPr>
          <p:cNvPr id="6" name="图片 7" descr="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
            <a:ext cx="12192000" cy="980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5" name="矩形 4"/>
          <p:cNvSpPr>
            <a:spLocks noChangeArrowheads="1"/>
          </p:cNvSpPr>
          <p:nvPr/>
        </p:nvSpPr>
        <p:spPr bwMode="auto">
          <a:xfrm>
            <a:off x="20639" y="3099275"/>
            <a:ext cx="12192000" cy="71438"/>
          </a:xfrm>
          <a:prstGeom prst="rect">
            <a:avLst/>
          </a:prstGeom>
          <a:solidFill>
            <a:srgbClr val="1D77C9"/>
          </a:solidFill>
          <a:ln>
            <a:noFill/>
          </a:ln>
        </p:spPr>
        <p:txBody>
          <a:bodyPr lIns="68573" tIns="34286" rIns="68573" bIns="34286"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buFont typeface="Arial" panose="020B0604020202020204" pitchFamily="34" charset="0"/>
              <a:buNone/>
              <a:defRPr/>
            </a:pPr>
            <a:r>
              <a:rPr lang="en-US" sz="2100">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endParaRPr lang="zh-CN" altLang="en-US" sz="2100" b="0">
              <a:solidFill>
                <a:prstClr val="black"/>
              </a:solidFill>
            </a:endParaRPr>
          </a:p>
        </p:txBody>
      </p:sp>
      <p:sp>
        <p:nvSpPr>
          <p:cNvPr id="6" name="矩形 5"/>
          <p:cNvSpPr>
            <a:spLocks noChangeArrowheads="1"/>
          </p:cNvSpPr>
          <p:nvPr/>
        </p:nvSpPr>
        <p:spPr bwMode="auto">
          <a:xfrm>
            <a:off x="20639" y="1743075"/>
            <a:ext cx="12192000" cy="1253877"/>
          </a:xfrm>
          <a:prstGeom prst="rect">
            <a:avLst/>
          </a:prstGeom>
          <a:solidFill>
            <a:srgbClr val="1D77C9"/>
          </a:solidFill>
          <a:ln>
            <a:noFill/>
          </a:ln>
        </p:spPr>
        <p:txBody>
          <a:bodyPr lIns="68573" tIns="34286" rIns="68573" bIns="34286"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buFont typeface="Arial" panose="020B0604020202020204" pitchFamily="34" charset="0"/>
              <a:buNone/>
              <a:defRPr/>
            </a:pPr>
            <a:r>
              <a:rPr lang="en-US" sz="2100">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endParaRPr lang="zh-CN" altLang="en-US" sz="2100" b="0">
              <a:solidFill>
                <a:prstClr val="black"/>
              </a:solidFill>
            </a:endParaRPr>
          </a:p>
        </p:txBody>
      </p:sp>
      <p:sp>
        <p:nvSpPr>
          <p:cNvPr id="2" name="标题 1"/>
          <p:cNvSpPr>
            <a:spLocks noGrp="1"/>
          </p:cNvSpPr>
          <p:nvPr>
            <p:ph type="title"/>
          </p:nvPr>
        </p:nvSpPr>
        <p:spPr>
          <a:xfrm>
            <a:off x="623392" y="1916836"/>
            <a:ext cx="11137237" cy="897235"/>
          </a:xfrm>
        </p:spPr>
        <p:txBody>
          <a:bodyPr/>
          <a:lstStyle>
            <a:lvl1pPr>
              <a:defRPr sz="3000" b="0" baseline="0">
                <a:solidFill>
                  <a:schemeClr val="bg1"/>
                </a:solidFill>
              </a:defRPr>
            </a:lvl1pPr>
          </a:lstStyle>
          <a:p>
            <a:r>
              <a:rPr lang="zh-CN" altLang="en-US"/>
              <a:t>单击此处编辑母版标题样式</a:t>
            </a:r>
          </a:p>
        </p:txBody>
      </p:sp>
      <p:sp>
        <p:nvSpPr>
          <p:cNvPr id="19" name="文本占位符 18"/>
          <p:cNvSpPr>
            <a:spLocks noGrp="1"/>
          </p:cNvSpPr>
          <p:nvPr>
            <p:ph type="body" sz="quarter" idx="12"/>
          </p:nvPr>
        </p:nvSpPr>
        <p:spPr>
          <a:xfrm>
            <a:off x="2363241" y="3473273"/>
            <a:ext cx="7657537" cy="647700"/>
          </a:xfrm>
          <a:prstGeom prst="rect">
            <a:avLst/>
          </a:prstGeom>
        </p:spPr>
        <p:txBody>
          <a:bodyPr/>
          <a:lstStyle>
            <a:lvl1pPr marL="0" indent="0" algn="ctr">
              <a:buNone/>
              <a:defRPr sz="3200" baseline="0">
                <a:solidFill>
                  <a:srgbClr val="FF0000"/>
                </a:solidFill>
              </a:defRPr>
            </a:lvl1pPr>
          </a:lstStyle>
          <a:p>
            <a:pPr lvl="0"/>
            <a:r>
              <a:rPr lang="zh-CN" altLang="en-US"/>
              <a:t>单击此处编辑母版文本样式</a:t>
            </a:r>
          </a:p>
        </p:txBody>
      </p:sp>
    </p:spTree>
  </p:cSld>
  <p:clrMapOvr>
    <a:masterClrMapping/>
  </p:clrMapOvr>
  <p:transition spd="med">
    <p:random/>
  </p:transition>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4" name="图片 7" descr="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
            <a:ext cx="121920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bwMode="auto">
          <a:xfrm>
            <a:off x="0" y="6500836"/>
            <a:ext cx="8001000" cy="214312"/>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path path="circle">
              <a:fillToRect r="100000" b="100000"/>
            </a:path>
            <a:tileRect l="-100000" t="-100000"/>
          </a:gradFill>
          <a:ln w="9525" cap="flat" cmpd="sng" algn="ctr">
            <a:solidFill>
              <a:schemeClr val="bg1"/>
            </a:solidFill>
            <a:prstDash val="solid"/>
            <a:round/>
            <a:headEnd type="none" w="med" len="med"/>
            <a:tailEnd type="none" w="med" len="med"/>
          </a:ln>
          <a:effectLst/>
        </p:spPr>
        <p:txBody>
          <a:bodyPr lIns="68573" tIns="34286" rIns="68573" bIns="34286"/>
          <a:lstStyle/>
          <a:p>
            <a:pPr algn="ctr" fontAlgn="auto">
              <a:spcBef>
                <a:spcPts val="0"/>
              </a:spcBef>
              <a:spcAft>
                <a:spcPts val="0"/>
              </a:spcAft>
              <a:buFont typeface="Arial" panose="020B0604020202020204" pitchFamily="34" charset="0"/>
              <a:buNone/>
              <a:defRPr/>
            </a:pPr>
            <a:endParaRPr lang="zh-CN" altLang="en-US" sz="2100" b="0" dirty="0">
              <a:solidFill>
                <a:prstClr val="black"/>
              </a:solidFill>
              <a:latin typeface="Calibri" panose="020F0502020204030204"/>
            </a:endParaRPr>
          </a:p>
        </p:txBody>
      </p:sp>
      <p:sp>
        <p:nvSpPr>
          <p:cNvPr id="2" name="标题 1"/>
          <p:cNvSpPr>
            <a:spLocks noGrp="1"/>
          </p:cNvSpPr>
          <p:nvPr>
            <p:ph type="title"/>
          </p:nvPr>
        </p:nvSpPr>
        <p:spPr>
          <a:xfrm>
            <a:off x="1583500" y="285728"/>
            <a:ext cx="8798781" cy="500066"/>
          </a:xfrm>
        </p:spPr>
        <p:txBody>
          <a:bodyPr>
            <a:noAutofit/>
          </a:bodyPr>
          <a:lstStyle>
            <a:lvl1pPr>
              <a:defRPr sz="3000" b="1">
                <a:solidFill>
                  <a:schemeClr val="bg1"/>
                </a:solidFill>
              </a:defRPr>
            </a:lvl1pPr>
          </a:lstStyle>
          <a:p>
            <a:r>
              <a:rPr lang="zh-CN" altLang="en-US" dirty="0"/>
              <a:t>单击此处编辑母版标题样式</a:t>
            </a:r>
          </a:p>
        </p:txBody>
      </p:sp>
      <p:sp>
        <p:nvSpPr>
          <p:cNvPr id="3" name="内容占位符 2"/>
          <p:cNvSpPr>
            <a:spLocks noGrp="1"/>
          </p:cNvSpPr>
          <p:nvPr>
            <p:ph idx="1"/>
          </p:nvPr>
        </p:nvSpPr>
        <p:spPr>
          <a:xfrm>
            <a:off x="476211" y="1500177"/>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527381" y="1124747"/>
            <a:ext cx="10972800" cy="4525963"/>
          </a:xfrm>
          <a:prstGeom prst="rect">
            <a:avLst/>
          </a:prstGeom>
        </p:spPr>
        <p:txBody>
          <a:bodyPr/>
          <a:lstStyle>
            <a:lvl1pPr>
              <a:buClr>
                <a:srgbClr val="FF0000"/>
              </a:buClr>
              <a:buFont typeface="Wingdings" panose="05000000000000000000" pitchFamily="2" charset="2"/>
              <a:buChar char="n"/>
              <a:defRPr sz="1950"/>
            </a:lvl1pPr>
            <a:lvl2pPr>
              <a:buClr>
                <a:srgbClr val="660033"/>
              </a:buClr>
              <a:buFont typeface="Wingdings" panose="05000000000000000000" pitchFamily="2" charset="2"/>
              <a:buChar char="Ø"/>
              <a:defRPr sz="1800"/>
            </a:lvl2pPr>
            <a:lvl3pPr>
              <a:buClr>
                <a:srgbClr val="C00000"/>
              </a:buClr>
              <a:buFont typeface="Wingdings" panose="05000000000000000000" pitchFamily="2" charset="2"/>
              <a:buChar char="Ø"/>
              <a:defRPr/>
            </a:lvl3pPr>
          </a:lstStyle>
          <a:p>
            <a:pPr lvl="0"/>
            <a:r>
              <a:rPr lang="zh-CN" altLang="en-US"/>
              <a:t>单击此处编辑母版文本样式</a:t>
            </a:r>
          </a:p>
          <a:p>
            <a:pPr lvl="1"/>
            <a:r>
              <a:rPr lang="zh-CN" altLang="en-US"/>
              <a:t>第二级</a:t>
            </a:r>
          </a:p>
        </p:txBody>
      </p:sp>
      <p:sp>
        <p:nvSpPr>
          <p:cNvPr id="9" name="标题 8"/>
          <p:cNvSpPr>
            <a:spLocks noGrp="1"/>
          </p:cNvSpPr>
          <p:nvPr>
            <p:ph type="title"/>
          </p:nvPr>
        </p:nvSpPr>
        <p:spPr/>
        <p:txBody>
          <a:bodyPr/>
          <a:lstStyle/>
          <a:p>
            <a:r>
              <a:rPr lang="zh-CN" altLang="en-US"/>
              <a:t>单击此处编辑母版标题样式</a:t>
            </a:r>
          </a:p>
        </p:txBody>
      </p:sp>
    </p:spTree>
  </p:cSld>
  <p:clrMapOvr>
    <a:masterClrMapping/>
  </p:clrMapOvr>
  <p:transition spd="med">
    <p:random/>
  </p:transition>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3_标题和内容">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527381" y="1124745"/>
            <a:ext cx="10972800" cy="4525963"/>
          </a:xfrm>
          <a:prstGeom prst="rect">
            <a:avLst/>
          </a:prstGeom>
        </p:spPr>
        <p:txBody>
          <a:bodyPr/>
          <a:lstStyle>
            <a:lvl1pPr>
              <a:buClr>
                <a:srgbClr val="FF0000"/>
              </a:buClr>
              <a:buFont typeface="Wingdings" panose="05000000000000000000" pitchFamily="2" charset="2"/>
              <a:buChar char="n"/>
              <a:defRPr sz="2600"/>
            </a:lvl1pPr>
            <a:lvl2pPr>
              <a:buClr>
                <a:srgbClr val="660033"/>
              </a:buClr>
              <a:buFont typeface="Wingdings" panose="05000000000000000000" pitchFamily="2" charset="2"/>
              <a:buChar char="Ø"/>
              <a:defRPr sz="2400"/>
            </a:lvl2pPr>
            <a:lvl3pPr>
              <a:buClr>
                <a:srgbClr val="C00000"/>
              </a:buClr>
              <a:buFont typeface="Wingdings" panose="05000000000000000000" pitchFamily="2" charset="2"/>
              <a:buChar char="Ø"/>
              <a:defRPr/>
            </a:lvl3pPr>
          </a:lstStyle>
          <a:p>
            <a:pPr lvl="0"/>
            <a:r>
              <a:rPr lang="zh-CN" altLang="en-US" dirty="0"/>
              <a:t>单击此处编辑母版文本样式</a:t>
            </a:r>
          </a:p>
          <a:p>
            <a:pPr lvl="1"/>
            <a:r>
              <a:rPr lang="zh-CN" altLang="en-US" dirty="0"/>
              <a:t>第二级</a:t>
            </a:r>
          </a:p>
        </p:txBody>
      </p:sp>
      <p:sp>
        <p:nvSpPr>
          <p:cNvPr id="9" name="标题 8"/>
          <p:cNvSpPr>
            <a:spLocks noGrp="1"/>
          </p:cNvSpPr>
          <p:nvPr>
            <p:ph type="title"/>
          </p:nvPr>
        </p:nvSpPr>
        <p:spPr/>
        <p:txBody>
          <a:bodyPr/>
          <a:lstStyle/>
          <a:p>
            <a:r>
              <a:rPr lang="zh-CN" altLang="en-US"/>
              <a:t>单击此处编辑母版标题样式</a:t>
            </a: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1524001" y="274640"/>
            <a:ext cx="78105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1" tIns="45715" rIns="91431" bIns="45715" numCol="1" anchor="ctr" anchorCtr="0" compatLnSpc="1"/>
          <a:lstStyle/>
          <a:p>
            <a:pPr lvl="0"/>
            <a:r>
              <a:rPr lang="zh-CN" altLang="en-US"/>
              <a:t>单击此处编辑母版标题样式</a:t>
            </a:r>
          </a:p>
        </p:txBody>
      </p:sp>
      <p:sp>
        <p:nvSpPr>
          <p:cNvPr id="6" name="灯片编号占位符 5"/>
          <p:cNvSpPr>
            <a:spLocks noGrp="1"/>
          </p:cNvSpPr>
          <p:nvPr>
            <p:ph type="sldNum" sz="quarter" idx="4"/>
          </p:nvPr>
        </p:nvSpPr>
        <p:spPr>
          <a:xfrm>
            <a:off x="8737600" y="6356352"/>
            <a:ext cx="2844800" cy="365125"/>
          </a:xfrm>
          <a:prstGeom prst="rect">
            <a:avLst/>
          </a:prstGeom>
        </p:spPr>
        <p:txBody>
          <a:bodyPr vert="horz" wrap="square" lIns="91431" tIns="45715" rIns="91431" bIns="45715" numCol="1" anchor="ctr" anchorCtr="0" compatLnSpc="1"/>
          <a:lstStyle>
            <a:lvl1pPr algn="r" eaLnBrk="0" hangingPunct="0">
              <a:buFont typeface="Arial" panose="020B0604020202020204" pitchFamily="34" charset="0"/>
              <a:buNone/>
              <a:defRPr sz="900" b="0" smtClean="0">
                <a:solidFill>
                  <a:srgbClr val="898989"/>
                </a:solidFill>
                <a:latin typeface="Calibri" panose="020F0502020204030204" pitchFamily="34" charset="0"/>
              </a:defRPr>
            </a:lvl1pPr>
          </a:lstStyle>
          <a:p>
            <a:fld id="{6ACF7D23-951D-4399-9FEA-F8B2DF1A1144}" type="slidenum">
              <a:rPr lang="en-US" altLang="zh-CN" smtClean="0"/>
              <a:t>‹#›</a:t>
            </a:fld>
            <a:endParaRPr lang="en-US" altLang="zh-CN"/>
          </a:p>
        </p:txBody>
      </p:sp>
      <p:sp>
        <p:nvSpPr>
          <p:cNvPr id="2" name="텍스트 개체 틀 1">
            <a:extLst>
              <a:ext uri="{FF2B5EF4-FFF2-40B4-BE49-F238E27FC236}">
                <a16:creationId xmlns:a16="http://schemas.microsoft.com/office/drawing/2014/main" id="{82379FEE-2075-394D-268D-4F74C68141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random/>
  </p:transition>
  <p:hf hdr="0"/>
  <p:txStyles>
    <p:titleStyle>
      <a:lvl1pPr algn="l" rtl="0" eaLnBrk="1" fontAlgn="base" hangingPunct="1">
        <a:spcBef>
          <a:spcPct val="0"/>
        </a:spcBef>
        <a:spcAft>
          <a:spcPct val="0"/>
        </a:spcAft>
        <a:defRPr sz="2700" kern="1200">
          <a:solidFill>
            <a:schemeClr val="bg1"/>
          </a:solidFill>
          <a:latin typeface="+mj-lt"/>
          <a:ea typeface="+mj-ea"/>
          <a:cs typeface="+mj-cs"/>
        </a:defRPr>
      </a:lvl1pPr>
      <a:lvl2pPr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2pPr>
      <a:lvl3pPr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3pPr>
      <a:lvl4pPr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4pPr>
      <a:lvl5pPr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5pPr>
      <a:lvl6pPr marL="342900"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6pPr>
      <a:lvl7pPr marL="685800"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7pPr>
      <a:lvl8pPr marL="1028700"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8pPr>
      <a:lvl9pPr marL="1371600" algn="l" rtl="0" eaLnBrk="1" fontAlgn="base" hangingPunct="1">
        <a:spcBef>
          <a:spcPct val="0"/>
        </a:spcBef>
        <a:spcAft>
          <a:spcPct val="0"/>
        </a:spcAft>
        <a:defRPr sz="2700">
          <a:solidFill>
            <a:schemeClr val="bg1"/>
          </a:solidFill>
          <a:latin typeface="Calibri" panose="020F0502020204030204" pitchFamily="34" charset="0"/>
          <a:ea typeface="宋体" panose="02010600030101010101" pitchFamily="2" charset="-122"/>
        </a:defRPr>
      </a:lvl9pPr>
    </p:titleStyle>
    <p:bodyStyle>
      <a:lvl1pPr marL="255905" indent="-255905"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6260" indent="-213360" algn="l" rtl="0" eaLnBrk="1" fontAlgn="base" hangingPunct="1">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5980" indent="-170180" algn="l" rtl="0" eaLnBrk="1" fontAlgn="base" hangingPunct="1">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198880" indent="-170180" algn="l" rtl="0" eaLnBrk="1" fontAlgn="base" hangingPunct="1">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1780" indent="-170180" algn="l" rtl="0" eaLnBrk="1" fontAlgn="base" hangingPunct="1">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115"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015"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399665" algn="l" defTabSz="685800" rtl="0" eaLnBrk="1" latinLnBrk="0" hangingPunct="1">
        <a:defRPr sz="1350" kern="1200">
          <a:solidFill>
            <a:schemeClr val="tx1"/>
          </a:solidFill>
          <a:latin typeface="+mn-lt"/>
          <a:ea typeface="+mn-ea"/>
          <a:cs typeface="+mn-cs"/>
        </a:defRPr>
      </a:lvl8pPr>
      <a:lvl9pPr marL="274256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4"/>
          <p:cNvSpPr>
            <a:spLocks noGrp="1" noChangeArrowheads="1"/>
          </p:cNvSpPr>
          <p:nvPr>
            <p:ph type="title"/>
          </p:nvPr>
        </p:nvSpPr>
        <p:spPr/>
        <p:txBody>
          <a:bodyPr/>
          <a:lstStyle/>
          <a:p>
            <a:pPr algn="ctr"/>
            <a:r>
              <a:rPr lang="zh-CN" altLang="en-US" sz="4600" b="1" dirty="0">
                <a:ea typeface="宋体" panose="02010600030101010101" pitchFamily="2" charset="-122"/>
              </a:rPr>
              <a:t>高级数据挖掘</a:t>
            </a:r>
            <a:endParaRPr lang="en-US" altLang="zh-CN" sz="4600" b="1" dirty="0">
              <a:ea typeface="宋体" panose="02010600030101010101" pitchFamily="2" charset="-122"/>
            </a:endParaRPr>
          </a:p>
        </p:txBody>
      </p:sp>
      <p:sp>
        <p:nvSpPr>
          <p:cNvPr id="3" name="文本占位符 2"/>
          <p:cNvSpPr>
            <a:spLocks noGrp="1"/>
          </p:cNvSpPr>
          <p:nvPr>
            <p:ph type="body" sz="quarter" idx="12"/>
          </p:nvPr>
        </p:nvSpPr>
        <p:spPr>
          <a:xfrm>
            <a:off x="2363241" y="3717032"/>
            <a:ext cx="7657537" cy="647700"/>
          </a:xfrm>
        </p:spPr>
        <p:txBody>
          <a:bodyPr/>
          <a:lstStyle/>
          <a:p>
            <a:r>
              <a:rPr lang="zh-CN" altLang="en-US" dirty="0">
                <a:solidFill>
                  <a:schemeClr val="tx1"/>
                </a:solidFill>
              </a:rPr>
              <a:t>第一章 概论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55440" y="1124744"/>
            <a:ext cx="10305415" cy="4339623"/>
          </a:xfrm>
          <a:prstGeom prst="rect">
            <a:avLst/>
          </a:prstGeom>
          <a:noFill/>
          <a:ln w="12700" cap="flat">
            <a:noFill/>
            <a:prstDash val="solid"/>
            <a:bevel/>
          </a:ln>
          <a:effectLst/>
        </p:spPr>
        <p:style>
          <a:lnRef idx="0">
            <a:scrgbClr r="0" g="0" b="0"/>
          </a:lnRef>
          <a:fillRef idx="0">
            <a:scrgbClr r="0" g="0" b="0"/>
          </a:fillRef>
          <a:effectRef idx="0">
            <a:scrgbClr r="0" g="0" b="0"/>
          </a:effectRef>
          <a:fontRef idx="none"/>
        </p:style>
        <p:txBody>
          <a:bodyPr spcFirstLastPara="1" wrap="square" lIns="91427" tIns="91427" rIns="91427" bIns="91427" spcCol="38096" anchor="ctr">
            <a:spAutoFit/>
          </a:bodyPr>
          <a:lstStyle/>
          <a:p>
            <a:pPr indent="457200" algn="l" fontAlgn="auto" latinLnBrk="1" hangingPunct="0">
              <a:lnSpc>
                <a:spcPct val="150000"/>
              </a:lnSpc>
              <a:spcBef>
                <a:spcPts val="0"/>
              </a:spcBef>
              <a:spcAft>
                <a:spcPts val="0"/>
              </a:spcAft>
              <a:defRPr/>
            </a:pPr>
            <a:r>
              <a:rPr lang="zh-CN" altLang="zh-CN" sz="2000" b="0" dirty="0">
                <a:solidFill>
                  <a:srgbClr val="C00000"/>
                </a:solidFill>
                <a:latin typeface="+mn-ea"/>
                <a:cs typeface="+mn-ea"/>
              </a:rPr>
              <a:t>知识</a:t>
            </a:r>
            <a:r>
              <a:rPr lang="zh-CN" altLang="zh-CN" sz="2000" b="0" dirty="0">
                <a:latin typeface="+mn-ea"/>
                <a:cs typeface="+mn-ea"/>
              </a:rPr>
              <a:t>是人类对客观世界的观察和了解，是人类对客观世界是什么、为什么、应该怎么做的认知，知识推动人类的进步和发展。人类所作出的正确判断和决策，以及采取正确的行动都是基于智慧和知识。</a:t>
            </a:r>
            <a:endParaRPr lang="en-US" altLang="zh-CN" sz="2000" b="0" dirty="0">
              <a:latin typeface="+mn-ea"/>
              <a:cs typeface="+mn-ea"/>
            </a:endParaRPr>
          </a:p>
          <a:p>
            <a:pPr indent="457200" algn="l" fontAlgn="auto" latinLnBrk="1" hangingPunct="0">
              <a:lnSpc>
                <a:spcPct val="150000"/>
              </a:lnSpc>
              <a:spcBef>
                <a:spcPts val="0"/>
              </a:spcBef>
              <a:spcAft>
                <a:spcPts val="0"/>
              </a:spcAft>
              <a:defRPr/>
            </a:pPr>
            <a:r>
              <a:rPr lang="zh-CN" altLang="zh-CN" sz="2000" b="0" dirty="0">
                <a:solidFill>
                  <a:srgbClr val="C00000"/>
                </a:solidFill>
                <a:latin typeface="+mn-ea"/>
                <a:cs typeface="+mn-ea"/>
              </a:rPr>
              <a:t>数据</a:t>
            </a:r>
            <a:r>
              <a:rPr lang="zh-CN" altLang="zh-CN" sz="2000" b="0" dirty="0">
                <a:latin typeface="+mn-ea"/>
                <a:cs typeface="+mn-ea"/>
              </a:rPr>
              <a:t>是反映客观事物的数字、词语、声音和图像等，是可以进行计算加工的“原料”。数据是对客观事物的数量、属性、位置及其相互关系的抽象表示，适合于保存、传递和处理。</a:t>
            </a:r>
          </a:p>
          <a:p>
            <a:pPr indent="457200" algn="l" fontAlgn="auto" latinLnBrk="1" hangingPunct="0">
              <a:lnSpc>
                <a:spcPct val="150000"/>
              </a:lnSpc>
              <a:spcBef>
                <a:spcPts val="0"/>
              </a:spcBef>
              <a:spcAft>
                <a:spcPts val="0"/>
              </a:spcAft>
              <a:defRPr/>
            </a:pPr>
            <a:endParaRPr lang="zh-CN" altLang="zh-CN" sz="2000" b="0" dirty="0">
              <a:latin typeface="+mn-ea"/>
              <a:cs typeface="+mn-ea"/>
            </a:endParaRPr>
          </a:p>
          <a:p>
            <a:pPr algn="l" fontAlgn="auto" latinLnBrk="1" hangingPunct="0">
              <a:lnSpc>
                <a:spcPct val="150000"/>
              </a:lnSpc>
              <a:spcBef>
                <a:spcPts val="0"/>
              </a:spcBef>
              <a:spcAft>
                <a:spcPts val="0"/>
              </a:spcAft>
              <a:defRPr/>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The Explosive Growth of Data</a:t>
            </a:r>
          </a:p>
          <a:p>
            <a:pPr algn="l" fontAlgn="auto" latinLnBrk="1" hangingPunct="0">
              <a:lnSpc>
                <a:spcPct val="150000"/>
              </a:lnSpc>
              <a:spcBef>
                <a:spcPts val="0"/>
              </a:spcBef>
              <a:spcAft>
                <a:spcPts val="0"/>
              </a:spcAft>
              <a:defRPr/>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 from terabytes to petabytes</a:t>
            </a:r>
            <a:endParaRPr lang="en-US" altLang="zh-CN" sz="2000" b="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charset="-122"/>
            </a:endParaRPr>
          </a:p>
        </p:txBody>
      </p:sp>
      <p:sp>
        <p:nvSpPr>
          <p:cNvPr id="3" name="标题 2"/>
          <p:cNvSpPr>
            <a:spLocks noGrp="1"/>
          </p:cNvSpPr>
          <p:nvPr>
            <p:ph type="title"/>
          </p:nvPr>
        </p:nvSpPr>
        <p:spPr/>
        <p:txBody>
          <a:bodyPr/>
          <a:lstStyle/>
          <a:p>
            <a:r>
              <a:rPr lang="zh-CN" altLang="en-US" dirty="0"/>
              <a:t>数据分析与挖掘简介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数据分析与挖掘简介</a:t>
            </a:r>
            <a:endParaRPr lang="zh-CN" altLang="en-US" dirty="0"/>
          </a:p>
        </p:txBody>
      </p:sp>
      <p:sp>
        <p:nvSpPr>
          <p:cNvPr id="13315" name="Rectangle 3"/>
          <p:cNvSpPr>
            <a:spLocks noGrp="1"/>
          </p:cNvSpPr>
          <p:nvPr>
            <p:ph idx="1"/>
          </p:nvPr>
        </p:nvSpPr>
        <p:spPr>
          <a:xfrm>
            <a:off x="710289" y="1054735"/>
            <a:ext cx="9671992" cy="2302510"/>
          </a:xfrm>
        </p:spPr>
        <p:txBody>
          <a:bodyPr vert="horz" wrap="square" lIns="92066" tIns="46033" rIns="92066" bIns="46033" numCol="1" anchor="t" anchorCtr="0" compatLnSpc="1">
            <a:normAutofit/>
          </a:bodyPr>
          <a:lstStyle/>
          <a:p>
            <a:pPr lvl="2" algn="just" eaLnBrk="1" hangingPunct="1">
              <a:lnSpc>
                <a:spcPct val="130000"/>
              </a:lnSpc>
            </a:pPr>
            <a:r>
              <a:rPr lang="zh-CN" altLang="en-US" dirty="0">
                <a:ea typeface="宋体" panose="02010600030101010101" pitchFamily="2" charset="-122"/>
              </a:rPr>
              <a:t>自动数据收集工具和成熟的数据库技术使得大量的数据被收集，存储在数据库、数据仓库或其他信息库中以待分析。</a:t>
            </a:r>
            <a:endParaRPr lang="en-US" altLang="zh-CN" dirty="0">
              <a:ea typeface="宋体" panose="02010600030101010101" pitchFamily="2" charset="-122"/>
            </a:endParaRPr>
          </a:p>
          <a:p>
            <a:pPr lvl="2" algn="just" eaLnBrk="1" hangingPunct="1">
              <a:lnSpc>
                <a:spcPct val="130000"/>
              </a:lnSpc>
            </a:pPr>
            <a:r>
              <a:rPr lang="zh-CN" altLang="en-US" dirty="0">
                <a:ea typeface="宋体" panose="02010600030101010101" pitchFamily="2" charset="-122"/>
              </a:rPr>
              <a:t>主要的数据来源与领域</a:t>
            </a:r>
            <a:r>
              <a:rPr lang="en-US" altLang="zh-CN" dirty="0">
                <a:ea typeface="宋体" panose="02010600030101010101" pitchFamily="2" charset="-122"/>
              </a:rPr>
              <a:t>:</a:t>
            </a:r>
          </a:p>
          <a:p>
            <a:pPr lvl="2" algn="just" eaLnBrk="1" hangingPunct="1">
              <a:buFont typeface="Wingdings" panose="05000000000000000000" pitchFamily="2" charset="2"/>
              <a:buChar char="Ø"/>
            </a:pPr>
            <a:r>
              <a:rPr lang="en-US" altLang="zh-CN" dirty="0">
                <a:ea typeface="宋体" panose="02010600030101010101" pitchFamily="2" charset="-122"/>
              </a:rPr>
              <a:t> Web, e-commerce, transactions, stocks, … </a:t>
            </a:r>
          </a:p>
          <a:p>
            <a:pPr lvl="2" algn="just" eaLnBrk="1" hangingPunct="1">
              <a:buFont typeface="Wingdings" panose="05000000000000000000" pitchFamily="2" charset="2"/>
              <a:buChar char="Ø"/>
            </a:pPr>
            <a:r>
              <a:rPr lang="en-US" altLang="zh-CN" dirty="0">
                <a:ea typeface="宋体" panose="02010600030101010101" pitchFamily="2" charset="-122"/>
              </a:rPr>
              <a:t> Science: Remote sensing, bioinformatics, scientific simulation, … </a:t>
            </a:r>
          </a:p>
          <a:p>
            <a:pPr lvl="2" algn="just" eaLnBrk="1" hangingPunct="1">
              <a:buFont typeface="Wingdings" panose="05000000000000000000" pitchFamily="2" charset="2"/>
              <a:buChar char="Ø"/>
            </a:pPr>
            <a:r>
              <a:rPr lang="en-US" altLang="zh-CN" dirty="0">
                <a:ea typeface="宋体" panose="02010600030101010101" pitchFamily="2" charset="-122"/>
              </a:rPr>
              <a:t> Society and everyone: news,  YouTube   </a:t>
            </a:r>
          </a:p>
        </p:txBody>
      </p:sp>
      <p:sp>
        <p:nvSpPr>
          <p:cNvPr id="13316" name="Slide Number Placeholder 5"/>
          <p:cNvSpPr txBox="1">
            <a:spLocks noGrp="1"/>
          </p:cNvSpPr>
          <p:nvPr>
            <p:ph type="sldNum" sz="quarter" idx="4294967295"/>
          </p:nvPr>
        </p:nvSpPr>
        <p:spPr>
          <a:xfrm>
            <a:off x="8763000" y="6400800"/>
            <a:ext cx="1905000" cy="457200"/>
          </a:xfrm>
          <a:noFill/>
          <a:ln>
            <a:noFill/>
          </a:ln>
        </p:spPr>
        <p:txBody>
          <a:bodyPr vert="horz" wrap="square" lIns="91431" tIns="45715" rIns="91431" bIns="45715" numCol="1" anchor="ctr" anchorCtr="0" compatLnSpc="1"/>
          <a:lstStyle/>
          <a:p>
            <a:fld id="{9A0DB2DC-4C9A-4742-B13C-FB6460FD3503}" type="slidenum">
              <a:rPr lang="en-US" altLang="en-US" sz="1200" dirty="0"/>
              <a:t>3</a:t>
            </a:fld>
            <a:endParaRPr lang="en-US" altLang="en-US" sz="1200" dirty="0"/>
          </a:p>
        </p:txBody>
      </p:sp>
      <p:sp>
        <p:nvSpPr>
          <p:cNvPr id="3" name="文本框 2"/>
          <p:cNvSpPr txBox="1"/>
          <p:nvPr/>
        </p:nvSpPr>
        <p:spPr>
          <a:xfrm>
            <a:off x="7640825" y="4545617"/>
            <a:ext cx="2741456" cy="369332"/>
          </a:xfrm>
          <a:prstGeom prst="rect">
            <a:avLst/>
          </a:prstGeom>
          <a:noFill/>
        </p:spPr>
        <p:txBody>
          <a:bodyPr wrap="none" rtlCol="0" anchor="t">
            <a:spAutoFit/>
          </a:bodyPr>
          <a:lstStyle/>
          <a:p>
            <a:r>
              <a:rPr lang="zh-CN" altLang="zh-CN" dirty="0">
                <a:solidFill>
                  <a:srgbClr val="FF0000"/>
                </a:solidFill>
                <a:sym typeface="+mn-ea"/>
              </a:rPr>
              <a:t>“数据丰富，信息贫乏”</a:t>
            </a:r>
          </a:p>
        </p:txBody>
      </p:sp>
      <p:pic>
        <p:nvPicPr>
          <p:cNvPr id="12292" name="Picture 4" descr="Image by the author. For the interactive version please visit: datapane.com/lclissa/big-data-2021/">
            <a:extLst>
              <a:ext uri="{FF2B5EF4-FFF2-40B4-BE49-F238E27FC236}">
                <a16:creationId xmlns:a16="http://schemas.microsoft.com/office/drawing/2014/main" id="{DE1B5FB2-89E6-EF4D-ED25-FDFF3AF0A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3500" y="3513952"/>
            <a:ext cx="5447928" cy="28019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数据分析与挖掘简介</a:t>
            </a:r>
          </a:p>
        </p:txBody>
      </p:sp>
      <p:sp>
        <p:nvSpPr>
          <p:cNvPr id="3" name="内容占位符 2"/>
          <p:cNvSpPr>
            <a:spLocks noGrp="1"/>
          </p:cNvSpPr>
          <p:nvPr>
            <p:ph idx="1"/>
          </p:nvPr>
        </p:nvSpPr>
        <p:spPr>
          <a:xfrm>
            <a:off x="1019592" y="1151152"/>
            <a:ext cx="10152816" cy="4876800"/>
          </a:xfrm>
        </p:spPr>
        <p:txBody>
          <a:bodyPr>
            <a:normAutofit/>
          </a:bodyPr>
          <a:lstStyle/>
          <a:p>
            <a:pPr algn="just" latinLnBrk="0">
              <a:lnSpc>
                <a:spcPct val="130000"/>
              </a:lnSpc>
              <a:spcBef>
                <a:spcPts val="600"/>
              </a:spcBef>
              <a:spcAft>
                <a:spcPts val="600"/>
              </a:spcAft>
            </a:pPr>
            <a:r>
              <a:rPr lang="zh-CN" altLang="zh-CN" sz="2000" noProof="0" dirty="0">
                <a:ln>
                  <a:noFill/>
                </a:ln>
                <a:effectLst/>
                <a:uLnTx/>
                <a:uFillTx/>
                <a:latin typeface="+mn-ea"/>
                <a:sym typeface="+mn-ea"/>
              </a:rPr>
              <a:t>面对大量的数据，迫使人们不断</a:t>
            </a:r>
            <a:r>
              <a:rPr lang="zh-CN" altLang="zh-CN" sz="2000" noProof="0" dirty="0">
                <a:ln>
                  <a:noFill/>
                </a:ln>
                <a:solidFill>
                  <a:srgbClr val="C00000"/>
                </a:solidFill>
                <a:effectLst/>
                <a:uLnTx/>
                <a:uFillTx/>
                <a:latin typeface="+mn-ea"/>
                <a:sym typeface="+mn-ea"/>
              </a:rPr>
              <a:t>寻找新的工具，对规律进行探索，为决策提供有价值的信息</a:t>
            </a:r>
            <a:r>
              <a:rPr lang="zh-CN" altLang="zh-CN" sz="2000" noProof="0" dirty="0">
                <a:ln>
                  <a:noFill/>
                </a:ln>
                <a:effectLst/>
                <a:uLnTx/>
                <a:uFillTx/>
                <a:latin typeface="+mn-ea"/>
                <a:sym typeface="+mn-ea"/>
              </a:rPr>
              <a:t>。数据挖掘有助于发现趋势，揭示已知的事实，预测未知的结果。</a:t>
            </a:r>
          </a:p>
          <a:p>
            <a:pPr algn="just" latinLnBrk="0">
              <a:lnSpc>
                <a:spcPct val="130000"/>
              </a:lnSpc>
              <a:spcBef>
                <a:spcPts val="600"/>
              </a:spcBef>
              <a:spcAft>
                <a:spcPts val="600"/>
              </a:spcAft>
            </a:pPr>
            <a:r>
              <a:rPr lang="zh-CN" altLang="zh-CN" sz="2000" dirty="0">
                <a:latin typeface="+mn-ea"/>
                <a:sym typeface="+mn-ea"/>
              </a:rPr>
              <a:t>人们迫切希望能够对海量数据进行分析挖掘，发现并提取隐含在数据中的有价值信息。</a:t>
            </a:r>
            <a:endParaRPr lang="zh-CN" altLang="zh-CN" sz="2000" dirty="0">
              <a:latin typeface="+mn-ea"/>
            </a:endParaRP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4</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vert="horz" wrap="square" lIns="92066" tIns="46033" rIns="92066" bIns="46033" numCol="1" anchor="ctr" anchorCtr="0" compatLnSpc="1">
            <a:noAutofit/>
          </a:bodyPr>
          <a:lstStyle/>
          <a:p>
            <a:pPr eaLnBrk="1" hangingPunct="1"/>
            <a:r>
              <a:rPr lang="en-US" altLang="zh-CN" dirty="0">
                <a:latin typeface="Times New Roman" panose="02020603050405020304" pitchFamily="18" charset="0"/>
                <a:cs typeface="Times New Roman" panose="02020603050405020304" pitchFamily="18" charset="0"/>
              </a:rPr>
              <a:t>Why Data Mining? </a:t>
            </a:r>
          </a:p>
        </p:txBody>
      </p:sp>
      <p:sp>
        <p:nvSpPr>
          <p:cNvPr id="12290" name="内容占位符 2"/>
          <p:cNvSpPr>
            <a:spLocks noGrp="1"/>
          </p:cNvSpPr>
          <p:nvPr>
            <p:ph idx="1"/>
          </p:nvPr>
        </p:nvSpPr>
        <p:spPr>
          <a:xfrm>
            <a:off x="1055440" y="1165860"/>
            <a:ext cx="10267950" cy="4526280"/>
          </a:xfrm>
        </p:spPr>
        <p:txBody>
          <a:bodyPr>
            <a:normAutofit/>
          </a:bodyPr>
          <a:lstStyle/>
          <a:p>
            <a:pPr eaLnBrk="1" hangingPunct="1">
              <a:lnSpc>
                <a:spcPct val="130000"/>
              </a:lnSpc>
            </a:pPr>
            <a:r>
              <a:rPr lang="en-US" altLang="zh-CN" sz="2800" b="1" u="sng" dirty="0">
                <a:solidFill>
                  <a:srgbClr val="C00000"/>
                </a:solidFill>
                <a:latin typeface="Times New Roman" panose="02020603050405020304" pitchFamily="18" charset="0"/>
                <a:cs typeface="Times New Roman" panose="02020603050405020304" pitchFamily="18" charset="0"/>
              </a:rPr>
              <a:t>We are drowning in data, but starving for knowledge!</a:t>
            </a:r>
            <a:r>
              <a:rPr lang="en-US" altLang="zh-CN" sz="2800" b="1" dirty="0">
                <a:solidFill>
                  <a:srgbClr val="C00000"/>
                </a:solidFill>
                <a:latin typeface="Times New Roman" panose="02020603050405020304" pitchFamily="18" charset="0"/>
                <a:cs typeface="Times New Roman" panose="02020603050405020304" pitchFamily="18" charset="0"/>
              </a:rPr>
              <a:t> </a:t>
            </a:r>
          </a:p>
          <a:p>
            <a:pPr eaLnBrk="1" hangingPunct="1">
              <a:lnSpc>
                <a:spcPct val="130000"/>
              </a:lnSpc>
            </a:pPr>
            <a:r>
              <a:rPr lang="en-US" altLang="zh-CN" sz="2800" dirty="0">
                <a:latin typeface="Times New Roman" panose="02020603050405020304" pitchFamily="18" charset="0"/>
                <a:cs typeface="Times New Roman" panose="02020603050405020304" pitchFamily="18" charset="0"/>
              </a:rPr>
              <a:t>“Necessity is the mother of invention”</a:t>
            </a:r>
          </a:p>
          <a:p>
            <a:pPr eaLnBrk="1" hangingPunct="1">
              <a:lnSpc>
                <a:spcPct val="130000"/>
              </a:lnSpc>
              <a:buFont typeface="Arial" panose="020B0604020202020204" pitchFamily="34" charset="0"/>
              <a:buNone/>
            </a:pPr>
            <a:endParaRPr lang="en-US" altLang="zh-CN" sz="2000" b="1" dirty="0">
              <a:cs typeface="Times New Roman" panose="02020603050405020304" pitchFamily="18" charset="0"/>
            </a:endParaRPr>
          </a:p>
          <a:p>
            <a:pPr eaLnBrk="1" hangingPunct="1">
              <a:lnSpc>
                <a:spcPct val="130000"/>
              </a:lnSpc>
              <a:buFont typeface="Arial" panose="020B0604020202020204" pitchFamily="34" charset="0"/>
              <a:buNone/>
            </a:pPr>
            <a:r>
              <a:rPr lang="zh-CN" altLang="en-US" sz="2000" b="1" dirty="0">
                <a:cs typeface="Times New Roman" panose="02020603050405020304" pitchFamily="18" charset="0"/>
              </a:rPr>
              <a:t>解决办法：</a:t>
            </a:r>
            <a:endParaRPr lang="en-US" altLang="zh-CN" sz="2000" b="1" dirty="0">
              <a:cs typeface="Times New Roman" panose="02020603050405020304" pitchFamily="18" charset="0"/>
            </a:endParaRPr>
          </a:p>
          <a:p>
            <a:pPr eaLnBrk="1" hangingPunct="1">
              <a:lnSpc>
                <a:spcPct val="130000"/>
              </a:lnSpc>
            </a:pPr>
            <a:r>
              <a:rPr lang="zh-CN" altLang="en-US" sz="2000" dirty="0">
                <a:cs typeface="Times New Roman" panose="02020603050405020304" pitchFamily="18" charset="0"/>
              </a:rPr>
              <a:t>数据仓库（</a:t>
            </a:r>
            <a:r>
              <a:rPr lang="en-US" altLang="zh-CN" sz="2000" dirty="0">
                <a:cs typeface="Times New Roman" panose="02020603050405020304" pitchFamily="18" charset="0"/>
              </a:rPr>
              <a:t>Data Warehouse</a:t>
            </a:r>
            <a:r>
              <a:rPr lang="zh-CN" altLang="en-US" sz="2000" dirty="0">
                <a:cs typeface="Times New Roman" panose="02020603050405020304" pitchFamily="18" charset="0"/>
              </a:rPr>
              <a:t>）和在线分析处理（</a:t>
            </a:r>
            <a:r>
              <a:rPr lang="en-US" altLang="zh-CN" sz="2000" dirty="0">
                <a:cs typeface="Times New Roman" panose="02020603050405020304" pitchFamily="18" charset="0"/>
              </a:rPr>
              <a:t>OLAP</a:t>
            </a:r>
            <a:r>
              <a:rPr lang="zh-CN" altLang="en-US" sz="2000" dirty="0">
                <a:cs typeface="Times New Roman" panose="02020603050405020304" pitchFamily="18" charset="0"/>
              </a:rPr>
              <a:t>）</a:t>
            </a:r>
            <a:endParaRPr lang="en-US" altLang="zh-CN" sz="2000" dirty="0">
              <a:cs typeface="Times New Roman" panose="02020603050405020304" pitchFamily="18" charset="0"/>
            </a:endParaRPr>
          </a:p>
          <a:p>
            <a:pPr eaLnBrk="1" hangingPunct="1">
              <a:lnSpc>
                <a:spcPct val="130000"/>
              </a:lnSpc>
            </a:pPr>
            <a:r>
              <a:rPr lang="zh-CN" altLang="en-US" sz="2000" dirty="0">
                <a:cs typeface="Times New Roman" panose="02020603050405020304" pitchFamily="18" charset="0"/>
              </a:rPr>
              <a:t>数据挖掘</a:t>
            </a:r>
            <a:r>
              <a:rPr lang="en-US" altLang="zh-CN" sz="2000" dirty="0">
                <a:cs typeface="Times New Roman" panose="02020603050405020304" pitchFamily="18" charset="0"/>
              </a:rPr>
              <a:t>—</a:t>
            </a:r>
            <a:r>
              <a:rPr lang="zh-CN" altLang="en-US" sz="2000" dirty="0">
                <a:cs typeface="Times New Roman" panose="02020603050405020304" pitchFamily="18" charset="0"/>
              </a:rPr>
              <a:t>在大量数据中发现有用的知识、模式、规律、约束等</a:t>
            </a:r>
            <a:endParaRPr lang="en-US" altLang="zh-CN" sz="2000" dirty="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数据挖掘简介</a:t>
            </a:r>
          </a:p>
        </p:txBody>
      </p:sp>
      <p:sp>
        <p:nvSpPr>
          <p:cNvPr id="3" name="内容占位符 2"/>
          <p:cNvSpPr>
            <a:spLocks noGrp="1"/>
          </p:cNvSpPr>
          <p:nvPr>
            <p:ph idx="1"/>
          </p:nvPr>
        </p:nvSpPr>
        <p:spPr>
          <a:xfrm>
            <a:off x="983615" y="1052830"/>
            <a:ext cx="10372090" cy="4876800"/>
          </a:xfrm>
        </p:spPr>
        <p:txBody>
          <a:bodyPr>
            <a:normAutofit/>
          </a:bodyPr>
          <a:lstStyle/>
          <a:p>
            <a:pPr algn="just">
              <a:lnSpc>
                <a:spcPct val="150000"/>
              </a:lnSpc>
            </a:pPr>
            <a:r>
              <a:rPr lang="zh-CN" altLang="zh-CN" sz="2000" dirty="0"/>
              <a:t>数据挖掘（</a:t>
            </a:r>
            <a:r>
              <a:rPr lang="x-none" altLang="zh-CN" sz="2000" dirty="0"/>
              <a:t>Data Mining</a:t>
            </a:r>
            <a:r>
              <a:rPr lang="zh-CN" altLang="zh-CN" sz="2000" dirty="0"/>
              <a:t>）是人工智能和数据库领域研究的热点问题，是指从大量有噪声的、不完全的、模糊和随机的数据中，提取出隐含在其中的、事先不知道但具有潜在利用价值的信息的过程。</a:t>
            </a:r>
            <a:endParaRPr lang="en-US" altLang="zh-CN" sz="2000" dirty="0"/>
          </a:p>
          <a:p>
            <a:pPr algn="just">
              <a:lnSpc>
                <a:spcPct val="150000"/>
              </a:lnSpc>
            </a:pPr>
            <a:r>
              <a:rPr lang="zh-CN" altLang="zh-CN" sz="2000" dirty="0"/>
              <a:t>这个定义包括几层含义：数据必须是真实的、大量的并且含有噪声的；发现的是用户感兴趣的可以接受、理解和运用的知识；仅支持特定的问题，并不要求放之四海而皆准的知识。</a:t>
            </a:r>
            <a:endParaRPr lang="en-US" altLang="zh-CN" sz="2000" dirty="0"/>
          </a:p>
          <a:p>
            <a:pPr algn="just">
              <a:lnSpc>
                <a:spcPct val="150000"/>
              </a:lnSpc>
            </a:pPr>
            <a:r>
              <a:rPr lang="zh-CN" altLang="zh-CN" sz="2000" dirty="0"/>
              <a:t>与数据挖掘的含义类似的还有一些术语如从数据中心挖掘知识、知识提取、数据</a:t>
            </a:r>
            <a:r>
              <a:rPr lang="x-none" altLang="zh-CN" sz="2000" dirty="0"/>
              <a:t>/</a:t>
            </a:r>
            <a:r>
              <a:rPr lang="zh-CN" altLang="zh-CN" sz="2000" dirty="0"/>
              <a:t>模式分析等。</a:t>
            </a:r>
            <a:endParaRPr lang="zh-CN" altLang="en-US" sz="2000"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6</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vert="horz" wrap="square" lIns="92066" tIns="46033" rIns="92066" bIns="46033" numCol="1" anchor="ctr" anchorCtr="0" compatLnSpc="1">
            <a:noAutofit/>
          </a:bodyPr>
          <a:lstStyle/>
          <a:p>
            <a:pPr eaLnBrk="1" hangingPunct="1"/>
            <a:r>
              <a:rPr lang="en-US" altLang="zh-CN"/>
              <a:t>What Is Data Mining?</a:t>
            </a:r>
          </a:p>
        </p:txBody>
      </p:sp>
      <p:sp>
        <p:nvSpPr>
          <p:cNvPr id="1029" name="Rectangle 3"/>
          <p:cNvSpPr>
            <a:spLocks noGrp="1" noChangeArrowheads="1"/>
          </p:cNvSpPr>
          <p:nvPr>
            <p:ph idx="1"/>
          </p:nvPr>
        </p:nvSpPr>
        <p:spPr>
          <a:xfrm>
            <a:off x="623392" y="980728"/>
            <a:ext cx="11089231" cy="4876800"/>
          </a:xfrm>
        </p:spPr>
        <p:txBody>
          <a:bodyPr vert="horz" wrap="square" lIns="92066" tIns="46033" rIns="92066" bIns="46033" numCol="1" anchor="t" anchorCtr="0" compatLnSpc="1">
            <a:normAutofit/>
          </a:bodyPr>
          <a:lstStyle/>
          <a:p>
            <a:pPr marL="0" indent="0" eaLnBrk="1" hangingPunct="1">
              <a:lnSpc>
                <a:spcPts val="3200"/>
              </a:lnSpc>
              <a:buNone/>
              <a:defRPr/>
            </a:pPr>
            <a:r>
              <a:rPr lang="en-US" altLang="zh-CN" sz="2000" b="1" dirty="0"/>
              <a:t>Data mining (knowledge discovery from data) </a:t>
            </a:r>
          </a:p>
          <a:p>
            <a:pPr eaLnBrk="1" hangingPunct="1">
              <a:lnSpc>
                <a:spcPts val="3200"/>
              </a:lnSpc>
              <a:defRPr/>
            </a:pPr>
            <a:r>
              <a:rPr lang="en-US" altLang="zh-CN" sz="2000" dirty="0">
                <a:solidFill>
                  <a:srgbClr val="0000FF"/>
                </a:solidFill>
                <a:latin typeface="楷体_GB2312" pitchFamily="49" charset="-122"/>
                <a:ea typeface="楷体_GB2312" pitchFamily="49" charset="-122"/>
                <a:sym typeface="Arial" panose="020B0604020202020204" pitchFamily="34" charset="0"/>
              </a:rPr>
              <a:t> </a:t>
            </a:r>
            <a:r>
              <a:rPr lang="zh-CN" altLang="en-US" sz="2000" dirty="0">
                <a:latin typeface="宋体" panose="02010600030101010101" pitchFamily="2" charset="-122"/>
                <a:sym typeface="Arial" panose="020B0604020202020204" pitchFamily="34" charset="0"/>
              </a:rPr>
              <a:t>数据挖掘</a:t>
            </a:r>
            <a:r>
              <a:rPr lang="en-US" altLang="zh-CN" sz="2000" dirty="0">
                <a:latin typeface="宋体" panose="02010600030101010101" pitchFamily="2" charset="-122"/>
                <a:sym typeface="Arial" panose="020B0604020202020204" pitchFamily="34" charset="0"/>
              </a:rPr>
              <a:t>--</a:t>
            </a:r>
            <a:r>
              <a:rPr lang="zh-CN" altLang="en-US" sz="2000" dirty="0">
                <a:latin typeface="宋体" panose="02010600030101010101" pitchFamily="2" charset="-122"/>
                <a:sym typeface="Arial" panose="020B0604020202020204" pitchFamily="34" charset="0"/>
              </a:rPr>
              <a:t>从大量数据中寻找其规律的技术，是统计学、数据库技术和人工智能技术的综合。</a:t>
            </a:r>
            <a:endParaRPr lang="zh-CN" altLang="en-US" sz="2000" dirty="0">
              <a:latin typeface="宋体" panose="02010600030101010101" pitchFamily="2" charset="-122"/>
            </a:endParaRPr>
          </a:p>
          <a:p>
            <a:pPr eaLnBrk="1" hangingPunct="1">
              <a:lnSpc>
                <a:spcPts val="3200"/>
              </a:lnSpc>
              <a:defRPr/>
            </a:pPr>
            <a:r>
              <a:rPr lang="en-US" altLang="zh-CN" sz="2000" dirty="0">
                <a:latin typeface="宋体" panose="02010600030101010101" pitchFamily="2" charset="-122"/>
                <a:sym typeface="Arial" panose="020B0604020202020204" pitchFamily="34" charset="0"/>
              </a:rPr>
              <a:t> </a:t>
            </a:r>
            <a:r>
              <a:rPr lang="zh-CN" altLang="en-US" sz="2000" dirty="0">
                <a:latin typeface="宋体" panose="02010600030101010101" pitchFamily="2" charset="-122"/>
                <a:sym typeface="Arial" panose="020B0604020202020204" pitchFamily="34" charset="0"/>
              </a:rPr>
              <a:t>数据挖掘是从数据中自动地抽取模式、关联、变化、异常和有意义的结构</a:t>
            </a:r>
            <a:r>
              <a:rPr lang="zh-CN" altLang="en-US" sz="2000" dirty="0">
                <a:sym typeface="Arial" panose="020B0604020202020204" pitchFamily="34" charset="0"/>
              </a:rPr>
              <a:t>；</a:t>
            </a:r>
            <a:endParaRPr lang="zh-CN" altLang="en-US" sz="2000" dirty="0"/>
          </a:p>
          <a:p>
            <a:pPr eaLnBrk="1" hangingPunct="1">
              <a:lnSpc>
                <a:spcPts val="3200"/>
              </a:lnSpc>
              <a:defRPr/>
            </a:pPr>
            <a:r>
              <a:rPr lang="en-US" altLang="zh-CN" sz="2000" dirty="0">
                <a:latin typeface="宋体" panose="02010600030101010101" pitchFamily="2" charset="-122"/>
                <a:sym typeface="Arial" panose="020B0604020202020204" pitchFamily="34" charset="0"/>
              </a:rPr>
              <a:t> </a:t>
            </a:r>
            <a:r>
              <a:rPr lang="zh-CN" altLang="en-US" sz="2000" dirty="0">
                <a:latin typeface="宋体" panose="02010600030101010101" pitchFamily="2" charset="-122"/>
                <a:sym typeface="Arial" panose="020B0604020202020204" pitchFamily="34" charset="0"/>
              </a:rPr>
              <a:t>数据挖掘大部分的价值在于利用数据挖掘技术改善预测模型</a:t>
            </a:r>
            <a:r>
              <a:rPr lang="zh-CN" altLang="en-US" sz="2000" dirty="0">
                <a:sym typeface="Arial" panose="020B0604020202020204" pitchFamily="34" charset="0"/>
              </a:rPr>
              <a:t>。</a:t>
            </a:r>
            <a:endParaRPr lang="en-US" altLang="zh-CN" sz="2000" dirty="0">
              <a:sym typeface="Arial" panose="020B0604020202020204" pitchFamily="34" charset="0"/>
            </a:endParaRPr>
          </a:p>
          <a:p>
            <a:pPr marL="0" indent="0" eaLnBrk="1" hangingPunct="1">
              <a:lnSpc>
                <a:spcPts val="3200"/>
              </a:lnSpc>
              <a:buNone/>
              <a:defRPr/>
            </a:pPr>
            <a:endParaRPr lang="zh-CN" altLang="en-US" sz="2000" dirty="0"/>
          </a:p>
          <a:p>
            <a:pPr marL="0" indent="0" eaLnBrk="1" hangingPunct="1">
              <a:lnSpc>
                <a:spcPts val="3200"/>
              </a:lnSpc>
              <a:buNone/>
              <a:defRPr/>
            </a:pPr>
            <a:r>
              <a:rPr lang="en-US" altLang="zh-CN" sz="2000" b="1" dirty="0"/>
              <a:t>Alternative names</a:t>
            </a:r>
          </a:p>
          <a:p>
            <a:pPr marL="0" indent="0" eaLnBrk="1" hangingPunct="1">
              <a:lnSpc>
                <a:spcPts val="3200"/>
              </a:lnSpc>
              <a:buNone/>
              <a:defRPr/>
            </a:pPr>
            <a:r>
              <a:rPr lang="en-US" altLang="zh-CN" sz="2000" dirty="0">
                <a:latin typeface="Times New Roman" panose="02020603050405020304" pitchFamily="18" charset="0"/>
                <a:cs typeface="Times New Roman" panose="02020603050405020304" pitchFamily="18" charset="0"/>
              </a:rPr>
              <a:t>Knowledge discovery (mining) in databases (KDD), knowledge extraction, data/pattern analysis, data archeology, data dredging, information harvesting, business intelligence, etc.</a:t>
            </a:r>
          </a:p>
        </p:txBody>
      </p:sp>
      <p:sp>
        <p:nvSpPr>
          <p:cNvPr id="27649" name="Slide Number Placeholder 5"/>
          <p:cNvSpPr>
            <a:spLocks noGrp="1" noChangeArrowheads="1"/>
          </p:cNvSpPr>
          <p:nvPr>
            <p:ph type="sldNum" sz="quarter" idx="4294967295"/>
          </p:nvPr>
        </p:nvSpPr>
        <p:spPr>
          <a:xfrm>
            <a:off x="8534400" y="6461126"/>
            <a:ext cx="2133600" cy="244475"/>
          </a:xfrm>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defRPr>
            </a:lvl9pPr>
          </a:lstStyle>
          <a:p>
            <a:fld id="{581A7808-30F9-49A3-8D5A-CAC5D9C9B295}" type="slidenum">
              <a:rPr lang="en-US" altLang="en-US" sz="1200">
                <a:solidFill>
                  <a:srgbClr val="898989"/>
                </a:solidFill>
                <a:latin typeface="Calibri" panose="020F0502020204030204" pitchFamily="34" charset="0"/>
              </a:rPr>
              <a:t>7</a:t>
            </a:fld>
            <a:endParaRPr lang="en-US" altLang="en-US" sz="1200">
              <a:solidFill>
                <a:srgbClr val="898989"/>
              </a:solidFill>
              <a:latin typeface="Calibri" panose="020F0502020204030204" pitchFamily="34" charset="0"/>
            </a:endParaRPr>
          </a:p>
        </p:txBody>
      </p:sp>
      <p:graphicFrame>
        <p:nvGraphicFramePr>
          <p:cNvPr id="1026" name="Object 2048"/>
          <p:cNvGraphicFramePr>
            <a:graphicFrameLocks noChangeAspect="1"/>
          </p:cNvGraphicFramePr>
          <p:nvPr>
            <p:extLst>
              <p:ext uri="{D42A27DB-BD31-4B8C-83A1-F6EECF244321}">
                <p14:modId xmlns:p14="http://schemas.microsoft.com/office/powerpoint/2010/main" val="2256615514"/>
              </p:ext>
            </p:extLst>
          </p:nvPr>
        </p:nvGraphicFramePr>
        <p:xfrm>
          <a:off x="9453017" y="4429935"/>
          <a:ext cx="1214983" cy="1447337"/>
        </p:xfrm>
        <a:graphic>
          <a:graphicData uri="http://schemas.openxmlformats.org/presentationml/2006/ole">
            <mc:AlternateContent xmlns:mc="http://schemas.openxmlformats.org/markup-compatibility/2006">
              <mc:Choice xmlns:v="urn:schemas-microsoft-com:vml" Requires="v">
                <p:oleObj r:id="rId3" imgW="1089025" imgH="1174750" progId="MS_ClipArt_Gallery.2">
                  <p:embed/>
                </p:oleObj>
              </mc:Choice>
              <mc:Fallback>
                <p:oleObj r:id="rId3" imgW="1089025" imgH="1174750" progId="MS_ClipArt_Gallery.2">
                  <p:embed/>
                  <p:pic>
                    <p:nvPicPr>
                      <p:cNvPr id="0" name="图片 20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3017" y="4429935"/>
                        <a:ext cx="1214983" cy="1447337"/>
                      </a:xfrm>
                      <a:prstGeom prst="rect">
                        <a:avLst/>
                      </a:prstGeom>
                      <a:noFill/>
                      <a:ln>
                        <a:noFill/>
                      </a:ln>
                    </p:spPr>
                  </p:pic>
                </p:oleObj>
              </mc:Fallback>
            </mc:AlternateContent>
          </a:graphicData>
        </a:graphic>
      </p:graphicFrame>
      <p:graphicFrame>
        <p:nvGraphicFramePr>
          <p:cNvPr id="1027" name="Object 2049"/>
          <p:cNvGraphicFramePr>
            <a:graphicFrameLocks noChangeAspect="1"/>
          </p:cNvGraphicFramePr>
          <p:nvPr>
            <p:extLst>
              <p:ext uri="{D42A27DB-BD31-4B8C-83A1-F6EECF244321}">
                <p14:modId xmlns:p14="http://schemas.microsoft.com/office/powerpoint/2010/main" val="2721587835"/>
              </p:ext>
            </p:extLst>
          </p:nvPr>
        </p:nvGraphicFramePr>
        <p:xfrm>
          <a:off x="7247273" y="5385580"/>
          <a:ext cx="1287127" cy="943893"/>
        </p:xfrm>
        <a:graphic>
          <a:graphicData uri="http://schemas.openxmlformats.org/presentationml/2006/ole">
            <mc:AlternateContent xmlns:mc="http://schemas.openxmlformats.org/markup-compatibility/2006">
              <mc:Choice xmlns:v="urn:schemas-microsoft-com:vml" Requires="v">
                <p:oleObj r:id="rId5" imgW="4582795" imgH="3359150" progId="MS_ClipArt_Gallery.2">
                  <p:embed/>
                </p:oleObj>
              </mc:Choice>
              <mc:Fallback>
                <p:oleObj r:id="rId5" imgW="4582795" imgH="3359150" progId="MS_ClipArt_Gallery.2">
                  <p:embed/>
                  <p:pic>
                    <p:nvPicPr>
                      <p:cNvPr id="0" name="图片 20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7273" y="5385580"/>
                        <a:ext cx="1287127" cy="943893"/>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vert="horz" wrap="square" lIns="92075" tIns="46038" rIns="92075" bIns="46038" numCol="1" anchor="ctr" anchorCtr="0" compatLnSpc="1">
            <a:noAutofit/>
          </a:bodyPr>
          <a:lstStyle/>
          <a:p>
            <a:pPr eaLnBrk="1" hangingPunct="1"/>
            <a:r>
              <a:rPr lang="zh-CN" altLang="en-US" dirty="0">
                <a:sym typeface="+mn-ea"/>
              </a:rPr>
              <a:t>数据挖掘简介</a:t>
            </a:r>
            <a:endParaRPr lang="en-US" altLang="zh-CN" kern="1200" dirty="0">
              <a:latin typeface="+mj-lt"/>
              <a:ea typeface="宋体" panose="02010600030101010101" pitchFamily="2" charset="-122"/>
              <a:cs typeface="+mj-cs"/>
            </a:endParaRPr>
          </a:p>
        </p:txBody>
      </p:sp>
      <p:sp>
        <p:nvSpPr>
          <p:cNvPr id="21519" name="Rectangle 49"/>
          <p:cNvSpPr>
            <a:spLocks noGrp="1"/>
          </p:cNvSpPr>
          <p:nvPr>
            <p:ph idx="1"/>
          </p:nvPr>
        </p:nvSpPr>
        <p:spPr>
          <a:xfrm>
            <a:off x="1108090" y="5514126"/>
            <a:ext cx="10247630" cy="502920"/>
          </a:xfrm>
        </p:spPr>
        <p:txBody>
          <a:bodyPr vert="horz" wrap="square" lIns="92075" tIns="46038" rIns="92075" bIns="46038" numCol="1" anchor="t" anchorCtr="0" compatLnSpc="1">
            <a:normAutofit lnSpcReduction="10000"/>
          </a:bodyPr>
          <a:lstStyle/>
          <a:p>
            <a:pPr eaLnBrk="1" hangingPunct="1">
              <a:lnSpc>
                <a:spcPct val="130000"/>
              </a:lnSpc>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This is a view from typical machine learning and statistics communities</a:t>
            </a:r>
          </a:p>
        </p:txBody>
      </p:sp>
      <p:sp>
        <p:nvSpPr>
          <p:cNvPr id="21507" name="Line 4"/>
          <p:cNvSpPr/>
          <p:nvPr/>
        </p:nvSpPr>
        <p:spPr>
          <a:xfrm flipV="1">
            <a:off x="3038490" y="2142911"/>
            <a:ext cx="381000" cy="0"/>
          </a:xfrm>
          <a:prstGeom prst="line">
            <a:avLst/>
          </a:prstGeom>
          <a:ln w="38100" cap="flat" cmpd="sng">
            <a:solidFill>
              <a:schemeClr val="tx1"/>
            </a:solidFill>
            <a:prstDash val="solid"/>
            <a:headEnd type="none" w="sm" len="sm"/>
            <a:tailEnd type="arrow" w="med" len="med"/>
          </a:ln>
        </p:spPr>
      </p:sp>
      <p:sp>
        <p:nvSpPr>
          <p:cNvPr id="21508" name="Line 5"/>
          <p:cNvSpPr/>
          <p:nvPr/>
        </p:nvSpPr>
        <p:spPr>
          <a:xfrm flipV="1">
            <a:off x="8067690" y="2142911"/>
            <a:ext cx="457200" cy="0"/>
          </a:xfrm>
          <a:prstGeom prst="line">
            <a:avLst/>
          </a:prstGeom>
          <a:ln w="38100" cap="flat" cmpd="sng">
            <a:solidFill>
              <a:schemeClr val="tx1"/>
            </a:solidFill>
            <a:prstDash val="solid"/>
            <a:headEnd type="none" w="sm" len="sm"/>
            <a:tailEnd type="arrow" w="med" len="med"/>
          </a:ln>
        </p:spPr>
      </p:sp>
      <p:sp>
        <p:nvSpPr>
          <p:cNvPr id="21509" name="Text Box 17"/>
          <p:cNvSpPr txBox="1"/>
          <p:nvPr/>
        </p:nvSpPr>
        <p:spPr>
          <a:xfrm>
            <a:off x="1591326" y="1931774"/>
            <a:ext cx="1434465" cy="368300"/>
          </a:xfrm>
          <a:prstGeom prst="rect">
            <a:avLst/>
          </a:prstGeom>
          <a:noFill/>
          <a:ln w="12700">
            <a:noFill/>
          </a:ln>
        </p:spPr>
        <p:txBody>
          <a:bodyPr wrap="none">
            <a:spAutoFit/>
          </a:bodyPr>
          <a:lstStyle/>
          <a:p>
            <a:r>
              <a:rPr lang="en-US" altLang="zh-CN" dirty="0">
                <a:latin typeface="Tahoma" panose="020B0604030504040204" pitchFamily="34" charset="0"/>
                <a:ea typeface="宋体" panose="02010600030101010101" pitchFamily="2" charset="-122"/>
              </a:rPr>
              <a:t>Input Data</a:t>
            </a:r>
            <a:endParaRPr lang="en-US" altLang="zh-CN" sz="1600" dirty="0">
              <a:latin typeface="Tahoma" panose="020B0604030504040204" pitchFamily="34" charset="0"/>
              <a:ea typeface="宋体" panose="02010600030101010101" pitchFamily="2" charset="-122"/>
            </a:endParaRPr>
          </a:p>
        </p:txBody>
      </p:sp>
      <p:sp>
        <p:nvSpPr>
          <p:cNvPr id="21510" name="Rectangle 21"/>
          <p:cNvSpPr/>
          <p:nvPr/>
        </p:nvSpPr>
        <p:spPr>
          <a:xfrm>
            <a:off x="3495690" y="1761911"/>
            <a:ext cx="914400" cy="1066800"/>
          </a:xfrm>
          <a:prstGeom prst="rect">
            <a:avLst/>
          </a:prstGeom>
          <a:solidFill>
            <a:srgbClr val="00CC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CC66"/>
            </a:extrusionClr>
          </a:sp3d>
        </p:spPr>
        <p:txBody>
          <a:bodyPr wrap="none" anchor="ctr" anchorCtr="0">
            <a:flatTx/>
          </a:bodyPr>
          <a:lstStyle/>
          <a:p>
            <a:endParaRPr lang="zh-CN" altLang="zh-CN" dirty="0">
              <a:latin typeface="Tahoma" panose="020B0604030504040204" pitchFamily="34" charset="0"/>
              <a:ea typeface="宋体" panose="02010600030101010101" pitchFamily="2" charset="-122"/>
            </a:endParaRPr>
          </a:p>
        </p:txBody>
      </p:sp>
      <p:sp>
        <p:nvSpPr>
          <p:cNvPr id="21511" name="Rectangle 22"/>
          <p:cNvSpPr/>
          <p:nvPr/>
        </p:nvSpPr>
        <p:spPr>
          <a:xfrm>
            <a:off x="5172090" y="1761911"/>
            <a:ext cx="914400" cy="1066800"/>
          </a:xfrm>
          <a:prstGeom prst="rect">
            <a:avLst/>
          </a:prstGeom>
          <a:solidFill>
            <a:srgbClr val="00CC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CC66"/>
            </a:extrusionClr>
          </a:sp3d>
        </p:spPr>
        <p:txBody>
          <a:bodyPr wrap="none" anchor="ctr" anchorCtr="0">
            <a:flatTx/>
          </a:bodyPr>
          <a:lstStyle/>
          <a:p>
            <a:endParaRPr lang="zh-CN" altLang="zh-CN" dirty="0">
              <a:latin typeface="Tahoma" panose="020B0604030504040204" pitchFamily="34" charset="0"/>
              <a:ea typeface="宋体" panose="02010600030101010101" pitchFamily="2" charset="-122"/>
            </a:endParaRPr>
          </a:p>
        </p:txBody>
      </p:sp>
      <p:sp>
        <p:nvSpPr>
          <p:cNvPr id="21512" name="WordArt 29"/>
          <p:cNvSpPr>
            <a:spLocks noTextEdit="1"/>
          </p:cNvSpPr>
          <p:nvPr/>
        </p:nvSpPr>
        <p:spPr>
          <a:xfrm rot="823813">
            <a:off x="8601091" y="1457111"/>
            <a:ext cx="1743075" cy="1295400"/>
          </a:xfrm>
          <a:prstGeom prst="rect">
            <a:avLst/>
          </a:prstGeom>
        </p:spPr>
        <p:txBody>
          <a:bodyPr wrap="none" fromWordArt="1">
            <a:prstTxWarp prst="textCascadeUp">
              <a:avLst>
                <a:gd name="adj" fmla="val 44444"/>
              </a:avLst>
            </a:prstTxWarp>
            <a:normAutofit lnSpcReduction="10000"/>
            <a:scene3d>
              <a:camera prst="legacyPerspectiveFront">
                <a:rot lat="20520000" lon="1080000" rev="0"/>
              </a:camera>
              <a:lightRig rig="legacyHarsh2" dir="b"/>
            </a:scene3d>
            <a:sp3d extrusionH="430200" prstMaterial="legacyMatte">
              <a:extrusionClr>
                <a:srgbClr val="FF6600"/>
              </a:extrusionClr>
            </a:sp3d>
          </a:bodyPr>
          <a:lstStyle/>
          <a:p>
            <a:pPr algn="ctr"/>
            <a:r>
              <a:rPr lang="zh-CN" altLang="en-US" sz="2800">
                <a:gradFill rotWithShape="1">
                  <a:gsLst>
                    <a:gs pos="0">
                      <a:srgbClr val="FFE701"/>
                    </a:gs>
                    <a:gs pos="100000">
                      <a:srgbClr val="FE3E02"/>
                    </a:gs>
                  </a:gsLst>
                  <a:lin ang="4560000" scaled="1"/>
                  <a:tileRect/>
                </a:gradFill>
                <a:latin typeface="Impact" panose="020B0806030902050204" charset="0"/>
                <a:ea typeface="Impact" panose="020B0806030902050204" charset="0"/>
              </a:rPr>
              <a:t>Pattern</a:t>
            </a:r>
          </a:p>
          <a:p>
            <a:pPr algn="ctr"/>
            <a:r>
              <a:rPr lang="zh-CN" altLang="en-US" sz="2800">
                <a:gradFill rotWithShape="1">
                  <a:gsLst>
                    <a:gs pos="0">
                      <a:srgbClr val="FFE701"/>
                    </a:gs>
                    <a:gs pos="100000">
                      <a:srgbClr val="FE3E02"/>
                    </a:gs>
                  </a:gsLst>
                  <a:lin ang="4560000" scaled="1"/>
                  <a:tileRect/>
                </a:gradFill>
                <a:latin typeface="Impact" panose="020B0806030902050204" charset="0"/>
                <a:ea typeface="Impact" panose="020B0806030902050204" charset="0"/>
              </a:rPr>
              <a:t>Information</a:t>
            </a:r>
          </a:p>
          <a:p>
            <a:pPr algn="ctr"/>
            <a:r>
              <a:rPr lang="zh-CN" altLang="en-US" sz="2800">
                <a:gradFill rotWithShape="1">
                  <a:gsLst>
                    <a:gs pos="0">
                      <a:srgbClr val="FFE701"/>
                    </a:gs>
                    <a:gs pos="100000">
                      <a:srgbClr val="FE3E02"/>
                    </a:gs>
                  </a:gsLst>
                  <a:lin ang="4560000" scaled="1"/>
                  <a:tileRect/>
                </a:gradFill>
                <a:latin typeface="Impact" panose="020B0806030902050204" charset="0"/>
                <a:ea typeface="Impact" panose="020B0806030902050204" charset="0"/>
              </a:rPr>
              <a:t>Knowledge</a:t>
            </a:r>
          </a:p>
        </p:txBody>
      </p:sp>
      <p:sp>
        <p:nvSpPr>
          <p:cNvPr id="21513" name="Text Box 32"/>
          <p:cNvSpPr txBox="1"/>
          <p:nvPr/>
        </p:nvSpPr>
        <p:spPr>
          <a:xfrm>
            <a:off x="5019690" y="1838112"/>
            <a:ext cx="1295400" cy="706755"/>
          </a:xfrm>
          <a:prstGeom prst="rect">
            <a:avLst/>
          </a:prstGeom>
          <a:noFill/>
          <a:ln w="12700">
            <a:noFill/>
          </a:ln>
        </p:spPr>
        <p:txBody>
          <a:bodyPr>
            <a:spAutoFit/>
          </a:bodyPr>
          <a:lstStyle/>
          <a:p>
            <a:pPr algn="ctr"/>
            <a:r>
              <a:rPr lang="en-US" altLang="zh-CN" sz="2000" dirty="0">
                <a:solidFill>
                  <a:schemeClr val="hlink"/>
                </a:solidFill>
                <a:latin typeface="Tahoma" panose="020B0604030504040204" pitchFamily="34" charset="0"/>
                <a:ea typeface="宋体" panose="02010600030101010101" pitchFamily="2" charset="-122"/>
              </a:rPr>
              <a:t>Data Mining</a:t>
            </a:r>
          </a:p>
        </p:txBody>
      </p:sp>
      <p:sp>
        <p:nvSpPr>
          <p:cNvPr id="21514" name="Text Box 44"/>
          <p:cNvSpPr txBox="1"/>
          <p:nvPr/>
        </p:nvSpPr>
        <p:spPr>
          <a:xfrm>
            <a:off x="3267090" y="1930186"/>
            <a:ext cx="1447800" cy="521970"/>
          </a:xfrm>
          <a:prstGeom prst="rect">
            <a:avLst/>
          </a:prstGeom>
          <a:noFill/>
          <a:ln w="9525">
            <a:noFill/>
          </a:ln>
        </p:spPr>
        <p:txBody>
          <a:bodyPr>
            <a:spAutoFit/>
          </a:bodyPr>
          <a:lstStyle/>
          <a:p>
            <a:pPr algn="ctr">
              <a:spcBef>
                <a:spcPct val="50000"/>
              </a:spcBef>
            </a:pPr>
            <a:r>
              <a:rPr lang="en-US" altLang="zh-CN" sz="1400" dirty="0">
                <a:latin typeface="Tahoma" panose="020B0604030504040204" pitchFamily="34" charset="0"/>
                <a:ea typeface="宋体" panose="02010600030101010101" pitchFamily="2" charset="-122"/>
              </a:rPr>
              <a:t>Data Pre-Processing</a:t>
            </a:r>
          </a:p>
        </p:txBody>
      </p:sp>
      <p:sp>
        <p:nvSpPr>
          <p:cNvPr id="21515" name="Line 45"/>
          <p:cNvSpPr/>
          <p:nvPr/>
        </p:nvSpPr>
        <p:spPr>
          <a:xfrm flipV="1">
            <a:off x="4638690" y="2142911"/>
            <a:ext cx="381000" cy="0"/>
          </a:xfrm>
          <a:prstGeom prst="line">
            <a:avLst/>
          </a:prstGeom>
          <a:ln w="38100" cap="flat" cmpd="sng">
            <a:solidFill>
              <a:schemeClr val="tx1"/>
            </a:solidFill>
            <a:prstDash val="solid"/>
            <a:headEnd type="none" w="sm" len="sm"/>
            <a:tailEnd type="arrow" w="med" len="med"/>
          </a:ln>
        </p:spPr>
      </p:sp>
      <p:sp>
        <p:nvSpPr>
          <p:cNvPr id="21516" name="Line 46"/>
          <p:cNvSpPr/>
          <p:nvPr/>
        </p:nvSpPr>
        <p:spPr>
          <a:xfrm flipV="1">
            <a:off x="6391290" y="2142911"/>
            <a:ext cx="381000" cy="0"/>
          </a:xfrm>
          <a:prstGeom prst="line">
            <a:avLst/>
          </a:prstGeom>
          <a:ln w="38100" cap="flat" cmpd="sng">
            <a:solidFill>
              <a:schemeClr val="tx1"/>
            </a:solidFill>
            <a:prstDash val="solid"/>
            <a:headEnd type="none" w="sm" len="sm"/>
            <a:tailEnd type="arrow" w="med" len="med"/>
          </a:ln>
        </p:spPr>
      </p:sp>
      <p:sp>
        <p:nvSpPr>
          <p:cNvPr id="21517" name="Rectangle 47"/>
          <p:cNvSpPr/>
          <p:nvPr/>
        </p:nvSpPr>
        <p:spPr>
          <a:xfrm>
            <a:off x="6924690" y="1761911"/>
            <a:ext cx="990600" cy="1066800"/>
          </a:xfrm>
          <a:prstGeom prst="rect">
            <a:avLst/>
          </a:prstGeom>
          <a:solidFill>
            <a:srgbClr val="00CC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CC66"/>
            </a:extrusionClr>
          </a:sp3d>
        </p:spPr>
        <p:txBody>
          <a:bodyPr wrap="none" anchor="ctr" anchorCtr="0">
            <a:flatTx/>
          </a:bodyPr>
          <a:lstStyle/>
          <a:p>
            <a:endParaRPr lang="zh-CN" altLang="zh-CN" dirty="0">
              <a:latin typeface="Tahoma" panose="020B0604030504040204" pitchFamily="34" charset="0"/>
              <a:ea typeface="宋体" panose="02010600030101010101" pitchFamily="2" charset="-122"/>
            </a:endParaRPr>
          </a:p>
        </p:txBody>
      </p:sp>
      <p:sp>
        <p:nvSpPr>
          <p:cNvPr id="21518" name="Text Box 48"/>
          <p:cNvSpPr txBox="1"/>
          <p:nvPr/>
        </p:nvSpPr>
        <p:spPr>
          <a:xfrm>
            <a:off x="6848490" y="1866687"/>
            <a:ext cx="1295400" cy="583565"/>
          </a:xfrm>
          <a:prstGeom prst="rect">
            <a:avLst/>
          </a:prstGeom>
          <a:noFill/>
          <a:ln w="12700">
            <a:noFill/>
          </a:ln>
        </p:spPr>
        <p:txBody>
          <a:bodyPr>
            <a:spAutoFit/>
          </a:bodyPr>
          <a:lstStyle/>
          <a:p>
            <a:pPr algn="ctr"/>
            <a:r>
              <a:rPr lang="en-US" altLang="zh-CN" sz="1600" dirty="0">
                <a:latin typeface="Tahoma" panose="020B0604030504040204" pitchFamily="34" charset="0"/>
                <a:ea typeface="宋体" panose="02010600030101010101" pitchFamily="2" charset="-122"/>
              </a:rPr>
              <a:t>Post-Processing</a:t>
            </a:r>
          </a:p>
        </p:txBody>
      </p:sp>
      <p:grpSp>
        <p:nvGrpSpPr>
          <p:cNvPr id="21520" name="Group 52"/>
          <p:cNvGrpSpPr/>
          <p:nvPr/>
        </p:nvGrpSpPr>
        <p:grpSpPr>
          <a:xfrm>
            <a:off x="2116470" y="3929801"/>
            <a:ext cx="2362200" cy="1143000"/>
            <a:chOff x="288" y="2880"/>
            <a:chExt cx="1488" cy="720"/>
          </a:xfrm>
        </p:grpSpPr>
        <p:sp>
          <p:nvSpPr>
            <p:cNvPr id="21529" name="Rectangle 50"/>
            <p:cNvSpPr/>
            <p:nvPr/>
          </p:nvSpPr>
          <p:spPr>
            <a:xfrm>
              <a:off x="288" y="2880"/>
              <a:ext cx="1344" cy="72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Tahoma" panose="020B0604030504040204" pitchFamily="34" charset="0"/>
                <a:ea typeface="宋体" panose="02010600030101010101" pitchFamily="2" charset="-122"/>
              </a:endParaRPr>
            </a:p>
          </p:txBody>
        </p:sp>
        <p:sp>
          <p:nvSpPr>
            <p:cNvPr id="21530" name="Text Box 51"/>
            <p:cNvSpPr txBox="1"/>
            <p:nvPr/>
          </p:nvSpPr>
          <p:spPr>
            <a:xfrm>
              <a:off x="288" y="2943"/>
              <a:ext cx="1488" cy="586"/>
            </a:xfrm>
            <a:prstGeom prst="rect">
              <a:avLst/>
            </a:prstGeom>
            <a:noFill/>
            <a:ln w="9525">
              <a:noFill/>
            </a:ln>
          </p:spPr>
          <p:txBody>
            <a:bodyPr>
              <a:spAutoFit/>
            </a:bodyPr>
            <a:lstStyle/>
            <a:p>
              <a:pPr algn="l">
                <a:lnSpc>
                  <a:spcPct val="60000"/>
                </a:lnSpc>
                <a:spcBef>
                  <a:spcPct val="50000"/>
                </a:spcBef>
              </a:pPr>
              <a:r>
                <a:rPr lang="en-US" altLang="zh-CN" sz="1400" dirty="0">
                  <a:latin typeface="Tahoma" panose="020B0604030504040204" pitchFamily="34" charset="0"/>
                  <a:ea typeface="宋体" panose="02010600030101010101" pitchFamily="2" charset="-122"/>
                </a:rPr>
                <a:t>Data integration</a:t>
              </a:r>
            </a:p>
            <a:p>
              <a:pPr algn="l">
                <a:lnSpc>
                  <a:spcPct val="60000"/>
                </a:lnSpc>
                <a:spcBef>
                  <a:spcPct val="50000"/>
                </a:spcBef>
              </a:pPr>
              <a:r>
                <a:rPr lang="en-US" altLang="zh-CN" sz="1400" dirty="0">
                  <a:latin typeface="Tahoma" panose="020B0604030504040204" pitchFamily="34" charset="0"/>
                  <a:ea typeface="宋体" panose="02010600030101010101" pitchFamily="2" charset="-122"/>
                </a:rPr>
                <a:t>Normalization</a:t>
              </a:r>
            </a:p>
            <a:p>
              <a:pPr algn="l">
                <a:lnSpc>
                  <a:spcPct val="60000"/>
                </a:lnSpc>
                <a:spcBef>
                  <a:spcPct val="50000"/>
                </a:spcBef>
              </a:pPr>
              <a:r>
                <a:rPr lang="en-US" altLang="zh-CN" sz="1400" dirty="0">
                  <a:latin typeface="Tahoma" panose="020B0604030504040204" pitchFamily="34" charset="0"/>
                  <a:ea typeface="宋体" panose="02010600030101010101" pitchFamily="2" charset="-122"/>
                </a:rPr>
                <a:t>Feature selection</a:t>
              </a:r>
            </a:p>
            <a:p>
              <a:pPr algn="l">
                <a:lnSpc>
                  <a:spcPct val="60000"/>
                </a:lnSpc>
                <a:spcBef>
                  <a:spcPct val="50000"/>
                </a:spcBef>
              </a:pPr>
              <a:r>
                <a:rPr lang="en-US" altLang="zh-CN" sz="1400" dirty="0">
                  <a:latin typeface="Tahoma" panose="020B0604030504040204" pitchFamily="34" charset="0"/>
                  <a:ea typeface="宋体" panose="02010600030101010101" pitchFamily="2" charset="-122"/>
                </a:rPr>
                <a:t>Dimension reduction</a:t>
              </a:r>
            </a:p>
          </p:txBody>
        </p:sp>
      </p:grpSp>
      <p:sp>
        <p:nvSpPr>
          <p:cNvPr id="21521" name="Rectangle 54"/>
          <p:cNvSpPr/>
          <p:nvPr/>
        </p:nvSpPr>
        <p:spPr>
          <a:xfrm>
            <a:off x="4562490" y="3666911"/>
            <a:ext cx="2362200" cy="15240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Tahoma" panose="020B0604030504040204" pitchFamily="34" charset="0"/>
              <a:ea typeface="宋体" panose="02010600030101010101" pitchFamily="2" charset="-122"/>
            </a:endParaRPr>
          </a:p>
        </p:txBody>
      </p:sp>
      <p:sp>
        <p:nvSpPr>
          <p:cNvPr id="21522" name="Text Box 55"/>
          <p:cNvSpPr txBox="1"/>
          <p:nvPr/>
        </p:nvSpPr>
        <p:spPr>
          <a:xfrm>
            <a:off x="4562490" y="3785305"/>
            <a:ext cx="2590800" cy="1287212"/>
          </a:xfrm>
          <a:prstGeom prst="rect">
            <a:avLst/>
          </a:prstGeom>
          <a:noFill/>
          <a:ln w="9525">
            <a:noFill/>
          </a:ln>
        </p:spPr>
        <p:txBody>
          <a:bodyPr wrap="square">
            <a:spAutoFit/>
          </a:bodyPr>
          <a:lstStyle/>
          <a:p>
            <a:pPr algn="l">
              <a:lnSpc>
                <a:spcPct val="50000"/>
              </a:lnSpc>
              <a:spcBef>
                <a:spcPct val="50000"/>
              </a:spcBef>
            </a:pPr>
            <a:r>
              <a:rPr lang="en-US" altLang="zh-CN" sz="1400" dirty="0">
                <a:latin typeface="Tahoma" panose="020B0604030504040204" pitchFamily="34" charset="0"/>
                <a:ea typeface="宋体" panose="02010600030101010101" pitchFamily="2" charset="-122"/>
              </a:rPr>
              <a:t>Pattern discovery</a:t>
            </a:r>
          </a:p>
          <a:p>
            <a:pPr algn="l">
              <a:lnSpc>
                <a:spcPct val="50000"/>
              </a:lnSpc>
              <a:spcBef>
                <a:spcPct val="50000"/>
              </a:spcBef>
            </a:pPr>
            <a:r>
              <a:rPr lang="en-US" altLang="zh-CN" sz="1400" dirty="0">
                <a:latin typeface="Tahoma" panose="020B0604030504040204" pitchFamily="34" charset="0"/>
                <a:ea typeface="宋体" panose="02010600030101010101" pitchFamily="2" charset="-122"/>
              </a:rPr>
              <a:t>Association &amp; correlation</a:t>
            </a:r>
          </a:p>
          <a:p>
            <a:pPr algn="l">
              <a:lnSpc>
                <a:spcPct val="50000"/>
              </a:lnSpc>
              <a:spcBef>
                <a:spcPct val="50000"/>
              </a:spcBef>
            </a:pPr>
            <a:r>
              <a:rPr lang="en-US" altLang="zh-CN" sz="1400" dirty="0">
                <a:latin typeface="Tahoma" panose="020B0604030504040204" pitchFamily="34" charset="0"/>
                <a:ea typeface="宋体" panose="02010600030101010101" pitchFamily="2" charset="-122"/>
              </a:rPr>
              <a:t>Classification</a:t>
            </a:r>
          </a:p>
          <a:p>
            <a:pPr algn="l">
              <a:lnSpc>
                <a:spcPct val="50000"/>
              </a:lnSpc>
              <a:spcBef>
                <a:spcPct val="50000"/>
              </a:spcBef>
            </a:pPr>
            <a:r>
              <a:rPr lang="en-US" altLang="zh-CN" sz="1400" dirty="0">
                <a:latin typeface="Tahoma" panose="020B0604030504040204" pitchFamily="34" charset="0"/>
                <a:ea typeface="宋体" panose="02010600030101010101" pitchFamily="2" charset="-122"/>
              </a:rPr>
              <a:t>Clustering</a:t>
            </a:r>
          </a:p>
          <a:p>
            <a:pPr algn="l">
              <a:lnSpc>
                <a:spcPct val="50000"/>
              </a:lnSpc>
              <a:spcBef>
                <a:spcPct val="50000"/>
              </a:spcBef>
            </a:pPr>
            <a:r>
              <a:rPr lang="en-US" altLang="zh-CN" sz="1400" dirty="0">
                <a:latin typeface="Tahoma" panose="020B0604030504040204" pitchFamily="34" charset="0"/>
                <a:ea typeface="宋体" panose="02010600030101010101" pitchFamily="2" charset="-122"/>
              </a:rPr>
              <a:t>Outlier analysis</a:t>
            </a:r>
          </a:p>
          <a:p>
            <a:pPr algn="l">
              <a:lnSpc>
                <a:spcPct val="50000"/>
              </a:lnSpc>
              <a:spcBef>
                <a:spcPct val="50000"/>
              </a:spcBef>
            </a:pPr>
            <a:r>
              <a:rPr lang="en-US" altLang="zh-CN" sz="1400" dirty="0">
                <a:latin typeface="Tahoma" panose="020B0604030504040204" pitchFamily="34" charset="0"/>
                <a:ea typeface="宋体" panose="02010600030101010101" pitchFamily="2" charset="-122"/>
              </a:rPr>
              <a:t>… … … …</a:t>
            </a:r>
          </a:p>
        </p:txBody>
      </p:sp>
      <p:grpSp>
        <p:nvGrpSpPr>
          <p:cNvPr id="21523" name="Group 56"/>
          <p:cNvGrpSpPr/>
          <p:nvPr/>
        </p:nvGrpSpPr>
        <p:grpSpPr>
          <a:xfrm>
            <a:off x="7381890" y="3810421"/>
            <a:ext cx="2362200" cy="1143000"/>
            <a:chOff x="288" y="2880"/>
            <a:chExt cx="1488" cy="720"/>
          </a:xfrm>
        </p:grpSpPr>
        <p:sp>
          <p:nvSpPr>
            <p:cNvPr id="21527" name="Rectangle 57"/>
            <p:cNvSpPr/>
            <p:nvPr/>
          </p:nvSpPr>
          <p:spPr>
            <a:xfrm>
              <a:off x="288" y="2880"/>
              <a:ext cx="1344" cy="72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Tahoma" panose="020B0604030504040204" pitchFamily="34" charset="0"/>
                <a:ea typeface="宋体" panose="02010600030101010101" pitchFamily="2" charset="-122"/>
              </a:endParaRPr>
            </a:p>
          </p:txBody>
        </p:sp>
        <p:sp>
          <p:nvSpPr>
            <p:cNvPr id="21528" name="Text Box 58"/>
            <p:cNvSpPr txBox="1"/>
            <p:nvPr/>
          </p:nvSpPr>
          <p:spPr>
            <a:xfrm>
              <a:off x="288" y="2939"/>
              <a:ext cx="1488" cy="590"/>
            </a:xfrm>
            <a:prstGeom prst="rect">
              <a:avLst/>
            </a:prstGeom>
            <a:noFill/>
            <a:ln w="9525">
              <a:noFill/>
            </a:ln>
          </p:spPr>
          <p:txBody>
            <a:bodyPr>
              <a:spAutoFit/>
            </a:bodyPr>
            <a:lstStyle/>
            <a:p>
              <a:pPr algn="l">
                <a:lnSpc>
                  <a:spcPct val="60000"/>
                </a:lnSpc>
                <a:spcBef>
                  <a:spcPct val="50000"/>
                </a:spcBef>
              </a:pPr>
              <a:r>
                <a:rPr lang="en-US" altLang="zh-CN" sz="1400" dirty="0">
                  <a:latin typeface="Tahoma" panose="020B0604030504040204" pitchFamily="34" charset="0"/>
                  <a:ea typeface="宋体" panose="02010600030101010101" pitchFamily="2" charset="-122"/>
                </a:rPr>
                <a:t>Pattern evaluation</a:t>
              </a:r>
            </a:p>
            <a:p>
              <a:pPr algn="l">
                <a:lnSpc>
                  <a:spcPct val="60000"/>
                </a:lnSpc>
                <a:spcBef>
                  <a:spcPct val="50000"/>
                </a:spcBef>
              </a:pPr>
              <a:r>
                <a:rPr lang="en-US" altLang="zh-CN" sz="1400" dirty="0">
                  <a:latin typeface="Tahoma" panose="020B0604030504040204" pitchFamily="34" charset="0"/>
                  <a:ea typeface="宋体" panose="02010600030101010101" pitchFamily="2" charset="-122"/>
                </a:rPr>
                <a:t>Pattern selection</a:t>
              </a:r>
            </a:p>
            <a:p>
              <a:pPr algn="l">
                <a:lnSpc>
                  <a:spcPct val="60000"/>
                </a:lnSpc>
                <a:spcBef>
                  <a:spcPct val="50000"/>
                </a:spcBef>
              </a:pPr>
              <a:r>
                <a:rPr lang="en-US" altLang="zh-CN" sz="1400" dirty="0">
                  <a:latin typeface="Tahoma" panose="020B0604030504040204" pitchFamily="34" charset="0"/>
                  <a:ea typeface="宋体" panose="02010600030101010101" pitchFamily="2" charset="-122"/>
                </a:rPr>
                <a:t>Pattern interpretation</a:t>
              </a:r>
            </a:p>
            <a:p>
              <a:pPr algn="l">
                <a:lnSpc>
                  <a:spcPct val="60000"/>
                </a:lnSpc>
                <a:spcBef>
                  <a:spcPct val="50000"/>
                </a:spcBef>
              </a:pPr>
              <a:r>
                <a:rPr lang="en-US" altLang="zh-CN" sz="1400" dirty="0">
                  <a:latin typeface="Tahoma" panose="020B0604030504040204" pitchFamily="34" charset="0"/>
                  <a:ea typeface="宋体" panose="02010600030101010101" pitchFamily="2" charset="-122"/>
                </a:rPr>
                <a:t>Pattern visualization</a:t>
              </a:r>
            </a:p>
          </p:txBody>
        </p:sp>
      </p:grpSp>
      <p:sp>
        <p:nvSpPr>
          <p:cNvPr id="21524" name="AutoShape 62"/>
          <p:cNvSpPr/>
          <p:nvPr/>
        </p:nvSpPr>
        <p:spPr>
          <a:xfrm rot="-10256010">
            <a:off x="3343290" y="2600111"/>
            <a:ext cx="304800" cy="990600"/>
          </a:xfrm>
          <a:prstGeom prst="curvedLeftArrow">
            <a:avLst>
              <a:gd name="adj1" fmla="val 65000"/>
              <a:gd name="adj2" fmla="val 130000"/>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Tahoma" panose="020B0604030504040204" pitchFamily="34" charset="0"/>
              <a:ea typeface="宋体" panose="02010600030101010101" pitchFamily="2" charset="-122"/>
            </a:endParaRPr>
          </a:p>
        </p:txBody>
      </p:sp>
      <p:sp>
        <p:nvSpPr>
          <p:cNvPr id="21525" name="AutoShape 63"/>
          <p:cNvSpPr/>
          <p:nvPr/>
        </p:nvSpPr>
        <p:spPr>
          <a:xfrm rot="-10256010">
            <a:off x="5172090" y="2600111"/>
            <a:ext cx="304800" cy="990600"/>
          </a:xfrm>
          <a:prstGeom prst="curvedLeftArrow">
            <a:avLst>
              <a:gd name="adj1" fmla="val 65000"/>
              <a:gd name="adj2" fmla="val 130000"/>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Tahoma" panose="020B0604030504040204" pitchFamily="34" charset="0"/>
              <a:ea typeface="宋体" panose="02010600030101010101" pitchFamily="2" charset="-122"/>
            </a:endParaRPr>
          </a:p>
        </p:txBody>
      </p:sp>
      <p:sp>
        <p:nvSpPr>
          <p:cNvPr id="21526" name="AutoShape 64"/>
          <p:cNvSpPr/>
          <p:nvPr/>
        </p:nvSpPr>
        <p:spPr>
          <a:xfrm rot="-10256010">
            <a:off x="7305690" y="2600111"/>
            <a:ext cx="304800" cy="990600"/>
          </a:xfrm>
          <a:prstGeom prst="curvedLeftArrow">
            <a:avLst>
              <a:gd name="adj1" fmla="val 65000"/>
              <a:gd name="adj2" fmla="val 130000"/>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数据分析与数据挖掘</a:t>
            </a:r>
          </a:p>
        </p:txBody>
      </p:sp>
      <p:sp>
        <p:nvSpPr>
          <p:cNvPr id="3" name="内容占位符 2"/>
          <p:cNvSpPr>
            <a:spLocks noGrp="1"/>
          </p:cNvSpPr>
          <p:nvPr>
            <p:ph idx="1"/>
          </p:nvPr>
        </p:nvSpPr>
        <p:spPr>
          <a:xfrm>
            <a:off x="699770" y="1346504"/>
            <a:ext cx="10792460" cy="4526280"/>
          </a:xfrm>
        </p:spPr>
        <p:txBody>
          <a:bodyPr>
            <a:normAutofit/>
          </a:bodyPr>
          <a:lstStyle/>
          <a:p>
            <a:pPr algn="just" latinLnBrk="0">
              <a:lnSpc>
                <a:spcPct val="130000"/>
              </a:lnSpc>
              <a:spcBef>
                <a:spcPts val="600"/>
              </a:spcBef>
              <a:spcAft>
                <a:spcPts val="600"/>
              </a:spcAft>
              <a:buClr>
                <a:schemeClr val="tx1"/>
              </a:buClr>
              <a:buFont typeface="Wingdings" pitchFamily="2" charset="2"/>
              <a:buChar char="q"/>
            </a:pPr>
            <a:r>
              <a:rPr lang="zh-CN" altLang="zh-CN" sz="2000" dirty="0"/>
              <a:t>数据分析（</a:t>
            </a:r>
            <a:r>
              <a:rPr lang="en-US" altLang="zh-CN" sz="2000" dirty="0"/>
              <a:t>Data Analysis</a:t>
            </a:r>
            <a:r>
              <a:rPr lang="zh-CN" altLang="zh-CN" sz="2000" dirty="0"/>
              <a:t>，</a:t>
            </a:r>
            <a:r>
              <a:rPr lang="en-US" altLang="zh-CN" sz="2000" dirty="0"/>
              <a:t>DA</a:t>
            </a:r>
            <a:r>
              <a:rPr lang="zh-CN" altLang="zh-CN" sz="2000" dirty="0"/>
              <a:t>）是数学与计算机科学相结合的产物，是指用适当的统计分析方法对收集来的大量数据进行分析，提取有用信息和形成结论，对数据加以详细研究和概括总结的过程。数据分析和数据挖掘都是基于搜集来的数据，应用数学、统计和计算机等技术抽取出数据中的有用信息，进而为决策提供依据和指导方向。</a:t>
            </a:r>
            <a:endParaRPr lang="en-US" altLang="zh-CN" sz="2000" dirty="0"/>
          </a:p>
          <a:p>
            <a:pPr algn="just" latinLnBrk="0">
              <a:lnSpc>
                <a:spcPct val="130000"/>
              </a:lnSpc>
              <a:spcBef>
                <a:spcPts val="600"/>
              </a:spcBef>
              <a:spcAft>
                <a:spcPts val="600"/>
              </a:spcAft>
              <a:buClr>
                <a:schemeClr val="tx1"/>
              </a:buClr>
              <a:buFont typeface="Wingdings" pitchFamily="2" charset="2"/>
              <a:buChar char="q"/>
            </a:pPr>
            <a:r>
              <a:rPr lang="zh-CN" altLang="zh-CN" sz="2000" dirty="0"/>
              <a:t>数据分析有广义与狭义之分。广义的数据分析包括了狭义数据分析和数据挖掘。</a:t>
            </a:r>
            <a:endParaRPr lang="zh-CN" altLang="en-US" sz="2000"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9</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数据分析与数据挖掘</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10</a:t>
            </a:fld>
            <a:endParaRPr lang="en-US" altLang="zh-CN"/>
          </a:p>
        </p:txBody>
      </p:sp>
      <p:pic>
        <p:nvPicPr>
          <p:cNvPr id="6" name="图片 5"/>
          <p:cNvPicPr>
            <a:picLocks noChangeAspect="1"/>
          </p:cNvPicPr>
          <p:nvPr/>
        </p:nvPicPr>
        <p:blipFill>
          <a:blip r:embed="rId2"/>
          <a:stretch>
            <a:fillRect/>
          </a:stretch>
        </p:blipFill>
        <p:spPr>
          <a:xfrm>
            <a:off x="2346325" y="1429385"/>
            <a:ext cx="7355205" cy="44773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数据分析与数据挖掘</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11</a:t>
            </a:fld>
            <a:endParaRPr lang="en-US" altLang="zh-CN"/>
          </a:p>
        </p:txBody>
      </p:sp>
      <p:graphicFrame>
        <p:nvGraphicFramePr>
          <p:cNvPr id="9" name="表格 8"/>
          <p:cNvGraphicFramePr/>
          <p:nvPr>
            <p:custDataLst>
              <p:tags r:id="rId1"/>
            </p:custDataLst>
            <p:extLst>
              <p:ext uri="{D42A27DB-BD31-4B8C-83A1-F6EECF244321}">
                <p14:modId xmlns:p14="http://schemas.microsoft.com/office/powerpoint/2010/main" val="2140442540"/>
              </p:ext>
            </p:extLst>
          </p:nvPr>
        </p:nvGraphicFramePr>
        <p:xfrm>
          <a:off x="1631504" y="2132856"/>
          <a:ext cx="8928992" cy="3528392"/>
        </p:xfrm>
        <a:graphic>
          <a:graphicData uri="http://schemas.openxmlformats.org/drawingml/2006/table">
            <a:tbl>
              <a:tblPr/>
              <a:tblGrid>
                <a:gridCol w="993697">
                  <a:extLst>
                    <a:ext uri="{9D8B030D-6E8A-4147-A177-3AD203B41FA5}">
                      <a16:colId xmlns:a16="http://schemas.microsoft.com/office/drawing/2014/main" val="20000"/>
                    </a:ext>
                  </a:extLst>
                </a:gridCol>
                <a:gridCol w="3717795">
                  <a:extLst>
                    <a:ext uri="{9D8B030D-6E8A-4147-A177-3AD203B41FA5}">
                      <a16:colId xmlns:a16="http://schemas.microsoft.com/office/drawing/2014/main" val="20001"/>
                    </a:ext>
                  </a:extLst>
                </a:gridCol>
                <a:gridCol w="4217500">
                  <a:extLst>
                    <a:ext uri="{9D8B030D-6E8A-4147-A177-3AD203B41FA5}">
                      <a16:colId xmlns:a16="http://schemas.microsoft.com/office/drawing/2014/main" val="20002"/>
                    </a:ext>
                  </a:extLst>
                </a:gridCol>
              </a:tblGrid>
              <a:tr h="441128">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差异</a:t>
                      </a:r>
                    </a:p>
                  </a:txBody>
                  <a:tcPr marL="68580" marR="68580" marT="0" marB="0" anchor="ctr">
                    <a:lnL>
                      <a:noFill/>
                    </a:lnL>
                    <a:lnR>
                      <a:noFill/>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数据分析</a:t>
                      </a:r>
                    </a:p>
                  </a:txBody>
                  <a:tcPr marL="68580" marR="68580" marT="0" marB="0" anchor="ctr">
                    <a:lnL>
                      <a:noFill/>
                    </a:lnL>
                    <a:lnR>
                      <a:noFill/>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数据挖掘</a:t>
                      </a:r>
                    </a:p>
                  </a:txBody>
                  <a:tcPr marL="68580" marR="68580" marT="0" marB="0" anchor="ctr">
                    <a:lnL>
                      <a:noFill/>
                    </a:lnL>
                    <a:lnR>
                      <a:noFill/>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882254">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定义</a:t>
                      </a:r>
                    </a:p>
                  </a:txBody>
                  <a:tcPr marL="68580" marR="68580" marT="0" marB="0" anchor="ctr">
                    <a:lnL>
                      <a:noFill/>
                    </a:lnL>
                    <a:lnR>
                      <a:noFill/>
                    </a:lnR>
                    <a:lnT w="12700" cap="flat" cmpd="sng">
                      <a:solidFill>
                        <a:srgbClr val="000008"/>
                      </a:solidFill>
                      <a:prstDash val="solid"/>
                      <a:headEnd type="none" w="med" len="med"/>
                      <a:tailEnd type="none" w="med" len="med"/>
                    </a:lnT>
                    <a:lnB>
                      <a:noFill/>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描述和探索性分析，评估现状和修正不足</a:t>
                      </a:r>
                    </a:p>
                  </a:txBody>
                  <a:tcPr marL="68580" marR="68580" marT="0" marB="0" anchor="ctr">
                    <a:lnL>
                      <a:noFill/>
                    </a:lnL>
                    <a:lnR>
                      <a:noFill/>
                    </a:lnR>
                    <a:lnT w="12700" cap="flat" cmpd="sng">
                      <a:solidFill>
                        <a:srgbClr val="000008"/>
                      </a:solidFill>
                      <a:prstDash val="solid"/>
                      <a:headEnd type="none" w="med" len="med"/>
                      <a:tailEnd type="none" w="med" len="med"/>
                    </a:lnT>
                    <a:lnB>
                      <a:noFill/>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技术性的</a:t>
                      </a:r>
                      <a:r>
                        <a:rPr lang="zh-CN" altLang="en-US" sz="1800">
                          <a:latin typeface="宋体" panose="02010600030101010101" pitchFamily="2" charset="-122"/>
                          <a:ea typeface="宋体" panose="02010600030101010101" pitchFamily="2" charset="-122"/>
                        </a:rPr>
                        <a:t>“</a:t>
                      </a:r>
                      <a:r>
                        <a:rPr lang="zh-CN" sz="1800">
                          <a:latin typeface="宋体" panose="02010600030101010101" pitchFamily="2" charset="-122"/>
                          <a:ea typeface="宋体" panose="02010600030101010101" pitchFamily="2" charset="-122"/>
                        </a:rPr>
                        <a:t>采矿</a:t>
                      </a:r>
                      <a:r>
                        <a:rPr lang="zh-CN" altLang="en-US" sz="1800">
                          <a:latin typeface="宋体" panose="02010600030101010101" pitchFamily="2" charset="-122"/>
                          <a:ea typeface="宋体" panose="02010600030101010101" pitchFamily="2" charset="-122"/>
                        </a:rPr>
                        <a:t>”</a:t>
                      </a:r>
                      <a:r>
                        <a:rPr lang="zh-CN" sz="1800">
                          <a:latin typeface="宋体" panose="02010600030101010101" pitchFamily="2" charset="-122"/>
                          <a:ea typeface="宋体" panose="02010600030101010101" pitchFamily="2" charset="-122"/>
                        </a:rPr>
                        <a:t>过程，发现未知的模式和规律</a:t>
                      </a:r>
                    </a:p>
                  </a:txBody>
                  <a:tcPr marL="68580" marR="68580" marT="0" marB="0" anchor="ctr">
                    <a:lnL>
                      <a:noFill/>
                    </a:lnL>
                    <a:lnR>
                      <a:noFill/>
                    </a:lnR>
                    <a:lnT w="12700" cap="flat" cmpd="sng">
                      <a:solidFill>
                        <a:srgbClr val="000008"/>
                      </a:solidFill>
                      <a:prstDash val="solid"/>
                      <a:headEnd type="none" w="med" len="med"/>
                      <a:tailEnd type="none" w="med" len="med"/>
                    </a:lnT>
                    <a:lnB>
                      <a:noFill/>
                    </a:lnB>
                    <a:noFill/>
                  </a:tcPr>
                </a:tc>
                <a:extLst>
                  <a:ext uri="{0D108BD9-81ED-4DB2-BD59-A6C34878D82A}">
                    <a16:rowId xmlns:a16="http://schemas.microsoft.com/office/drawing/2014/main" val="10001"/>
                  </a:ext>
                </a:extLst>
              </a:tr>
              <a:tr h="881628">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侧重点</a:t>
                      </a:r>
                    </a:p>
                  </a:txBody>
                  <a:tcPr marL="68580" marR="68580" marT="0" marB="0" anchor="ctr">
                    <a:lnL>
                      <a:noFill/>
                    </a:lnL>
                    <a:lnR>
                      <a:noFill/>
                    </a:lnR>
                    <a:lnT>
                      <a:noFill/>
                    </a:lnT>
                    <a:lnB>
                      <a:noFill/>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实际的业务知识</a:t>
                      </a:r>
                    </a:p>
                  </a:txBody>
                  <a:tcPr marL="68580" marR="68580" marT="0" marB="0" anchor="ctr">
                    <a:lnL>
                      <a:noFill/>
                    </a:lnL>
                    <a:lnR>
                      <a:noFill/>
                    </a:lnR>
                    <a:lnT>
                      <a:noFill/>
                    </a:lnT>
                    <a:lnB>
                      <a:noFill/>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挖掘技术的落地，完成</a:t>
                      </a:r>
                      <a:r>
                        <a:rPr lang="zh-CN" altLang="en-US" sz="1800">
                          <a:latin typeface="宋体" panose="02010600030101010101" pitchFamily="2" charset="-122"/>
                          <a:ea typeface="宋体" panose="02010600030101010101" pitchFamily="2" charset="-122"/>
                        </a:rPr>
                        <a:t>“</a:t>
                      </a:r>
                      <a:r>
                        <a:rPr lang="zh-CN" sz="1800">
                          <a:latin typeface="宋体" panose="02010600030101010101" pitchFamily="2" charset="-122"/>
                          <a:ea typeface="宋体" panose="02010600030101010101" pitchFamily="2" charset="-122"/>
                        </a:rPr>
                        <a:t>采矿</a:t>
                      </a:r>
                      <a:r>
                        <a:rPr lang="zh-CN" altLang="en-US" sz="1800">
                          <a:latin typeface="宋体" panose="02010600030101010101" pitchFamily="2" charset="-122"/>
                          <a:ea typeface="宋体" panose="02010600030101010101" pitchFamily="2" charset="-122"/>
                        </a:rPr>
                        <a:t>”</a:t>
                      </a:r>
                      <a:r>
                        <a:rPr lang="zh-CN" sz="1800">
                          <a:latin typeface="宋体" panose="02010600030101010101" pitchFamily="2" charset="-122"/>
                          <a:ea typeface="宋体" panose="02010600030101010101" pitchFamily="2" charset="-122"/>
                        </a:rPr>
                        <a:t>过程</a:t>
                      </a:r>
                    </a:p>
                  </a:txBody>
                  <a:tcPr marL="68580" marR="68580" marT="0" marB="0" anchor="ctr">
                    <a:lnL>
                      <a:noFill/>
                    </a:lnL>
                    <a:lnR>
                      <a:noFill/>
                    </a:lnR>
                    <a:lnT>
                      <a:noFill/>
                    </a:lnT>
                    <a:lnB>
                      <a:noFill/>
                    </a:lnB>
                    <a:noFill/>
                  </a:tcPr>
                </a:tc>
                <a:extLst>
                  <a:ext uri="{0D108BD9-81ED-4DB2-BD59-A6C34878D82A}">
                    <a16:rowId xmlns:a16="http://schemas.microsoft.com/office/drawing/2014/main" val="10002"/>
                  </a:ext>
                </a:extLst>
              </a:tr>
              <a:tr h="882254">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技能</a:t>
                      </a:r>
                    </a:p>
                  </a:txBody>
                  <a:tcPr marL="68580" marR="68580" marT="0" marB="0" anchor="ctr">
                    <a:lnL>
                      <a:noFill/>
                    </a:lnL>
                    <a:lnR>
                      <a:noFill/>
                    </a:lnR>
                    <a:lnT>
                      <a:noFill/>
                    </a:lnT>
                    <a:lnB>
                      <a:noFill/>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统计学、数据库、</a:t>
                      </a:r>
                      <a:r>
                        <a:rPr lang="en-US" altLang="zh-CN" sz="1800">
                          <a:latin typeface="Times New Roman" panose="02020603050405020304"/>
                          <a:ea typeface="Times New Roman" panose="02020603050405020304"/>
                        </a:rPr>
                        <a:t>Excel</a:t>
                      </a:r>
                      <a:r>
                        <a:rPr lang="zh-CN" sz="1800">
                          <a:latin typeface="宋体" panose="02010600030101010101" pitchFamily="2" charset="-122"/>
                          <a:ea typeface="宋体" panose="02010600030101010101" pitchFamily="2" charset="-122"/>
                        </a:rPr>
                        <a:t>和可视化等</a:t>
                      </a:r>
                    </a:p>
                  </a:txBody>
                  <a:tcPr marL="68580" marR="68580" marT="0" marB="0" anchor="ctr">
                    <a:lnL>
                      <a:noFill/>
                    </a:lnL>
                    <a:lnR>
                      <a:noFill/>
                    </a:lnR>
                    <a:lnT>
                      <a:noFill/>
                    </a:lnT>
                    <a:lnB>
                      <a:noFill/>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过硬的数学功底和编程技术</a:t>
                      </a:r>
                    </a:p>
                  </a:txBody>
                  <a:tcPr marL="68580" marR="68580" marT="0" marB="0" anchor="ctr">
                    <a:lnL>
                      <a:noFill/>
                    </a:lnL>
                    <a:lnR>
                      <a:noFill/>
                    </a:lnR>
                    <a:lnT>
                      <a:noFill/>
                    </a:lnT>
                    <a:lnB>
                      <a:noFill/>
                    </a:lnB>
                    <a:noFill/>
                  </a:tcPr>
                </a:tc>
                <a:extLst>
                  <a:ext uri="{0D108BD9-81ED-4DB2-BD59-A6C34878D82A}">
                    <a16:rowId xmlns:a16="http://schemas.microsoft.com/office/drawing/2014/main" val="10003"/>
                  </a:ext>
                </a:extLst>
              </a:tr>
              <a:tr h="441128">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结果</a:t>
                      </a:r>
                    </a:p>
                  </a:txBody>
                  <a:tcPr marL="68580" marR="68580"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需结合业务知识解读统计结果</a:t>
                      </a:r>
                    </a:p>
                  </a:txBody>
                  <a:tcPr marL="68580" marR="68580"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68580" indent="0" algn="just">
                        <a:lnSpc>
                          <a:spcPct val="125000"/>
                        </a:lnSpc>
                        <a:spcBef>
                          <a:spcPct val="0"/>
                        </a:spcBef>
                        <a:spcAft>
                          <a:spcPct val="0"/>
                        </a:spcAft>
                      </a:pPr>
                      <a:r>
                        <a:rPr lang="zh-CN" sz="1800">
                          <a:latin typeface="宋体" panose="02010600030101010101" pitchFamily="2" charset="-122"/>
                          <a:ea typeface="宋体" panose="02010600030101010101" pitchFamily="2" charset="-122"/>
                        </a:rPr>
                        <a:t>模型或规则</a:t>
                      </a:r>
                    </a:p>
                  </a:txBody>
                  <a:tcPr marL="68580" marR="68580" marT="0" marB="0" anchor="ctr">
                    <a:lnL>
                      <a:noFill/>
                    </a:lnL>
                    <a:lnR>
                      <a:noFill/>
                    </a:lnR>
                    <a:lnT>
                      <a:noFill/>
                    </a:lnT>
                    <a:lnB w="1270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文本框 9"/>
          <p:cNvSpPr txBox="1"/>
          <p:nvPr/>
        </p:nvSpPr>
        <p:spPr>
          <a:xfrm>
            <a:off x="3556000" y="1533527"/>
            <a:ext cx="5080000" cy="398780"/>
          </a:xfrm>
          <a:prstGeom prst="rect">
            <a:avLst/>
          </a:prstGeom>
        </p:spPr>
        <p:txBody>
          <a:bodyPr>
            <a:spAutoFit/>
          </a:bodyPr>
          <a:lstStyle/>
          <a:p>
            <a:pPr marL="0" indent="0" algn="ctr" defTabSz="266700">
              <a:spcAft>
                <a:spcPct val="0"/>
              </a:spcAft>
            </a:pPr>
            <a:r>
              <a:rPr lang="zh-CN" altLang="en-US" sz="2000">
                <a:latin typeface="宋体" panose="02010600030101010101" pitchFamily="2" charset="-122"/>
                <a:ea typeface="宋体" panose="02010600030101010101" pitchFamily="2" charset="-122"/>
              </a:rPr>
              <a:t>数据分析与数据挖掘对比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3" name="内容占位符 2"/>
          <p:cNvSpPr>
            <a:spLocks noGrp="1"/>
          </p:cNvSpPr>
          <p:nvPr>
            <p:ph idx="1"/>
          </p:nvPr>
        </p:nvSpPr>
        <p:spPr>
          <a:xfrm>
            <a:off x="840771" y="1070018"/>
            <a:ext cx="8298207" cy="488967"/>
          </a:xfrm>
        </p:spPr>
        <p:txBody>
          <a:bodyPr>
            <a:normAutofit/>
          </a:bodyPr>
          <a:lstStyle/>
          <a:p>
            <a:r>
              <a:rPr lang="zh-CN" altLang="zh-CN" sz="2000" dirty="0"/>
              <a:t>数据挖掘是通过分析每个数据，从大量数据中寻找其规律的技术。</a:t>
            </a:r>
            <a:endParaRPr lang="en-US" altLang="zh-CN" sz="2000"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12</a:t>
            </a:fld>
            <a:endParaRPr lang="en-US" altLang="zh-CN" dirty="0"/>
          </a:p>
        </p:txBody>
      </p:sp>
      <p:sp>
        <p:nvSpPr>
          <p:cNvPr id="6" name="Rectangle 2051"/>
          <p:cNvSpPr txBox="1"/>
          <p:nvPr/>
        </p:nvSpPr>
        <p:spPr bwMode="gray">
          <a:xfrm>
            <a:off x="1027989" y="1698230"/>
            <a:ext cx="4419600"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66" tIns="46033" rIns="92066" bIns="46033" numCol="1" anchor="t" anchorCtr="0" compatLnSpc="1"/>
          <a:lstStyle>
            <a:lvl1pPr marL="342900" indent="-342900" algn="l" rtl="0" eaLnBrk="1" fontAlgn="base" hangingPunct="1">
              <a:lnSpc>
                <a:spcPct val="140000"/>
              </a:lnSpc>
              <a:spcBef>
                <a:spcPct val="20000"/>
              </a:spcBef>
              <a:spcAft>
                <a:spcPct val="0"/>
              </a:spcAft>
              <a:buClr>
                <a:schemeClr val="hlink"/>
              </a:buClr>
              <a:buFont typeface="Wingdings" panose="05000000000000000000" pitchFamily="2" charset="2"/>
              <a:buChar char="v"/>
              <a:defRPr sz="2200" b="0" kern="1200">
                <a:solidFill>
                  <a:schemeClr val="tx1"/>
                </a:solidFill>
                <a:latin typeface="+mn-lt"/>
                <a:ea typeface="+mn-ea"/>
                <a:cs typeface="+mn-cs"/>
              </a:defRPr>
            </a:lvl1pPr>
            <a:lvl2pPr marL="742950" indent="-285750" algn="l" rtl="0" eaLnBrk="1" fontAlgn="base" hangingPunct="1">
              <a:lnSpc>
                <a:spcPct val="140000"/>
              </a:lnSpc>
              <a:spcBef>
                <a:spcPct val="20000"/>
              </a:spcBef>
              <a:spcAft>
                <a:spcPct val="0"/>
              </a:spcAft>
              <a:buClr>
                <a:schemeClr val="accent1"/>
              </a:buClr>
              <a:buFont typeface="Wingdings" panose="05000000000000000000" pitchFamily="2" charset="2"/>
              <a:buChar char="§"/>
              <a:defRPr sz="2200" kern="1200">
                <a:solidFill>
                  <a:schemeClr val="tx1"/>
                </a:solidFill>
                <a:latin typeface="Arial" panose="020B0604020202020204" pitchFamily="34" charset="0"/>
                <a:ea typeface="+mn-ea"/>
                <a:cs typeface="+mn-cs"/>
              </a:defRPr>
            </a:lvl2pPr>
            <a:lvl3pPr marL="1143000" indent="-228600" algn="l" rtl="0" eaLnBrk="1" fontAlgn="base" hangingPunct="1">
              <a:lnSpc>
                <a:spcPct val="140000"/>
              </a:lnSpc>
              <a:spcBef>
                <a:spcPct val="20000"/>
              </a:spcBef>
              <a:spcAft>
                <a:spcPct val="0"/>
              </a:spcAft>
              <a:buClr>
                <a:schemeClr val="tx1"/>
              </a:buClr>
              <a:buChar char="•"/>
              <a:defRPr sz="2000" kern="1200">
                <a:solidFill>
                  <a:schemeClr val="tx1"/>
                </a:solidFill>
                <a:latin typeface="Arial" panose="020B0604020202020204" pitchFamily="34" charset="0"/>
                <a:ea typeface="+mn-ea"/>
                <a:cs typeface="+mn-cs"/>
              </a:defRPr>
            </a:lvl3pPr>
            <a:lvl4pPr marL="1600200" indent="-228600" algn="l" rtl="0" eaLnBrk="1" fontAlgn="base" hangingPunct="1">
              <a:lnSpc>
                <a:spcPct val="140000"/>
              </a:lnSpc>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r>
              <a:rPr lang="zh-CN" altLang="en-US" sz="2000" dirty="0">
                <a:ea typeface="宋体" panose="02010600030101010101" pitchFamily="2" charset="-122"/>
              </a:rPr>
              <a:t>数据挖掘：知识挖掘的核心</a:t>
            </a:r>
            <a:endParaRPr lang="en-US" altLang="zh-CN" sz="2000" dirty="0">
              <a:ea typeface="宋体" panose="02010600030101010101" pitchFamily="2" charset="-122"/>
            </a:endParaRPr>
          </a:p>
        </p:txBody>
      </p:sp>
      <p:pic>
        <p:nvPicPr>
          <p:cNvPr id="5" name="그림 4">
            <a:extLst>
              <a:ext uri="{FF2B5EF4-FFF2-40B4-BE49-F238E27FC236}">
                <a16:creationId xmlns:a16="http://schemas.microsoft.com/office/drawing/2014/main" id="{695009B1-DF1E-FC23-0163-924FA67A5846}"/>
              </a:ext>
            </a:extLst>
          </p:cNvPr>
          <p:cNvPicPr>
            <a:picLocks noChangeAspect="1"/>
          </p:cNvPicPr>
          <p:nvPr/>
        </p:nvPicPr>
        <p:blipFill>
          <a:blip r:embed="rId2"/>
          <a:stretch>
            <a:fillRect/>
          </a:stretch>
        </p:blipFill>
        <p:spPr>
          <a:xfrm>
            <a:off x="695400" y="2032622"/>
            <a:ext cx="6476593" cy="3985595"/>
          </a:xfrm>
          <a:prstGeom prst="rect">
            <a:avLst/>
          </a:prstGeom>
        </p:spPr>
      </p:pic>
      <p:sp>
        <p:nvSpPr>
          <p:cNvPr id="47" name="TextBox 46">
            <a:extLst>
              <a:ext uri="{FF2B5EF4-FFF2-40B4-BE49-F238E27FC236}">
                <a16:creationId xmlns:a16="http://schemas.microsoft.com/office/drawing/2014/main" id="{35586538-291B-E7A5-0A65-BF0A82AD982D}"/>
              </a:ext>
            </a:extLst>
          </p:cNvPr>
          <p:cNvSpPr txBox="1"/>
          <p:nvPr/>
        </p:nvSpPr>
        <p:spPr>
          <a:xfrm>
            <a:off x="7121376" y="2240577"/>
            <a:ext cx="4426024" cy="3785652"/>
          </a:xfrm>
          <a:prstGeom prst="rect">
            <a:avLst/>
          </a:prstGeom>
          <a:noFill/>
        </p:spPr>
        <p:txBody>
          <a:bodyPr wrap="square">
            <a:spAutoFit/>
          </a:bodyPr>
          <a:lstStyle/>
          <a:p>
            <a:pPr algn="just" latinLnBrk="1"/>
            <a:r>
              <a:rPr lang="en-US" altLang="ko-Kore-KR" sz="1600" b="0" kern="100">
                <a:latin typeface="SimSun" panose="02010600030101010101" pitchFamily="2" charset="-122"/>
                <a:ea typeface="맑은 고딕" panose="020B0503020000020004" pitchFamily="34" charset="-127"/>
                <a:cs typeface="Times New Roman" panose="02020603050405020304" pitchFamily="18" charset="0"/>
              </a:rPr>
              <a:t>1</a:t>
            </a:r>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数据准备</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a.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数据清理（去除噪音和不一致数据）</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b.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数据整合（可将多个数据源合并）</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c.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数据转换（通过执行汇总或聚合操作，将数据转换和整合为适合挖掘的形式）</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d.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数据选择（从数据库中检索与分析任务相关的数据）</a:t>
            </a:r>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p>
          <a:p>
            <a:pPr algn="just" latinLnBrk="1"/>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2.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数据挖掘（应用智能方法提取模式或构建模型的重要过程）</a:t>
            </a:r>
            <a:endParaRPr lang="en-US" altLang="ko-Kore-KR" sz="16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3.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模式</a:t>
            </a:r>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模型评估</a:t>
            </a:r>
            <a:endParaRPr lang="en-US" altLang="ko-Kore-KR" sz="16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4.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知识展示（使用可视化和知识表示技术向用户展示挖掘出的知识）</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13</a:t>
            </a:fld>
            <a:endParaRPr lang="en-US" altLang="zh-CN" dirty="0"/>
          </a:p>
        </p:txBody>
      </p:sp>
      <p:sp>
        <p:nvSpPr>
          <p:cNvPr id="8" name="TextBox 7">
            <a:extLst>
              <a:ext uri="{FF2B5EF4-FFF2-40B4-BE49-F238E27FC236}">
                <a16:creationId xmlns:a16="http://schemas.microsoft.com/office/drawing/2014/main" id="{5A24C356-772D-799E-747B-5A9CA1994541}"/>
              </a:ext>
            </a:extLst>
          </p:cNvPr>
          <p:cNvSpPr txBox="1"/>
          <p:nvPr/>
        </p:nvSpPr>
        <p:spPr>
          <a:xfrm>
            <a:off x="623392" y="1124744"/>
            <a:ext cx="10297144" cy="369332"/>
          </a:xfrm>
          <a:prstGeom prst="rect">
            <a:avLst/>
          </a:prstGeom>
          <a:noFill/>
        </p:spPr>
        <p:txBody>
          <a:bodyPr wrap="square">
            <a:spAutoFit/>
          </a:bodyPr>
          <a:lstStyle/>
          <a:p>
            <a:pPr marL="342900" lvl="0" indent="-342900" algn="just" latinLnBrk="1">
              <a:buFont typeface="Arial" panose="020B0604020202020204" pitchFamily="34" charset="0"/>
              <a:buChar char="•"/>
              <a:tabLst>
                <a:tab pos="457200" algn="l"/>
              </a:tabLst>
            </a:pPr>
            <a:r>
              <a:rPr lang="ko-Kore-KR" altLang="ko-Kore-KR" sz="1800" kern="100">
                <a:effectLst/>
                <a:latin typeface="Calibri" panose="020F0502020204030204" pitchFamily="34" charset="0"/>
                <a:ea typeface="SimSun" panose="02010600030101010101" pitchFamily="2" charset="-122"/>
                <a:cs typeface="Times New Roman" panose="02020603050405020304" pitchFamily="18" charset="0"/>
              </a:rPr>
              <a:t>数据挖掘的主要任务有关联分析、聚类分析、分类分析、异常分析、特异群组分析和演变分析等。</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
        <p:nvSpPr>
          <p:cNvPr id="10" name="TextBox 9">
            <a:extLst>
              <a:ext uri="{FF2B5EF4-FFF2-40B4-BE49-F238E27FC236}">
                <a16:creationId xmlns:a16="http://schemas.microsoft.com/office/drawing/2014/main" id="{9A2FB266-DD2C-CA5F-511A-F1BD26E94AAB}"/>
              </a:ext>
            </a:extLst>
          </p:cNvPr>
          <p:cNvSpPr txBox="1"/>
          <p:nvPr/>
        </p:nvSpPr>
        <p:spPr>
          <a:xfrm>
            <a:off x="983432" y="1743230"/>
            <a:ext cx="9863123" cy="3970318"/>
          </a:xfrm>
          <a:prstGeom prst="rect">
            <a:avLst/>
          </a:prstGeom>
          <a:noFill/>
        </p:spPr>
        <p:txBody>
          <a:bodyPr wrap="square">
            <a:spAutoFit/>
          </a:bodyPr>
          <a:lstStyle/>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1</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关联规则挖掘</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由</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Rakesh Apwal</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等人首先提出。两个或两个以上变量的取值之间存在的规律称为关联。</a:t>
            </a:r>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2</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预测建模</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是指根据已知的数据构建出一个数据模型，然后应用这个模型对未知数据的所属分类进行预测，主要包括分类和回归两类问题。</a:t>
            </a:r>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3</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聚类</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是把数据按照相似性归纳成若干类别，使得同一类中的数据彼此相似，不同类中的数据尽量相异。</a:t>
            </a:r>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4</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深度学习</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是一种基于神经网络的自动特征学习方法，可自动从原始数据中提取语义特征，显著提升分类、聚类等数据挖掘任务的效果。</a:t>
            </a:r>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4</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离群点</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指全局或局部范围内偏离一般水平的观测对象。离群点等异常值会对数据分析与挖掘产生不良影响</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3" name="内容占位符 2"/>
          <p:cNvSpPr>
            <a:spLocks noGrp="1"/>
          </p:cNvSpPr>
          <p:nvPr>
            <p:ph idx="1"/>
          </p:nvPr>
        </p:nvSpPr>
        <p:spPr>
          <a:xfrm>
            <a:off x="1019436" y="1139184"/>
            <a:ext cx="10153128" cy="4968552"/>
          </a:xfrm>
        </p:spPr>
        <p:txBody>
          <a:bodyPr/>
          <a:lstStyle/>
          <a:p>
            <a:pPr latinLnBrk="0">
              <a:lnSpc>
                <a:spcPct val="125000"/>
              </a:lnSpc>
              <a:spcBef>
                <a:spcPts val="600"/>
              </a:spcBef>
            </a:pPr>
            <a:r>
              <a:rPr lang="zh-CN" altLang="zh-CN" sz="2100" dirty="0">
                <a:solidFill>
                  <a:srgbClr val="FF0000"/>
                </a:solidFill>
              </a:rPr>
              <a:t>关联规则挖掘</a:t>
            </a:r>
            <a:endParaRPr lang="en-US" altLang="zh-CN" sz="2100" dirty="0"/>
          </a:p>
          <a:p>
            <a:pPr marL="0" indent="0">
              <a:lnSpc>
                <a:spcPct val="130000"/>
              </a:lnSpc>
              <a:buNone/>
            </a:pPr>
            <a:endParaRPr lang="zh-CN" altLang="en-US" sz="2100" b="1"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14</a:t>
            </a:fld>
            <a:endParaRPr lang="en-US" altLang="zh-CN" dirty="0"/>
          </a:p>
        </p:txBody>
      </p:sp>
      <p:pic>
        <p:nvPicPr>
          <p:cNvPr id="5" name="그림 4">
            <a:extLst>
              <a:ext uri="{FF2B5EF4-FFF2-40B4-BE49-F238E27FC236}">
                <a16:creationId xmlns:a16="http://schemas.microsoft.com/office/drawing/2014/main" id="{EEEB96D7-9451-0643-4463-26D7EDFFDF97}"/>
              </a:ext>
            </a:extLst>
          </p:cNvPr>
          <p:cNvPicPr>
            <a:picLocks noChangeAspect="1"/>
          </p:cNvPicPr>
          <p:nvPr/>
        </p:nvPicPr>
        <p:blipFill>
          <a:blip r:embed="rId2"/>
          <a:stretch>
            <a:fillRect/>
          </a:stretch>
        </p:blipFill>
        <p:spPr>
          <a:xfrm>
            <a:off x="1960803" y="2268583"/>
            <a:ext cx="7620000" cy="584200"/>
          </a:xfrm>
          <a:prstGeom prst="rect">
            <a:avLst/>
          </a:prstGeom>
        </p:spPr>
      </p:pic>
      <p:sp>
        <p:nvSpPr>
          <p:cNvPr id="7" name="TextBox 6">
            <a:extLst>
              <a:ext uri="{FF2B5EF4-FFF2-40B4-BE49-F238E27FC236}">
                <a16:creationId xmlns:a16="http://schemas.microsoft.com/office/drawing/2014/main" id="{7D2AE823-CF86-15C6-DD26-89A5CD85A894}"/>
              </a:ext>
            </a:extLst>
          </p:cNvPr>
          <p:cNvSpPr txBox="1"/>
          <p:nvPr/>
        </p:nvSpPr>
        <p:spPr>
          <a:xfrm>
            <a:off x="1580434" y="1837961"/>
            <a:ext cx="6093994" cy="369332"/>
          </a:xfrm>
          <a:prstGeom prst="rect">
            <a:avLst/>
          </a:prstGeom>
          <a:noFill/>
        </p:spPr>
        <p:txBody>
          <a:bodyPr wrap="square">
            <a:spAutoFit/>
          </a:bodyPr>
          <a:lstStyle/>
          <a:p>
            <a:pPr algn="l"/>
            <a:r>
              <a:rPr lang="en" altLang="ko-Kore-KR" sz="1800" b="1">
                <a:effectLst/>
                <a:latin typeface="Times" pitchFamily="2" charset="0"/>
              </a:rPr>
              <a:t>single-dimensional association rules </a:t>
            </a:r>
            <a:endParaRPr lang="en" altLang="ko-Kore-KR"/>
          </a:p>
        </p:txBody>
      </p:sp>
      <p:sp>
        <p:nvSpPr>
          <p:cNvPr id="9" name="TextBox 8">
            <a:extLst>
              <a:ext uri="{FF2B5EF4-FFF2-40B4-BE49-F238E27FC236}">
                <a16:creationId xmlns:a16="http://schemas.microsoft.com/office/drawing/2014/main" id="{E8BCFCDF-0128-D9B4-B08E-C8876B5E4AB3}"/>
              </a:ext>
            </a:extLst>
          </p:cNvPr>
          <p:cNvSpPr txBox="1"/>
          <p:nvPr/>
        </p:nvSpPr>
        <p:spPr>
          <a:xfrm>
            <a:off x="1563103" y="3158813"/>
            <a:ext cx="6093994" cy="369332"/>
          </a:xfrm>
          <a:prstGeom prst="rect">
            <a:avLst/>
          </a:prstGeom>
          <a:noFill/>
        </p:spPr>
        <p:txBody>
          <a:bodyPr wrap="square">
            <a:spAutoFit/>
          </a:bodyPr>
          <a:lstStyle/>
          <a:p>
            <a:pPr algn="l"/>
            <a:r>
              <a:rPr lang="en" altLang="ko-Kore-KR" sz="1800" b="1">
                <a:effectLst/>
                <a:latin typeface="Times" pitchFamily="2" charset="0"/>
              </a:rPr>
              <a:t>multidimensional association rule </a:t>
            </a:r>
            <a:endParaRPr lang="en" altLang="ko-Kore-KR"/>
          </a:p>
        </p:txBody>
      </p:sp>
      <p:pic>
        <p:nvPicPr>
          <p:cNvPr id="10" name="그림 9">
            <a:extLst>
              <a:ext uri="{FF2B5EF4-FFF2-40B4-BE49-F238E27FC236}">
                <a16:creationId xmlns:a16="http://schemas.microsoft.com/office/drawing/2014/main" id="{6E5B1794-F300-1333-F259-A43284C28BDC}"/>
              </a:ext>
            </a:extLst>
          </p:cNvPr>
          <p:cNvPicPr>
            <a:picLocks noChangeAspect="1"/>
          </p:cNvPicPr>
          <p:nvPr/>
        </p:nvPicPr>
        <p:blipFill>
          <a:blip r:embed="rId3"/>
          <a:stretch>
            <a:fillRect/>
          </a:stretch>
        </p:blipFill>
        <p:spPr>
          <a:xfrm>
            <a:off x="2570403" y="3717032"/>
            <a:ext cx="6400800" cy="812800"/>
          </a:xfrm>
          <a:prstGeom prst="rect">
            <a:avLst/>
          </a:prstGeom>
        </p:spPr>
      </p:pic>
    </p:spTree>
    <p:extLst>
      <p:ext uri="{BB962C8B-B14F-4D97-AF65-F5344CB8AC3E}">
        <p14:creationId xmlns:p14="http://schemas.microsoft.com/office/powerpoint/2010/main" val="4259335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3" name="内容占位符 2"/>
          <p:cNvSpPr>
            <a:spLocks noGrp="1"/>
          </p:cNvSpPr>
          <p:nvPr>
            <p:ph idx="1"/>
          </p:nvPr>
        </p:nvSpPr>
        <p:spPr>
          <a:xfrm>
            <a:off x="906326" y="1047826"/>
            <a:ext cx="10153128" cy="500066"/>
          </a:xfrm>
        </p:spPr>
        <p:txBody>
          <a:bodyPr/>
          <a:lstStyle/>
          <a:p>
            <a:pPr latinLnBrk="0">
              <a:lnSpc>
                <a:spcPct val="125000"/>
              </a:lnSpc>
              <a:spcBef>
                <a:spcPts val="600"/>
              </a:spcBef>
            </a:pPr>
            <a:r>
              <a:rPr lang="zh-CN" altLang="zh-CN" sz="2100" dirty="0">
                <a:solidFill>
                  <a:srgbClr val="FF0000"/>
                </a:solidFill>
              </a:rPr>
              <a:t>预测建模</a:t>
            </a:r>
            <a:r>
              <a:rPr lang="zh-CN" altLang="en-US" sz="2100" dirty="0">
                <a:solidFill>
                  <a:srgbClr val="FF0000"/>
                </a:solidFill>
              </a:rPr>
              <a:t> </a:t>
            </a:r>
            <a:r>
              <a:rPr lang="en-US" altLang="zh-CN" sz="2100" dirty="0">
                <a:solidFill>
                  <a:srgbClr val="FF0000"/>
                </a:solidFill>
              </a:rPr>
              <a:t>–</a:t>
            </a:r>
            <a:r>
              <a:rPr lang="zh-CN" altLang="en-US" sz="2100" dirty="0">
                <a:solidFill>
                  <a:srgbClr val="FF0000"/>
                </a:solidFill>
              </a:rPr>
              <a:t> 分类</a:t>
            </a:r>
            <a:endParaRPr lang="en-US" altLang="zh-CN" sz="2100" dirty="0">
              <a:solidFill>
                <a:srgbClr val="FF0000"/>
              </a:solidFill>
            </a:endParaRPr>
          </a:p>
          <a:p>
            <a:pPr latinLnBrk="0">
              <a:lnSpc>
                <a:spcPct val="125000"/>
              </a:lnSpc>
              <a:spcBef>
                <a:spcPts val="600"/>
              </a:spcBef>
            </a:pPr>
            <a:endParaRPr lang="zh-CN" altLang="en-US" sz="2100" b="1"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15</a:t>
            </a:fld>
            <a:endParaRPr lang="en-US" altLang="zh-CN" dirty="0"/>
          </a:p>
        </p:txBody>
      </p:sp>
      <p:sp>
        <p:nvSpPr>
          <p:cNvPr id="13" name="TextBox 12">
            <a:extLst>
              <a:ext uri="{FF2B5EF4-FFF2-40B4-BE49-F238E27FC236}">
                <a16:creationId xmlns:a16="http://schemas.microsoft.com/office/drawing/2014/main" id="{642F5897-E247-F408-F61A-FD2F9489CB37}"/>
              </a:ext>
            </a:extLst>
          </p:cNvPr>
          <p:cNvSpPr txBox="1"/>
          <p:nvPr/>
        </p:nvSpPr>
        <p:spPr>
          <a:xfrm>
            <a:off x="1307468" y="1547892"/>
            <a:ext cx="9577064" cy="748346"/>
          </a:xfrm>
          <a:prstGeom prst="rect">
            <a:avLst/>
          </a:prstGeom>
          <a:noFill/>
        </p:spPr>
        <p:txBody>
          <a:bodyPr wrap="square">
            <a:spAutoFit/>
          </a:bodyPr>
          <a:lstStyle/>
          <a:p>
            <a:pPr marL="0" indent="0" algn="l">
              <a:lnSpc>
                <a:spcPct val="125000"/>
              </a:lnSpc>
              <a:spcBef>
                <a:spcPts val="600"/>
              </a:spcBef>
              <a:buNone/>
            </a:pPr>
            <a:r>
              <a:rPr lang="zh-CN" altLang="en-US" sz="1800" b="0" dirty="0"/>
              <a:t>分类是寻找一个能够描述并区分数据类别或概念的模型（或函数）的过程。该模型基于对一组训练数据（即已知类别标签的数据对象）的分析而得出。</a:t>
            </a:r>
            <a:endParaRPr lang="en-US" altLang="zh-CN" sz="1800" b="0" dirty="0"/>
          </a:p>
        </p:txBody>
      </p:sp>
      <p:pic>
        <p:nvPicPr>
          <p:cNvPr id="14" name="그림 13">
            <a:extLst>
              <a:ext uri="{FF2B5EF4-FFF2-40B4-BE49-F238E27FC236}">
                <a16:creationId xmlns:a16="http://schemas.microsoft.com/office/drawing/2014/main" id="{34E4580E-AD5C-8F19-1B5B-1548F7794895}"/>
              </a:ext>
            </a:extLst>
          </p:cNvPr>
          <p:cNvPicPr>
            <a:picLocks noChangeAspect="1"/>
          </p:cNvPicPr>
          <p:nvPr/>
        </p:nvPicPr>
        <p:blipFill>
          <a:blip r:embed="rId2"/>
          <a:stretch>
            <a:fillRect/>
          </a:stretch>
        </p:blipFill>
        <p:spPr>
          <a:xfrm>
            <a:off x="2862889" y="2304640"/>
            <a:ext cx="6689495" cy="4197999"/>
          </a:xfrm>
          <a:prstGeom prst="rect">
            <a:avLst/>
          </a:prstGeom>
        </p:spPr>
      </p:pic>
    </p:spTree>
    <p:extLst>
      <p:ext uri="{BB962C8B-B14F-4D97-AF65-F5344CB8AC3E}">
        <p14:creationId xmlns:p14="http://schemas.microsoft.com/office/powerpoint/2010/main" val="1585041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3" name="内容占位符 2"/>
          <p:cNvSpPr>
            <a:spLocks noGrp="1"/>
          </p:cNvSpPr>
          <p:nvPr>
            <p:ph idx="1"/>
          </p:nvPr>
        </p:nvSpPr>
        <p:spPr>
          <a:xfrm>
            <a:off x="906326" y="1047826"/>
            <a:ext cx="10153128" cy="500066"/>
          </a:xfrm>
        </p:spPr>
        <p:txBody>
          <a:bodyPr/>
          <a:lstStyle/>
          <a:p>
            <a:pPr latinLnBrk="0">
              <a:lnSpc>
                <a:spcPct val="125000"/>
              </a:lnSpc>
              <a:spcBef>
                <a:spcPts val="600"/>
              </a:spcBef>
            </a:pPr>
            <a:r>
              <a:rPr lang="zh-CN" altLang="zh-CN" sz="2100" dirty="0">
                <a:solidFill>
                  <a:srgbClr val="FF0000"/>
                </a:solidFill>
              </a:rPr>
              <a:t>预测建模</a:t>
            </a:r>
            <a:r>
              <a:rPr lang="zh-CN" altLang="en-US" sz="2100" dirty="0">
                <a:solidFill>
                  <a:srgbClr val="FF0000"/>
                </a:solidFill>
              </a:rPr>
              <a:t> </a:t>
            </a:r>
            <a:r>
              <a:rPr lang="en-US" altLang="zh-CN" sz="2100" dirty="0">
                <a:solidFill>
                  <a:srgbClr val="FF0000"/>
                </a:solidFill>
              </a:rPr>
              <a:t>-</a:t>
            </a:r>
            <a:r>
              <a:rPr lang="zh-CN" altLang="en-US" sz="2100" dirty="0">
                <a:solidFill>
                  <a:srgbClr val="FF0000"/>
                </a:solidFill>
              </a:rPr>
              <a:t> 回归 </a:t>
            </a:r>
            <a:endParaRPr lang="en-US" altLang="zh-CN" sz="2100" dirty="0">
              <a:solidFill>
                <a:srgbClr val="FF0000"/>
              </a:solidFill>
            </a:endParaRPr>
          </a:p>
          <a:p>
            <a:pPr latinLnBrk="0">
              <a:lnSpc>
                <a:spcPct val="125000"/>
              </a:lnSpc>
              <a:spcBef>
                <a:spcPts val="600"/>
              </a:spcBef>
            </a:pPr>
            <a:endParaRPr lang="zh-CN" altLang="en-US" sz="2100" b="1"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16</a:t>
            </a:fld>
            <a:endParaRPr lang="en-US" altLang="zh-CN" dirty="0"/>
          </a:p>
        </p:txBody>
      </p:sp>
      <p:sp>
        <p:nvSpPr>
          <p:cNvPr id="13" name="TextBox 12">
            <a:extLst>
              <a:ext uri="{FF2B5EF4-FFF2-40B4-BE49-F238E27FC236}">
                <a16:creationId xmlns:a16="http://schemas.microsoft.com/office/drawing/2014/main" id="{642F5897-E247-F408-F61A-FD2F9489CB37}"/>
              </a:ext>
            </a:extLst>
          </p:cNvPr>
          <p:cNvSpPr txBox="1"/>
          <p:nvPr/>
        </p:nvSpPr>
        <p:spPr>
          <a:xfrm>
            <a:off x="1307468" y="1555742"/>
            <a:ext cx="9577064" cy="4787914"/>
          </a:xfrm>
          <a:prstGeom prst="rect">
            <a:avLst/>
          </a:prstGeom>
          <a:noFill/>
        </p:spPr>
        <p:txBody>
          <a:bodyPr wrap="square">
            <a:spAutoFit/>
          </a:bodyPr>
          <a:lstStyle/>
          <a:p>
            <a:pPr marL="0" indent="0" algn="just">
              <a:lnSpc>
                <a:spcPct val="125000"/>
              </a:lnSpc>
              <a:spcBef>
                <a:spcPts val="600"/>
              </a:spcBef>
              <a:buNone/>
            </a:pPr>
            <a:r>
              <a:rPr lang="zh-CN" altLang="en-US" b="0" dirty="0"/>
              <a:t>分类预测的是类别（离散、无序）标签，而回归模型预测的是连续值函数。也就是说，回归用于预测缺失或不可用的数值数据值，而非（离散）类标签。</a:t>
            </a:r>
            <a:endParaRPr lang="en-US" altLang="zh-CN" b="0" dirty="0"/>
          </a:p>
          <a:p>
            <a:pPr marL="0" indent="0" algn="just">
              <a:lnSpc>
                <a:spcPct val="125000"/>
              </a:lnSpc>
              <a:spcBef>
                <a:spcPts val="600"/>
              </a:spcBef>
              <a:buNone/>
            </a:pPr>
            <a:r>
              <a:rPr lang="zh-CN" altLang="en-US" b="0" dirty="0"/>
              <a:t>分类：是否购买产品</a:t>
            </a:r>
            <a:endParaRPr lang="en-US" altLang="zh-CN" b="0" dirty="0"/>
          </a:p>
          <a:p>
            <a:pPr marL="0" indent="0" algn="just">
              <a:lnSpc>
                <a:spcPct val="125000"/>
              </a:lnSpc>
              <a:spcBef>
                <a:spcPts val="600"/>
              </a:spcBef>
              <a:buNone/>
            </a:pPr>
            <a:r>
              <a:rPr lang="zh-CN" altLang="en-US" b="0" dirty="0"/>
              <a:t>回归：预测销售金额</a:t>
            </a:r>
            <a:endParaRPr lang="en-US" altLang="zh-CN" b="0" dirty="0"/>
          </a:p>
          <a:p>
            <a:pPr algn="just">
              <a:lnSpc>
                <a:spcPct val="125000"/>
              </a:lnSpc>
              <a:spcBef>
                <a:spcPts val="600"/>
              </a:spcBef>
            </a:pPr>
            <a:r>
              <a:rPr lang="zh-CN" altLang="en-US" b="0" dirty="0"/>
              <a:t>** 分类</a:t>
            </a:r>
            <a:r>
              <a:rPr lang="en-US" altLang="zh-CN" b="0" dirty="0"/>
              <a:t>/</a:t>
            </a:r>
            <a:r>
              <a:rPr lang="zh-CN" altLang="en-US" b="0" dirty="0"/>
              <a:t>回归前需筛选相关特征 </a:t>
            </a:r>
            <a:endParaRPr lang="en-US" altLang="zh-CN" b="0" dirty="0"/>
          </a:p>
          <a:p>
            <a:pPr algn="just">
              <a:lnSpc>
                <a:spcPct val="125000"/>
              </a:lnSpc>
              <a:spcBef>
                <a:spcPts val="600"/>
              </a:spcBef>
            </a:pPr>
            <a:endParaRPr lang="en-US" altLang="zh-CN" sz="600" b="0" dirty="0"/>
          </a:p>
          <a:p>
            <a:pPr algn="just">
              <a:lnSpc>
                <a:spcPct val="125000"/>
              </a:lnSpc>
              <a:spcBef>
                <a:spcPts val="600"/>
              </a:spcBef>
            </a:pPr>
            <a:r>
              <a:rPr lang="zh-CN" altLang="en-US" b="0" dirty="0"/>
              <a:t>示</a:t>
            </a:r>
            <a:r>
              <a:rPr lang="ko-Kore-KR" altLang="en-US" b="0" dirty="0"/>
              <a:t>例</a:t>
            </a:r>
            <a:endParaRPr lang="en-US" altLang="zh-CN" b="0" dirty="0"/>
          </a:p>
          <a:p>
            <a:pPr algn="just">
              <a:lnSpc>
                <a:spcPct val="125000"/>
              </a:lnSpc>
              <a:spcBef>
                <a:spcPts val="600"/>
              </a:spcBef>
            </a:pPr>
            <a:r>
              <a:rPr lang="zh-CN" altLang="en-US" b="0" dirty="0"/>
              <a:t>假设某网店希望根据销售活动响应讲产品分为三类：良好响应，一般响应，无响应</a:t>
            </a:r>
            <a:endParaRPr lang="en-US" altLang="zh-CN" b="0" dirty="0"/>
          </a:p>
          <a:p>
            <a:pPr algn="just">
              <a:lnSpc>
                <a:spcPct val="125000"/>
              </a:lnSpc>
              <a:spcBef>
                <a:spcPts val="600"/>
              </a:spcBef>
            </a:pPr>
            <a:r>
              <a:rPr lang="zh-CN" altLang="en-US" b="0" dirty="0"/>
              <a:t>分类依据：商品描述性特征（如价格、品牌、产地、类型、类别</a:t>
            </a:r>
            <a:r>
              <a:rPr lang="en-US" altLang="zh-CN" b="0" dirty="0"/>
              <a:t>…) </a:t>
            </a:r>
          </a:p>
          <a:p>
            <a:pPr algn="just">
              <a:lnSpc>
                <a:spcPct val="125000"/>
              </a:lnSpc>
              <a:spcBef>
                <a:spcPts val="600"/>
              </a:spcBef>
            </a:pPr>
            <a:endParaRPr lang="en-US" altLang="zh-CN" b="0" dirty="0"/>
          </a:p>
          <a:p>
            <a:pPr algn="just">
              <a:lnSpc>
                <a:spcPct val="125000"/>
              </a:lnSpc>
              <a:spcBef>
                <a:spcPts val="600"/>
              </a:spcBef>
            </a:pPr>
            <a:r>
              <a:rPr lang="zh-CN" altLang="en-US" b="0" dirty="0"/>
              <a:t>如果不预测商品类别，而是预测商品在促销活动中带来的收入金额（连续值）</a:t>
            </a:r>
            <a:endParaRPr lang="en-US" altLang="zh-CN" b="0" dirty="0"/>
          </a:p>
          <a:p>
            <a:pPr algn="just">
              <a:lnSpc>
                <a:spcPct val="125000"/>
              </a:lnSpc>
              <a:spcBef>
                <a:spcPts val="600"/>
              </a:spcBef>
            </a:pPr>
            <a:r>
              <a:rPr lang="zh-CN" altLang="en-US" b="0" dirty="0"/>
              <a:t>基于历史销售数据，构建回归模型</a:t>
            </a:r>
            <a:endParaRPr lang="en-US" altLang="zh-CN" b="0" dirty="0"/>
          </a:p>
        </p:txBody>
      </p:sp>
    </p:spTree>
    <p:extLst>
      <p:ext uri="{BB962C8B-B14F-4D97-AF65-F5344CB8AC3E}">
        <p14:creationId xmlns:p14="http://schemas.microsoft.com/office/powerpoint/2010/main" val="39755587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17</a:t>
            </a:fld>
            <a:endParaRPr lang="en-US" altLang="zh-CN" dirty="0"/>
          </a:p>
        </p:txBody>
      </p:sp>
      <p:sp>
        <p:nvSpPr>
          <p:cNvPr id="7" name="内容占位符 2">
            <a:extLst>
              <a:ext uri="{FF2B5EF4-FFF2-40B4-BE49-F238E27FC236}">
                <a16:creationId xmlns:a16="http://schemas.microsoft.com/office/drawing/2014/main" id="{3770D402-7E11-5517-4D72-B0BAED663D75}"/>
              </a:ext>
            </a:extLst>
          </p:cNvPr>
          <p:cNvSpPr>
            <a:spLocks noGrp="1"/>
          </p:cNvSpPr>
          <p:nvPr>
            <p:ph idx="1"/>
          </p:nvPr>
        </p:nvSpPr>
        <p:spPr>
          <a:xfrm>
            <a:off x="906326" y="1047826"/>
            <a:ext cx="10153128" cy="500066"/>
          </a:xfrm>
        </p:spPr>
        <p:txBody>
          <a:bodyPr/>
          <a:lstStyle/>
          <a:p>
            <a:pPr latinLnBrk="0">
              <a:lnSpc>
                <a:spcPct val="125000"/>
              </a:lnSpc>
              <a:spcBef>
                <a:spcPts val="600"/>
              </a:spcBef>
            </a:pPr>
            <a:r>
              <a:rPr lang="zh-CN" altLang="en-US" sz="2100" dirty="0">
                <a:solidFill>
                  <a:srgbClr val="FF0000"/>
                </a:solidFill>
              </a:rPr>
              <a:t>聚类 </a:t>
            </a:r>
            <a:endParaRPr lang="en-US" altLang="zh-CN" sz="2100" dirty="0">
              <a:solidFill>
                <a:srgbClr val="FF0000"/>
              </a:solidFill>
            </a:endParaRPr>
          </a:p>
          <a:p>
            <a:pPr latinLnBrk="0">
              <a:lnSpc>
                <a:spcPct val="125000"/>
              </a:lnSpc>
              <a:spcBef>
                <a:spcPts val="600"/>
              </a:spcBef>
            </a:pPr>
            <a:endParaRPr lang="zh-CN" altLang="en-US" sz="2100" b="1" dirty="0"/>
          </a:p>
        </p:txBody>
      </p:sp>
      <p:pic>
        <p:nvPicPr>
          <p:cNvPr id="14" name="그림 13">
            <a:extLst>
              <a:ext uri="{FF2B5EF4-FFF2-40B4-BE49-F238E27FC236}">
                <a16:creationId xmlns:a16="http://schemas.microsoft.com/office/drawing/2014/main" id="{8ED25BCD-8778-9734-6809-6321EF8A9850}"/>
              </a:ext>
            </a:extLst>
          </p:cNvPr>
          <p:cNvPicPr>
            <a:picLocks noChangeAspect="1"/>
          </p:cNvPicPr>
          <p:nvPr/>
        </p:nvPicPr>
        <p:blipFill>
          <a:blip r:embed="rId2"/>
          <a:stretch>
            <a:fillRect/>
          </a:stretch>
        </p:blipFill>
        <p:spPr>
          <a:xfrm>
            <a:off x="6744072" y="3645024"/>
            <a:ext cx="4463164" cy="2661214"/>
          </a:xfrm>
          <a:prstGeom prst="rect">
            <a:avLst/>
          </a:prstGeom>
        </p:spPr>
      </p:pic>
      <p:sp>
        <p:nvSpPr>
          <p:cNvPr id="13" name="TextBox 12">
            <a:extLst>
              <a:ext uri="{FF2B5EF4-FFF2-40B4-BE49-F238E27FC236}">
                <a16:creationId xmlns:a16="http://schemas.microsoft.com/office/drawing/2014/main" id="{43A6CC1B-7749-C6A9-29E6-B85D9ED62237}"/>
              </a:ext>
            </a:extLst>
          </p:cNvPr>
          <p:cNvSpPr txBox="1"/>
          <p:nvPr/>
        </p:nvSpPr>
        <p:spPr>
          <a:xfrm>
            <a:off x="1304919" y="1547892"/>
            <a:ext cx="9355942" cy="2308324"/>
          </a:xfrm>
          <a:prstGeom prst="rect">
            <a:avLst/>
          </a:prstGeom>
          <a:noFill/>
        </p:spPr>
        <p:txBody>
          <a:bodyPr wrap="square">
            <a:spAutoFit/>
          </a:bodyPr>
          <a:lstStyle/>
          <a:p>
            <a:pPr lvl="0" algn="just" latinLnBrk="1">
              <a:buSzPts val="1000"/>
              <a:tabLst>
                <a:tab pos="457200" algn="l"/>
              </a:tabLst>
            </a:pP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与</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分</a:t>
            </a: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类</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、回</a:t>
            </a: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归</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不同，聚</a:t>
            </a: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类</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分析</a:t>
            </a: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处</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理无</a:t>
            </a: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类别标签</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的</a:t>
            </a:r>
            <a:r>
              <a:rPr lang="ko-Kore-KR" altLang="ko-Kore-KR" b="0" kern="100">
                <a:effectLst/>
                <a:latin typeface="Calibri" panose="020F0502020204030204" pitchFamily="34" charset="0"/>
                <a:ea typeface="SimSun" panose="02010600030101010101" pitchFamily="2" charset="-122"/>
                <a:cs typeface="Microsoft YaHei" panose="020B0503020204020204" pitchFamily="34" charset="-122"/>
              </a:rPr>
              <a:t>数</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据集</a:t>
            </a:r>
            <a:r>
              <a:rPr lang="zh-CN" altLang="en-US" b="0" kern="100">
                <a:effectLst/>
                <a:latin typeface="Calibri" panose="020F0502020204030204" pitchFamily="34" charset="0"/>
                <a:ea typeface="SimSun" panose="02010600030101010101" pitchFamily="2" charset="-122"/>
                <a:cs typeface="Times New Roman" panose="02020603050405020304" pitchFamily="18" charset="0"/>
              </a:rPr>
              <a:t>。聚类分析可用于为一组数据生成类标签。数据对象基于“最大化类内相似性、最小化类间相似性”的原则进行聚类或分组。</a:t>
            </a:r>
            <a:endParaRPr lang="en-US" altLang="zh-CN" b="0" kern="100">
              <a:latin typeface="Calibri" panose="020F0502020204030204" pitchFamily="34" charset="0"/>
              <a:ea typeface="맑은 고딕" panose="020B0503020000020004" pitchFamily="34" charset="-127"/>
              <a:cs typeface="Times New Roman" panose="02020603050405020304" pitchFamily="18" charset="0"/>
            </a:endParaRPr>
          </a:p>
          <a:p>
            <a:pPr lvl="0" algn="just" latinLnBrk="1">
              <a:buSzPts val="1000"/>
              <a:tabLst>
                <a:tab pos="457200" algn="l"/>
              </a:tabLst>
            </a:pPr>
            <a:endParaRPr lang="en-US"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示例</a:t>
            </a:r>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marL="285750" indent="-285750" algn="just" latinLnBrk="1">
              <a:buFont typeface="Arial" panose="020B0604020202020204" pitchFamily="34" charset="0"/>
              <a:buChar char="•"/>
            </a:pP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网</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店</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对</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客</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户数</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据做聚</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类</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分析</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 </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发现</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相似客</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户</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群体</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SzPts val="1000"/>
              <a:buFont typeface="Symbol" pitchFamily="2" charset="2"/>
              <a:buChar char=""/>
              <a:tabLst>
                <a:tab pos="457200" algn="l"/>
              </a:tabLst>
            </a:pP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这</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些客</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户</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群可作</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为营销</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的目</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标</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群体</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SzPts val="1000"/>
              <a:buFont typeface="Symbol" pitchFamily="2" charset="2"/>
              <a:buChar char=""/>
              <a:tabLst>
                <a:tab pos="457200" algn="l"/>
              </a:tabLst>
            </a:pP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例如：客</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户</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在城市中的位置分布形成</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3 </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个</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明</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显</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簇（如</a:t>
            </a:r>
            <a:r>
              <a:rPr lang="ko-Kore-KR" altLang="ko-Kore-KR" sz="1800" b="0" kern="100">
                <a:effectLst/>
                <a:latin typeface="Calibri" panose="020F0502020204030204" pitchFamily="34" charset="0"/>
                <a:ea typeface="SimSun" panose="02010600030101010101" pitchFamily="2" charset="-122"/>
                <a:cs typeface="Microsoft YaHei" panose="020B0503020204020204" pitchFamily="34" charset="-122"/>
              </a:rPr>
              <a:t>图</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示）</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2699997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18</a:t>
            </a:fld>
            <a:endParaRPr lang="en-US" altLang="zh-CN" dirty="0"/>
          </a:p>
        </p:txBody>
      </p:sp>
      <p:sp>
        <p:nvSpPr>
          <p:cNvPr id="7" name="内容占位符 2">
            <a:extLst>
              <a:ext uri="{FF2B5EF4-FFF2-40B4-BE49-F238E27FC236}">
                <a16:creationId xmlns:a16="http://schemas.microsoft.com/office/drawing/2014/main" id="{3770D402-7E11-5517-4D72-B0BAED663D75}"/>
              </a:ext>
            </a:extLst>
          </p:cNvPr>
          <p:cNvSpPr>
            <a:spLocks noGrp="1"/>
          </p:cNvSpPr>
          <p:nvPr>
            <p:ph idx="1"/>
          </p:nvPr>
        </p:nvSpPr>
        <p:spPr>
          <a:xfrm>
            <a:off x="906326" y="1047826"/>
            <a:ext cx="10153128" cy="500066"/>
          </a:xfrm>
        </p:spPr>
        <p:txBody>
          <a:bodyPr/>
          <a:lstStyle/>
          <a:p>
            <a:pPr latinLnBrk="0">
              <a:lnSpc>
                <a:spcPct val="125000"/>
              </a:lnSpc>
              <a:spcBef>
                <a:spcPts val="600"/>
              </a:spcBef>
            </a:pPr>
            <a:r>
              <a:rPr lang="zh-CN" altLang="en-US" sz="2100" dirty="0">
                <a:solidFill>
                  <a:srgbClr val="FF0000"/>
                </a:solidFill>
              </a:rPr>
              <a:t>深度学习 </a:t>
            </a:r>
            <a:endParaRPr lang="en-US" altLang="zh-CN" sz="2100" dirty="0">
              <a:solidFill>
                <a:srgbClr val="FF0000"/>
              </a:solidFill>
            </a:endParaRPr>
          </a:p>
          <a:p>
            <a:pPr latinLnBrk="0">
              <a:lnSpc>
                <a:spcPct val="125000"/>
              </a:lnSpc>
              <a:spcBef>
                <a:spcPts val="600"/>
              </a:spcBef>
            </a:pPr>
            <a:endParaRPr lang="zh-CN" altLang="en-US" sz="2100" b="1" dirty="0"/>
          </a:p>
        </p:txBody>
      </p:sp>
      <p:sp>
        <p:nvSpPr>
          <p:cNvPr id="13" name="TextBox 12">
            <a:extLst>
              <a:ext uri="{FF2B5EF4-FFF2-40B4-BE49-F238E27FC236}">
                <a16:creationId xmlns:a16="http://schemas.microsoft.com/office/drawing/2014/main" id="{43A6CC1B-7749-C6A9-29E6-B85D9ED62237}"/>
              </a:ext>
            </a:extLst>
          </p:cNvPr>
          <p:cNvSpPr txBox="1"/>
          <p:nvPr/>
        </p:nvSpPr>
        <p:spPr>
          <a:xfrm>
            <a:off x="1304919" y="1547892"/>
            <a:ext cx="9355942" cy="2308324"/>
          </a:xfrm>
          <a:prstGeom prst="rect">
            <a:avLst/>
          </a:prstGeom>
          <a:noFill/>
        </p:spPr>
        <p:txBody>
          <a:bodyPr wrap="square">
            <a:spAutoFit/>
          </a:bodyPr>
          <a:lstStyle/>
          <a:p>
            <a:pPr algn="just" latinLnBrk="1">
              <a:buSzPts val="1000"/>
              <a:tabLst>
                <a:tab pos="457200" algn="l"/>
              </a:tabLst>
            </a:pPr>
            <a:r>
              <a:rPr lang="ko-Kore-KR" altLang="ko-Kore-KR" sz="1800" b="0">
                <a:effectLst/>
                <a:ea typeface="SimSun" panose="02010600030101010101" pitchFamily="2" charset="-122"/>
                <a:cs typeface="Times New Roman" panose="02020603050405020304" pitchFamily="18" charset="0"/>
              </a:rPr>
              <a:t>深度学习是一种基于神经网络的自动特征学习技术，能够从原始输入数据中自动生成有语义的特征</a:t>
            </a:r>
            <a:r>
              <a:rPr lang="ko-Kore-KR" altLang="ko-Kore-KR" b="0">
                <a:effectLst/>
              </a:rPr>
              <a:t> </a:t>
            </a:r>
            <a:r>
              <a:rPr lang="zh-CN" altLang="en-US" b="0">
                <a:effectLst/>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传统特征工程通常依赖领域知识，深度学习通过多层神经元及反向传播算法自动学习输入与输出之间的映射关系，自动调整权重以最小化预测误差。</a:t>
            </a:r>
            <a:endParaRPr lang="en-US" altLang="ko-Kore-KR" sz="18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buSzPts val="1000"/>
              <a:tabLst>
                <a:tab pos="457200" algn="l"/>
              </a:tabLst>
            </a:pPr>
            <a:endParaRPr lang="en-US" altLang="ko-Kore-KR" b="0" kern="100">
              <a:latin typeface="Calibri" panose="020F0502020204030204" pitchFamily="34" charset="0"/>
              <a:ea typeface="SimSun" panose="02010600030101010101" pitchFamily="2" charset="-122"/>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常见的神经网络结构包括：前馈神经网络（</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Feed-forward Neural Network</a:t>
            </a:r>
            <a:r>
              <a:rPr lang="zh-CN" altLang="en-US" b="0" kern="100">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卷积神经网络（</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CNN</a:t>
            </a:r>
            <a:r>
              <a:rPr lang="zh-CN" altLang="en-US" b="0" kern="100">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循环神经网络（</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RNN</a:t>
            </a:r>
            <a:r>
              <a:rPr lang="zh-CN" altLang="en-US" b="0" kern="100">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图神经网络（</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GNN</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）等</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应用领域广泛：计算机视觉</a:t>
            </a:r>
            <a:r>
              <a:rPr lang="zh-CN" altLang="en-US"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自然语言处理</a:t>
            </a:r>
            <a:r>
              <a:rPr lang="zh-CN" altLang="en-US"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机器翻译</a:t>
            </a:r>
            <a:r>
              <a:rPr lang="zh-CN" altLang="en-US"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社交网络分析等</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4374582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数据挖掘的主要任务</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19</a:t>
            </a:fld>
            <a:endParaRPr lang="en-US" altLang="zh-CN" dirty="0"/>
          </a:p>
        </p:txBody>
      </p:sp>
      <p:sp>
        <p:nvSpPr>
          <p:cNvPr id="7" name="内容占位符 2">
            <a:extLst>
              <a:ext uri="{FF2B5EF4-FFF2-40B4-BE49-F238E27FC236}">
                <a16:creationId xmlns:a16="http://schemas.microsoft.com/office/drawing/2014/main" id="{3770D402-7E11-5517-4D72-B0BAED663D75}"/>
              </a:ext>
            </a:extLst>
          </p:cNvPr>
          <p:cNvSpPr>
            <a:spLocks noGrp="1"/>
          </p:cNvSpPr>
          <p:nvPr>
            <p:ph idx="1"/>
          </p:nvPr>
        </p:nvSpPr>
        <p:spPr>
          <a:xfrm>
            <a:off x="906326" y="1047826"/>
            <a:ext cx="10153128" cy="500066"/>
          </a:xfrm>
        </p:spPr>
        <p:txBody>
          <a:bodyPr/>
          <a:lstStyle/>
          <a:p>
            <a:pPr latinLnBrk="0">
              <a:lnSpc>
                <a:spcPct val="125000"/>
              </a:lnSpc>
              <a:spcBef>
                <a:spcPts val="600"/>
              </a:spcBef>
            </a:pPr>
            <a:r>
              <a:rPr lang="zh-CN" altLang="en-US" sz="2100" dirty="0">
                <a:solidFill>
                  <a:srgbClr val="FF0000"/>
                </a:solidFill>
              </a:rPr>
              <a:t>异常值分析（</a:t>
            </a:r>
            <a:r>
              <a:rPr lang="en" altLang="zh-CN" sz="2100" dirty="0">
                <a:solidFill>
                  <a:srgbClr val="FF0000"/>
                </a:solidFill>
              </a:rPr>
              <a:t>Outlier Analysis</a:t>
            </a:r>
            <a:r>
              <a:rPr lang="zh-CN" altLang="en" sz="2100" dirty="0">
                <a:solidFill>
                  <a:srgbClr val="FF0000"/>
                </a:solidFill>
              </a:rPr>
              <a:t>）</a:t>
            </a:r>
            <a:endParaRPr lang="zh-CN" altLang="en-US" sz="2100" b="1" dirty="0"/>
          </a:p>
        </p:txBody>
      </p:sp>
      <p:sp>
        <p:nvSpPr>
          <p:cNvPr id="13" name="TextBox 12">
            <a:extLst>
              <a:ext uri="{FF2B5EF4-FFF2-40B4-BE49-F238E27FC236}">
                <a16:creationId xmlns:a16="http://schemas.microsoft.com/office/drawing/2014/main" id="{43A6CC1B-7749-C6A9-29E6-B85D9ED62237}"/>
              </a:ext>
            </a:extLst>
          </p:cNvPr>
          <p:cNvSpPr txBox="1"/>
          <p:nvPr/>
        </p:nvSpPr>
        <p:spPr>
          <a:xfrm>
            <a:off x="1304918" y="1547892"/>
            <a:ext cx="9543609" cy="4524315"/>
          </a:xfrm>
          <a:prstGeom prst="rect">
            <a:avLst/>
          </a:prstGeom>
          <a:noFill/>
        </p:spPr>
        <p:txBody>
          <a:bodyPr wrap="square">
            <a:spAutoFit/>
          </a:bodyPr>
          <a:lstStyle/>
          <a:p>
            <a:pPr algn="just" latinLnBrk="1">
              <a:buSzPts val="1000"/>
              <a:tabLst>
                <a:tab pos="457200" algn="l"/>
              </a:tabLst>
            </a:pP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数据集中可能存在不符合整体模式或行为的数据对象，这些对象称为异常值（</a:t>
            </a:r>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Outlier</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）。许多数据挖掘方法会将异常值视为噪声或例外情况，但在某些应用中（如欺诈检测），罕见事件往往比常见模式更值得关注。异常值分析（又称异常挖掘）专门用于发现此类稀有模式。</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异常值可通过多种方法检测：</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zh-CN" sz="1800" b="0" kern="100">
                <a:effectLst/>
                <a:latin typeface="Calibri" panose="020F0502020204030204" pitchFamily="34" charset="0"/>
                <a:ea typeface="SimSun" panose="02010600030101010101" pitchFamily="2" charset="-122"/>
                <a:cs typeface="Times New Roman" panose="02020603050405020304" pitchFamily="18" charset="0"/>
              </a:rPr>
              <a:t>1</a:t>
            </a:r>
            <a:r>
              <a:rPr lang="zh-CN" altLang="en-US"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基于统计检验：假设数据符合某种分布或概率模型</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zh-CN" sz="1800" b="0" kern="100">
                <a:effectLst/>
                <a:latin typeface="Calibri" panose="020F0502020204030204" pitchFamily="34" charset="0"/>
                <a:ea typeface="SimSun" panose="02010600030101010101" pitchFamily="2" charset="-122"/>
                <a:cs typeface="Times New Roman" panose="02020603050405020304" pitchFamily="18" charset="0"/>
              </a:rPr>
              <a:t>2</a:t>
            </a:r>
            <a:r>
              <a:rPr lang="zh-CN" altLang="en-US"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基于距离度量：距离其他簇较远的对象被视为异常</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zh-CN" sz="1800" b="0" kern="100">
                <a:effectLst/>
                <a:latin typeface="Calibri" panose="020F0502020204030204" pitchFamily="34" charset="0"/>
                <a:ea typeface="SimSun" panose="02010600030101010101" pitchFamily="2" charset="-122"/>
                <a:cs typeface="Times New Roman" panose="02020603050405020304" pitchFamily="18" charset="0"/>
              </a:rPr>
              <a:t>3</a:t>
            </a:r>
            <a:r>
              <a:rPr lang="zh-CN" altLang="en-US" sz="1800" b="0" kern="100">
                <a:effectLst/>
                <a:latin typeface="Calibri" panose="020F0502020204030204" pitchFamily="34" charset="0"/>
                <a:ea typeface="SimSun" panose="02010600030101010101" pitchFamily="2" charset="-122"/>
                <a:cs typeface="Times New Roman" panose="02020603050405020304" pitchFamily="18" charset="0"/>
              </a:rPr>
              <a:t>）</a:t>
            </a:r>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基于密度的方法：可在局部区域发现异常，即使从整体分布看似正常</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buSzPts val="1000"/>
              <a:tabLst>
                <a:tab pos="457200" algn="l"/>
              </a:tabLst>
            </a:pPr>
            <a:endParaRPr lang="en-US"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示例：</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8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800" b="0" kern="100">
                <a:effectLst/>
                <a:latin typeface="Calibri" panose="020F0502020204030204" pitchFamily="34" charset="0"/>
                <a:ea typeface="SimSun" panose="02010600030101010101" pitchFamily="2" charset="-122"/>
                <a:cs typeface="Times New Roman" panose="02020603050405020304" pitchFamily="18" charset="0"/>
              </a:rPr>
              <a:t>异常分析可发现信用卡异常使用行为，例如相比该账户历史记录出现大额消费，或出现异常的地点、类型和</a:t>
            </a:r>
            <a:r>
              <a:rPr lang="ko-Kore-KR" altLang="en-US" sz="1800" b="0" kern="100">
                <a:effectLst/>
                <a:latin typeface="Calibri" panose="020F0502020204030204" pitchFamily="34" charset="0"/>
                <a:ea typeface="SimSun" panose="02010600030101010101" pitchFamily="2" charset="-122"/>
                <a:cs typeface="Times New Roman" panose="02020603050405020304" pitchFamily="18" charset="0"/>
              </a:rPr>
              <a:t>频率</a:t>
            </a:r>
            <a:r>
              <a:rPr lang="zh-CN" altLang="en-US" sz="1800" b="0" kern="100">
                <a:effectLst/>
                <a:latin typeface="Calibri" panose="020F0502020204030204" pitchFamily="34" charset="0"/>
                <a:ea typeface="SimSun" panose="02010600030101010101" pitchFamily="2" charset="-122"/>
                <a:cs typeface="Times New Roman" panose="02020603050405020304" pitchFamily="18" charset="0"/>
              </a:rPr>
              <a:t>。</a:t>
            </a:r>
            <a:endParaRPr lang="ko-Kore-KR" altLang="ko-Kore-KR" sz="18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284043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数据挖掘与多学科的交汇</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20</a:t>
            </a:fld>
            <a:endParaRPr lang="en-US" altLang="zh-CN" dirty="0"/>
          </a:p>
        </p:txBody>
      </p:sp>
      <p:pic>
        <p:nvPicPr>
          <p:cNvPr id="7" name="그림 6">
            <a:extLst>
              <a:ext uri="{FF2B5EF4-FFF2-40B4-BE49-F238E27FC236}">
                <a16:creationId xmlns:a16="http://schemas.microsoft.com/office/drawing/2014/main" id="{0CDA3576-D121-AE62-BABD-9704E82C7611}"/>
              </a:ext>
            </a:extLst>
          </p:cNvPr>
          <p:cNvPicPr>
            <a:picLocks noChangeAspect="1"/>
          </p:cNvPicPr>
          <p:nvPr/>
        </p:nvPicPr>
        <p:blipFill>
          <a:blip r:embed="rId2"/>
          <a:stretch>
            <a:fillRect/>
          </a:stretch>
        </p:blipFill>
        <p:spPr>
          <a:xfrm>
            <a:off x="2423592" y="1076259"/>
            <a:ext cx="6768752" cy="3000813"/>
          </a:xfrm>
          <a:prstGeom prst="rect">
            <a:avLst/>
          </a:prstGeom>
        </p:spPr>
      </p:pic>
      <p:sp>
        <p:nvSpPr>
          <p:cNvPr id="6" name="TextBox 5">
            <a:extLst>
              <a:ext uri="{FF2B5EF4-FFF2-40B4-BE49-F238E27FC236}">
                <a16:creationId xmlns:a16="http://schemas.microsoft.com/office/drawing/2014/main" id="{572EB4BF-1E98-B15C-4AD0-814CC78BD221}"/>
              </a:ext>
            </a:extLst>
          </p:cNvPr>
          <p:cNvSpPr txBox="1"/>
          <p:nvPr/>
        </p:nvSpPr>
        <p:spPr>
          <a:xfrm>
            <a:off x="983432" y="4077072"/>
            <a:ext cx="10367146" cy="2246769"/>
          </a:xfrm>
          <a:prstGeom prst="rect">
            <a:avLst/>
          </a:prstGeom>
          <a:noFill/>
        </p:spPr>
        <p:txBody>
          <a:bodyPr wrap="square">
            <a:spAutoFit/>
          </a:bodyPr>
          <a:lstStyle/>
          <a:p>
            <a:pPr algn="just" latinLnBrk="1"/>
            <a:r>
              <a:rPr lang="ko-Kore-KR" altLang="en-US" sz="1400" b="0" kern="100">
                <a:effectLst/>
                <a:latin typeface="Calibri" panose="020F0502020204030204" pitchFamily="34" charset="0"/>
                <a:ea typeface="SimSun" panose="02010600030101010101" pitchFamily="2" charset="-122"/>
                <a:cs typeface="Times New Roman" panose="02020603050405020304" pitchFamily="18" charset="0"/>
              </a:rPr>
              <a:t>机</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器学习（</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Machine Learning</a:t>
            </a:r>
            <a:r>
              <a:rPr lang="zh-CN" altLang="en-US" sz="1400" b="0" kern="100">
                <a:latin typeface="Calibri" panose="020F0502020204030204" pitchFamily="34" charset="0"/>
                <a:ea typeface="SimSun" panose="02010600030101010101" pitchFamily="2" charset="-122"/>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提供自动学习与模型构建能力，用于分类、聚类、预测等任务。</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统计学（</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Statistics</a:t>
            </a:r>
            <a:r>
              <a:rPr lang="zh-CN" altLang="en-US" sz="1400" b="0" kern="100">
                <a:latin typeface="Calibri" panose="020F0502020204030204" pitchFamily="34" charset="0"/>
                <a:ea typeface="SimSun" panose="02010600030101010101" pitchFamily="2" charset="-122"/>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提供数据建模与推断基础，可用于描述数据、验证结果（如假设检验）并处理噪声与缺失值。</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模式识别（</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Pattern Recognition</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识别数据中的潜在模式，支持自动分类、特征提取等任务。</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自然语言处理（</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Natural Language Processing</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用于处理文本与语言数据，支持文本挖掘与语义分析。</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可视化与人机交互（</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Visualization &amp; HCI</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帮助直观展示挖掘结果，提升结果解释性和交互性。</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数据库技术（</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Database Technology</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提供高效的数据存储、管理与访问支撑大规模数据分析。</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算法（</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Algorithm</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设计高效可扩展的挖掘算法，解决大规模和分布式环境下的计算复杂性问题。</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高性能计算（</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High-Performance Computing</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为处理海量数据与实时数据流提供算力支持，特别适用于在线应用。</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社会科学（</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Social Sciences</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提供数据解释与模型验证的理论支持，帮助理解行为模式与社会现象。</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应用（</a:t>
            </a:r>
            <a:r>
              <a:rPr lang="en-US" altLang="ko-Kore-KR" sz="1400" b="0" kern="100">
                <a:effectLst/>
                <a:latin typeface="SimSun" panose="02010600030101010101" pitchFamily="2" charset="-122"/>
                <a:ea typeface="맑은 고딕" panose="020B0503020000020004" pitchFamily="34" charset="-127"/>
                <a:cs typeface="Times New Roman" panose="02020603050405020304" pitchFamily="18" charset="0"/>
              </a:rPr>
              <a:t>Applications</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a:t>
            </a:r>
            <a:r>
              <a:rPr lang="zh-CN" altLang="en-US" sz="1400" b="0" kern="100">
                <a:latin typeface="Calibri" panose="020F0502020204030204" pitchFamily="34" charset="0"/>
                <a:ea typeface="맑은 고딕" panose="020B0503020000020004" pitchFamily="34" charset="-127"/>
                <a:cs typeface="Times New Roman" panose="02020603050405020304" pitchFamily="18" charset="0"/>
              </a:rPr>
              <a:t>：</a:t>
            </a:r>
            <a:r>
              <a:rPr lang="ko-Kore-KR" altLang="ko-Kore-KR" sz="1400" b="0" kern="100">
                <a:effectLst/>
                <a:latin typeface="Calibri" panose="020F0502020204030204" pitchFamily="34" charset="0"/>
                <a:ea typeface="SimSun" panose="02010600030101010101" pitchFamily="2" charset="-122"/>
                <a:cs typeface="Times New Roman" panose="02020603050405020304" pitchFamily="18" charset="0"/>
              </a:rPr>
              <a:t>数据挖掘技术广泛应用于医疗、金融、电商、搜索引擎等领域，支持预测、推荐和风险管理等任务</a:t>
            </a:r>
            <a:r>
              <a:rPr lang="zh-CN" altLang="en-US" sz="1400" b="0" kern="100">
                <a:effectLst/>
                <a:latin typeface="Calibri" panose="020F0502020204030204" pitchFamily="34" charset="0"/>
                <a:ea typeface="SimSun" panose="02010600030101010101" pitchFamily="2" charset="-122"/>
                <a:cs typeface="Times New Roman" panose="02020603050405020304" pitchFamily="18" charset="0"/>
              </a:rPr>
              <a:t>。</a:t>
            </a:r>
            <a:endParaRPr lang="ko-Kore-KR" altLang="ko-Kore-KR" sz="14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2768429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数据挖掘与多学科的交汇</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21</a:t>
            </a:fld>
            <a:endParaRPr lang="en-US" altLang="zh-CN" dirty="0"/>
          </a:p>
        </p:txBody>
      </p:sp>
      <p:sp>
        <p:nvSpPr>
          <p:cNvPr id="5" name="TextBox 4">
            <a:extLst>
              <a:ext uri="{FF2B5EF4-FFF2-40B4-BE49-F238E27FC236}">
                <a16:creationId xmlns:a16="http://schemas.microsoft.com/office/drawing/2014/main" id="{DD5979CA-CDE8-8752-D525-CCFDEC331A28}"/>
              </a:ext>
            </a:extLst>
          </p:cNvPr>
          <p:cNvSpPr txBox="1"/>
          <p:nvPr/>
        </p:nvSpPr>
        <p:spPr>
          <a:xfrm>
            <a:off x="1199456" y="1526410"/>
            <a:ext cx="9793088" cy="4278094"/>
          </a:xfrm>
          <a:prstGeom prst="rect">
            <a:avLst/>
          </a:prstGeom>
          <a:noFill/>
        </p:spPr>
        <p:txBody>
          <a:bodyPr wrap="square">
            <a:spAutoFit/>
          </a:bodyPr>
          <a:lstStyle/>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统计模型既可以是数据挖掘的结果（如分类模型），也可作为数据挖掘的基础（如噪声、缺失值建模）。</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en-US" altLang="ko-Kore-KR" sz="1600" b="0" kern="100">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提供预测与预测建模工具，支持对数据进行汇总与描述。</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推断统计（如概率模型）帮助处理观测数据中的随机性与不确定性，并对过程或总体作出推断。</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可用于验证挖掘结果（如分类或预测模型），常用统计假设检验来确认结果显著性与可靠性。</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示例：</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挖掘完成后，可用假设检验确认模型是否有效，若显著性通过，模型的描述统计可增强其可靠性。</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将统计方法应用于大规模或分布式数据集时，计算复杂度高、扩展性难度大。</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对在线应用（如搜索引擎查询推荐）尤为关键，需实时处理快速数据流。</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
        <p:nvSpPr>
          <p:cNvPr id="9" name="TextBox 8">
            <a:extLst>
              <a:ext uri="{FF2B5EF4-FFF2-40B4-BE49-F238E27FC236}">
                <a16:creationId xmlns:a16="http://schemas.microsoft.com/office/drawing/2014/main" id="{9D56C867-5DB5-69C8-148A-7EDC5720E1D2}"/>
              </a:ext>
            </a:extLst>
          </p:cNvPr>
          <p:cNvSpPr txBox="1"/>
          <p:nvPr/>
        </p:nvSpPr>
        <p:spPr>
          <a:xfrm>
            <a:off x="407368" y="971436"/>
            <a:ext cx="3672408" cy="369332"/>
          </a:xfrm>
          <a:prstGeom prst="rect">
            <a:avLst/>
          </a:prstGeom>
          <a:noFill/>
        </p:spPr>
        <p:txBody>
          <a:bodyPr wrap="square">
            <a:spAutoFit/>
          </a:bodyPr>
          <a:lstStyle/>
          <a:p>
            <a:pPr algn="just" latinLnBrk="1"/>
            <a:r>
              <a:rPr lang="ko-Kore-KR" altLang="ko-Kore-KR" sz="1800" kern="100">
                <a:effectLst/>
                <a:latin typeface="Calibri" panose="020F0502020204030204" pitchFamily="34" charset="0"/>
                <a:ea typeface="SimSun" panose="02010600030101010101" pitchFamily="2" charset="-122"/>
                <a:cs typeface="Times New Roman" panose="02020603050405020304" pitchFamily="18" charset="0"/>
              </a:rPr>
              <a:t>统计学在数据挖掘中的作用</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54253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83500" y="285728"/>
            <a:ext cx="8798781" cy="500066"/>
          </a:xfrm>
        </p:spPr>
        <p:txBody>
          <a:bodyPr wrap="square" anchor="ctr">
            <a:normAutofit/>
          </a:bodyPr>
          <a:lstStyle/>
          <a:p>
            <a:pPr>
              <a:lnSpc>
                <a:spcPct val="90000"/>
              </a:lnSpc>
            </a:pPr>
            <a:r>
              <a:rPr lang="zh-CN" altLang="en-US" sz="2800"/>
              <a:t>数据挖掘与多学科的交汇</a:t>
            </a:r>
          </a:p>
        </p:txBody>
      </p:sp>
      <p:sp>
        <p:nvSpPr>
          <p:cNvPr id="4" name="灯片编号占位符 3" hidden="1"/>
          <p:cNvSpPr>
            <a:spLocks noGrp="1"/>
          </p:cNvSpPr>
          <p:nvPr>
            <p:ph type="sldNum" sz="quarter" idx="4294967295"/>
          </p:nvPr>
        </p:nvSpPr>
        <p:spPr>
          <a:xfrm>
            <a:off x="8534400" y="6461126"/>
            <a:ext cx="2133600" cy="244475"/>
          </a:xfrm>
        </p:spPr>
        <p:txBody>
          <a:bodyPr/>
          <a:lstStyle/>
          <a:p>
            <a:pPr>
              <a:spcAft>
                <a:spcPts val="600"/>
              </a:spcAft>
            </a:pPr>
            <a:fld id="{950BD6B0-76F7-4942-8BD6-FCF18CBA2D80}" type="slidenum">
              <a:rPr lang="en-US" altLang="zh-CN" smtClean="0"/>
              <a:pPr>
                <a:spcAft>
                  <a:spcPts val="600"/>
                </a:spcAft>
              </a:pPr>
              <a:t>22</a:t>
            </a:fld>
            <a:endParaRPr lang="en-US" altLang="zh-CN"/>
          </a:p>
        </p:txBody>
      </p:sp>
      <p:sp>
        <p:nvSpPr>
          <p:cNvPr id="11" name="TextBox 10">
            <a:extLst>
              <a:ext uri="{FF2B5EF4-FFF2-40B4-BE49-F238E27FC236}">
                <a16:creationId xmlns:a16="http://schemas.microsoft.com/office/drawing/2014/main" id="{A9F52DE3-8D2D-04E9-C36C-45A36BE7EFA9}"/>
              </a:ext>
            </a:extLst>
          </p:cNvPr>
          <p:cNvSpPr txBox="1"/>
          <p:nvPr/>
        </p:nvSpPr>
        <p:spPr>
          <a:xfrm>
            <a:off x="551384" y="1628800"/>
            <a:ext cx="4752528" cy="3785652"/>
          </a:xfrm>
          <a:prstGeom prst="rect">
            <a:avLst/>
          </a:prstGeom>
          <a:noFill/>
        </p:spPr>
        <p:txBody>
          <a:bodyPr wrap="square">
            <a:spAutoFit/>
          </a:bodyPr>
          <a:lstStyle/>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监督学习</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使用有标签数据指导模型训练，如手写邮编识别（输入图片</a:t>
            </a:r>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正确数字），通过已知标签学习输入与输出之间的映射关系。</a:t>
            </a:r>
            <a:endParaRPr lang="en-US" altLang="ko-Kore-KR" sz="1600" b="0" kern="100">
              <a:effectLst/>
              <a:latin typeface="Calibri" panose="020F0502020204030204" pitchFamily="34" charset="0"/>
              <a:ea typeface="SimSun" panose="02010600030101010101" pitchFamily="2" charset="-122"/>
              <a:cs typeface="Times New Roman" panose="02020603050405020304" pitchFamily="18" charset="0"/>
            </a:endParaRPr>
          </a:p>
          <a:p>
            <a:pPr algn="just" latinLnBrk="1"/>
            <a:endParaRPr lang="en-US" altLang="ko-Kore-KR" sz="1600" b="0" kern="100">
              <a:latin typeface="Calibri" panose="020F0502020204030204" pitchFamily="34" charset="0"/>
              <a:ea typeface="SimSun" panose="02010600030101010101" pitchFamily="2" charset="-122"/>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半监督学习：</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结合使用已标记和未标记的实例，已标记实例用于学习初步类别模型，未标记实例用于进一步优化类边界，适用于标签获取成本高、无标签数据充足的场景。</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endParaRPr lang="en-US"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无监督学习：</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使用无标签数据，通过聚类等方法发现数据内部结构，例如将手写数字图片分成</a:t>
            </a:r>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10 </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个簇，对应数字</a:t>
            </a:r>
            <a:r>
              <a:rPr lang="en-US" altLang="ko-Kore-KR" sz="1600" b="0" kern="100">
                <a:effectLst/>
                <a:latin typeface="SimSun" panose="02010600030101010101" pitchFamily="2" charset="-122"/>
                <a:ea typeface="맑은 고딕" panose="020B0503020000020004" pitchFamily="34" charset="-127"/>
                <a:cs typeface="Times New Roman" panose="02020603050405020304" pitchFamily="18" charset="0"/>
              </a:rPr>
              <a:t> 0~9</a:t>
            </a:r>
            <a:r>
              <a:rPr lang="ko-Kore-KR" altLang="ko-Kore-KR" sz="1600" b="0" kern="100">
                <a:effectLst/>
                <a:latin typeface="Calibri" panose="020F0502020204030204" pitchFamily="34" charset="0"/>
                <a:ea typeface="SimSun" panose="02010600030101010101" pitchFamily="2" charset="-122"/>
                <a:cs typeface="Times New Roman" panose="02020603050405020304" pitchFamily="18" charset="0"/>
              </a:rPr>
              <a:t>，自动挖掘数据模式。</a:t>
            </a:r>
            <a:endParaRPr lang="ko-Kore-KR" altLang="ko-Kore-KR" sz="1600"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pic>
        <p:nvPicPr>
          <p:cNvPr id="12" name="Picture 2" descr="The main types of machine learning. Main approaches include... | Download  Scientific Diagram">
            <a:extLst>
              <a:ext uri="{FF2B5EF4-FFF2-40B4-BE49-F238E27FC236}">
                <a16:creationId xmlns:a16="http://schemas.microsoft.com/office/drawing/2014/main" id="{B70C41BB-A6AC-1E2E-134A-E69C63626F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58716" y="2060848"/>
            <a:ext cx="5768271" cy="311486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1382C53-1B04-A980-68DF-43852D0329E9}"/>
              </a:ext>
            </a:extLst>
          </p:cNvPr>
          <p:cNvSpPr txBox="1"/>
          <p:nvPr/>
        </p:nvSpPr>
        <p:spPr>
          <a:xfrm>
            <a:off x="407368" y="971436"/>
            <a:ext cx="3672408" cy="369332"/>
          </a:xfrm>
          <a:prstGeom prst="rect">
            <a:avLst/>
          </a:prstGeom>
          <a:noFill/>
        </p:spPr>
        <p:txBody>
          <a:bodyPr wrap="square">
            <a:spAutoFit/>
          </a:bodyPr>
          <a:lstStyle/>
          <a:p>
            <a:pPr algn="just" latinLnBrk="1"/>
            <a:r>
              <a:rPr lang="ko-Kore-KR" altLang="en-US" sz="1800" kern="100">
                <a:effectLst/>
                <a:latin typeface="Calibri" panose="020F0502020204030204" pitchFamily="34" charset="0"/>
                <a:ea typeface="SimSun" panose="02010600030101010101" pitchFamily="2" charset="-122"/>
                <a:cs typeface="Times New Roman" panose="02020603050405020304" pitchFamily="18" charset="0"/>
              </a:rPr>
              <a:t>机器学习</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4147085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数据挖掘的数据源</a:t>
            </a:r>
          </a:p>
        </p:txBody>
      </p:sp>
      <p:sp>
        <p:nvSpPr>
          <p:cNvPr id="3" name="内容占位符 2"/>
          <p:cNvSpPr>
            <a:spLocks noGrp="1"/>
          </p:cNvSpPr>
          <p:nvPr>
            <p:ph idx="1"/>
          </p:nvPr>
        </p:nvSpPr>
        <p:spPr>
          <a:xfrm>
            <a:off x="695400" y="1124744"/>
            <a:ext cx="10369152" cy="4464496"/>
          </a:xfrm>
        </p:spPr>
        <p:txBody>
          <a:bodyPr>
            <a:normAutofit/>
          </a:bodyPr>
          <a:lstStyle/>
          <a:p>
            <a:pPr marL="0" indent="0">
              <a:lnSpc>
                <a:spcPct val="130000"/>
              </a:lnSpc>
              <a:buNone/>
            </a:pPr>
            <a:r>
              <a:rPr lang="zh-CN" altLang="zh-CN" sz="2000" dirty="0"/>
              <a:t>作为一门通用的技术，只要数据对目标应用是有用的，数据挖掘就可以用于任何类型的数据。对于挖掘的应用，数据的基本形式主要有数据库数据、数据仓库、事务数据库和其它数据源。</a:t>
            </a:r>
            <a:endParaRPr lang="en-US" altLang="zh-CN" sz="2000" dirty="0"/>
          </a:p>
          <a:p>
            <a:pPr marL="0" indent="0">
              <a:lnSpc>
                <a:spcPct val="130000"/>
              </a:lnSpc>
              <a:buNone/>
            </a:pPr>
            <a:endParaRPr lang="en-US" altLang="zh-CN" sz="2000" b="1" dirty="0"/>
          </a:p>
          <a:p>
            <a:pPr marL="0" indent="0">
              <a:lnSpc>
                <a:spcPct val="130000"/>
              </a:lnSpc>
              <a:buNone/>
            </a:pPr>
            <a:r>
              <a:rPr lang="zh-CN" altLang="en-US" sz="2000" b="1" dirty="0"/>
              <a:t>（</a:t>
            </a:r>
            <a:r>
              <a:rPr lang="en-US" altLang="zh-CN" sz="2000" b="1" dirty="0"/>
              <a:t>1</a:t>
            </a:r>
            <a:r>
              <a:rPr lang="zh-CN" altLang="en-US" sz="2000" b="1" dirty="0"/>
              <a:t>）</a:t>
            </a:r>
            <a:r>
              <a:rPr lang="zh-CN" altLang="zh-CN" sz="2000" dirty="0">
                <a:solidFill>
                  <a:srgbClr val="FF0000"/>
                </a:solidFill>
              </a:rPr>
              <a:t>数据库系统</a:t>
            </a:r>
            <a:r>
              <a:rPr lang="zh-CN" altLang="zh-CN" sz="2000" dirty="0"/>
              <a:t>是由一组内部相关的数据</a:t>
            </a:r>
            <a:r>
              <a:rPr lang="zh-CN" altLang="en-US" sz="2000" dirty="0"/>
              <a:t>（数据库）</a:t>
            </a:r>
            <a:r>
              <a:rPr lang="zh-CN" altLang="zh-CN" sz="2000" dirty="0"/>
              <a:t>和用于管理这些数据的程序组成，通过软件程序对数据进行高效的存储和管理，并发、共享或分布式访问，并保证数据的完整性和安全性。</a:t>
            </a:r>
          </a:p>
        </p:txBody>
      </p:sp>
      <p:sp>
        <p:nvSpPr>
          <p:cNvPr id="4" name="灯片编号占位符 3"/>
          <p:cNvSpPr>
            <a:spLocks noGrp="1"/>
          </p:cNvSpPr>
          <p:nvPr>
            <p:ph type="sldNum" sz="quarter" idx="4294967295"/>
          </p:nvPr>
        </p:nvSpPr>
        <p:spPr>
          <a:xfrm>
            <a:off x="14536832" y="7035779"/>
            <a:ext cx="904117" cy="69878"/>
          </a:xfrm>
        </p:spPr>
        <p:txBody>
          <a:bodyPr/>
          <a:lstStyle/>
          <a:p>
            <a:fld id="{950BD6B0-76F7-4942-8BD6-FCF18CBA2D80}" type="slidenum">
              <a:rPr lang="en-US" altLang="zh-CN" smtClean="0"/>
              <a:t>23</a:t>
            </a:fld>
            <a:endParaRPr lang="en-US" altLang="zh-CN" dirty="0"/>
          </a:p>
        </p:txBody>
      </p:sp>
      <p:pic>
        <p:nvPicPr>
          <p:cNvPr id="13314" name="Picture 2" descr="When to Use SQL Databases vs. NoSQL Databases: Making the Right Decision">
            <a:extLst>
              <a:ext uri="{FF2B5EF4-FFF2-40B4-BE49-F238E27FC236}">
                <a16:creationId xmlns:a16="http://schemas.microsoft.com/office/drawing/2014/main" id="{BB4C960C-316C-0758-25BC-30495996C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300" b="13251"/>
          <a:stretch/>
        </p:blipFill>
        <p:spPr bwMode="auto">
          <a:xfrm>
            <a:off x="5303912" y="3645024"/>
            <a:ext cx="5222267" cy="24021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数据挖掘的数据源</a:t>
            </a:r>
          </a:p>
        </p:txBody>
      </p:sp>
      <p:sp>
        <p:nvSpPr>
          <p:cNvPr id="3" name="内容占位符 2"/>
          <p:cNvSpPr>
            <a:spLocks noGrp="1"/>
          </p:cNvSpPr>
          <p:nvPr>
            <p:ph idx="1"/>
          </p:nvPr>
        </p:nvSpPr>
        <p:spPr>
          <a:xfrm>
            <a:off x="947428" y="1052736"/>
            <a:ext cx="10297144" cy="4464496"/>
          </a:xfrm>
        </p:spPr>
        <p:txBody>
          <a:bodyPr>
            <a:normAutofit/>
          </a:bodyPr>
          <a:lstStyle/>
          <a:p>
            <a:pPr marL="0" indent="0" algn="just">
              <a:lnSpc>
                <a:spcPct val="120000"/>
              </a:lnSpc>
              <a:spcAft>
                <a:spcPts val="600"/>
              </a:spcAft>
              <a:buNone/>
            </a:pPr>
            <a:r>
              <a:rPr lang="zh-CN" altLang="en-US" sz="2000" dirty="0"/>
              <a:t>（</a:t>
            </a:r>
            <a:r>
              <a:rPr lang="en-US" altLang="zh-CN" sz="2000" dirty="0"/>
              <a:t>2</a:t>
            </a:r>
            <a:r>
              <a:rPr lang="zh-CN" altLang="en-US" sz="2000" dirty="0"/>
              <a:t>）</a:t>
            </a:r>
            <a:r>
              <a:rPr lang="zh-CN" altLang="zh-CN" sz="2000" dirty="0">
                <a:solidFill>
                  <a:srgbClr val="FF0000"/>
                </a:solidFill>
              </a:rPr>
              <a:t>数据仓库</a:t>
            </a:r>
            <a:r>
              <a:rPr lang="zh-CN" altLang="zh-CN" sz="2000" dirty="0"/>
              <a:t>是依照分析需求、分析维度和分析指标进行设计的，它是数据库的一种概念上的升级</a:t>
            </a:r>
            <a:r>
              <a:rPr lang="zh-CN" altLang="en-US" sz="2000" dirty="0"/>
              <a:t>。</a:t>
            </a:r>
            <a:endParaRPr lang="en-US" altLang="zh-CN" sz="2000" dirty="0"/>
          </a:p>
          <a:p>
            <a:pPr marL="0" indent="0" algn="just">
              <a:lnSpc>
                <a:spcPct val="120000"/>
              </a:lnSpc>
              <a:spcAft>
                <a:spcPts val="600"/>
              </a:spcAft>
              <a:buNone/>
            </a:pPr>
            <a:r>
              <a:rPr lang="zh-CN" altLang="en-US" sz="2000" dirty="0"/>
              <a:t>（</a:t>
            </a:r>
            <a:r>
              <a:rPr lang="en-US" altLang="zh-CN" sz="2000" dirty="0"/>
              <a:t>3</a:t>
            </a:r>
            <a:r>
              <a:rPr lang="zh-CN" altLang="en-US" sz="2000" dirty="0"/>
              <a:t>）</a:t>
            </a:r>
            <a:r>
              <a:rPr lang="zh-CN" altLang="zh-CN" sz="2000" dirty="0">
                <a:solidFill>
                  <a:srgbClr val="FF0000"/>
                </a:solidFill>
              </a:rPr>
              <a:t>事务数据库</a:t>
            </a:r>
            <a:r>
              <a:rPr lang="zh-CN" altLang="zh-CN" sz="2000" dirty="0"/>
              <a:t>的每个记录代表一个事务，例如一个航班的订票、顾客的一个交易等。</a:t>
            </a:r>
            <a:endParaRPr lang="en-US" altLang="zh-CN" sz="2000" dirty="0"/>
          </a:p>
          <a:p>
            <a:pPr marL="0" indent="0" algn="just">
              <a:lnSpc>
                <a:spcPct val="120000"/>
              </a:lnSpc>
              <a:spcAft>
                <a:spcPts val="600"/>
              </a:spcAft>
              <a:buNone/>
            </a:pPr>
            <a:r>
              <a:rPr lang="zh-CN" altLang="en-US" sz="2000" dirty="0"/>
              <a:t>（</a:t>
            </a:r>
            <a:r>
              <a:rPr lang="en-US" altLang="zh-CN" sz="2000" dirty="0"/>
              <a:t>4</a:t>
            </a:r>
            <a:r>
              <a:rPr lang="zh-CN" altLang="en-US" sz="2000" dirty="0"/>
              <a:t>）</a:t>
            </a:r>
            <a:r>
              <a:rPr lang="x-none" altLang="zh-CN" sz="2000" dirty="0"/>
              <a:t>其</a:t>
            </a:r>
            <a:r>
              <a:rPr lang="zh-CN" altLang="zh-CN" sz="2000" dirty="0"/>
              <a:t>它</a:t>
            </a:r>
            <a:r>
              <a:rPr lang="x-none" altLang="zh-CN" sz="2000" dirty="0"/>
              <a:t>类型数据</a:t>
            </a:r>
            <a:endParaRPr lang="zh-CN" altLang="zh-CN" sz="2000" dirty="0"/>
          </a:p>
          <a:p>
            <a:pPr marL="0" lvl="0" indent="0" algn="just">
              <a:lnSpc>
                <a:spcPct val="120000"/>
              </a:lnSpc>
              <a:spcAft>
                <a:spcPts val="600"/>
              </a:spcAft>
              <a:buNone/>
            </a:pPr>
            <a:r>
              <a:rPr lang="zh-CN" altLang="zh-CN" sz="2000" dirty="0"/>
              <a:t>时间相关的数据和序列数据</a:t>
            </a:r>
            <a:r>
              <a:rPr lang="zh-CN" altLang="en-US" sz="2000" dirty="0"/>
              <a:t>，数据流，空间数据，</a:t>
            </a:r>
            <a:r>
              <a:rPr lang="en-US" altLang="zh-CN" sz="2000" dirty="0"/>
              <a:t>Web</a:t>
            </a:r>
            <a:r>
              <a:rPr lang="zh-CN" altLang="zh-CN" sz="2000" dirty="0"/>
              <a:t>数据（</a:t>
            </a:r>
            <a:r>
              <a:rPr lang="en-US" altLang="zh-CN" sz="2000" dirty="0"/>
              <a:t>HTML</a:t>
            </a:r>
            <a:r>
              <a:rPr lang="zh-CN" altLang="zh-CN" sz="2000" dirty="0"/>
              <a:t>等）</a:t>
            </a:r>
            <a:r>
              <a:rPr lang="zh-CN" altLang="en-US" sz="2000" dirty="0"/>
              <a:t>等。</a:t>
            </a:r>
            <a:endParaRPr lang="en-US" altLang="zh-CN" sz="2000" dirty="0"/>
          </a:p>
          <a:p>
            <a:pPr marL="0" indent="0" algn="just">
              <a:lnSpc>
                <a:spcPct val="120000"/>
              </a:lnSpc>
              <a:spcAft>
                <a:spcPts val="600"/>
              </a:spcAft>
              <a:buNone/>
            </a:pPr>
            <a:endParaRPr lang="en-US" altLang="zh-CN" sz="2000"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24</a:t>
            </a:fld>
            <a:endParaRPr lang="en-US" altLang="zh-CN" dirty="0"/>
          </a:p>
        </p:txBody>
      </p:sp>
      <p:pic>
        <p:nvPicPr>
          <p:cNvPr id="5" name="图片 2">
            <a:extLst>
              <a:ext uri="{FF2B5EF4-FFF2-40B4-BE49-F238E27FC236}">
                <a16:creationId xmlns:a16="http://schemas.microsoft.com/office/drawing/2014/main" id="{CAB2D0B2-20E7-FB63-E0B9-663EF521B79F}"/>
              </a:ext>
            </a:extLst>
          </p:cNvPr>
          <p:cNvPicPr>
            <a:picLocks noChangeAspect="1"/>
          </p:cNvPicPr>
          <p:nvPr>
            <p:custDataLst>
              <p:tags r:id="rId1"/>
            </p:custDataLst>
          </p:nvPr>
        </p:nvPicPr>
        <p:blipFill>
          <a:blip r:embed="rId3"/>
          <a:stretch>
            <a:fillRect/>
          </a:stretch>
        </p:blipFill>
        <p:spPr>
          <a:xfrm>
            <a:off x="3504557" y="3683799"/>
            <a:ext cx="5029843" cy="2717126"/>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数据挖掘使用的技术</a:t>
            </a:r>
          </a:p>
        </p:txBody>
      </p:sp>
      <p:sp>
        <p:nvSpPr>
          <p:cNvPr id="3" name="内容占位符 2"/>
          <p:cNvSpPr>
            <a:spLocks noGrp="1"/>
          </p:cNvSpPr>
          <p:nvPr>
            <p:ph idx="1"/>
          </p:nvPr>
        </p:nvSpPr>
        <p:spPr>
          <a:xfrm>
            <a:off x="877570" y="1124585"/>
            <a:ext cx="10646410" cy="1440180"/>
          </a:xfrm>
        </p:spPr>
        <p:txBody>
          <a:bodyPr>
            <a:normAutofit/>
          </a:bodyPr>
          <a:lstStyle/>
          <a:p>
            <a:pPr>
              <a:lnSpc>
                <a:spcPct val="130000"/>
              </a:lnSpc>
              <a:buFont typeface="Wingdings" panose="05000000000000000000" pitchFamily="2" charset="2"/>
              <a:buChar char="n"/>
            </a:pPr>
            <a:r>
              <a:rPr lang="zh-CN" altLang="zh-CN" sz="2000" dirty="0"/>
              <a:t>作为一个应用驱动的领域，数据挖掘吸纳了诸如统计学、机器学习、数据库和数据仓库、数据可视化、算法、高性能计算和许多应用领域的先进技术</a:t>
            </a:r>
            <a:endParaRPr lang="zh-CN" altLang="en-US" sz="2000"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25</a:t>
            </a:fld>
            <a:endParaRPr lang="en-US" altLang="zh-CN"/>
          </a:p>
        </p:txBody>
      </p:sp>
      <p:graphicFrame>
        <p:nvGraphicFramePr>
          <p:cNvPr id="7" name="对象 6"/>
          <p:cNvGraphicFramePr>
            <a:graphicFrameLocks noChangeAspect="1"/>
          </p:cNvGraphicFramePr>
          <p:nvPr>
            <p:extLst>
              <p:ext uri="{D42A27DB-BD31-4B8C-83A1-F6EECF244321}">
                <p14:modId xmlns:p14="http://schemas.microsoft.com/office/powerpoint/2010/main" val="3058376963"/>
              </p:ext>
            </p:extLst>
          </p:nvPr>
        </p:nvGraphicFramePr>
        <p:xfrm>
          <a:off x="2482949" y="2493693"/>
          <a:ext cx="7086079" cy="2019252"/>
        </p:xfrm>
        <a:graphic>
          <a:graphicData uri="http://schemas.openxmlformats.org/presentationml/2006/ole">
            <mc:AlternateContent xmlns:mc="http://schemas.openxmlformats.org/markup-compatibility/2006">
              <mc:Choice xmlns:v="urn:schemas-microsoft-com:vml" Requires="v">
                <p:oleObj r:id="rId2" imgW="4486275" imgH="1181100" progId="Visio.Drawing.11">
                  <p:embed/>
                </p:oleObj>
              </mc:Choice>
              <mc:Fallback>
                <p:oleObj r:id="rId2" imgW="4486275" imgH="118110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949" y="2493693"/>
                        <a:ext cx="7086079" cy="2019252"/>
                      </a:xfrm>
                      <a:prstGeom prst="rect">
                        <a:avLst/>
                      </a:prstGeom>
                      <a:no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数据库系统与数据仓库</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26</a:t>
            </a:fld>
            <a:endParaRPr lang="en-US" altLang="zh-CN"/>
          </a:p>
        </p:txBody>
      </p:sp>
      <p:sp>
        <p:nvSpPr>
          <p:cNvPr id="8" name="TextBox 7">
            <a:extLst>
              <a:ext uri="{FF2B5EF4-FFF2-40B4-BE49-F238E27FC236}">
                <a16:creationId xmlns:a16="http://schemas.microsoft.com/office/drawing/2014/main" id="{77B177BA-18FA-5DA6-3DDE-6035D6056B04}"/>
              </a:ext>
            </a:extLst>
          </p:cNvPr>
          <p:cNvSpPr txBox="1"/>
          <p:nvPr/>
        </p:nvSpPr>
        <p:spPr>
          <a:xfrm>
            <a:off x="1170356" y="1361302"/>
            <a:ext cx="9625068" cy="4524315"/>
          </a:xfrm>
          <a:prstGeom prst="rect">
            <a:avLst/>
          </a:prstGeom>
          <a:noFill/>
        </p:spPr>
        <p:txBody>
          <a:bodyPr wrap="square">
            <a:spAutoFit/>
          </a:bodyPr>
          <a:lstStyle/>
          <a:p>
            <a:pPr marL="285750" indent="-285750" algn="just" latinLnBrk="1">
              <a:buFont typeface="Wingdings" pitchFamily="2" charset="2"/>
              <a:buChar char="q"/>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数据库管理系统（</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Database Management System</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DBMS</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 是一种用于创建、操作、维护和管理数据库的大型软件系统，主要功能包括：</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定义数据结构（数据模型）</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提供高效的查询语言（如</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SQL</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实现数据的安全性、完整性与并发控制</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en-US" altLang="ko-Kore-KR" b="0" kern="100">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主要用于支持企业日常的事务处理（</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OLTP</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），例如订单处理、库存管理、银行转账等，强调数据的一致性与实时性。</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Wingdings" pitchFamily="2" charset="2"/>
              <a:buChar char="q"/>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数据仓库（</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Data Warehouse</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 是面向主题、集成化、随时间变化且不可修改的数据集合，用于支持决策分析。其主要特点包括：</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数据来自多个操作性数据库和外部源，进行清洗、集成与历史化处理</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以多维方式组织，支持跨时间、跨维度的分析</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主要用于联机分析处理（</a:t>
            </a:r>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OLAP</a:t>
            </a: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），如趋势分析、数据挖掘和商业智能</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强调可读性与分析性，而非高频更新</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540052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数据库系统与数据仓库</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27</a:t>
            </a:fld>
            <a:endParaRPr lang="en-US" altLang="zh-CN"/>
          </a:p>
        </p:txBody>
      </p:sp>
      <p:graphicFrame>
        <p:nvGraphicFramePr>
          <p:cNvPr id="9" name="표 8">
            <a:extLst>
              <a:ext uri="{FF2B5EF4-FFF2-40B4-BE49-F238E27FC236}">
                <a16:creationId xmlns:a16="http://schemas.microsoft.com/office/drawing/2014/main" id="{707EAFA6-0D60-9064-3E92-4B36A121C627}"/>
              </a:ext>
            </a:extLst>
          </p:cNvPr>
          <p:cNvGraphicFramePr>
            <a:graphicFrameLocks noGrp="1"/>
          </p:cNvGraphicFramePr>
          <p:nvPr>
            <p:extLst>
              <p:ext uri="{D42A27DB-BD31-4B8C-83A1-F6EECF244321}">
                <p14:modId xmlns:p14="http://schemas.microsoft.com/office/powerpoint/2010/main" val="1389092904"/>
              </p:ext>
            </p:extLst>
          </p:nvPr>
        </p:nvGraphicFramePr>
        <p:xfrm>
          <a:off x="982824" y="1916832"/>
          <a:ext cx="10226352" cy="3024336"/>
        </p:xfrm>
        <a:graphic>
          <a:graphicData uri="http://schemas.openxmlformats.org/drawingml/2006/table">
            <a:tbl>
              <a:tblPr firstRow="1" firstCol="1" bandRow="1">
                <a:tableStyleId>{5940675A-B579-460E-94D1-54222C63F5DA}</a:tableStyleId>
              </a:tblPr>
              <a:tblGrid>
                <a:gridCol w="2089448">
                  <a:extLst>
                    <a:ext uri="{9D8B030D-6E8A-4147-A177-3AD203B41FA5}">
                      <a16:colId xmlns:a16="http://schemas.microsoft.com/office/drawing/2014/main" val="516375848"/>
                    </a:ext>
                  </a:extLst>
                </a:gridCol>
                <a:gridCol w="3888432">
                  <a:extLst>
                    <a:ext uri="{9D8B030D-6E8A-4147-A177-3AD203B41FA5}">
                      <a16:colId xmlns:a16="http://schemas.microsoft.com/office/drawing/2014/main" val="1115640893"/>
                    </a:ext>
                  </a:extLst>
                </a:gridCol>
                <a:gridCol w="4248472">
                  <a:extLst>
                    <a:ext uri="{9D8B030D-6E8A-4147-A177-3AD203B41FA5}">
                      <a16:colId xmlns:a16="http://schemas.microsoft.com/office/drawing/2014/main" val="2308936829"/>
                    </a:ext>
                  </a:extLst>
                </a:gridCol>
              </a:tblGrid>
              <a:tr h="504056">
                <a:tc>
                  <a:txBody>
                    <a:bodyPr/>
                    <a:lstStyle/>
                    <a:p>
                      <a:pPr algn="ctr" latinLnBrk="0"/>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b="1" kern="0">
                          <a:effectLst/>
                          <a:latin typeface="STSong" panose="02010600040101010101" pitchFamily="2" charset="-122"/>
                        </a:rPr>
                        <a:t>数据库管理系统（</a:t>
                      </a:r>
                      <a:r>
                        <a:rPr lang="en-US" sz="1800" b="1" kern="0">
                          <a:effectLst/>
                          <a:latin typeface="STSong" panose="02010600040101010101" pitchFamily="2" charset="-122"/>
                          <a:ea typeface="STSong" panose="02010600040101010101" pitchFamily="2" charset="-122"/>
                        </a:rPr>
                        <a:t>DBMS</a:t>
                      </a:r>
                      <a:r>
                        <a:rPr lang="ko-Kore-KR" sz="1800" b="1" kern="0">
                          <a:effectLst/>
                          <a:latin typeface="STSong" panose="02010600040101010101" pitchFamily="2" charset="-122"/>
                        </a:rPr>
                        <a:t>）</a:t>
                      </a:r>
                      <a:endParaRPr lang="ko-Kore-KR" sz="1800" b="1"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b="1" kern="0">
                          <a:effectLst/>
                          <a:latin typeface="STSong" panose="02010600040101010101" pitchFamily="2" charset="-122"/>
                        </a:rPr>
                        <a:t>数据仓库（</a:t>
                      </a:r>
                      <a:r>
                        <a:rPr lang="en-US" sz="1800" b="1" kern="0">
                          <a:effectLst/>
                          <a:latin typeface="STSong" panose="02010600040101010101" pitchFamily="2" charset="-122"/>
                          <a:ea typeface="STSong" panose="02010600040101010101" pitchFamily="2" charset="-122"/>
                        </a:rPr>
                        <a:t>Data Warehouse</a:t>
                      </a:r>
                      <a:r>
                        <a:rPr lang="ko-Kore-KR" sz="1800" b="1" kern="0">
                          <a:effectLst/>
                          <a:latin typeface="STSong" panose="02010600040101010101" pitchFamily="2" charset="-122"/>
                        </a:rPr>
                        <a:t>）</a:t>
                      </a:r>
                      <a:endParaRPr lang="ko-Kore-KR" sz="1800" b="1"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911803126"/>
                  </a:ext>
                </a:extLst>
              </a:tr>
              <a:tr h="504056">
                <a:tc>
                  <a:txBody>
                    <a:bodyPr/>
                    <a:lstStyle/>
                    <a:p>
                      <a:pPr algn="ctr" latinLnBrk="0"/>
                      <a:r>
                        <a:rPr lang="ko-Kore-KR" sz="1800" kern="0">
                          <a:effectLst/>
                          <a:latin typeface="STSong" panose="02010600040101010101" pitchFamily="2" charset="-122"/>
                        </a:rPr>
                        <a:t>主要用途</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事务处理（</a:t>
                      </a:r>
                      <a:r>
                        <a:rPr lang="en-US" sz="1800" kern="0">
                          <a:effectLst/>
                          <a:latin typeface="STSong" panose="02010600040101010101" pitchFamily="2" charset="-122"/>
                          <a:ea typeface="STSong" panose="02010600040101010101" pitchFamily="2" charset="-122"/>
                        </a:rPr>
                        <a:t>OLTP</a:t>
                      </a:r>
                      <a:r>
                        <a:rPr lang="ko-Kore-KR" sz="1800" kern="0">
                          <a:effectLst/>
                          <a:latin typeface="STSong" panose="02010600040101010101" pitchFamily="2" charset="-122"/>
                        </a:rPr>
                        <a:t>）</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决策支持与数据分析（</a:t>
                      </a:r>
                      <a:r>
                        <a:rPr lang="en-US" sz="1800" kern="0">
                          <a:effectLst/>
                          <a:latin typeface="STSong" panose="02010600040101010101" pitchFamily="2" charset="-122"/>
                          <a:ea typeface="STSong" panose="02010600040101010101" pitchFamily="2" charset="-122"/>
                        </a:rPr>
                        <a:t>OLAP</a:t>
                      </a:r>
                      <a:r>
                        <a:rPr lang="ko-Kore-KR" sz="1800" kern="0">
                          <a:effectLst/>
                          <a:latin typeface="STSong" panose="02010600040101010101" pitchFamily="2" charset="-122"/>
                        </a:rPr>
                        <a:t>）</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674205614"/>
                  </a:ext>
                </a:extLst>
              </a:tr>
              <a:tr h="504056">
                <a:tc>
                  <a:txBody>
                    <a:bodyPr/>
                    <a:lstStyle/>
                    <a:p>
                      <a:pPr algn="ctr" latinLnBrk="0"/>
                      <a:r>
                        <a:rPr lang="ko-Kore-KR" sz="1800" kern="0">
                          <a:effectLst/>
                          <a:latin typeface="STSong" panose="02010600040101010101" pitchFamily="2" charset="-122"/>
                        </a:rPr>
                        <a:t>数据特征</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实时、当前状态数据</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历史、面向主题、不可修改</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34291879"/>
                  </a:ext>
                </a:extLst>
              </a:tr>
              <a:tr h="504056">
                <a:tc>
                  <a:txBody>
                    <a:bodyPr/>
                    <a:lstStyle/>
                    <a:p>
                      <a:pPr algn="ctr" latinLnBrk="0"/>
                      <a:r>
                        <a:rPr lang="ko-Kore-KR" sz="1800" kern="0">
                          <a:effectLst/>
                          <a:latin typeface="STSong" panose="02010600040101010101" pitchFamily="2" charset="-122"/>
                        </a:rPr>
                        <a:t>数据来源</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单一应用或业务流程</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多个业务系统与外部数据</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013806217"/>
                  </a:ext>
                </a:extLst>
              </a:tr>
              <a:tr h="504056">
                <a:tc>
                  <a:txBody>
                    <a:bodyPr/>
                    <a:lstStyle/>
                    <a:p>
                      <a:pPr algn="ctr" latinLnBrk="0"/>
                      <a:r>
                        <a:rPr lang="ko-Kore-KR" sz="1800" kern="0">
                          <a:effectLst/>
                          <a:latin typeface="STSong" panose="02010600040101010101" pitchFamily="2" charset="-122"/>
                        </a:rPr>
                        <a:t>更新频率</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高频读写</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只读，定期批量更新</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958160976"/>
                  </a:ext>
                </a:extLst>
              </a:tr>
              <a:tr h="504056">
                <a:tc>
                  <a:txBody>
                    <a:bodyPr/>
                    <a:lstStyle/>
                    <a:p>
                      <a:pPr algn="ctr" latinLnBrk="0"/>
                      <a:r>
                        <a:rPr lang="ko-Kore-KR" sz="1800" kern="0">
                          <a:effectLst/>
                          <a:latin typeface="STSong" panose="02010600040101010101" pitchFamily="2" charset="-122"/>
                        </a:rPr>
                        <a:t>架构特点</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关注数据一致性与完整性</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latinLnBrk="0"/>
                      <a:r>
                        <a:rPr lang="ko-Kore-KR" sz="1800" kern="0">
                          <a:effectLst/>
                          <a:latin typeface="STSong" panose="02010600040101010101" pitchFamily="2" charset="-122"/>
                        </a:rPr>
                        <a:t>强调数据集成与多维分析</a:t>
                      </a:r>
                      <a:endParaRPr lang="ko-Kore-KR" sz="1800" kern="100">
                        <a:effectLst/>
                        <a:latin typeface="STSong" panose="02010600040101010101" pitchFamily="2"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3801818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数据挖掘与机器学习</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28</a:t>
            </a:fld>
            <a:endParaRPr lang="en-US" altLang="zh-CN"/>
          </a:p>
        </p:txBody>
      </p:sp>
      <p:sp>
        <p:nvSpPr>
          <p:cNvPr id="7" name="文本框 6"/>
          <p:cNvSpPr txBox="1"/>
          <p:nvPr/>
        </p:nvSpPr>
        <p:spPr>
          <a:xfrm>
            <a:off x="875347" y="1124744"/>
            <a:ext cx="10441305" cy="4994494"/>
          </a:xfrm>
          <a:prstGeom prst="rect">
            <a:avLst/>
          </a:prstGeom>
          <a:noFill/>
        </p:spPr>
        <p:txBody>
          <a:bodyPr wrap="square" rtlCol="0">
            <a:noAutofit/>
          </a:bodyPr>
          <a:lstStyle/>
          <a:p>
            <a:pPr algn="just" latinLnBrk="1"/>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从数据分析角度看，数据挖掘与机器学习既有相似之处，也有明显区别：</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数据挖掘不专注于探索人类学习机制，更强调从海量数据中发现可用模式与知识。</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机器学习更关注学习原理与算法，属于多领域交叉的科学性研究，涵盖概率、统计、逼近论、凸分析等。</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数据挖掘偏重应用与技术实现，结合机器学习的数据分析方法与数据库管理技术，着力解决大规模、复杂场景下的实际问题。</a:t>
            </a:r>
            <a:endParaRPr lang="en-US" altLang="ko-Kore-KR" b="0" kern="100">
              <a:effectLst/>
              <a:latin typeface="Calibri" panose="020F0502020204030204" pitchFamily="34" charset="0"/>
              <a:ea typeface="SimSun" panose="02010600030101010101" pitchFamily="2" charset="-122"/>
              <a:cs typeface="Times New Roman" panose="02020603050405020304" pitchFamily="18" charset="0"/>
            </a:endParaRPr>
          </a:p>
          <a:p>
            <a:pPr algn="l">
              <a:lnSpc>
                <a:spcPts val="3000"/>
              </a:lnSpc>
            </a:pPr>
            <a:endParaRPr lang="en-US" altLang="zh-CN" b="0" dirty="0"/>
          </a:p>
          <a:p>
            <a:pPr algn="just" latinLnBrk="1"/>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两者在任务与方法上区别：</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b="0" kern="100">
                <a:effectLst/>
                <a:latin typeface="SimSun" panose="02010600030101010101" pitchFamily="2" charset="-122"/>
                <a:ea typeface="맑은 고딕" panose="020B0503020000020004" pitchFamily="34" charset="-127"/>
                <a:cs typeface="Times New Roman" panose="02020603050405020304" pitchFamily="18" charset="0"/>
              </a:rPr>
              <a:t> </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数据挖掘需应对超大规模数据与无限数据流，强调算法的高效性与可扩展性。</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数据挖掘中常用弱监督方法（半监督、集成、远程监督、主动学习、迁移学习），克服标签稀缺难题。</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marL="285750" indent="-285750" algn="just" latinLnBrk="1">
              <a:buFont typeface="Arial" panose="020B0604020202020204" pitchFamily="34" charset="0"/>
              <a:buChar char="•"/>
            </a:pPr>
            <a:r>
              <a:rPr lang="ko-Kore-KR" altLang="ko-Kore-KR" b="0" kern="100">
                <a:effectLst/>
                <a:latin typeface="Calibri" panose="020F0502020204030204" pitchFamily="34" charset="0"/>
                <a:ea typeface="SimSun" panose="02010600030101010101" pitchFamily="2" charset="-122"/>
                <a:cs typeface="Times New Roman" panose="02020603050405020304" pitchFamily="18" charset="0"/>
              </a:rPr>
              <a:t>在某些领域（如社交网络分析、结构化模式挖掘），数据挖掘比传统机器学习覆盖面更广</a:t>
            </a:r>
            <a:r>
              <a:rPr lang="zh-CN" altLang="en-US" b="0" kern="100">
                <a:effectLst/>
                <a:latin typeface="Calibri" panose="020F0502020204030204" pitchFamily="34" charset="0"/>
                <a:ea typeface="SimSun" panose="02010600030101010101" pitchFamily="2" charset="-122"/>
                <a:cs typeface="Times New Roman" panose="02020603050405020304" pitchFamily="18" charset="0"/>
              </a:rPr>
              <a:t>。</a:t>
            </a:r>
            <a:endParaRPr lang="ko-Kore-KR" altLang="ko-Kore-KR" b="0" kern="100">
              <a:effectLst/>
              <a:latin typeface="Calibri" panose="020F0502020204030204" pitchFamily="34" charset="0"/>
              <a:ea typeface="맑은 고딕" panose="020B0503020000020004" pitchFamily="34" charset="-127"/>
              <a:cs typeface="Times New Roman" panose="02020603050405020304" pitchFamily="18" charset="0"/>
            </a:endParaRPr>
          </a:p>
          <a:p>
            <a:pPr algn="l">
              <a:lnSpc>
                <a:spcPts val="3000"/>
              </a:lnSpc>
            </a:pPr>
            <a:endParaRPr lang="en-US" altLang="zh-CN" b="0" dirty="0"/>
          </a:p>
          <a:p>
            <a:pPr algn="ctr" latinLnBrk="1"/>
            <a:r>
              <a:rPr lang="ko-Kore-KR" altLang="ko-Kore-KR" sz="1800" kern="100">
                <a:effectLst/>
                <a:latin typeface="Calibri" panose="020F0502020204030204" pitchFamily="34" charset="0"/>
                <a:ea typeface="SimSun" panose="02010600030101010101" pitchFamily="2" charset="-122"/>
                <a:cs typeface="Times New Roman" panose="02020603050405020304" pitchFamily="18" charset="0"/>
              </a:rPr>
              <a:t>机器学习：更侧重科学性与算法探索</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algn="ctr" latinLnBrk="1"/>
            <a:r>
              <a:rPr lang="ko-Kore-KR" altLang="ko-Kore-KR" sz="1800" kern="100">
                <a:effectLst/>
                <a:latin typeface="Calibri" panose="020F0502020204030204" pitchFamily="34" charset="0"/>
                <a:ea typeface="SimSun" panose="02010600030101010101" pitchFamily="2" charset="-122"/>
                <a:cs typeface="Times New Roman" panose="02020603050405020304" pitchFamily="18" charset="0"/>
              </a:rPr>
              <a:t>数据挖掘：更侧重数据驱动的具体应用落地与技术创新</a:t>
            </a:r>
            <a:endParaRPr lang="ko-Kore-KR" altLang="en-US" sz="1800" kern="10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数据挖掘存在的问题</a:t>
            </a:r>
          </a:p>
        </p:txBody>
      </p:sp>
      <p:sp>
        <p:nvSpPr>
          <p:cNvPr id="3" name="内容占位符 2"/>
          <p:cNvSpPr>
            <a:spLocks noGrp="1"/>
          </p:cNvSpPr>
          <p:nvPr>
            <p:ph idx="1"/>
          </p:nvPr>
        </p:nvSpPr>
        <p:spPr>
          <a:xfrm>
            <a:off x="695400" y="1360478"/>
            <a:ext cx="10732357" cy="4525963"/>
          </a:xfrm>
        </p:spPr>
        <p:txBody>
          <a:bodyPr/>
          <a:lstStyle/>
          <a:p>
            <a:pPr>
              <a:lnSpc>
                <a:spcPct val="130000"/>
              </a:lnSpc>
              <a:buFont typeface="Wingdings" panose="05000000000000000000" pitchFamily="2" charset="2"/>
              <a:buChar char="n"/>
            </a:pPr>
            <a:r>
              <a:rPr lang="zh-CN" altLang="zh-CN" dirty="0"/>
              <a:t>目前，数据挖掘在很多领域取得了巨大成功，但依然存在一些具有挑战性的问题。</a:t>
            </a:r>
            <a:endParaRPr lang="en-US" altLang="zh-CN" dirty="0"/>
          </a:p>
          <a:p>
            <a:pPr marL="0" indent="0">
              <a:lnSpc>
                <a:spcPct val="130000"/>
              </a:lnSpc>
              <a:buNone/>
            </a:pPr>
            <a:r>
              <a:rPr lang="zh-CN" altLang="zh-CN" dirty="0"/>
              <a:t>（</a:t>
            </a:r>
            <a:r>
              <a:rPr lang="en-US" altLang="zh-CN" dirty="0"/>
              <a:t>1</a:t>
            </a:r>
            <a:r>
              <a:rPr lang="zh-CN" altLang="zh-CN" dirty="0"/>
              <a:t>）数据类型多样化</a:t>
            </a:r>
            <a:endParaRPr lang="en-US" altLang="zh-CN" dirty="0"/>
          </a:p>
          <a:p>
            <a:pPr marL="0" indent="0">
              <a:lnSpc>
                <a:spcPct val="130000"/>
              </a:lnSpc>
              <a:buNone/>
            </a:pPr>
            <a:r>
              <a:rPr lang="zh-CN" altLang="zh-CN" dirty="0"/>
              <a:t>（</a:t>
            </a:r>
            <a:r>
              <a:rPr lang="en-US" altLang="zh-CN" dirty="0"/>
              <a:t>2</a:t>
            </a:r>
            <a:r>
              <a:rPr lang="zh-CN" altLang="zh-CN" dirty="0"/>
              <a:t>）噪声数据</a:t>
            </a:r>
          </a:p>
          <a:p>
            <a:pPr marL="0" indent="0">
              <a:lnSpc>
                <a:spcPct val="130000"/>
              </a:lnSpc>
              <a:buNone/>
            </a:pPr>
            <a:r>
              <a:rPr lang="zh-CN" altLang="zh-CN" dirty="0"/>
              <a:t>（</a:t>
            </a:r>
            <a:r>
              <a:rPr lang="en-US" altLang="zh-CN" dirty="0"/>
              <a:t>3</a:t>
            </a:r>
            <a:r>
              <a:rPr lang="zh-CN" altLang="zh-CN" dirty="0"/>
              <a:t>）高维度数据</a:t>
            </a:r>
          </a:p>
          <a:p>
            <a:pPr marL="0" indent="0">
              <a:lnSpc>
                <a:spcPct val="130000"/>
              </a:lnSpc>
              <a:buNone/>
            </a:pPr>
            <a:r>
              <a:rPr lang="zh-CN" altLang="zh-CN" dirty="0"/>
              <a:t>（</a:t>
            </a:r>
            <a:r>
              <a:rPr lang="en-US" altLang="zh-CN" dirty="0"/>
              <a:t>4</a:t>
            </a:r>
            <a:r>
              <a:rPr lang="zh-CN" altLang="zh-CN" dirty="0"/>
              <a:t>）数据挖掘的可视化</a:t>
            </a:r>
          </a:p>
          <a:p>
            <a:endParaRPr lang="zh-CN" altLang="en-US"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29</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数据挖掘建模常用工具</a:t>
            </a:r>
          </a:p>
        </p:txBody>
      </p:sp>
      <p:sp>
        <p:nvSpPr>
          <p:cNvPr id="3" name="内容占位符 2"/>
          <p:cNvSpPr>
            <a:spLocks noGrp="1"/>
          </p:cNvSpPr>
          <p:nvPr>
            <p:ph idx="1"/>
          </p:nvPr>
        </p:nvSpPr>
        <p:spPr>
          <a:xfrm>
            <a:off x="839416" y="1331166"/>
            <a:ext cx="10585176" cy="4525963"/>
          </a:xfrm>
        </p:spPr>
        <p:txBody>
          <a:bodyPr>
            <a:normAutofit/>
          </a:bodyPr>
          <a:lstStyle/>
          <a:p>
            <a:pPr>
              <a:lnSpc>
                <a:spcPct val="130000"/>
              </a:lnSpc>
            </a:pPr>
            <a:r>
              <a:rPr lang="en-US" altLang="zh-CN" sz="2000" dirty="0"/>
              <a:t>1 </a:t>
            </a:r>
            <a:r>
              <a:rPr lang="zh-CN" altLang="en-US" sz="2000" dirty="0"/>
              <a:t>商用工具</a:t>
            </a:r>
            <a:endParaRPr lang="en-US" altLang="zh-CN" sz="2000" dirty="0"/>
          </a:p>
          <a:p>
            <a:pPr marL="0" indent="0">
              <a:lnSpc>
                <a:spcPct val="130000"/>
              </a:lnSpc>
              <a:buNone/>
            </a:pPr>
            <a:r>
              <a:rPr lang="zh-CN" altLang="zh-CN" sz="2000" dirty="0">
                <a:latin typeface="Times New Roman" panose="02020603050405020304" pitchFamily="18" charset="0"/>
                <a:cs typeface="Times New Roman" panose="02020603050405020304" pitchFamily="18" charset="0"/>
              </a:rPr>
              <a:t>商用工具主要由商用的开发商提供，通过市场销售，提供相关的服务。与开源软件相比，商用软件更强大、软件性能更加成熟稳定。主要的商用数据挖掘工具有</a:t>
            </a:r>
            <a:r>
              <a:rPr lang="en-US" altLang="zh-CN" sz="2000" dirty="0">
                <a:latin typeface="Times New Roman" panose="02020603050405020304" pitchFamily="18" charset="0"/>
                <a:cs typeface="Times New Roman" panose="02020603050405020304" pitchFamily="18" charset="0"/>
              </a:rPr>
              <a:t>SAS Enterprise Miner</a:t>
            </a:r>
            <a:r>
              <a:rPr lang="zh-CN"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SPSS Clementine</a:t>
            </a:r>
            <a:r>
              <a:rPr lang="zh-CN" altLang="zh-CN"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IBM Intelligent Miner</a:t>
            </a:r>
            <a:r>
              <a:rPr lang="zh-CN" altLang="zh-CN" sz="2000" dirty="0">
                <a:latin typeface="Times New Roman" panose="02020603050405020304" pitchFamily="18" charset="0"/>
                <a:cs typeface="Times New Roman" panose="02020603050405020304" pitchFamily="18" charset="0"/>
              </a:rPr>
              <a:t>等。</a:t>
            </a:r>
            <a:endParaRPr lang="en-US" altLang="zh-CN" sz="2000" dirty="0">
              <a:latin typeface="Times New Roman" panose="02020603050405020304" pitchFamily="18" charset="0"/>
              <a:cs typeface="Times New Roman" panose="02020603050405020304" pitchFamily="18" charset="0"/>
            </a:endParaRPr>
          </a:p>
          <a:p>
            <a:pPr marL="0" indent="0">
              <a:lnSpc>
                <a:spcPct val="130000"/>
              </a:lnSpc>
              <a:buNone/>
            </a:pPr>
            <a:endParaRPr lang="en-US" altLang="zh-CN" sz="2000" dirty="0">
              <a:latin typeface="Times New Roman" panose="02020603050405020304" pitchFamily="18" charset="0"/>
              <a:cs typeface="Times New Roman" panose="02020603050405020304" pitchFamily="18" charset="0"/>
            </a:endParaRPr>
          </a:p>
          <a:p>
            <a:pPr>
              <a:lnSpc>
                <a:spcPct val="130000"/>
              </a:lnSpc>
            </a:pPr>
            <a:r>
              <a:rPr lang="en-US" altLang="zh-CN" sz="2000" dirty="0"/>
              <a:t>2 </a:t>
            </a:r>
            <a:r>
              <a:rPr lang="zh-CN" altLang="en-US" sz="2000" dirty="0"/>
              <a:t>开源工具</a:t>
            </a:r>
            <a:endParaRPr lang="en-US" altLang="zh-CN" sz="2000" dirty="0"/>
          </a:p>
          <a:p>
            <a:pPr marL="0" algn="l">
              <a:lnSpc>
                <a:spcPct val="130000"/>
              </a:lnSpc>
              <a:buClrTx/>
              <a:buSzTx/>
              <a:buNone/>
            </a:pPr>
            <a:r>
              <a:rPr lang="zh-CN" altLang="zh-CN" sz="2000" dirty="0">
                <a:latin typeface="Times New Roman" panose="02020603050405020304" pitchFamily="18" charset="0"/>
                <a:cs typeface="Times New Roman" panose="02020603050405020304" pitchFamily="18" charset="0"/>
              </a:rPr>
              <a:t>开源软件的最大优势在于免费，而且让任何有能力的人参与并完善软件。相对于商用工具，开源软件工具更容易学习和掌握。常用的开源工具有R语言、Python、Weka和RapidMiner等。</a:t>
            </a:r>
          </a:p>
          <a:p>
            <a:pPr marL="0" indent="0">
              <a:buNone/>
            </a:pPr>
            <a:endParaRPr lang="zh-CN" altLang="en-US" sz="2000"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30</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47528" y="1701006"/>
            <a:ext cx="7915275" cy="2678113"/>
          </a:xfrm>
          <a:prstGeom prst="rect">
            <a:avLst/>
          </a:prstGeom>
        </p:spPr>
        <p:txBody>
          <a:bodyPr>
            <a:spAutoFit/>
          </a:bodyPr>
          <a:lstStyle/>
          <a:p>
            <a:pPr marL="285750" indent="-285750" algn="l" eaLnBrk="1" hangingPunct="1">
              <a:lnSpc>
                <a:spcPct val="150000"/>
              </a:lnSpc>
              <a:buFont typeface="Arial" panose="020B0604020202020204" pitchFamily="34" charset="0"/>
              <a:buChar char="•"/>
              <a:defRPr/>
            </a:pPr>
            <a:r>
              <a:rPr lang="en-US" altLang="zh-CN" sz="2000" dirty="0"/>
              <a:t>SAS Enterprise Miner</a:t>
            </a:r>
          </a:p>
          <a:p>
            <a:pPr marL="285750" lvl="1" indent="-285750" algn="l" eaLnBrk="1" hangingPunct="1">
              <a:lnSpc>
                <a:spcPct val="150000"/>
              </a:lnSpc>
              <a:buFont typeface="Arial" panose="020B0604020202020204" pitchFamily="34" charset="0"/>
              <a:buChar char="•"/>
              <a:defRPr/>
            </a:pPr>
            <a:r>
              <a:rPr lang="en-US" altLang="zh-CN" sz="2000" dirty="0"/>
              <a:t>SPSS Clementine</a:t>
            </a:r>
          </a:p>
          <a:p>
            <a:pPr marL="285750" lvl="1" indent="-285750" algn="l" eaLnBrk="1" hangingPunct="1">
              <a:lnSpc>
                <a:spcPct val="150000"/>
              </a:lnSpc>
              <a:buFont typeface="Arial" panose="020B0604020202020204" pitchFamily="34" charset="0"/>
              <a:buChar char="•"/>
              <a:defRPr/>
            </a:pPr>
            <a:r>
              <a:rPr lang="en-US" altLang="zh-CN" sz="2000" dirty="0"/>
              <a:t>Intelligent Miner</a:t>
            </a:r>
          </a:p>
          <a:p>
            <a:pPr marL="285750" lvl="1" indent="-285750" algn="l" eaLnBrk="1" hangingPunct="1">
              <a:lnSpc>
                <a:spcPct val="150000"/>
              </a:lnSpc>
              <a:buFont typeface="Arial" panose="020B0604020202020204" pitchFamily="34" charset="0"/>
              <a:buChar char="•"/>
              <a:defRPr/>
            </a:pPr>
            <a:r>
              <a:rPr lang="en-US" altLang="zh-CN" sz="2000" dirty="0"/>
              <a:t>QUEST</a:t>
            </a:r>
          </a:p>
          <a:p>
            <a:pPr marL="800100" lvl="1" indent="-342900" algn="l" eaLnBrk="1" hangingPunct="1">
              <a:lnSpc>
                <a:spcPct val="150000"/>
              </a:lnSpc>
              <a:buFont typeface="Wingdings" panose="05000000000000000000" pitchFamily="2" charset="2"/>
              <a:buChar char="ü"/>
              <a:defRPr/>
            </a:pPr>
            <a:endParaRPr lang="zh-CN" altLang="zh-CN" sz="1600" dirty="0"/>
          </a:p>
          <a:p>
            <a:pPr marL="800100" lvl="1" indent="-342900" algn="l" eaLnBrk="1" hangingPunct="1">
              <a:lnSpc>
                <a:spcPct val="150000"/>
              </a:lnSpc>
              <a:buFont typeface="Wingdings" panose="05000000000000000000" pitchFamily="2" charset="2"/>
              <a:buChar char="ü"/>
              <a:defRPr/>
            </a:pPr>
            <a:endParaRPr lang="en-US" altLang="zh-CN" sz="1600" dirty="0"/>
          </a:p>
        </p:txBody>
      </p:sp>
      <p:sp>
        <p:nvSpPr>
          <p:cNvPr id="51203" name="矩形 81"/>
          <p:cNvSpPr>
            <a:spLocks noChangeArrowheads="1"/>
          </p:cNvSpPr>
          <p:nvPr/>
        </p:nvSpPr>
        <p:spPr bwMode="auto">
          <a:xfrm>
            <a:off x="1683006" y="990600"/>
            <a:ext cx="20746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r>
              <a:rPr lang="en-US" altLang="zh-CN" sz="2800">
                <a:latin typeface="Tahoma" panose="020B0604030504040204" pitchFamily="34" charset="0"/>
              </a:rPr>
              <a:t>1. </a:t>
            </a:r>
            <a:r>
              <a:rPr lang="zh-CN" altLang="en-US" sz="2800">
                <a:latin typeface="Tahoma" panose="020B0604030504040204" pitchFamily="34" charset="0"/>
              </a:rPr>
              <a:t>商用工具</a:t>
            </a:r>
            <a:endParaRPr lang="zh-CN" altLang="zh-CN" sz="2800">
              <a:latin typeface="Tahoma" panose="020B0604030504040204" pitchFamily="34" charset="0"/>
            </a:endParaRPr>
          </a:p>
        </p:txBody>
      </p:sp>
      <p:sp>
        <p:nvSpPr>
          <p:cNvPr id="51204"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05" name="Rectangle 2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06" name="Rectangle 3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07" name="Rectangle 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08" name="Rectangle 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09" name="Rectangle 1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0" name="Rectangle 1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1" name="Rectangle 1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2" name="Rectangle 2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3" name="Rectangle 2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4" name="Rectangle 2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5" name="Rectangle 2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6"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7" name="Rectangle 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8" name="Rectangle 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19" name="Rectangle 1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0" name="Rectangle 1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1" name="Rectangle 1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2" name="Rectangle 1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3" name="Rectangle 1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4" name="Rectangle 2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5" name="Rectangle 3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6" name="Rectangle 3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7" name="Rectangle 4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8" name="Rectangle 4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29" name="Rectangle 4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0"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1" name="Rectangle 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2" name="Rectangle 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3" name="Rectangle 1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4" name="Rectangle 1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5" name="Rectangle 1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6" name="Rectangle 1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7" name="Rectangle 2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8" name="Rectangle 2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39" name="Rectangle 2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0" name="Rectangle 3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1" name="Rectangle 3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2" name="Rectangle 5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3" name="Rectangle 5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4" name="Rectangle 6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5" name="Rectangle 6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6" name="Rectangle 6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7" name="Rectangle 6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8" name="Rectangle 6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49"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50" name="Rectangle 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51" name="Rectangle 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1252" name="Rectangle 1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pic>
        <p:nvPicPr>
          <p:cNvPr id="5125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2400" y="3040063"/>
            <a:ext cx="4751388" cy="281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14D5C9FE-F51A-0F48-E443-AA784477B5C9}"/>
              </a:ext>
            </a:extLst>
          </p:cNvPr>
          <p:cNvSpPr>
            <a:spLocks noGrp="1"/>
          </p:cNvSpPr>
          <p:nvPr>
            <p:ph type="title"/>
          </p:nvPr>
        </p:nvSpPr>
        <p:spPr>
          <a:xfrm>
            <a:off x="1583500" y="285728"/>
            <a:ext cx="8798781" cy="500066"/>
          </a:xfrm>
        </p:spPr>
        <p:txBody>
          <a:bodyPr/>
          <a:lstStyle/>
          <a:p>
            <a:r>
              <a:rPr lang="zh-CN" altLang="en-US" dirty="0"/>
              <a:t>数据挖掘建模常用工具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1"/>
          <p:cNvSpPr>
            <a:spLocks noChangeArrowheads="1"/>
          </p:cNvSpPr>
          <p:nvPr/>
        </p:nvSpPr>
        <p:spPr bwMode="auto">
          <a:xfrm>
            <a:off x="1847528" y="1520787"/>
            <a:ext cx="79152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1" hangingPunct="1">
              <a:lnSpc>
                <a:spcPct val="150000"/>
              </a:lnSpc>
              <a:spcBef>
                <a:spcPct val="0"/>
              </a:spcBef>
            </a:pPr>
            <a:r>
              <a:rPr lang="en-US" altLang="zh-CN" sz="1800" dirty="0">
                <a:latin typeface="Tahoma" panose="020B0604030504040204" pitchFamily="34" charset="0"/>
              </a:rPr>
              <a:t>R</a:t>
            </a:r>
          </a:p>
          <a:p>
            <a:pPr algn="l" eaLnBrk="1" hangingPunct="1">
              <a:lnSpc>
                <a:spcPct val="150000"/>
              </a:lnSpc>
              <a:spcBef>
                <a:spcPct val="0"/>
              </a:spcBef>
            </a:pPr>
            <a:r>
              <a:rPr lang="en-US" altLang="zh-CN" sz="1800" dirty="0">
                <a:latin typeface="Tahoma" panose="020B0604030504040204" pitchFamily="34" charset="0"/>
              </a:rPr>
              <a:t>Weka</a:t>
            </a:r>
          </a:p>
          <a:p>
            <a:pPr algn="l" eaLnBrk="1" hangingPunct="1">
              <a:lnSpc>
                <a:spcPct val="150000"/>
              </a:lnSpc>
              <a:spcBef>
                <a:spcPct val="0"/>
              </a:spcBef>
            </a:pPr>
            <a:r>
              <a:rPr lang="en-US" altLang="zh-CN" sz="1800" dirty="0">
                <a:latin typeface="Tahoma" panose="020B0604030504040204" pitchFamily="34" charset="0"/>
              </a:rPr>
              <a:t>Mahout</a:t>
            </a:r>
          </a:p>
          <a:p>
            <a:pPr algn="l" eaLnBrk="1" hangingPunct="1">
              <a:lnSpc>
                <a:spcPct val="150000"/>
              </a:lnSpc>
              <a:spcBef>
                <a:spcPct val="0"/>
              </a:spcBef>
            </a:pPr>
            <a:r>
              <a:rPr lang="en-US" altLang="zh-CN" sz="1800" dirty="0" err="1">
                <a:latin typeface="Tahoma" panose="020B0604030504040204" pitchFamily="34" charset="0"/>
              </a:rPr>
              <a:t>RapidMiner</a:t>
            </a:r>
            <a:endParaRPr lang="en-US" altLang="zh-CN" sz="1800" dirty="0">
              <a:latin typeface="Tahoma" panose="020B0604030504040204" pitchFamily="34" charset="0"/>
            </a:endParaRPr>
          </a:p>
          <a:p>
            <a:pPr algn="l" eaLnBrk="1" hangingPunct="1">
              <a:lnSpc>
                <a:spcPct val="150000"/>
              </a:lnSpc>
              <a:spcBef>
                <a:spcPct val="0"/>
              </a:spcBef>
            </a:pPr>
            <a:r>
              <a:rPr lang="en-US" altLang="zh-CN" sz="1800" dirty="0">
                <a:latin typeface="Tahoma" panose="020B0604030504040204" pitchFamily="34" charset="0"/>
              </a:rPr>
              <a:t>Python</a:t>
            </a:r>
          </a:p>
          <a:p>
            <a:pPr algn="l" eaLnBrk="1" hangingPunct="1">
              <a:lnSpc>
                <a:spcPct val="150000"/>
              </a:lnSpc>
              <a:spcBef>
                <a:spcPct val="0"/>
              </a:spcBef>
            </a:pPr>
            <a:r>
              <a:rPr lang="en-US" altLang="zh-CN" sz="1800" dirty="0">
                <a:latin typeface="Tahoma" panose="020B0604030504040204" pitchFamily="34" charset="0"/>
              </a:rPr>
              <a:t>Spark </a:t>
            </a:r>
            <a:r>
              <a:rPr lang="en-US" altLang="zh-CN" sz="1800" dirty="0" err="1">
                <a:latin typeface="Tahoma" panose="020B0604030504040204" pitchFamily="34" charset="0"/>
              </a:rPr>
              <a:t>MLlib</a:t>
            </a:r>
            <a:endParaRPr lang="en-US" altLang="zh-CN" sz="1800" dirty="0">
              <a:latin typeface="Tahoma" panose="020B0604030504040204" pitchFamily="34" charset="0"/>
            </a:endParaRPr>
          </a:p>
          <a:p>
            <a:pPr lvl="1" eaLnBrk="1" hangingPunct="1">
              <a:lnSpc>
                <a:spcPct val="150000"/>
              </a:lnSpc>
              <a:spcBef>
                <a:spcPct val="0"/>
              </a:spcBef>
              <a:buFont typeface="Wingdings" panose="05000000000000000000" pitchFamily="2" charset="2"/>
              <a:buChar char="ü"/>
            </a:pPr>
            <a:endParaRPr lang="zh-CN" altLang="zh-CN" sz="1600" dirty="0">
              <a:latin typeface="Tahoma" panose="020B0604030504040204" pitchFamily="34" charset="0"/>
            </a:endParaRPr>
          </a:p>
          <a:p>
            <a:pPr lvl="1" eaLnBrk="1" hangingPunct="1">
              <a:lnSpc>
                <a:spcPct val="150000"/>
              </a:lnSpc>
              <a:spcBef>
                <a:spcPct val="0"/>
              </a:spcBef>
              <a:buFont typeface="Wingdings" panose="05000000000000000000" pitchFamily="2" charset="2"/>
              <a:buChar char="ü"/>
            </a:pPr>
            <a:endParaRPr lang="en-US" altLang="zh-CN" sz="1600" dirty="0">
              <a:latin typeface="Tahoma" panose="020B0604030504040204" pitchFamily="34" charset="0"/>
            </a:endParaRPr>
          </a:p>
        </p:txBody>
      </p:sp>
      <p:sp>
        <p:nvSpPr>
          <p:cNvPr id="57348"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49" name="Rectangle 2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0" name="Rectangle 3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1" name="Rectangle 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2" name="Rectangle 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3" name="Rectangle 1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4" name="Rectangle 1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5" name="Rectangle 1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6" name="Rectangle 2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7" name="Rectangle 2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8" name="Rectangle 2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59" name="Rectangle 2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0"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1" name="Rectangle 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2" name="Rectangle 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3" name="Rectangle 1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4" name="Rectangle 1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5" name="Rectangle 1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6" name="Rectangle 1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7" name="Rectangle 1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8" name="Rectangle 2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69" name="Rectangle 3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0" name="Rectangle 3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1" name="Rectangle 4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2" name="Rectangle 4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3" name="Rectangle 4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4"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5" name="Rectangle 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6" name="Rectangle 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7" name="Rectangle 1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8" name="Rectangle 1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79" name="Rectangle 1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0" name="Rectangle 1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1" name="Rectangle 2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2" name="Rectangle 2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3" name="Rectangle 2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4" name="Rectangle 3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5" name="Rectangle 3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6" name="Rectangle 5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7" name="Rectangle 5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8" name="Rectangle 6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89" name="Rectangle 6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0" name="Rectangle 6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1" name="Rectangle 6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2" name="Rectangle 6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3"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4" name="Rectangle 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5" name="Rectangle 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57396" name="Rectangle 1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pic>
        <p:nvPicPr>
          <p:cNvPr id="57397" name="Picture 2" descr="C:\Users\wang\Desktop\大数据\rapidminer.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175" y="3355975"/>
            <a:ext cx="3889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02F74A94-AE73-8956-080B-3FE31E6D34A0}"/>
              </a:ext>
            </a:extLst>
          </p:cNvPr>
          <p:cNvSpPr>
            <a:spLocks noGrp="1"/>
          </p:cNvSpPr>
          <p:nvPr>
            <p:ph type="title"/>
          </p:nvPr>
        </p:nvSpPr>
        <p:spPr>
          <a:xfrm>
            <a:off x="1583500" y="285728"/>
            <a:ext cx="8798781" cy="500066"/>
          </a:xfrm>
        </p:spPr>
        <p:txBody>
          <a:bodyPr/>
          <a:lstStyle/>
          <a:p>
            <a:r>
              <a:rPr lang="zh-CN" altLang="en-US" dirty="0"/>
              <a:t>数据挖掘建模常用工具</a:t>
            </a:r>
          </a:p>
        </p:txBody>
      </p:sp>
      <p:sp>
        <p:nvSpPr>
          <p:cNvPr id="3" name="矩形 81">
            <a:extLst>
              <a:ext uri="{FF2B5EF4-FFF2-40B4-BE49-F238E27FC236}">
                <a16:creationId xmlns:a16="http://schemas.microsoft.com/office/drawing/2014/main" id="{0276CDC1-7964-ED16-BC4F-C4698F912E0F}"/>
              </a:ext>
            </a:extLst>
          </p:cNvPr>
          <p:cNvSpPr>
            <a:spLocks noChangeArrowheads="1"/>
          </p:cNvSpPr>
          <p:nvPr/>
        </p:nvSpPr>
        <p:spPr bwMode="auto">
          <a:xfrm>
            <a:off x="1683007" y="990600"/>
            <a:ext cx="20746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r>
              <a:rPr lang="en-US" altLang="zh-CN" sz="2800">
                <a:latin typeface="Tahoma" panose="020B0604030504040204" pitchFamily="34" charset="0"/>
              </a:rPr>
              <a:t>2. </a:t>
            </a:r>
            <a:r>
              <a:rPr lang="zh-CN" altLang="en-US" sz="2800">
                <a:latin typeface="Tahoma" panose="020B0604030504040204" pitchFamily="34" charset="0"/>
              </a:rPr>
              <a:t>开源工具</a:t>
            </a:r>
            <a:endParaRPr lang="zh-CN" altLang="zh-CN" sz="2800">
              <a:latin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55440" y="1124744"/>
            <a:ext cx="9793088" cy="2433230"/>
          </a:xfrm>
          <a:prstGeom prst="rect">
            <a:avLst/>
          </a:prstGeom>
        </p:spPr>
        <p:txBody>
          <a:bodyPr wrap="square">
            <a:spAutoFit/>
          </a:bodyPr>
          <a:lstStyle/>
          <a:p>
            <a:pPr marL="285750" indent="-285750" algn="l" eaLnBrk="1" hangingPunct="1">
              <a:lnSpc>
                <a:spcPct val="150000"/>
              </a:lnSpc>
              <a:buFont typeface="Arial" panose="020B0604020202020204" pitchFamily="34" charset="0"/>
              <a:buChar char="•"/>
              <a:defRPr/>
            </a:pPr>
            <a:r>
              <a:rPr lang="en-US" altLang="zh-CN" sz="2400" dirty="0">
                <a:solidFill>
                  <a:srgbClr val="FF0000"/>
                </a:solidFill>
              </a:rPr>
              <a:t>Python</a:t>
            </a:r>
          </a:p>
          <a:p>
            <a:pPr algn="l" eaLnBrk="1" hangingPunct="1">
              <a:lnSpc>
                <a:spcPct val="150000"/>
              </a:lnSpc>
              <a:defRPr/>
            </a:pPr>
            <a:r>
              <a:rPr lang="en-US" altLang="zh-CN" sz="2000" b="0" dirty="0"/>
              <a:t>Python</a:t>
            </a:r>
            <a:r>
              <a:rPr lang="zh-CN" altLang="en-US" sz="2000" b="0" dirty="0"/>
              <a:t>是一种功能强大的、开源的、解释性、面向对象计算机编程语言，内建有各种高级数据结构，支持模块和包，支持多种平台并可扩展。</a:t>
            </a:r>
            <a:r>
              <a:rPr lang="en-US" altLang="zh-CN" sz="2000" b="0" dirty="0"/>
              <a:t>Python</a:t>
            </a:r>
            <a:r>
              <a:rPr lang="zh-CN" altLang="en-US" sz="2000" b="0" dirty="0"/>
              <a:t>语言简洁、易学习、易阅读，并在数据统计、机器学习方面得到广泛应用，是人工智能研究领域中一个非常重要的工具。</a:t>
            </a:r>
            <a:endParaRPr lang="en-US" altLang="zh-CN" sz="2000" b="0" dirty="0"/>
          </a:p>
        </p:txBody>
      </p:sp>
      <p:sp>
        <p:nvSpPr>
          <p:cNvPr id="65540"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1" name="Rectangle 2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2" name="Rectangle 3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3" name="Rectangle 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4" name="Rectangle 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5" name="Rectangle 1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6" name="Rectangle 1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7" name="Rectangle 1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8" name="Rectangle 2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49" name="Rectangle 2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0" name="Rectangle 2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1" name="Rectangle 2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2"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3" name="Rectangle 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4" name="Rectangle 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5" name="Rectangle 1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6" name="Rectangle 1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7" name="Rectangle 1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8" name="Rectangle 1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59" name="Rectangle 1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0" name="Rectangle 2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1" name="Rectangle 3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2" name="Rectangle 3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3" name="Rectangle 4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4" name="Rectangle 4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5" name="Rectangle 4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6"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7" name="Rectangle 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8" name="Rectangle 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69" name="Rectangle 1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0" name="Rectangle 1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1" name="Rectangle 1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2" name="Rectangle 1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3" name="Rectangle 2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4" name="Rectangle 2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5" name="Rectangle 2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6" name="Rectangle 3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7" name="Rectangle 36"/>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8" name="Rectangle 5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79" name="Rectangle 5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0" name="Rectangle 61"/>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1" name="Rectangle 63"/>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2" name="Rectangle 65"/>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3" name="Rectangle 67"/>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4" name="Rectangle 69"/>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5" name="Rectangle 2"/>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6" name="Rectangle 4"/>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7" name="Rectangle 8"/>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sp>
        <p:nvSpPr>
          <p:cNvPr id="65588" name="Rectangle 10"/>
          <p:cNvSpPr>
            <a:spLocks noChangeArrowheads="1"/>
          </p:cNvSpPr>
          <p:nvPr/>
        </p:nvSpPr>
        <p:spPr bwMode="auto">
          <a:xfrm>
            <a:off x="1048385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zh-CN" altLang="en-US" sz="2800">
              <a:latin typeface="Tahoma" panose="020B0604030504040204" pitchFamily="34" charset="0"/>
            </a:endParaRPr>
          </a:p>
        </p:txBody>
      </p:sp>
      <p:pic>
        <p:nvPicPr>
          <p:cNvPr id="655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64" y="3429992"/>
            <a:ext cx="5376863"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文本框 6"/>
          <p:cNvSpPr txBox="1"/>
          <p:nvPr/>
        </p:nvSpPr>
        <p:spPr>
          <a:xfrm>
            <a:off x="3429000" y="260350"/>
            <a:ext cx="3321050" cy="461963"/>
          </a:xfrm>
          <a:prstGeom prst="rect">
            <a:avLst/>
          </a:prstGeom>
          <a:noFill/>
        </p:spPr>
        <p:txBody>
          <a:bodyPr wrap="none" lIns="0" tIns="0" rIns="0" bIns="0">
            <a:spAutoFit/>
          </a:bodyPr>
          <a:lstStyle/>
          <a:p>
            <a:pPr algn="r" eaLnBrk="1" hangingPunct="1">
              <a:defRPr/>
            </a:pPr>
            <a:r>
              <a:rPr lang="zh-CN" altLang="en-US" sz="3000" spc="225" dirty="0">
                <a:solidFill>
                  <a:prstClr val="white"/>
                </a:solidFill>
              </a:rPr>
              <a:t>数据挖掘常用工具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a:t>
            </a:r>
            <a:r>
              <a:rPr lang="en-US" altLang="zh-CN" dirty="0"/>
              <a:t>Python</a:t>
            </a:r>
            <a:r>
              <a:rPr lang="zh-CN" altLang="en-US" dirty="0"/>
              <a:t>进行数据挖掘的优势</a:t>
            </a:r>
          </a:p>
        </p:txBody>
      </p:sp>
      <p:sp>
        <p:nvSpPr>
          <p:cNvPr id="3" name="内容占位符 2"/>
          <p:cNvSpPr>
            <a:spLocks noGrp="1"/>
          </p:cNvSpPr>
          <p:nvPr>
            <p:ph idx="1"/>
          </p:nvPr>
        </p:nvSpPr>
        <p:spPr>
          <a:xfrm>
            <a:off x="911423" y="1500177"/>
            <a:ext cx="10537587" cy="4525963"/>
          </a:xfrm>
        </p:spPr>
        <p:txBody>
          <a:bodyPr/>
          <a:lstStyle/>
          <a:p>
            <a:pPr>
              <a:lnSpc>
                <a:spcPct val="150000"/>
              </a:lnSpc>
              <a:buFont typeface="Wingdings" panose="05000000000000000000" pitchFamily="2" charset="2"/>
              <a:buChar char="Ø"/>
            </a:pPr>
            <a:r>
              <a:rPr lang="zh-CN" altLang="en-US" b="1" dirty="0"/>
              <a:t> </a:t>
            </a:r>
            <a:r>
              <a:rPr lang="en-US" altLang="zh-CN" b="1" dirty="0"/>
              <a:t>1. </a:t>
            </a:r>
            <a:r>
              <a:rPr lang="zh-CN" altLang="zh-CN" b="1" dirty="0"/>
              <a:t>爬取数据需要</a:t>
            </a:r>
            <a:r>
              <a:rPr lang="en-US" altLang="zh-CN" b="1" dirty="0"/>
              <a:t>Python</a:t>
            </a:r>
          </a:p>
          <a:p>
            <a:pPr>
              <a:lnSpc>
                <a:spcPct val="150000"/>
              </a:lnSpc>
              <a:buFont typeface="Wingdings" panose="05000000000000000000" pitchFamily="2" charset="2"/>
              <a:buChar char="Ø"/>
            </a:pPr>
            <a:r>
              <a:rPr lang="zh-CN" altLang="en-US" b="1" dirty="0"/>
              <a:t> </a:t>
            </a:r>
            <a:r>
              <a:rPr lang="en-US" altLang="zh-CN" b="1" dirty="0"/>
              <a:t>2. </a:t>
            </a:r>
            <a:r>
              <a:rPr lang="zh-CN" altLang="zh-CN" b="1" dirty="0"/>
              <a:t>数据分析需要</a:t>
            </a:r>
            <a:r>
              <a:rPr lang="en-US" altLang="zh-CN" b="1" dirty="0"/>
              <a:t>Python</a:t>
            </a:r>
          </a:p>
          <a:p>
            <a:pPr>
              <a:lnSpc>
                <a:spcPct val="150000"/>
              </a:lnSpc>
              <a:buFont typeface="Wingdings" panose="05000000000000000000" pitchFamily="2" charset="2"/>
              <a:buChar char="Ø"/>
            </a:pPr>
            <a:r>
              <a:rPr lang="zh-CN" altLang="en-US" b="1" dirty="0"/>
              <a:t> </a:t>
            </a:r>
            <a:r>
              <a:rPr lang="en-US" altLang="zh-CN" b="1" dirty="0"/>
              <a:t>3. Python</a:t>
            </a:r>
            <a:r>
              <a:rPr lang="zh-CN" altLang="zh-CN" b="1" dirty="0"/>
              <a:t>语言简单高效</a:t>
            </a:r>
            <a:endParaRPr lang="en-US" altLang="zh-CN" b="1" dirty="0"/>
          </a:p>
          <a:p>
            <a:endParaRPr lang="zh-CN" altLang="en-US"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34</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lstStyle/>
          <a:p>
            <a:r>
              <a:rPr lang="zh-CN" altLang="en-US" dirty="0"/>
              <a:t>利用</a:t>
            </a:r>
            <a:r>
              <a:rPr lang="en-US" altLang="zh-CN" dirty="0"/>
              <a:t>Python</a:t>
            </a:r>
            <a:r>
              <a:rPr lang="zh-CN" altLang="en-US" dirty="0"/>
              <a:t>进行数据挖掘的优势</a:t>
            </a:r>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35</a:t>
            </a:fld>
            <a:endParaRPr lang="en-US" altLang="zh-CN"/>
          </a:p>
        </p:txBody>
      </p:sp>
      <p:pic>
        <p:nvPicPr>
          <p:cNvPr id="2" name="그림 1">
            <a:extLst>
              <a:ext uri="{FF2B5EF4-FFF2-40B4-BE49-F238E27FC236}">
                <a16:creationId xmlns:a16="http://schemas.microsoft.com/office/drawing/2014/main" id="{BF196935-C079-A0FA-1734-46CB4FDC99E7}"/>
              </a:ext>
            </a:extLst>
          </p:cNvPr>
          <p:cNvPicPr>
            <a:picLocks noChangeAspect="1"/>
          </p:cNvPicPr>
          <p:nvPr/>
        </p:nvPicPr>
        <p:blipFill>
          <a:blip r:embed="rId2"/>
          <a:stretch>
            <a:fillRect/>
          </a:stretch>
        </p:blipFill>
        <p:spPr>
          <a:xfrm>
            <a:off x="1415480" y="1772816"/>
            <a:ext cx="8601783" cy="380918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Python</a:t>
            </a:r>
            <a:r>
              <a:rPr lang="zh-CN" altLang="en-US" dirty="0"/>
              <a:t>数据挖掘常用类库</a:t>
            </a:r>
          </a:p>
        </p:txBody>
      </p:sp>
      <p:sp>
        <p:nvSpPr>
          <p:cNvPr id="3" name="内容占位符 2"/>
          <p:cNvSpPr>
            <a:spLocks noGrp="1"/>
          </p:cNvSpPr>
          <p:nvPr>
            <p:ph idx="1"/>
          </p:nvPr>
        </p:nvSpPr>
        <p:spPr>
          <a:xfrm>
            <a:off x="983432" y="1124744"/>
            <a:ext cx="9383960" cy="576064"/>
          </a:xfrm>
        </p:spPr>
        <p:txBody>
          <a:bodyPr/>
          <a:lstStyle/>
          <a:p>
            <a:r>
              <a:rPr lang="en-US" altLang="zh-CN" dirty="0"/>
              <a:t>Python</a:t>
            </a:r>
            <a:r>
              <a:rPr lang="zh-CN" altLang="zh-CN" dirty="0"/>
              <a:t>的第三方模块很丰富，而且语法非常简练，自由度很高。</a:t>
            </a:r>
            <a:endParaRPr lang="zh-CN" altLang="en-US" dirty="0"/>
          </a:p>
        </p:txBody>
      </p:sp>
      <p:sp>
        <p:nvSpPr>
          <p:cNvPr id="4" name="灯片编号占位符 3"/>
          <p:cNvSpPr>
            <a:spLocks noGrp="1"/>
          </p:cNvSpPr>
          <p:nvPr>
            <p:ph type="sldNum" sz="quarter" idx="4294967295"/>
          </p:nvPr>
        </p:nvSpPr>
        <p:spPr>
          <a:xfrm>
            <a:off x="8534400" y="6461126"/>
            <a:ext cx="2133600" cy="244475"/>
          </a:xfrm>
        </p:spPr>
        <p:txBody>
          <a:bodyPr/>
          <a:lstStyle/>
          <a:p>
            <a:fld id="{950BD6B0-76F7-4942-8BD6-FCF18CBA2D80}" type="slidenum">
              <a:rPr lang="en-US" altLang="zh-CN" smtClean="0"/>
              <a:t>36</a:t>
            </a:fld>
            <a:endParaRPr lang="en-US" altLang="zh-CN"/>
          </a:p>
        </p:txBody>
      </p:sp>
      <p:pic>
        <p:nvPicPr>
          <p:cNvPr id="6" name="图片 5"/>
          <p:cNvPicPr>
            <a:picLocks noChangeAspect="1"/>
          </p:cNvPicPr>
          <p:nvPr/>
        </p:nvPicPr>
        <p:blipFill>
          <a:blip r:embed="rId2"/>
          <a:stretch>
            <a:fillRect/>
          </a:stretch>
        </p:blipFill>
        <p:spPr>
          <a:xfrm>
            <a:off x="2207569" y="2132857"/>
            <a:ext cx="7925001" cy="381927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U2M2RiYzFkZWM1OTE5ODFiMWVlNjc2YjgzZmRhYzI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30*246"/>
  <p:tag name="TABLE_ENDDRAG_RECT" val="168*190*630*246"/>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987.4992125984254,&quot;width&quot;:12935}"/>
</p:tagLst>
</file>

<file path=ppt/theme/theme1.xml><?xml version="1.0" encoding="utf-8"?>
<a:theme xmlns:a="http://schemas.openxmlformats.org/drawingml/2006/main" name="Wwy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weiwy_simple</Template>
  <TotalTime>291</TotalTime>
  <Words>2405</Words>
  <Application>Microsoft Macintosh PowerPoint</Application>
  <PresentationFormat>와이드스크린</PresentationFormat>
  <Paragraphs>327</Paragraphs>
  <Slides>36</Slides>
  <Notes>7</Notes>
  <HiddenSlides>0</HiddenSlides>
  <MMClips>0</MMClips>
  <ScaleCrop>false</ScaleCrop>
  <HeadingPairs>
    <vt:vector size="8" baseType="variant">
      <vt:variant>
        <vt:lpstr>사용한 글꼴</vt:lpstr>
      </vt:variant>
      <vt:variant>
        <vt:i4>13</vt:i4>
      </vt:variant>
      <vt:variant>
        <vt:lpstr>테마</vt:lpstr>
      </vt:variant>
      <vt:variant>
        <vt:i4>1</vt:i4>
      </vt:variant>
      <vt:variant>
        <vt:lpstr>포함된 OLE 서버</vt:lpstr>
      </vt:variant>
      <vt:variant>
        <vt:i4>2</vt:i4>
      </vt:variant>
      <vt:variant>
        <vt:lpstr>슬라이드 제목</vt:lpstr>
      </vt:variant>
      <vt:variant>
        <vt:i4>36</vt:i4>
      </vt:variant>
    </vt:vector>
  </HeadingPairs>
  <TitlesOfParts>
    <vt:vector size="52" baseType="lpstr">
      <vt:lpstr>楷体_GB2312</vt:lpstr>
      <vt:lpstr>SimSun</vt:lpstr>
      <vt:lpstr>SimSun</vt:lpstr>
      <vt:lpstr>STSong</vt:lpstr>
      <vt:lpstr>Arial</vt:lpstr>
      <vt:lpstr>Calibri</vt:lpstr>
      <vt:lpstr>Impact</vt:lpstr>
      <vt:lpstr>Symbol</vt:lpstr>
      <vt:lpstr>Tahoma</vt:lpstr>
      <vt:lpstr>Times</vt:lpstr>
      <vt:lpstr>Times New Roman</vt:lpstr>
      <vt:lpstr>Verdana</vt:lpstr>
      <vt:lpstr>Wingdings</vt:lpstr>
      <vt:lpstr>WwyPPT</vt:lpstr>
      <vt:lpstr>MS_ClipArt_Gallery.2</vt:lpstr>
      <vt:lpstr>Visio.Drawing.11</vt:lpstr>
      <vt:lpstr>高级数据挖掘</vt:lpstr>
      <vt:lpstr>数据分析与挖掘简介</vt:lpstr>
      <vt:lpstr>数据分析与挖掘简介</vt:lpstr>
      <vt:lpstr>数据分析与挖掘简介</vt:lpstr>
      <vt:lpstr>Why Data Mining? </vt:lpstr>
      <vt:lpstr>数据挖掘简介</vt:lpstr>
      <vt:lpstr>What Is Data Mining?</vt:lpstr>
      <vt:lpstr>数据挖掘简介</vt:lpstr>
      <vt:lpstr>数据分析与数据挖掘</vt:lpstr>
      <vt:lpstr>数据分析与数据挖掘</vt:lpstr>
      <vt:lpstr>数据分析与数据挖掘</vt:lpstr>
      <vt:lpstr>数据挖掘的主要任务</vt:lpstr>
      <vt:lpstr>数据挖掘的主要任务</vt:lpstr>
      <vt:lpstr>数据挖掘的主要任务</vt:lpstr>
      <vt:lpstr>数据挖掘的主要任务</vt:lpstr>
      <vt:lpstr>数据挖掘的主要任务</vt:lpstr>
      <vt:lpstr>数据挖掘的主要任务</vt:lpstr>
      <vt:lpstr>数据挖掘的主要任务</vt:lpstr>
      <vt:lpstr>数据挖掘的主要任务</vt:lpstr>
      <vt:lpstr>数据挖掘与多学科的交汇</vt:lpstr>
      <vt:lpstr>数据挖掘与多学科的交汇</vt:lpstr>
      <vt:lpstr>数据挖掘与多学科的交汇</vt:lpstr>
      <vt:lpstr>数据挖掘的数据源</vt:lpstr>
      <vt:lpstr>数据挖掘的数据源</vt:lpstr>
      <vt:lpstr>数据挖掘使用的技术</vt:lpstr>
      <vt:lpstr>数据库系统与数据仓库</vt:lpstr>
      <vt:lpstr>数据库系统与数据仓库</vt:lpstr>
      <vt:lpstr>数据挖掘与机器学习</vt:lpstr>
      <vt:lpstr>数据挖掘存在的问题</vt:lpstr>
      <vt:lpstr>数据挖掘建模常用工具</vt:lpstr>
      <vt:lpstr>数据挖掘建模常用工具</vt:lpstr>
      <vt:lpstr>数据挖掘建模常用工具</vt:lpstr>
      <vt:lpstr>PowerPoint 프레젠테이션</vt:lpstr>
      <vt:lpstr>利用Python进行数据挖掘的优势</vt:lpstr>
      <vt:lpstr>利用Python进行数据挖掘的优势</vt:lpstr>
      <vt:lpstr>Python数据挖掘常用类库</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USER-</dc:creator>
  <cp:lastModifiedBy>유 혜</cp:lastModifiedBy>
  <cp:revision>115</cp:revision>
  <dcterms:created xsi:type="dcterms:W3CDTF">2019-11-26T08:15:00Z</dcterms:created>
  <dcterms:modified xsi:type="dcterms:W3CDTF">2025-07-20T07:16:22Z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FEEBD12311AD4915BF0CEE5BB421AA35_12</vt:lpwstr>
  </property>
</Properties>
</file>